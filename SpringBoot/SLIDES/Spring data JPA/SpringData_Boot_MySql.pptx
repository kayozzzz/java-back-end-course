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embeddedFontLst>
    <p:embeddedFont>
      <p:font typeface="Candara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i7N+SvsdRMP/UV8YGWv5HFdDU2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ndara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Candara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andara-bold.fntdata"/><Relationship Id="rId16" Type="http://schemas.openxmlformats.org/officeDocument/2006/relationships/slide" Target="slides/slide11.xml"/><Relationship Id="rId38" Type="http://schemas.openxmlformats.org/officeDocument/2006/relationships/font" Target="fonts/Candara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34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3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3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3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3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3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34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3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36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36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36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36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36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36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37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38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38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38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3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40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4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4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4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4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40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4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4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41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41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41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41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41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41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41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41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2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42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4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4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4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4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42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42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4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42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3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4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4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44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4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4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4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4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4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44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33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3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3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3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3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33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3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33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Data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Java base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Database SQL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Jdbc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Jpa/Hibernate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core/IoC container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Boot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preferibile -&gt; Spring Test e Spring Aop</a:t>
            </a:r>
            <a:endParaRPr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Prerequisiti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mette a disposizione una serie di classi ed interfacce che, se opportunamente configurate, consentono di avere una serie di metodi/operazioni Crud sul database già implementati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Data / Jpa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modulo database di Spring è predisposto per potersi interfacciare con diversi tipi di sorgenti dati, quali ad esempio: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Jdbc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Hibernate, senza Jpa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Hibernate, con Jpa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Jta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…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queste slide ci occuperemo dell’integrazione tra Spring Data ed Hibernate con Jpa</a:t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Tipologie di </a:t>
            </a:r>
            <a:r>
              <a:rPr i="1" lang="it-IT"/>
              <a:t>repository</a:t>
            </a:r>
            <a:r>
              <a:rPr lang="it-IT"/>
              <a:t> e </a:t>
            </a:r>
            <a:r>
              <a:rPr i="1" lang="it-IT"/>
              <a:t>data source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Jpa – Java Persistence Api: specifica necessaria per creare uno standard nel mondo del c.d. «Orm». La specifica Jpa è uno standard per «annotare» oggetti Java che possano essere mappati/memorizzati e recuperati su/da un database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Orm: Object Relational Mapping – problema di mappare oggetti su database relazionale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Incapsulamento, ereditarietà, aggregazione vs. modello relazionale che prevede solo relazioni 1-1, 1-n, n-n</a:t>
            </a:r>
            <a:endParaRPr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Jpa/Hibernate - introduzione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Essendo Jpa una specifica, per avere un ambiente completo e funzionante serve avere un Orm provider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Useremo Hibernate come Orm provider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Useremo MySql come Dbms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Orm provider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usare Spring Data, integrato con Jpa ed Hibernate, occorrono una serie di librerie, tra cui le principali sono: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core / </a:t>
            </a:r>
            <a:r>
              <a:rPr i="1" lang="it-IT"/>
              <a:t>IoC</a:t>
            </a:r>
            <a:endParaRPr i="1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jdbc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data (parte core)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data jpa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Hibernate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Driver jdbc del Dbms specifico (nel caso di queste slide </a:t>
            </a:r>
            <a:r>
              <a:rPr i="1" lang="it-IT"/>
              <a:t>mysql-connector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più, ovviamente, tutte le librerie utilizzate dalle precedenti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data +Hibernate +Jpa - librerie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effettuare il </a:t>
            </a:r>
            <a:r>
              <a:rPr i="1" lang="it-IT"/>
              <a:t>set-up</a:t>
            </a:r>
            <a:r>
              <a:rPr lang="it-IT"/>
              <a:t> di un progetto che usi Spring Data, per quanto riguarda le librerie, le possibilità sono le stesse di qualsiasi progetto basato su Spring: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collegare manualmente le librerie necessarie al progetto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usare Maven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usare Spring Boot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Nelle successive slide, le parti specifiche che dipendono dal tipo di </a:t>
            </a:r>
            <a:r>
              <a:rPr i="1" lang="it-IT"/>
              <a:t>set-up</a:t>
            </a:r>
            <a:r>
              <a:rPr lang="it-IT"/>
              <a:t> del progetto e in particolare quando dipendono specificamente da Spring Boot, verranno indicate esplicitamente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Set-up librerie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caso di </a:t>
            </a:r>
            <a:r>
              <a:rPr i="1" lang="it-IT"/>
              <a:t>set-up</a:t>
            </a:r>
            <a:r>
              <a:rPr lang="it-IT"/>
              <a:t> con Spring Boot effettuato tramite Spring Initializr occorrerà selezionare le </a:t>
            </a:r>
            <a:r>
              <a:rPr i="1" lang="it-IT"/>
              <a:t>dependency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Data Jpa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MySql</a:t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Data – set-up con Spring Boot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È necessario configurare il file </a:t>
            </a:r>
            <a:r>
              <a:rPr i="1" lang="it-IT"/>
              <a:t>application.properties</a:t>
            </a:r>
            <a:r>
              <a:rPr lang="it-IT"/>
              <a:t> sotto </a:t>
            </a:r>
            <a:r>
              <a:rPr i="1" lang="it-IT"/>
              <a:t>src/main/resources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spring.datasource.url=jdbc:mysql://localhost:3306/nome_db</a:t>
            </a:r>
            <a:endParaRPr i="1" sz="1900"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spring.datasource.username=root</a:t>
            </a:r>
            <a:endParaRPr i="1" sz="1900"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spring.datasource.password=roberto</a:t>
            </a:r>
            <a:endParaRPr i="1" sz="1900"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spring.jpa.hibernate.ddl-auto=update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spring.jpa.properties.hibernate.show_sql=true</a:t>
            </a:r>
            <a:endParaRPr i="1" sz="1900"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spring.jpa.properties.hibernate.dialect=org.hibernate.dialect.MySQLDialect</a:t>
            </a:r>
            <a:endParaRPr i="1" sz="1900"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spring.jpa.properties.hibernate.format_sql=true</a:t>
            </a:r>
            <a:endParaRPr i="1" sz="1900"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Configurazione delle properties del database con Spring Boot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Operazioni Crud: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Create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Retrieve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Update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Delete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Dao: Data Access Object (</a:t>
            </a:r>
            <a:r>
              <a:rPr i="1" lang="it-IT"/>
              <a:t>@Repository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spostare le operazioni Crud di una specifica classe (es. Sede) in una classe ad hoc (es. SedeDao)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BusinessLogic (</a:t>
            </a:r>
            <a:r>
              <a:rPr i="1" lang="it-IT"/>
              <a:t>@Service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classe che dialoga con uno o più Dao</a:t>
            </a:r>
            <a:endParaRPr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Operazioni Crud e pattern Dao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2492896"/>
            <a:ext cx="7408333" cy="3633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Livello 1 / model: classi Java che rappresentano le tabelle del database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Livello 2/ dao: classi </a:t>
            </a:r>
            <a:r>
              <a:rPr i="1" lang="it-IT"/>
              <a:t>Dao</a:t>
            </a:r>
            <a:r>
              <a:rPr lang="it-IT"/>
              <a:t>, operazioni Crud per singola tabella (a transazione aperta)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Livello 3 / businessLogic: classi che gestiscono le funzionalità del progetto (livello transazionale)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Livello 4: user interface</a:t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Applicazioni multi-tier e database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 3 </a:t>
            </a:r>
            <a:r>
              <a:rPr i="1" lang="it-IT"/>
              <a:t>layer </a:t>
            </a:r>
            <a:r>
              <a:rPr lang="it-IT"/>
              <a:t>classici di qualsiasi applicazione Java che interagisca col database, in un’applicazione Spring Data sono rappresentati da: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classi annotate con </a:t>
            </a:r>
            <a:r>
              <a:rPr i="1" lang="it-IT"/>
              <a:t>@Entity</a:t>
            </a:r>
            <a:r>
              <a:rPr lang="it-IT"/>
              <a:t> per lo strato </a:t>
            </a:r>
            <a:r>
              <a:rPr i="1" lang="it-IT"/>
              <a:t>model</a:t>
            </a:r>
            <a:r>
              <a:rPr lang="it-IT"/>
              <a:t> (come sempre in Jpa)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classi annotate con </a:t>
            </a:r>
            <a:r>
              <a:rPr i="1" lang="it-IT"/>
              <a:t>@Repository</a:t>
            </a:r>
            <a:r>
              <a:rPr lang="it-IT"/>
              <a:t> per lo strato </a:t>
            </a:r>
            <a:r>
              <a:rPr i="1" lang="it-IT"/>
              <a:t>dao: </a:t>
            </a:r>
            <a:r>
              <a:rPr lang="it-IT"/>
              <a:t>estendendo </a:t>
            </a:r>
            <a:r>
              <a:rPr i="1" lang="it-IT"/>
              <a:t>CrudRepository</a:t>
            </a:r>
            <a:r>
              <a:rPr lang="it-IT"/>
              <a:t> (interfaccia di Spring Data) l’annotation viene aggiunta automaticamente da Spring</a:t>
            </a:r>
            <a:endParaRPr i="1"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classi annotate con </a:t>
            </a:r>
            <a:r>
              <a:rPr i="1" lang="it-IT"/>
              <a:t>@Service</a:t>
            </a:r>
            <a:r>
              <a:rPr lang="it-IT"/>
              <a:t> per lo strato </a:t>
            </a:r>
            <a:r>
              <a:rPr i="1" lang="it-IT"/>
              <a:t>business logic</a:t>
            </a:r>
            <a:endParaRPr i="1"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@Repository</a:t>
            </a:r>
            <a:r>
              <a:rPr lang="it-IT"/>
              <a:t> e </a:t>
            </a:r>
            <a:r>
              <a:rPr i="1" lang="it-IT"/>
              <a:t>@Service</a:t>
            </a:r>
            <a:r>
              <a:rPr lang="it-IT"/>
              <a:t> sono particolari </a:t>
            </a:r>
            <a:r>
              <a:rPr i="1" lang="it-IT"/>
              <a:t>stereotype</a:t>
            </a:r>
            <a:r>
              <a:rPr lang="it-IT"/>
              <a:t> derivati </a:t>
            </a:r>
            <a:r>
              <a:rPr i="1" lang="it-IT"/>
              <a:t>@Component</a:t>
            </a:r>
            <a:endParaRPr i="1"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Data - layer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Utilizzando </a:t>
            </a:r>
            <a:r>
              <a:rPr i="1" lang="it-IT"/>
              <a:t>@SpringBootApplication</a:t>
            </a:r>
            <a:r>
              <a:rPr lang="it-IT"/>
              <a:t>: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gestione delle transazioni viene abilitata di default</a:t>
            </a:r>
            <a:r>
              <a:rPr i="1" lang="it-IT"/>
              <a:t> </a:t>
            </a:r>
            <a:r>
              <a:rPr lang="it-IT"/>
              <a:t>dall’</a:t>
            </a:r>
            <a:r>
              <a:rPr i="1" lang="it-IT"/>
              <a:t>autoconfiguration</a:t>
            </a:r>
            <a:r>
              <a:rPr lang="it-IT"/>
              <a:t> quando Spring Boot rileva l’utilizzo di Spring Data nell’applicazione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non occorre altro se le classi annotate con </a:t>
            </a:r>
            <a:r>
              <a:rPr i="1" lang="it-IT"/>
              <a:t>@Entity</a:t>
            </a:r>
            <a:r>
              <a:rPr lang="it-IT"/>
              <a:t>, </a:t>
            </a:r>
            <a:r>
              <a:rPr i="1" lang="it-IT"/>
              <a:t>@Repository</a:t>
            </a:r>
            <a:r>
              <a:rPr lang="it-IT"/>
              <a:t> e </a:t>
            </a:r>
            <a:r>
              <a:rPr i="1" lang="it-IT"/>
              <a:t>@Service</a:t>
            </a:r>
            <a:r>
              <a:rPr lang="it-IT"/>
              <a:t> si trovano nello stesso package o in un sotto-package rispetto alla classe con </a:t>
            </a:r>
            <a:r>
              <a:rPr i="1" lang="it-IT"/>
              <a:t>@SpringBootApplication</a:t>
            </a:r>
            <a:endParaRPr i="1"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le classi annotate con </a:t>
            </a:r>
            <a:r>
              <a:rPr i="1" lang="it-IT"/>
              <a:t>@Service</a:t>
            </a:r>
            <a:r>
              <a:rPr lang="it-IT"/>
              <a:t> si trovano in un package differente, occorre usare l’attributo </a:t>
            </a:r>
            <a:r>
              <a:rPr i="1" lang="it-IT"/>
              <a:t>scanBasePackages </a:t>
            </a:r>
            <a:r>
              <a:rPr lang="it-IT"/>
              <a:t>in </a:t>
            </a:r>
            <a:r>
              <a:rPr i="1" lang="it-IT"/>
              <a:t>@SpringBootApplication</a:t>
            </a:r>
            <a:endParaRPr i="1"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le classi annotate con </a:t>
            </a:r>
            <a:r>
              <a:rPr i="1" lang="it-IT"/>
              <a:t>@Repository</a:t>
            </a:r>
            <a:r>
              <a:rPr lang="it-IT"/>
              <a:t> (anche implicitamente come vedremo) sono in un package differente occorre usare l’attributo </a:t>
            </a:r>
            <a:r>
              <a:rPr i="1" lang="it-IT"/>
              <a:t>basePackages </a:t>
            </a:r>
            <a:r>
              <a:rPr lang="it-IT"/>
              <a:t>di </a:t>
            </a:r>
            <a:r>
              <a:rPr i="1" lang="it-IT"/>
              <a:t>@EnableJpaRepositories</a:t>
            </a:r>
            <a:endParaRPr i="1"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le classi annotate con </a:t>
            </a:r>
            <a:r>
              <a:rPr i="1" lang="it-IT"/>
              <a:t>@Entity</a:t>
            </a:r>
            <a:r>
              <a:rPr lang="it-IT"/>
              <a:t> si trovano in un package differente occorre usare l’attributo </a:t>
            </a:r>
            <a:r>
              <a:rPr i="1" lang="it-IT"/>
              <a:t>basePackages</a:t>
            </a:r>
            <a:r>
              <a:rPr lang="it-IT"/>
              <a:t> di </a:t>
            </a:r>
            <a:r>
              <a:rPr i="1" lang="it-IT"/>
              <a:t>@EntityScan</a:t>
            </a:r>
            <a:endParaRPr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Configurazione delle annotation</a:t>
            </a:r>
            <a:br>
              <a:rPr lang="it-IT"/>
            </a:br>
            <a:r>
              <a:rPr lang="it-IT"/>
              <a:t>con Spring Boot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899592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L’annotation @Entity specifica che la classe a cui si riferisce deve essere «mappata» da una tabella sul db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@Entity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b="1" i="1" lang="it-IT" sz="1600"/>
              <a:t>public class Persona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Se vogliamo specificare il nome della tabella: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@Entity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@Table(name="PEOPLE")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b="1" i="1" lang="it-IT" sz="1600"/>
              <a:t>public class Persona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{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Tutte le classi Java che hanno l’annotation @Entity devono avere il costruttore vuoto</a:t>
            </a:r>
            <a:endParaRPr b="1"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Livello 1: JPA @Entity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72067" y="2276872"/>
            <a:ext cx="7408333" cy="38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L’annotation @Id specifica che l’attributo a cui si riferisce è la primary key della tabella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i="1" lang="it-IT" sz="1700"/>
              <a:t>@Id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b="1" i="1" lang="it-IT" sz="1700"/>
              <a:t>private Integer id = null;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L’annotation @GeneratedValue specifica di usare per la primary key una «sequence» ovvero un numerico auto-incrementante gestito direttamente dal Dbms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i="1" lang="it-IT" sz="1700"/>
              <a:t>@Id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700"/>
              <a:buNone/>
            </a:pPr>
            <a:r>
              <a:rPr i="1" lang="it-IT" sz="1700"/>
              <a:t>@GeneratedValue</a:t>
            </a:r>
            <a:r>
              <a:rPr lang="it-IT" sz="1800"/>
              <a:t>(strategy = GenerationType.</a:t>
            </a:r>
            <a:r>
              <a:rPr b="1" i="1" lang="it-IT" sz="1800"/>
              <a:t>IDENTITY)</a:t>
            </a:r>
            <a:endParaRPr i="1" sz="1700"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b="1" i="1" lang="it-IT" sz="1700"/>
              <a:t>private Integer id = null;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Livello 1 - Entity primary key - @Id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L’annotation @Column consente di personalizzare la colonna del db relativa all’attributo della classe Java a cui si riferisce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@Column(name ="Surname")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private String cognome = null;</a:t>
            </a:r>
            <a:endParaRPr/>
          </a:p>
        </p:txBody>
      </p:sp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Livello 1 - Entity @Column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Es. relazione 1-1 tra Persona e Lavoratore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classe Lavoratore scriveremo: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@OneToOne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private Persona p = null;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classe Persona scriveremo: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@OneToOne(mappedBy = "p")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private Lavoratore lavoratore = null;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Sul database verrà creata una foreign key dalla tabella Lavoratore verso la tabella Persona</a:t>
            </a:r>
            <a:endParaRPr/>
          </a:p>
        </p:txBody>
      </p:sp>
      <p:sp>
        <p:nvSpPr>
          <p:cNvPr id="255" name="Google Shape;255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1 - Relazioni 1-1 tra Entity</a:t>
            </a:r>
            <a:br>
              <a:rPr lang="it-IT"/>
            </a:br>
            <a:r>
              <a:rPr lang="it-IT"/>
              <a:t>@OneToOne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Es. relazione 1-n tra Sede e Lavoratore e relazione n-1 tra Lavoratore e Sede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Nella classe Lavoratore: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@ManyToOne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@JoinColumn(name = "sedeAzienda")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private Sede sede = null;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Nella classe Sede: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@OneToMany(mappedBy = "sede")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private List&lt;Lavoratore&gt; lavoratori = null;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100000"/>
              <a:buChar char="*"/>
            </a:pPr>
            <a:r>
              <a:rPr lang="it-IT" sz="2600"/>
              <a:t>Sul database verrà creata una foreign key dalla tabella Lavoratore, sul campo specificato da @JoinColumn, verso la tabella Sede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1 - Relazioni 1-n e n-1 tra Entity</a:t>
            </a:r>
            <a:br>
              <a:rPr lang="it-IT"/>
            </a:br>
            <a:r>
              <a:rPr lang="it-IT"/>
              <a:t>@OneToMany e @ManyToOne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Es. relazione tra Lavoratore e Ruolo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classe Lavoratore scriveremo: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@ManyToMany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@JoinTable(name = "Lavoratori_Ruoli",joinColumns = @JoinColumn(name="lavoratoreId"),inverseJoinColumns = @JoinColumn(name="ruoloId"))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private List&lt;Ruolo&gt; ruoli= null;</a:t>
            </a:r>
            <a:endParaRPr i="1" sz="16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classe Ruolo scriveremo: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@ManyToMany(mappedBy = "ruoli")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private List&lt;Lavoratore&gt; lavoratori = null;</a:t>
            </a:r>
            <a:endParaRPr i="1" sz="16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Sul database avremo la creazione di una nuova tabella Lavoratori_Ruoli con due foreign key, una verso Lavoratore ed una verso Ruolo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1 - Relazioni n-m tra Entity</a:t>
            </a:r>
            <a:br>
              <a:rPr lang="it-IT"/>
            </a:br>
            <a:r>
              <a:rPr lang="it-IT"/>
              <a:t>@ManyToMany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public interface DaoInterface&lt;T&gt; {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public void create(T object);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public List&lt;T&gt; retrieve();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public void update(T object);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public void delete(T object);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….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}</a:t>
            </a:r>
            <a:endParaRPr/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Pattern Dao - interfaccia generica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872067" y="2276872"/>
            <a:ext cx="7408333" cy="38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CrudRepository</a:t>
            </a:r>
            <a:r>
              <a:rPr lang="it-IT"/>
              <a:t> è l’interfaccia base di Spring Data che rappresenta un </a:t>
            </a:r>
            <a:r>
              <a:rPr i="1" lang="it-IT"/>
              <a:t>repository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creare un’interfaccia, anche vuota, che semplicemente estenda </a:t>
            </a:r>
            <a:r>
              <a:rPr i="1" lang="it-IT"/>
              <a:t>CrudRepository</a:t>
            </a:r>
            <a:r>
              <a:rPr lang="it-IT"/>
              <a:t> già consente di avere a disposizione diversi metodi c</a:t>
            </a:r>
            <a:r>
              <a:rPr i="1" lang="it-IT"/>
              <a:t>rud </a:t>
            </a:r>
            <a:r>
              <a:rPr lang="it-IT"/>
              <a:t>sul db in automatico. Come ad esempio: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save(Entity e) – saveAll(Iterable i) – findById(id) – findAll() – 	delete(Entity e) – deleteById(id) – deleteAll() – count() etc.</a:t>
            </a:r>
            <a:endParaRPr i="1" sz="1800"/>
          </a:p>
        </p:txBody>
      </p:sp>
      <p:sp>
        <p:nvSpPr>
          <p:cNvPr id="283" name="Google Shape;283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4" name="Google Shape;284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Spring Data Crud Repository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quindi scrivendo un’interfaccia come la seguente: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interface PersonaCrudRepository extends CrudRepository&lt;Persona,Integer&gt; {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}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è sufficiente per avere automaticamente a disposizione i metodi: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save(Persona p) – saveAll(Iterable&lt;Persona&gt; i) – findById(id) – findAll() –delete(Persona p) – deleteById(id) – deleteAll() – count() etc.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</p:txBody>
      </p:sp>
      <p:sp>
        <p:nvSpPr>
          <p:cNvPr id="290" name="Google Shape;290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1" name="Google Shape;291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metodi crud automatici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è possibile aggiungere solo la firma di alcuni metodi e lasciare a Spring l’implementazione in automatico in base a delle regole basate sul nome del metodo: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interface PersonaCrudRepository extends 							CrudRepository&lt;Persona,Integer&gt; {</a:t>
            </a:r>
            <a:endParaRPr i="1" sz="1800"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public List&lt;Persona&gt; findByCognome(String cognome);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}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regole di base sono: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l’inizio del nome con </a:t>
            </a:r>
            <a:r>
              <a:rPr i="1" lang="it-IT"/>
              <a:t>find</a:t>
            </a:r>
            <a:r>
              <a:rPr lang="it-IT"/>
              <a:t> o </a:t>
            </a:r>
            <a:r>
              <a:rPr i="1" lang="it-IT"/>
              <a:t>get</a:t>
            </a:r>
            <a:r>
              <a:rPr lang="it-IT"/>
              <a:t> o </a:t>
            </a:r>
            <a:r>
              <a:rPr i="1" lang="it-IT"/>
              <a:t>read</a:t>
            </a:r>
            <a:r>
              <a:rPr lang="it-IT"/>
              <a:t> indica una ricerca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by</a:t>
            </a:r>
            <a:r>
              <a:rPr lang="it-IT"/>
              <a:t> denota l’attributo su cui impostare la </a:t>
            </a:r>
            <a:r>
              <a:rPr i="1" lang="it-IT"/>
              <a:t>where condition</a:t>
            </a:r>
            <a:endParaRPr i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pertanto l’esempio precedente equivale in Sql a: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select * from Persona where cognome=‘parametro di input del metodo’; 	</a:t>
            </a:r>
            <a:r>
              <a:rPr lang="it-IT" sz="1900"/>
              <a:t> </a:t>
            </a:r>
            <a:endParaRPr sz="1900"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</p:txBody>
      </p:sp>
      <p:sp>
        <p:nvSpPr>
          <p:cNvPr id="297" name="Google Shape;297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8" name="Google Shape;298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ndara"/>
              <a:buNone/>
            </a:pPr>
            <a:r>
              <a:rPr lang="it-IT" sz="3200"/>
              <a:t>Livello 2</a:t>
            </a:r>
            <a:br>
              <a:rPr lang="it-IT" sz="3200"/>
            </a:br>
            <a:r>
              <a:rPr lang="it-IT" sz="3200"/>
              <a:t>metodi custom implementati in automatico da Spring (1/2)</a:t>
            </a:r>
            <a:endParaRPr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si possono anche mettere in </a:t>
            </a:r>
            <a:r>
              <a:rPr i="1" lang="it-IT"/>
              <a:t>and</a:t>
            </a:r>
            <a:r>
              <a:rPr lang="it-IT"/>
              <a:t> due attributi: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List&lt;Persona&gt; findByCognomeAndId(String cognome,Integer id);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si possono sfruttare anche condizioni diverse dall’uguaglianza esatta nella </a:t>
            </a:r>
            <a:r>
              <a:rPr i="1" lang="it-IT"/>
              <a:t>where condition</a:t>
            </a:r>
            <a:r>
              <a:rPr lang="it-IT"/>
              <a:t> come ad esempio </a:t>
            </a:r>
            <a:r>
              <a:rPr i="1" lang="it-IT"/>
              <a:t>like</a:t>
            </a:r>
            <a:r>
              <a:rPr lang="it-IT"/>
              <a:t>, </a:t>
            </a:r>
            <a:r>
              <a:rPr i="1" lang="it-IT"/>
              <a:t>contains</a:t>
            </a:r>
            <a:r>
              <a:rPr lang="it-IT"/>
              <a:t>, </a:t>
            </a:r>
            <a:r>
              <a:rPr i="1" lang="it-IT"/>
              <a:t>between, ignoringCases</a:t>
            </a:r>
            <a:r>
              <a:rPr lang="it-IT"/>
              <a:t> etc. (la differenza tra il </a:t>
            </a:r>
            <a:r>
              <a:rPr i="1" lang="it-IT"/>
              <a:t>like</a:t>
            </a:r>
            <a:r>
              <a:rPr lang="it-IT"/>
              <a:t> ed il </a:t>
            </a:r>
            <a:r>
              <a:rPr i="1" lang="it-IT"/>
              <a:t>contains</a:t>
            </a:r>
            <a:r>
              <a:rPr lang="it-IT"/>
              <a:t> è nel valore del parametro che nel primo caso dovrà contenere il %) e si possono anche combinare gli operatori: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List&lt;Persona&gt; findByCognomeLike(String cognome);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List&lt;Persona&gt; findByCognomeLikeAndIdBetween(String cognome,Integer startId,Integer endId);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public List&lt;Persona&gt; findByCognomeContainsIgnoringCase(String cognome);</a:t>
            </a:r>
            <a:endParaRPr/>
          </a:p>
        </p:txBody>
      </p:sp>
      <p:sp>
        <p:nvSpPr>
          <p:cNvPr id="304" name="Google Shape;304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5" name="Google Shape;305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ndara"/>
              <a:buNone/>
            </a:pPr>
            <a:r>
              <a:rPr lang="it-IT" sz="3200"/>
              <a:t>Livello 2</a:t>
            </a:r>
            <a:br>
              <a:rPr lang="it-IT" sz="3200"/>
            </a:br>
            <a:r>
              <a:rPr lang="it-IT" sz="3200"/>
              <a:t>metodi custom implementati in automatico da Spring (2/2)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caso in cui non siano sufficienti i metodi creati in automatico da Spring e/o i metodi implementati da Spring in base al nome specificato da noi, abbiamo la possibilità di definire i comandi </a:t>
            </a:r>
            <a:r>
              <a:rPr i="1" lang="it-IT"/>
              <a:t>Jpql</a:t>
            </a:r>
            <a:r>
              <a:rPr lang="it-IT"/>
              <a:t> ad-hoc tramite l’annotation </a:t>
            </a:r>
            <a:r>
              <a:rPr i="1" lang="it-IT"/>
              <a:t>@Query</a:t>
            </a:r>
            <a:endParaRPr i="1"/>
          </a:p>
        </p:txBody>
      </p:sp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2" name="Google Shape;312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Annotation </a:t>
            </a:r>
            <a:r>
              <a:rPr i="1" lang="it-IT"/>
              <a:t>@Query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@Query("Select p from Persona p where p.nome = :n and p.cognome = :c")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List&lt;Persona&gt; findByNomeAndCognome(@Param("n") String nome,@Param("c") String cognome);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@Query("Select p from Persona p where p.nome = ?1 and p.cognome = ?2")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List&lt;Persona&gt; findByNomeAndCognome2(String nome,String cognome);</a:t>
            </a:r>
            <a:endParaRPr/>
          </a:p>
        </p:txBody>
      </p: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query in Jpql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@Modifying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@Query("delete from Persona p where p.nome = :n")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void deleteByNome(@Param("n") String nome);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@Modifying(clearAutomatically = true)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@Query("update Persona p set p.nome = :n1 where p.nome = :n2")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void updateNome(@Param("n1") String nomeNuovo,@Param("n2") String vecchioNome);</a:t>
            </a:r>
            <a:endParaRPr/>
          </a:p>
        </p:txBody>
      </p:sp>
      <p:sp>
        <p:nvSpPr>
          <p:cNvPr id="325" name="Google Shape;325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6" name="Google Shape;326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2</a:t>
            </a:r>
            <a:br>
              <a:rPr lang="it-IT"/>
            </a:br>
            <a:r>
              <a:rPr lang="it-IT"/>
              <a:t>delete/update in Jpql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</a:t>
            </a:r>
            <a:r>
              <a:rPr i="1" lang="it-IT"/>
              <a:t>Service</a:t>
            </a:r>
            <a:r>
              <a:rPr lang="it-IT"/>
              <a:t> è la classe che implementa la </a:t>
            </a:r>
            <a:r>
              <a:rPr i="1" lang="it-IT"/>
              <a:t>business logic</a:t>
            </a:r>
            <a:r>
              <a:rPr lang="it-IT"/>
              <a:t>, effettuando una serie di operazioni c</a:t>
            </a:r>
            <a:r>
              <a:rPr i="1" lang="it-IT"/>
              <a:t>rud </a:t>
            </a:r>
            <a:r>
              <a:rPr lang="it-IT"/>
              <a:t>sul database tramite la </a:t>
            </a:r>
            <a:r>
              <a:rPr i="1" lang="it-IT"/>
              <a:t>CrudRepository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classe in questione avrà l’annotation </a:t>
            </a:r>
            <a:r>
              <a:rPr i="1" lang="it-IT"/>
              <a:t>@Service</a:t>
            </a:r>
            <a:r>
              <a:rPr lang="it-IT"/>
              <a:t> e </a:t>
            </a:r>
            <a:r>
              <a:rPr i="1" lang="it-IT"/>
              <a:t>@Transactional</a:t>
            </a:r>
            <a:r>
              <a:rPr lang="it-IT"/>
              <a:t>, al livello di classe, quindi subito prima della dichiarazione della classe ed avrà un attributo di tipo </a:t>
            </a:r>
            <a:r>
              <a:rPr i="1" lang="it-IT"/>
              <a:t>CrudRepository</a:t>
            </a:r>
            <a:r>
              <a:rPr lang="it-IT"/>
              <a:t> aggangiato tramite l’annotation </a:t>
            </a:r>
            <a:r>
              <a:rPr i="1" lang="it-IT"/>
              <a:t>@Autowired </a:t>
            </a:r>
            <a:r>
              <a:rPr lang="it-IT"/>
              <a:t>(</a:t>
            </a:r>
            <a:r>
              <a:rPr i="1" lang="it-IT"/>
              <a:t>field dependency injection</a:t>
            </a:r>
            <a:r>
              <a:rPr lang="it-IT"/>
              <a:t>) </a:t>
            </a:r>
            <a:endParaRPr i="1"/>
          </a:p>
        </p:txBody>
      </p:sp>
      <p:sp>
        <p:nvSpPr>
          <p:cNvPr id="332" name="Google Shape;332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3" name="Google Shape;333;p2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3</a:t>
            </a:r>
            <a:br>
              <a:rPr lang="it-IT"/>
            </a:br>
            <a:r>
              <a:rPr lang="it-IT"/>
              <a:t>Spring data @Service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@Service("personaService")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lang="it-IT"/>
              <a:t>@Transactional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public class PersonaService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@Autowired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private PersonaCrudRepository repository;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public void run()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Persona persona = new Persona(null,"Franco","Bianchi");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repository.save(persona);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Persona persona2 = new Persona(null,"Gianni","Verdi");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repository.save(persona2);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Persona p1 = repository.findById(1).get();</a:t>
            </a:r>
            <a:endParaRPr/>
          </a:p>
        </p:txBody>
      </p:sp>
      <p:sp>
        <p:nvSpPr>
          <p:cNvPr id="339" name="Google Shape;339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Livello 3</a:t>
            </a:r>
            <a:br>
              <a:rPr lang="it-IT"/>
            </a:br>
            <a:r>
              <a:rPr lang="it-IT"/>
              <a:t>esempio di @Service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@SpringBootApplication(scanBasePackages = {"com.azienda.springDataBoot.service"})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@EnableJpaRepositories(basePackages = {"com.azienda.springDataBoot.repository"})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@EntityScan(basePackages = {"com.azienda.springDataBoot.model"})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SpringDataBootApplication {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it-IT"/>
              <a:t>	</a:t>
            </a:r>
            <a:r>
              <a:rPr i="1" lang="it-IT" sz="1900"/>
              <a:t>public static void main(String[] args) {</a:t>
            </a:r>
            <a:endParaRPr i="1" sz="1900"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	 applicationContext = 	SpringApplication.run(SpringDataBootApplication.class, args);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	PersonaService personaService =  (PersonaService) 	applicationContext.getBean("personaService");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	personaService.run();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</a:t>
            </a:r>
            <a:endParaRPr i="1" sz="1800"/>
          </a:p>
        </p:txBody>
      </p:sp>
      <p:sp>
        <p:nvSpPr>
          <p:cNvPr id="346" name="Google Shape;346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7" name="Google Shape;347;p3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Esecuzione con Spring Boot (1/2)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 codice mostrato nella slide precedente sono state usate le annotation </a:t>
            </a:r>
            <a:r>
              <a:rPr i="1" lang="it-IT"/>
              <a:t>@EnableJpaRepositories </a:t>
            </a:r>
            <a:r>
              <a:rPr lang="it-IT"/>
              <a:t>e </a:t>
            </a:r>
            <a:r>
              <a:rPr i="1" lang="it-IT"/>
              <a:t>@EntityScan</a:t>
            </a:r>
            <a:r>
              <a:rPr lang="it-IT"/>
              <a:t> (e anche l’attributo </a:t>
            </a:r>
            <a:r>
              <a:rPr i="1" lang="it-IT"/>
              <a:t>scanBasePackages</a:t>
            </a:r>
            <a:r>
              <a:rPr lang="it-IT"/>
              <a:t> di </a:t>
            </a:r>
            <a:r>
              <a:rPr i="1" lang="it-IT"/>
              <a:t>@SpringBootApplication</a:t>
            </a:r>
            <a:r>
              <a:rPr lang="it-IT"/>
              <a:t>), in quanto di proposito le classi @Entity, </a:t>
            </a:r>
            <a:r>
              <a:rPr i="1" lang="it-IT"/>
              <a:t>@Repository</a:t>
            </a:r>
            <a:r>
              <a:rPr lang="it-IT"/>
              <a:t> e </a:t>
            </a:r>
            <a:r>
              <a:rPr i="1" lang="it-IT"/>
              <a:t>@Service</a:t>
            </a:r>
            <a:r>
              <a:rPr lang="it-IT"/>
              <a:t> sono state posizionate in package differenti rispetto alla classe principale annotata con </a:t>
            </a:r>
            <a:r>
              <a:rPr i="1" lang="it-IT"/>
              <a:t>@SpringBootApplication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se, invece, avessimo posizionato tutte le classi suddette all’interno dello stesso package (o in un sotto-package) rispetto alla classe con </a:t>
            </a:r>
            <a:r>
              <a:rPr i="1" lang="it-IT"/>
              <a:t>@SpringBootApplication</a:t>
            </a:r>
            <a:r>
              <a:rPr lang="it-IT"/>
              <a:t>, avremmo potuto evitare tutte le annotation </a:t>
            </a:r>
            <a:endParaRPr/>
          </a:p>
        </p:txBody>
      </p:sp>
      <p:sp>
        <p:nvSpPr>
          <p:cNvPr id="353" name="Google Shape;353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4" name="Google Shape;354;p3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Esecuzione con Spring Boot (2/2)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2020-01-03T14:34:34Z</dcterms:created>
  <dc:creator>Roberto Santoro</dc:creator>
</cp:coreProperties>
</file>