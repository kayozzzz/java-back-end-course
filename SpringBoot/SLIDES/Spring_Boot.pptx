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embeddedFontLst>
    <p:embeddedFont>
      <p:font typeface="Candara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gyOfdnLZNzRqHLbcjJvID2ppCx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Candara-regular.fntdata"/><Relationship Id="rId21" Type="http://schemas.openxmlformats.org/officeDocument/2006/relationships/slide" Target="slides/slide16.xml"/><Relationship Id="rId24" Type="http://schemas.openxmlformats.org/officeDocument/2006/relationships/font" Target="fonts/Candara-italic.fntdata"/><Relationship Id="rId23" Type="http://schemas.openxmlformats.org/officeDocument/2006/relationships/font" Target="fonts/Candar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Candar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24" name="Google Shape;24;p18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25" name="Google Shape;25;p18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6" name="Google Shape;26;p18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7" name="Google Shape;27;p18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8" name="Google Shape;28;p18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9" name="Google Shape;29;p18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30" name="Google Shape;30;p18"/>
          <p:cNvSpPr txBox="1"/>
          <p:nvPr>
            <p:ph type="ctrTitle"/>
          </p:nvPr>
        </p:nvSpPr>
        <p:spPr>
          <a:xfrm>
            <a:off x="685800" y="1600200"/>
            <a:ext cx="7772400" cy="17801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sz="44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subTitle"/>
          </p:nvPr>
        </p:nvSpPr>
        <p:spPr>
          <a:xfrm>
            <a:off x="1371600" y="3556001"/>
            <a:ext cx="6400800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44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8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0" name="Google Shape;40;p1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showMasterSp="0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3" name="Google Shape;43;p20"/>
          <p:cNvSpPr/>
          <p:nvPr/>
        </p:nvSpPr>
        <p:spPr>
          <a:xfrm>
            <a:off x="6047438" y="4203592"/>
            <a:ext cx="2876429" cy="714026"/>
          </a:xfrm>
          <a:custGeom>
            <a:rect b="b" l="l" r="r" t="t"/>
            <a:pathLst>
              <a:path extrusionOk="0" h="640" w="2706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lt2">
              <a:alpha val="29019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4" name="Google Shape;44;p20"/>
          <p:cNvSpPr/>
          <p:nvPr/>
        </p:nvSpPr>
        <p:spPr>
          <a:xfrm>
            <a:off x="2619320" y="4075290"/>
            <a:ext cx="5544515" cy="850138"/>
          </a:xfrm>
          <a:custGeom>
            <a:rect b="b" l="l" r="r" t="t"/>
            <a:pathLst>
              <a:path extrusionOk="0" h="762" w="5216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lt2">
              <a:alpha val="4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5" name="Google Shape;45;p20"/>
          <p:cNvSpPr/>
          <p:nvPr/>
        </p:nvSpPr>
        <p:spPr>
          <a:xfrm>
            <a:off x="2828728" y="4087562"/>
            <a:ext cx="5467980" cy="774272"/>
          </a:xfrm>
          <a:custGeom>
            <a:rect b="b" l="l" r="r" t="t"/>
            <a:pathLst>
              <a:path extrusionOk="0" h="694" w="514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6" name="Google Shape;46;p20"/>
          <p:cNvSpPr/>
          <p:nvPr/>
        </p:nvSpPr>
        <p:spPr>
          <a:xfrm>
            <a:off x="5609489" y="4074174"/>
            <a:ext cx="3308000" cy="651549"/>
          </a:xfrm>
          <a:custGeom>
            <a:rect b="b" l="l" r="r" t="t"/>
            <a:pathLst>
              <a:path extrusionOk="0" h="584" w="3112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7" name="Google Shape;47;p20"/>
          <p:cNvSpPr/>
          <p:nvPr/>
        </p:nvSpPr>
        <p:spPr>
          <a:xfrm>
            <a:off x="211665" y="4058555"/>
            <a:ext cx="8723376" cy="1329874"/>
          </a:xfrm>
          <a:custGeom>
            <a:rect b="b" l="l" r="r" t="t"/>
            <a:pathLst>
              <a:path extrusionOk="0" h="1192" w="8196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8" name="Google Shape;48;p20"/>
          <p:cNvSpPr txBox="1"/>
          <p:nvPr>
            <p:ph type="title"/>
          </p:nvPr>
        </p:nvSpPr>
        <p:spPr>
          <a:xfrm>
            <a:off x="690032" y="2463560"/>
            <a:ext cx="7772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" type="body"/>
          </p:nvPr>
        </p:nvSpPr>
        <p:spPr>
          <a:xfrm>
            <a:off x="1367365" y="1437448"/>
            <a:ext cx="6417734" cy="939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20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8" name="Google Shape;58;p21"/>
          <p:cNvSpPr txBox="1"/>
          <p:nvPr>
            <p:ph idx="1" type="body"/>
          </p:nvPr>
        </p:nvSpPr>
        <p:spPr>
          <a:xfrm>
            <a:off x="676655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2" type="body"/>
          </p:nvPr>
        </p:nvSpPr>
        <p:spPr>
          <a:xfrm>
            <a:off x="4645152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" type="body"/>
          </p:nvPr>
        </p:nvSpPr>
        <p:spPr>
          <a:xfrm>
            <a:off x="676656" y="2678114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22"/>
          <p:cNvSpPr txBox="1"/>
          <p:nvPr>
            <p:ph idx="2" type="body"/>
          </p:nvPr>
        </p:nvSpPr>
        <p:spPr>
          <a:xfrm>
            <a:off x="677332" y="3429000"/>
            <a:ext cx="3820055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4" name="Google Shape;64;p22"/>
          <p:cNvSpPr txBox="1"/>
          <p:nvPr>
            <p:ph idx="3" type="body"/>
          </p:nvPr>
        </p:nvSpPr>
        <p:spPr>
          <a:xfrm>
            <a:off x="4648200" y="2678113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i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22"/>
          <p:cNvSpPr txBox="1"/>
          <p:nvPr>
            <p:ph idx="4" type="body"/>
          </p:nvPr>
        </p:nvSpPr>
        <p:spPr>
          <a:xfrm>
            <a:off x="4645025" y="3429000"/>
            <a:ext cx="3822192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6" name="Google Shape;66;p22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76" name="Google Shape;76;p24"/>
          <p:cNvGrpSpPr/>
          <p:nvPr/>
        </p:nvGrpSpPr>
        <p:grpSpPr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7" name="Google Shape;77;p24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8" name="Google Shape;78;p24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9" name="Google Shape;79;p24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0" name="Google Shape;80;p24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1" name="Google Shape;81;p24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82" name="Google Shape;82;p24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showMasterSp="0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5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7" name="Google Shape;87;p25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5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90" name="Google Shape;90;p25"/>
          <p:cNvSpPr txBox="1"/>
          <p:nvPr>
            <p:ph idx="1" type="body"/>
          </p:nvPr>
        </p:nvSpPr>
        <p:spPr>
          <a:xfrm>
            <a:off x="914400" y="3581400"/>
            <a:ext cx="3352800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grpSp>
        <p:nvGrpSpPr>
          <p:cNvPr id="91" name="Google Shape;91;p25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92" name="Google Shape;92;p25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3" name="Google Shape;93;p25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4" name="Google Shape;94;p25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5" name="Google Shape;95;p25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6" name="Google Shape;96;p25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97" name="Google Shape;97;p25"/>
          <p:cNvSpPr txBox="1"/>
          <p:nvPr>
            <p:ph type="title"/>
          </p:nvPr>
        </p:nvSpPr>
        <p:spPr>
          <a:xfrm>
            <a:off x="914400" y="2286000"/>
            <a:ext cx="33528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ndara"/>
              <a:buNone/>
              <a:defRPr sz="32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5"/>
          <p:cNvSpPr txBox="1"/>
          <p:nvPr>
            <p:ph idx="2" type="body"/>
          </p:nvPr>
        </p:nvSpPr>
        <p:spPr>
          <a:xfrm>
            <a:off x="4651962" y="1828800"/>
            <a:ext cx="3904076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Char char="*"/>
              <a:defRPr sz="2200">
                <a:solidFill>
                  <a:schemeClr val="dk2"/>
                </a:solidFill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*"/>
              <a:defRPr sz="2000">
                <a:solidFill>
                  <a:schemeClr val="dk2"/>
                </a:solidFill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*"/>
              <a:defRPr sz="1800">
                <a:solidFill>
                  <a:schemeClr val="dk2"/>
                </a:solidFill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5pPr>
            <a:lvl6pPr indent="-355600" lvl="5" marL="27432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6pPr>
            <a:lvl7pPr indent="-355600" lvl="6" marL="32004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8pPr>
            <a:lvl9pPr indent="-355600" lvl="8" marL="41148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showMasterSp="0" type="picTx">
  <p:cSld name="PICTURE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01" name="Google Shape;101;p26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2" name="Google Shape;102;p26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3" name="Google Shape;103;p26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4" name="Google Shape;104;p26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5" name="Google Shape;105;p26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6" name="Google Shape;106;p26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07" name="Google Shape;107;p26"/>
          <p:cNvSpPr txBox="1"/>
          <p:nvPr>
            <p:ph type="title"/>
          </p:nvPr>
        </p:nvSpPr>
        <p:spPr>
          <a:xfrm>
            <a:off x="4874155" y="338667"/>
            <a:ext cx="3812645" cy="2429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ndara"/>
              <a:buNone/>
              <a:defRPr b="0" sz="28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1" type="body"/>
          </p:nvPr>
        </p:nvSpPr>
        <p:spPr>
          <a:xfrm>
            <a:off x="4868333" y="2785533"/>
            <a:ext cx="3818467" cy="2421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9" name="Google Shape;109;p26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12" name="Google Shape;112;p26"/>
          <p:cNvSpPr/>
          <p:nvPr>
            <p:ph idx="2" type="pic"/>
          </p:nvPr>
        </p:nvSpPr>
        <p:spPr>
          <a:xfrm>
            <a:off x="838200" y="1371600"/>
            <a:ext cx="3566160" cy="2926080"/>
          </a:xfrm>
          <a:prstGeom prst="roundRect">
            <a:avLst>
              <a:gd fmla="val 3924" name="adj"/>
            </a:avLst>
          </a:prstGeom>
          <a:solidFill>
            <a:schemeClr val="accent1"/>
          </a:solidFill>
          <a:ln>
            <a:noFill/>
          </a:ln>
          <a:effectLst>
            <a:reflection blurRad="0" dir="5400000" dist="5000" endA="0" endPos="30000" kx="0" rotWithShape="0" algn="bl" stA="30000" stPos="0" sy="-100000" ky="0"/>
          </a:effectLst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7"/>
          <p:cNvSpPr txBox="1"/>
          <p:nvPr>
            <p:ph idx="1" type="body"/>
          </p:nvPr>
        </p:nvSpPr>
        <p:spPr>
          <a:xfrm rot="5400000">
            <a:off x="2850886" y="696648"/>
            <a:ext cx="3450696" cy="7408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16" name="Google Shape;116;p27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7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showMasterSp="0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1" name="Google Shape;121;p28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8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124" name="Google Shape;124;p28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25" name="Google Shape;125;p28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6" name="Google Shape;126;p28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7" name="Google Shape;127;p28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8" name="Google Shape;128;p28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9" name="Google Shape;129;p28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30" name="Google Shape;130;p28"/>
          <p:cNvSpPr txBox="1"/>
          <p:nvPr>
            <p:ph type="title"/>
          </p:nvPr>
        </p:nvSpPr>
        <p:spPr>
          <a:xfrm rot="5400000">
            <a:off x="5414434" y="2662767"/>
            <a:ext cx="448733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1" type="body"/>
          </p:nvPr>
        </p:nvSpPr>
        <p:spPr>
          <a:xfrm rot="5400000">
            <a:off x="1223433" y="681567"/>
            <a:ext cx="448733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fmla="val 3362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1" name="Google Shape;11;p17"/>
          <p:cNvGrpSpPr/>
          <p:nvPr/>
        </p:nvGrpSpPr>
        <p:grpSpPr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2" name="Google Shape;12;p17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3" name="Google Shape;13;p17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4" name="Google Shape;14;p17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5" name="Google Shape;15;p17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6" name="Google Shape;16;p17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7" name="Google Shape;17;p1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i="0" sz="4400" u="none" cap="none" strike="noStrike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" name="Google Shape;21;p17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*"/>
              <a:defRPr b="0" i="0" sz="2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368300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*"/>
              <a:defRPr b="0" i="0" sz="22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*"/>
              <a:defRPr b="0" i="0" sz="20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*"/>
              <a:defRPr b="0" i="0" sz="18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*"/>
              <a:defRPr b="0" i="0" sz="16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317500" lvl="5" marL="27432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-317500" lvl="6" marL="32004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-317500" lvl="7" marL="36576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-317500" lvl="8" marL="41148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/>
          <p:nvPr>
            <p:ph type="ctrTitle"/>
          </p:nvPr>
        </p:nvSpPr>
        <p:spPr>
          <a:xfrm>
            <a:off x="685800" y="1600200"/>
            <a:ext cx="7772400" cy="17801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Spring Boot</a:t>
            </a:r>
            <a:endParaRPr/>
          </a:p>
        </p:txBody>
      </p:sp>
      <p:sp>
        <p:nvSpPr>
          <p:cNvPr id="137" name="Google Shape;137;p1"/>
          <p:cNvSpPr txBox="1"/>
          <p:nvPr>
            <p:ph idx="1" type="subTitle"/>
          </p:nvPr>
        </p:nvSpPr>
        <p:spPr>
          <a:xfrm>
            <a:off x="1371600" y="3556001"/>
            <a:ext cx="6400800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Java base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Spring core – IoC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Maven</a:t>
            </a:r>
            <a:endParaRPr/>
          </a:p>
        </p:txBody>
      </p:sp>
      <p:sp>
        <p:nvSpPr>
          <p:cNvPr id="143" name="Google Shape;143;p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44" name="Google Shape;144;p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Prerequisiti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La fase di </a:t>
            </a:r>
            <a:r>
              <a:rPr i="1" lang="it-IT"/>
              <a:t>set-up </a:t>
            </a:r>
            <a:r>
              <a:rPr lang="it-IT"/>
              <a:t>di un qualsiasi progetto prevede quasi sempre una serie di task ripetitivi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Tra questi task, quello che in genere richiede maggior dispiego di tempo e di energie è la gestione delle librerie o dipendenze esterne, che generalmente viene affrontato in due modalità alternative: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modalità manuale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modalità assistita tramite un tool: generalmente Maven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Nel caso, poi, di un progetto basato su Spring il problema diventa ancora più sentito in quanto tipicamente sono necessarie parecchie librerie</a:t>
            </a:r>
            <a:endParaRPr/>
          </a:p>
        </p:txBody>
      </p:sp>
      <p:sp>
        <p:nvSpPr>
          <p:cNvPr id="150" name="Google Shape;150;p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1" name="Google Shape;151;p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Spring Boot: l’esigenza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Spring Boot è sostanzialmente un insieme di macro-librerie pre-configurate che consentono di velocizzare la fase di start-up di un progetto basato su Spring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Queste librerie sono chiamate </a:t>
            </a:r>
            <a:r>
              <a:rPr i="1" lang="it-IT"/>
              <a:t>starter</a:t>
            </a:r>
            <a:r>
              <a:rPr lang="it-IT"/>
              <a:t>: ogni </a:t>
            </a:r>
            <a:r>
              <a:rPr i="1" lang="it-IT"/>
              <a:t>starter </a:t>
            </a:r>
            <a:r>
              <a:rPr lang="it-IT"/>
              <a:t>si porta dietro un insieme di librerie collegate, è come se ogni </a:t>
            </a:r>
            <a:r>
              <a:rPr i="1" lang="it-IT"/>
              <a:t>starter</a:t>
            </a:r>
            <a:r>
              <a:rPr lang="it-IT"/>
              <a:t> fosse quindi un catalogo di librerie raggruppate per tipologia (es. data, web etc.)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Gli </a:t>
            </a:r>
            <a:r>
              <a:rPr i="1" lang="it-IT"/>
              <a:t>starter</a:t>
            </a:r>
            <a:r>
              <a:rPr lang="it-IT"/>
              <a:t> sono </a:t>
            </a:r>
            <a:r>
              <a:rPr i="1" lang="it-IT"/>
              <a:t>opinionati</a:t>
            </a:r>
            <a:r>
              <a:rPr lang="it-IT"/>
              <a:t>, ovvero sono basati sull’</a:t>
            </a:r>
            <a:r>
              <a:rPr i="1" lang="it-IT"/>
              <a:t>opinione</a:t>
            </a:r>
            <a:r>
              <a:rPr lang="it-IT"/>
              <a:t> degli sviluppatori Spring; l’idea è «se vuoi usare, per esempio la parte </a:t>
            </a:r>
            <a:r>
              <a:rPr i="1" lang="it-IT"/>
              <a:t>data</a:t>
            </a:r>
            <a:r>
              <a:rPr lang="it-IT"/>
              <a:t>, allora sicuramente ti serviranno queste </a:t>
            </a:r>
            <a:r>
              <a:rPr i="1" lang="it-IT"/>
              <a:t>n</a:t>
            </a:r>
            <a:r>
              <a:rPr lang="it-IT"/>
              <a:t> librerie»</a:t>
            </a:r>
            <a:endParaRPr/>
          </a:p>
        </p:txBody>
      </p:sp>
      <p:sp>
        <p:nvSpPr>
          <p:cNvPr id="157" name="Google Shape;157;p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8" name="Google Shape;158;p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Spring boot: cos’è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Esistono differenti modalità con cui poter usare Spring Boot, quali ad esempio: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direttamente dall’interno di un editor avanzato/IDE: tipico esempio Spring Tool Suite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tramite la </a:t>
            </a:r>
            <a:r>
              <a:rPr i="1" lang="it-IT"/>
              <a:t>command line interface</a:t>
            </a:r>
            <a:r>
              <a:rPr lang="it-IT"/>
              <a:t> di Spring Boot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tramite tool di </a:t>
            </a:r>
            <a:r>
              <a:rPr i="1" lang="it-IT"/>
              <a:t>build</a:t>
            </a:r>
            <a:r>
              <a:rPr lang="it-IT"/>
              <a:t> esterni come ad esempio Maven o Gradle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tramite l’applicativo web Spring Initializr</a:t>
            </a:r>
            <a:endParaRPr/>
          </a:p>
        </p:txBody>
      </p:sp>
      <p:sp>
        <p:nvSpPr>
          <p:cNvPr id="164" name="Google Shape;164;p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65" name="Google Shape;165;p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Spring Boot: come utilizzarlo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Le strade pià semplici sono sicuramente l’utilizzo diretto dall’interno di un editor avanzato/IDE o l’utilizzo dell’applicativo web Spring Initializr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Noi useremo quest’ultima strada in modo da non essere vincolati ad un editor/IDE specifico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Spring Initializr è essenzialmente una collezione di web services Rest con un’interfaccia grafica accessibile anche tramite browser e che risponde all’indirizzo https://start.spring.io/</a:t>
            </a:r>
            <a:endParaRPr/>
          </a:p>
        </p:txBody>
      </p:sp>
      <p:sp>
        <p:nvSpPr>
          <p:cNvPr id="171" name="Google Shape;171;p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72" name="Google Shape;172;p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Spring Initializr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560" y="1844824"/>
            <a:ext cx="8075240" cy="417646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79" name="Google Shape;179;p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Spring Initializr: schermata principale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Dalla schermata principale di Spring Initializr è possibile selezionare: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il tipo di progetto (Maven/Gradle)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il tipo di linguaggio (Java/Kotlin/Groove)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la versione di Spring Boot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le informazioni di base del progetto: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groupId/artifactId/name etc.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le dipendenze del progetto, intese come gli </a:t>
            </a:r>
            <a:r>
              <a:rPr i="1" lang="it-IT"/>
              <a:t>starter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generare il progetto tramite il bottone </a:t>
            </a:r>
            <a:r>
              <a:rPr i="1" lang="it-IT"/>
              <a:t>generate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86" name="Google Shape;186;p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Spring Initializr: funzionalità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Il bottone </a:t>
            </a:r>
            <a:r>
              <a:rPr i="1" lang="it-IT"/>
              <a:t>generate</a:t>
            </a:r>
            <a:r>
              <a:rPr lang="it-IT"/>
              <a:t> prepara un file </a:t>
            </a:r>
            <a:r>
              <a:rPr i="1" lang="it-IT"/>
              <a:t>.zip</a:t>
            </a:r>
            <a:r>
              <a:rPr lang="it-IT"/>
              <a:t> contenente la struttura del nostro progetto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Nel nostro caso, scegliendo Maven come tipologia, una volta scaricato il file </a:t>
            </a:r>
            <a:r>
              <a:rPr i="1" lang="it-IT"/>
              <a:t>.zip</a:t>
            </a:r>
            <a:r>
              <a:rPr lang="it-IT"/>
              <a:t> generato da Spring Initializr non dovremo fare altro che </a:t>
            </a:r>
            <a:r>
              <a:rPr i="1" lang="it-IT"/>
              <a:t>unzipparlo</a:t>
            </a:r>
            <a:r>
              <a:rPr lang="it-IT"/>
              <a:t> in qualche directory del nostro pc ed importarlo all’interno di Eclipse, scegliendo dal menu </a:t>
            </a:r>
            <a:r>
              <a:rPr i="1" lang="it-IT"/>
              <a:t>File&gt;Import&gt;Existing Maven Projects</a:t>
            </a:r>
            <a:endParaRPr/>
          </a:p>
        </p:txBody>
      </p:sp>
      <p:sp>
        <p:nvSpPr>
          <p:cNvPr id="192" name="Google Shape;192;p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93" name="Google Shape;193;p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Spring Initializr: generazione del progetto ed import in Eclipse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Se analizziamo la struttura del progetto generato da Spring Initializr, anche senza aver selezionato alcuna </a:t>
            </a:r>
            <a:r>
              <a:rPr i="1" lang="it-IT"/>
              <a:t>dependency</a:t>
            </a:r>
            <a:r>
              <a:rPr lang="it-IT"/>
              <a:t>, noteremo la presenza di diverse cartelle e file. Quelli su cui puntare l’attenzione sono: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pom.xml</a:t>
            </a:r>
            <a:endParaRPr/>
          </a:p>
          <a:p>
            <a:pPr indent="-228600" lvl="2" marL="855663" rtl="0" algn="l">
              <a:spcBef>
                <a:spcPts val="400"/>
              </a:spcBef>
              <a:spcAft>
                <a:spcPts val="0"/>
              </a:spcAft>
              <a:buSzPts val="2000"/>
              <a:buChar char="*"/>
            </a:pPr>
            <a:r>
              <a:rPr lang="it-IT"/>
              <a:t>spring-boot-starter-parent</a:t>
            </a:r>
            <a:endParaRPr/>
          </a:p>
          <a:p>
            <a:pPr indent="-228600" lvl="2" marL="855663" rtl="0" algn="l">
              <a:spcBef>
                <a:spcPts val="400"/>
              </a:spcBef>
              <a:spcAft>
                <a:spcPts val="0"/>
              </a:spcAft>
              <a:buSzPts val="2000"/>
              <a:buChar char="*"/>
            </a:pPr>
            <a:r>
              <a:rPr lang="it-IT"/>
              <a:t>spring-boot-starter</a:t>
            </a:r>
            <a:endParaRPr/>
          </a:p>
          <a:p>
            <a:pPr indent="-228600" lvl="2" marL="855663" rtl="0" algn="l">
              <a:spcBef>
                <a:spcPts val="400"/>
              </a:spcBef>
              <a:spcAft>
                <a:spcPts val="0"/>
              </a:spcAft>
              <a:buSzPts val="2000"/>
              <a:buChar char="*"/>
            </a:pPr>
            <a:r>
              <a:rPr lang="it-IT"/>
              <a:t>spring-boot-starter-test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librerie riportate come </a:t>
            </a:r>
            <a:r>
              <a:rPr i="1" lang="it-IT"/>
              <a:t>Maven Dependencies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classe con annotation </a:t>
            </a:r>
            <a:r>
              <a:rPr i="1" lang="it-IT"/>
              <a:t>@SpringBootApplication</a:t>
            </a:r>
            <a:endParaRPr i="1"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file application.properties sotto </a:t>
            </a:r>
            <a:r>
              <a:rPr i="1" lang="it-IT"/>
              <a:t>src/main/resources</a:t>
            </a:r>
            <a:endParaRPr/>
          </a:p>
        </p:txBody>
      </p:sp>
      <p:sp>
        <p:nvSpPr>
          <p:cNvPr id="199" name="Google Shape;199;p1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00" name="Google Shape;200;p1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Spring Initializr: </a:t>
            </a:r>
            <a:br>
              <a:rPr lang="it-IT"/>
            </a:br>
            <a:r>
              <a:rPr lang="it-IT"/>
              <a:t>struttura del progetto (1/2)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Gli </a:t>
            </a:r>
            <a:r>
              <a:rPr i="1" lang="it-IT"/>
              <a:t>starter</a:t>
            </a:r>
            <a:r>
              <a:rPr lang="it-IT"/>
              <a:t> generati da Spring Initializr sono quelli base, o </a:t>
            </a:r>
            <a:r>
              <a:rPr i="1" lang="it-IT"/>
              <a:t>core</a:t>
            </a:r>
            <a:r>
              <a:rPr lang="it-IT"/>
              <a:t>, sempre presenti in qualsiasi progetto Spring Boot e sono responsabili del caricamento di tutte le librerie Maven che possiamo vedere all’interno del nostro progetto, pur non avendo indicato alcuna </a:t>
            </a:r>
            <a:r>
              <a:rPr i="1" lang="it-IT"/>
              <a:t>dependency</a:t>
            </a:r>
            <a:r>
              <a:rPr lang="it-IT"/>
              <a:t> esplicita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il file </a:t>
            </a:r>
            <a:r>
              <a:rPr i="1" lang="it-IT"/>
              <a:t>application.properties </a:t>
            </a:r>
            <a:r>
              <a:rPr lang="it-IT"/>
              <a:t>è quello dove potremmo indicare a Spring tutte le </a:t>
            </a:r>
            <a:r>
              <a:rPr i="1" lang="it-IT"/>
              <a:t>customizzazioni </a:t>
            </a:r>
            <a:r>
              <a:rPr lang="it-IT"/>
              <a:t>che vogliamo usare nel nostro progetto rispetto alle scelte di default </a:t>
            </a:r>
            <a:r>
              <a:rPr i="1" lang="it-IT"/>
              <a:t>opinionate</a:t>
            </a:r>
            <a:r>
              <a:rPr lang="it-IT"/>
              <a:t> del team di Spring/Pivotal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la classe Java annotata con </a:t>
            </a:r>
            <a:r>
              <a:rPr i="1" lang="it-IT"/>
              <a:t>@SpringBootApplication</a:t>
            </a:r>
            <a:r>
              <a:rPr lang="it-IT"/>
              <a:t> è quella che ci interessa maggiormente in quanto rappresenta l’</a:t>
            </a:r>
            <a:r>
              <a:rPr i="1" lang="it-IT"/>
              <a:t>entry-point</a:t>
            </a:r>
            <a:r>
              <a:rPr lang="it-IT"/>
              <a:t> della nostra applicazione; mandandola in esecuzione si avvierà il nostro progetto Spring</a:t>
            </a:r>
            <a:endParaRPr i="1"/>
          </a:p>
        </p:txBody>
      </p:sp>
      <p:sp>
        <p:nvSpPr>
          <p:cNvPr id="206" name="Google Shape;206;p1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07" name="Google Shape;207;p1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Spring Initializr: </a:t>
            </a:r>
            <a:br>
              <a:rPr lang="it-IT"/>
            </a:br>
            <a:r>
              <a:rPr lang="it-IT"/>
              <a:t>struttura del progetto (2/2)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 txBox="1"/>
          <p:nvPr>
            <p:ph idx="1" type="body"/>
          </p:nvPr>
        </p:nvSpPr>
        <p:spPr>
          <a:xfrm>
            <a:off x="872067" y="1700808"/>
            <a:ext cx="7408333" cy="442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La annotation </a:t>
            </a:r>
            <a:r>
              <a:rPr i="1" lang="it-IT"/>
              <a:t>@SpringBootApplication</a:t>
            </a:r>
            <a:r>
              <a:rPr lang="it-IT"/>
              <a:t> incapsula: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@Configuration</a:t>
            </a:r>
            <a:r>
              <a:rPr lang="it-IT"/>
              <a:t>: possiamo quindi usare la stessa classe anche come </a:t>
            </a:r>
            <a:r>
              <a:rPr i="1" lang="it-IT"/>
              <a:t>factory</a:t>
            </a:r>
            <a:r>
              <a:rPr lang="it-IT"/>
              <a:t> di </a:t>
            </a:r>
            <a:r>
              <a:rPr i="1" lang="it-IT"/>
              <a:t>bean </a:t>
            </a:r>
            <a:r>
              <a:rPr lang="it-IT"/>
              <a:t>utilizzando metodi annotati con </a:t>
            </a:r>
            <a:r>
              <a:rPr i="1" lang="it-IT"/>
              <a:t>@Bean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@ComponentScan</a:t>
            </a:r>
            <a:r>
              <a:rPr lang="it-IT"/>
              <a:t>: la classe automaticamente ricerca tutti gli </a:t>
            </a:r>
            <a:r>
              <a:rPr i="1" lang="it-IT"/>
              <a:t>stereotype </a:t>
            </a:r>
            <a:r>
              <a:rPr lang="it-IT"/>
              <a:t>Spring (es. </a:t>
            </a:r>
            <a:r>
              <a:rPr i="1" lang="it-IT"/>
              <a:t>@Component</a:t>
            </a:r>
            <a:r>
              <a:rPr lang="it-IT"/>
              <a:t>) presenti all’interno dello stesso package e nei sotto-package. Usando l’attributo </a:t>
            </a:r>
            <a:r>
              <a:rPr i="1" lang="it-IT"/>
              <a:t>scanBasePackages</a:t>
            </a:r>
            <a:r>
              <a:rPr lang="it-IT"/>
              <a:t> potremo indicare ulteriori package in cui ricercare gli </a:t>
            </a:r>
            <a:r>
              <a:rPr i="1" lang="it-IT"/>
              <a:t>stereotype</a:t>
            </a:r>
            <a:endParaRPr i="1"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@EnableAutoConfiguration</a:t>
            </a:r>
            <a:r>
              <a:rPr lang="it-IT"/>
              <a:t>: abilita la </a:t>
            </a:r>
            <a:r>
              <a:rPr i="1" lang="it-IT"/>
              <a:t>auto-configurazione</a:t>
            </a:r>
            <a:r>
              <a:rPr lang="it-IT"/>
              <a:t> di Spring Boot, ovvero la configurazione automatica e </a:t>
            </a:r>
            <a:r>
              <a:rPr i="1" lang="it-IT"/>
              <a:t>opinionata</a:t>
            </a:r>
            <a:r>
              <a:rPr lang="it-IT"/>
              <a:t> in base alle librerie presenti nel </a:t>
            </a:r>
            <a:r>
              <a:rPr i="1" lang="it-IT"/>
              <a:t>classpath. </a:t>
            </a:r>
            <a:r>
              <a:rPr lang="it-IT"/>
              <a:t>Es.: se nel classpath è presente </a:t>
            </a:r>
            <a:r>
              <a:rPr i="1" lang="it-IT"/>
              <a:t>spring-mvc</a:t>
            </a:r>
            <a:r>
              <a:rPr lang="it-IT"/>
              <a:t> allora abilita di default l’mvc tramite l’annotation </a:t>
            </a:r>
            <a:r>
              <a:rPr i="1" lang="it-IT"/>
              <a:t>@EnableMvc</a:t>
            </a:r>
            <a:endParaRPr/>
          </a:p>
          <a:p>
            <a:pPr indent="-133350" lvl="0" marL="27432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4" name="Google Shape;214;p1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@SpringBootApplication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/>
          <p:nvPr>
            <p:ph idx="1" type="body"/>
          </p:nvPr>
        </p:nvSpPr>
        <p:spPr>
          <a:xfrm>
            <a:off x="872067" y="1412776"/>
            <a:ext cx="7408333" cy="4837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301943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 sz="1600"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@SpringBootApplication()</a:t>
            </a:r>
            <a:endParaRPr i="1" sz="1600"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public class SpringIoCBootApplication {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public static void main(String[] args) {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	SpringApplication.run(SpringIoCBootApplication.class, args);</a:t>
            </a:r>
            <a:endParaRPr/>
          </a:p>
          <a:p>
            <a:pPr indent="0" lvl="1" marL="3019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		…..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il codice mostrato sopra è la versione di default della classe con </a:t>
            </a:r>
            <a:r>
              <a:rPr i="1" lang="it-IT"/>
              <a:t>@SpringBootApplication</a:t>
            </a:r>
            <a:r>
              <a:rPr lang="it-IT"/>
              <a:t>, così come viene generata da Spring Initializr. Già in questa versione possiamo mandarla in esecuzione e vedere l’output a console:</a:t>
            </a:r>
            <a:endParaRPr/>
          </a:p>
        </p:txBody>
      </p:sp>
      <p:sp>
        <p:nvSpPr>
          <p:cNvPr id="220" name="Google Shape;220;p1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1" name="Google Shape;221;p1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Esecuzione dell’applicazione</a:t>
            </a:r>
            <a:endParaRPr/>
          </a:p>
        </p:txBody>
      </p:sp>
      <p:pic>
        <p:nvPicPr>
          <p:cNvPr id="222" name="Google Shape;2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9632" y="5191468"/>
            <a:ext cx="6768752" cy="901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8" name="Google Shape;228;p1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Recuperare l’</a:t>
            </a:r>
            <a:r>
              <a:rPr i="1" lang="it-IT"/>
              <a:t>application context</a:t>
            </a:r>
            <a:endParaRPr/>
          </a:p>
        </p:txBody>
      </p:sp>
      <p:sp>
        <p:nvSpPr>
          <p:cNvPr id="229" name="Google Shape;229;p14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Il metodo statico </a:t>
            </a:r>
            <a:r>
              <a:rPr i="1" lang="it-IT"/>
              <a:t>run </a:t>
            </a:r>
            <a:r>
              <a:rPr lang="it-IT"/>
              <a:t>della classe </a:t>
            </a:r>
            <a:r>
              <a:rPr i="1" lang="it-IT"/>
              <a:t>SpringApplication </a:t>
            </a:r>
            <a:r>
              <a:rPr lang="it-IT"/>
              <a:t>restituisce un oggetto di classe </a:t>
            </a:r>
            <a:r>
              <a:rPr i="1" lang="it-IT"/>
              <a:t>ConfigurableApplicationContext</a:t>
            </a:r>
            <a:r>
              <a:rPr lang="it-IT"/>
              <a:t>, ovvero un </a:t>
            </a:r>
            <a:r>
              <a:rPr i="1" lang="it-IT"/>
              <a:t>application context</a:t>
            </a:r>
            <a:r>
              <a:rPr lang="it-IT"/>
              <a:t> di Spring che possiamo utilizzare per lavorare con l’</a:t>
            </a:r>
            <a:r>
              <a:rPr i="1" lang="it-IT"/>
              <a:t>IoC container</a:t>
            </a:r>
            <a:r>
              <a:rPr lang="it-IT"/>
              <a:t>; per esempio potremmo stampare a console tutti i </a:t>
            </a:r>
            <a:r>
              <a:rPr i="1" lang="it-IT"/>
              <a:t>bean</a:t>
            </a:r>
            <a:r>
              <a:rPr lang="it-IT"/>
              <a:t> caricati di default da S. Boot:</a:t>
            </a:r>
            <a:endParaRPr/>
          </a:p>
          <a:p>
            <a:pPr indent="0" lvl="2" marL="5813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ApplicationContext context = SpringApplication.run(SpringIoCBootApplication.class, args);</a:t>
            </a:r>
            <a:endParaRPr/>
          </a:p>
          <a:p>
            <a:pPr indent="0" lvl="2" marL="5813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String[] beanNames = context.getBeanDefinitionNames();</a:t>
            </a:r>
            <a:endParaRPr/>
          </a:p>
          <a:p>
            <a:pPr indent="0" lvl="2" marL="5813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List&lt;String&gt; list = Arrays.asList(beanNames);</a:t>
            </a:r>
            <a:endParaRPr/>
          </a:p>
          <a:p>
            <a:pPr indent="0" lvl="2" marL="5813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System.out.println("\n\nTutti i beans creati da Spring:");</a:t>
            </a:r>
            <a:endParaRPr/>
          </a:p>
          <a:p>
            <a:pPr indent="0" lvl="2" marL="58134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rPr i="1" lang="it-IT" sz="1600"/>
              <a:t>list.forEach(System.out::println);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L’annotation </a:t>
            </a:r>
            <a:r>
              <a:rPr i="1" lang="it-IT"/>
              <a:t>@SpringBootApplication</a:t>
            </a:r>
            <a:r>
              <a:rPr lang="it-IT"/>
              <a:t>, come detto, incapsula anche la </a:t>
            </a:r>
            <a:r>
              <a:rPr i="1" lang="it-IT"/>
              <a:t>@ComponentScan</a:t>
            </a:r>
            <a:r>
              <a:rPr lang="it-IT"/>
              <a:t>, di default ricerca gli </a:t>
            </a:r>
            <a:r>
              <a:rPr i="1" lang="it-IT"/>
              <a:t>stereotype</a:t>
            </a:r>
            <a:r>
              <a:rPr lang="it-IT"/>
              <a:t> (come </a:t>
            </a:r>
            <a:r>
              <a:rPr i="1" lang="it-IT"/>
              <a:t>@Component</a:t>
            </a:r>
            <a:r>
              <a:rPr lang="it-IT"/>
              <a:t>) all’interno del package e dei sotto-package in cui è definita e, inoltre, tramite l’opzione </a:t>
            </a:r>
            <a:r>
              <a:rPr i="1" lang="it-IT"/>
              <a:t>scanBasePackages </a:t>
            </a:r>
            <a:r>
              <a:rPr lang="it-IT"/>
              <a:t>può essere istruita per ricercare gli </a:t>
            </a:r>
            <a:r>
              <a:rPr i="1" lang="it-IT"/>
              <a:t>stereotype</a:t>
            </a:r>
            <a:r>
              <a:rPr lang="it-IT"/>
              <a:t> in qualsiasi altro package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Pertanto, tutto quanto visto sull’</a:t>
            </a:r>
            <a:r>
              <a:rPr i="1" lang="it-IT"/>
              <a:t>IoC container</a:t>
            </a:r>
            <a:r>
              <a:rPr lang="it-IT"/>
              <a:t> di Spring è replicabile utilizzando Spring Boot e tramite l’annotation </a:t>
            </a:r>
            <a:r>
              <a:rPr i="1" lang="it-IT"/>
              <a:t>@SpringBootApplication </a:t>
            </a:r>
            <a:r>
              <a:rPr lang="it-IT"/>
              <a:t>potremo quindi anche omettere le nostre classi annotate con </a:t>
            </a:r>
            <a:r>
              <a:rPr i="1" lang="it-IT"/>
              <a:t>@Configuration</a:t>
            </a:r>
            <a:endParaRPr/>
          </a:p>
        </p:txBody>
      </p:sp>
      <p:sp>
        <p:nvSpPr>
          <p:cNvPr id="235" name="Google Shape;235;p1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36" name="Google Shape;236;p1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Ricerca degli </a:t>
            </a:r>
            <a:r>
              <a:rPr i="1" lang="it-IT"/>
              <a:t>stereotype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come detto, Spring Boot all’avvio crea un </a:t>
            </a:r>
            <a:r>
              <a:rPr i="1" lang="it-IT"/>
              <a:t>application context </a:t>
            </a:r>
            <a:r>
              <a:rPr lang="it-IT"/>
              <a:t>di Spring di classe </a:t>
            </a:r>
            <a:r>
              <a:rPr i="1" lang="it-IT"/>
              <a:t>ConfigurableApplicationContext</a:t>
            </a:r>
            <a:r>
              <a:rPr lang="it-IT"/>
              <a:t>. Quest’ultima implementa l’interfaccia </a:t>
            </a:r>
            <a:r>
              <a:rPr i="1" lang="it-IT"/>
              <a:t>Closable</a:t>
            </a:r>
            <a:r>
              <a:rPr lang="it-IT"/>
              <a:t> e pertanto può essere gestita all’interno di un </a:t>
            </a:r>
            <a:r>
              <a:rPr i="1" lang="it-IT"/>
              <a:t>try-with-resources</a:t>
            </a:r>
            <a:r>
              <a:rPr lang="it-IT"/>
              <a:t>:</a:t>
            </a:r>
            <a:endParaRPr/>
          </a:p>
          <a:p>
            <a:pPr indent="0" lvl="2" marL="581343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i="1" lang="it-IT"/>
              <a:t>try (ConfigurableApplicationContext context = SpringApplication.run(SpringIoCBootApplication.class, args) ) {</a:t>
            </a:r>
            <a:endParaRPr i="1"/>
          </a:p>
        </p:txBody>
      </p:sp>
      <p:sp>
        <p:nvSpPr>
          <p:cNvPr id="242" name="Google Shape;242;p1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43" name="Google Shape;243;p1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lang="it-IT"/>
              <a:t>Classe </a:t>
            </a:r>
            <a:r>
              <a:rPr i="1" lang="it-IT"/>
              <a:t>ConfigurableApplicationContext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nde">
  <a:themeElements>
    <a:clrScheme name="Onde">
      <a:dk1>
        <a:srgbClr val="000000"/>
      </a:dk1>
      <a:lt1>
        <a:srgbClr val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2020-01-03T14:34:34Z</dcterms:created>
  <dc:creator>Roberto Santoro</dc:creator>
</cp:coreProperties>
</file>