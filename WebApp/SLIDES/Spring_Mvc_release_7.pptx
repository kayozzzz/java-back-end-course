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embeddedFontLst>
    <p:embeddedFont>
      <p:font typeface="Candara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lZrJHcnu0k4s8XI7ISb8u/qZ2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Candar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andara-italic.fntdata"/><Relationship Id="rId12" Type="http://schemas.openxmlformats.org/officeDocument/2006/relationships/slide" Target="slides/slide7.xml"/><Relationship Id="rId34" Type="http://schemas.openxmlformats.org/officeDocument/2006/relationships/font" Target="fonts/Candara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Candara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29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2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29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31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31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31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31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31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31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32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33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33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33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3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35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3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3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3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3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35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3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3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36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36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3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3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3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3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3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36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37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3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3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3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3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3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37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7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3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37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8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3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3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39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3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3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3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3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3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39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9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28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2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2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2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2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28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28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about:blank" TargetMode="External"/><Relationship Id="rId4" Type="http://schemas.openxmlformats.org/officeDocument/2006/relationships/hyperlink" Target="about:blan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Mvc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Java base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Concetti base di web application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Conoscenza base tecnologie web di </a:t>
            </a:r>
            <a:r>
              <a:rPr i="1" lang="it-IT"/>
              <a:t>front-end</a:t>
            </a:r>
            <a:r>
              <a:rPr lang="it-IT"/>
              <a:t>: Html5, Css3, Javascript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Java web standard: Servlet/Jsp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core </a:t>
            </a:r>
            <a:r>
              <a:rPr i="1" lang="it-IT"/>
              <a:t>IoC container</a:t>
            </a:r>
            <a:endParaRPr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Prerequisiti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2276872"/>
            <a:ext cx="7408333" cy="38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 Mvc è l’implementazione di Spring del pattern Mvc per la gestione del ciclo richiesta/risposta Http nelle web application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Vengono quindi estesi concetti già esistenti (Servlet, controller, View/Jsp) con l’obiettivo di aiutare il programmatore a scrivere il codice che gestisca la parte web di interazione tra Front-End e Back-end di una web application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Viene introdotto un nuovo </a:t>
            </a:r>
            <a:r>
              <a:rPr i="1" lang="it-IT"/>
              <a:t>stereotype</a:t>
            </a:r>
            <a:r>
              <a:rPr lang="it-IT"/>
              <a:t>, ovvero </a:t>
            </a:r>
            <a:r>
              <a:rPr i="1" lang="it-IT"/>
              <a:t>@Controller</a:t>
            </a:r>
            <a:r>
              <a:rPr lang="it-IT"/>
              <a:t>, che rappresenta la </a:t>
            </a:r>
            <a:r>
              <a:rPr i="1" lang="it-IT"/>
              <a:t>servlet </a:t>
            </a:r>
            <a:r>
              <a:rPr lang="it-IT"/>
              <a:t>gestita tramite l’</a:t>
            </a:r>
            <a:r>
              <a:rPr i="1" lang="it-IT"/>
              <a:t>IoC container</a:t>
            </a:r>
            <a:r>
              <a:rPr lang="it-IT"/>
              <a:t> (essendo comunque un </a:t>
            </a:r>
            <a:r>
              <a:rPr i="1" lang="it-IT"/>
              <a:t>@Component</a:t>
            </a:r>
            <a:r>
              <a:rPr lang="it-IT"/>
              <a:t>) </a:t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Cos’è Spring Mvc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usare Spring Mvc occorrono una serie di librerie e, come per qualsiasi progetto Java Spring, le possibilità sono: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aggiungere manualmente le librerie necessarie al progetto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utilizzare Maven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utilizzare Spring Boot</a:t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Set-up Spring Mvc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Nel caso si usi Spring Boot tramite Spring Initializr occorre selezionare le dipendenze </a:t>
            </a:r>
            <a:r>
              <a:rPr i="1" lang="it-IT"/>
              <a:t>web</a:t>
            </a:r>
            <a:r>
              <a:rPr lang="it-IT"/>
              <a:t> in modo da avere i seguenti </a:t>
            </a:r>
            <a:r>
              <a:rPr i="1" lang="it-IT"/>
              <a:t>boot-starter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spring-boot-starter-webmvc</a:t>
            </a:r>
            <a:endParaRPr i="1"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spring-boot-starter-webmvc-test</a:t>
            </a:r>
            <a:endParaRPr i="1"/>
          </a:p>
          <a:p>
            <a:pPr indent="-274320" lvl="0" marL="274320" rtl="0" algn="l">
              <a:spcBef>
                <a:spcPts val="372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è inoltre necessaria, per utilizzare le </a:t>
            </a:r>
            <a:r>
              <a:rPr i="1" lang="it-IT"/>
              <a:t>jsp</a:t>
            </a:r>
            <a:r>
              <a:rPr lang="it-IT"/>
              <a:t> dal </a:t>
            </a:r>
            <a:r>
              <a:rPr i="1" lang="it-IT"/>
              <a:t>Tomcat embedded</a:t>
            </a:r>
            <a:r>
              <a:rPr lang="it-IT"/>
              <a:t>, la seguente dipendenza che non viene presa in automatico da Spring Initializr:</a:t>
            </a:r>
            <a:endParaRPr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tomcat-embed-jasper</a:t>
            </a:r>
            <a:r>
              <a:rPr lang="it-IT"/>
              <a:t> </a:t>
            </a:r>
            <a:endParaRPr/>
          </a:p>
          <a:p>
            <a:pPr indent="-274320" lvl="0" marL="274320" rtl="0" algn="l">
              <a:spcBef>
                <a:spcPts val="372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il secondo insieme di esempi di queste slides, serviranno anche:</a:t>
            </a:r>
            <a:endParaRPr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jakarta.servlet.jsp.jstl-api  (da Jakarta)</a:t>
            </a:r>
            <a:endParaRPr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jakarta.servlet.jsp.jstl (da Glassfish)</a:t>
            </a:r>
            <a:endParaRPr/>
          </a:p>
          <a:p>
            <a:pPr indent="-274319" lvl="1" marL="576263" rtl="0" algn="l">
              <a:spcBef>
                <a:spcPts val="341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spring-boot-starter-validation</a:t>
            </a:r>
            <a:endParaRPr/>
          </a:p>
          <a:p>
            <a:pPr indent="-274320" lvl="0" marL="274320" rtl="0" algn="l">
              <a:spcBef>
                <a:spcPts val="372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inoltre, occorre impostare il progetto con packaging </a:t>
            </a:r>
            <a:r>
              <a:rPr b="1" i="1" lang="it-IT"/>
              <a:t>war </a:t>
            </a:r>
            <a:r>
              <a:rPr b="1" lang="it-IT"/>
              <a:t>e non </a:t>
            </a:r>
            <a:r>
              <a:rPr b="1" i="1" lang="it-IT"/>
              <a:t>jar</a:t>
            </a:r>
            <a:endParaRPr b="1"/>
          </a:p>
          <a:p>
            <a:pPr indent="-156210" lvl="0" marL="274320" rtl="0" algn="l">
              <a:spcBef>
                <a:spcPts val="372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66052" lvl="1" marL="576263" rtl="0" algn="l">
              <a:spcBef>
                <a:spcPts val="341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Mvc con Spring Boot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Alla base dell’implementazione del pattern Mvc in Spring è presente la Dispatcher Servlet, implementazione in Spring di un altro pattern: il </a:t>
            </a:r>
            <a:r>
              <a:rPr i="1" lang="it-IT"/>
              <a:t>front-controller pattern</a:t>
            </a:r>
            <a:r>
              <a:rPr lang="it-IT"/>
              <a:t>, ovvero un’unica servlet che riceve tutte le richieste e smista il traffico verso il controller/servlet adatto in funzione della richiesta ricevuta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Dispatcher Servlet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classe di configurazione con l’annotation </a:t>
            </a:r>
            <a:r>
              <a:rPr i="1" lang="it-IT"/>
              <a:t>@SpringBootApplication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già sappiamo che include </a:t>
            </a:r>
            <a:r>
              <a:rPr i="1" lang="it-IT"/>
              <a:t>@Configuration</a:t>
            </a:r>
            <a:r>
              <a:rPr lang="it-IT"/>
              <a:t> (con l’attributo </a:t>
            </a:r>
            <a:r>
              <a:rPr i="1" lang="it-IT"/>
              <a:t>scanBasePackages</a:t>
            </a:r>
            <a:r>
              <a:rPr lang="it-IT"/>
              <a:t> che gioca lo stesso ruolo di </a:t>
            </a:r>
            <a:r>
              <a:rPr i="1" lang="it-IT"/>
              <a:t>@Configuration</a:t>
            </a:r>
            <a:r>
              <a:rPr lang="it-IT"/>
              <a:t> + </a:t>
            </a:r>
            <a:r>
              <a:rPr i="1" lang="it-IT"/>
              <a:t>@ComponentScan(basePackages=..) </a:t>
            </a:r>
            <a:r>
              <a:rPr lang="it-IT"/>
              <a:t>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inoltre include anche </a:t>
            </a:r>
            <a:r>
              <a:rPr i="1" lang="it-IT"/>
              <a:t>@EnableMvc</a:t>
            </a:r>
            <a:endParaRPr i="1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Configurazione principale</a:t>
            </a:r>
            <a:br>
              <a:rPr lang="it-IT"/>
            </a:br>
            <a:r>
              <a:rPr lang="it-IT"/>
              <a:t>con Spring Boot (1/2)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configurazione del </a:t>
            </a:r>
            <a:r>
              <a:rPr i="1" lang="it-IT"/>
              <a:t>ViewResolver</a:t>
            </a:r>
            <a:r>
              <a:rPr lang="it-IT"/>
              <a:t> viene scritta nel file </a:t>
            </a:r>
            <a:r>
              <a:rPr i="1" lang="it-IT"/>
              <a:t>application.properties</a:t>
            </a:r>
            <a:r>
              <a:rPr lang="it-IT"/>
              <a:t> posizionato sotto </a:t>
            </a:r>
            <a:r>
              <a:rPr i="1" lang="it-IT"/>
              <a:t>src/main/resources: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spring.mvc.view.prefix = /WEB-INF/views/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spring.mvc.view.suffix = .</a:t>
            </a:r>
            <a:r>
              <a:rPr i="1" lang="it-IT" sz="1800" u="sng"/>
              <a:t>jsp</a:t>
            </a:r>
            <a:endParaRPr i="1" sz="1800" u="sng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i="1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Configurazione principale</a:t>
            </a:r>
            <a:br>
              <a:rPr lang="it-IT"/>
            </a:br>
            <a:r>
              <a:rPr lang="it-IT"/>
              <a:t>con Spring Boot (2/2)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normale classe Java con attributi, metodi </a:t>
            </a:r>
            <a:r>
              <a:rPr i="1" lang="it-IT"/>
              <a:t>getter</a:t>
            </a:r>
            <a:r>
              <a:rPr lang="it-IT"/>
              <a:t> e </a:t>
            </a:r>
            <a:r>
              <a:rPr i="1" lang="it-IT"/>
              <a:t>setter</a:t>
            </a:r>
            <a:r>
              <a:rPr lang="it-IT"/>
              <a:t> e costruttori (</a:t>
            </a:r>
            <a:r>
              <a:rPr i="1" lang="it-IT"/>
              <a:t>bean</a:t>
            </a:r>
            <a:r>
              <a:rPr lang="it-IT"/>
              <a:t> Java):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class PersonaBean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private String nome = null;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private String cognome = null;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…..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i="1"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Il model di esempio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implementare un </a:t>
            </a:r>
            <a:r>
              <a:rPr i="1" lang="it-IT"/>
              <a:t>Controller</a:t>
            </a:r>
            <a:r>
              <a:rPr lang="it-IT"/>
              <a:t> occorrerà scrivere una classe annotata con </a:t>
            </a:r>
            <a:r>
              <a:rPr i="1" lang="it-IT"/>
              <a:t>@Controller</a:t>
            </a:r>
            <a:r>
              <a:rPr lang="it-IT"/>
              <a:t>: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@Controller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public class PersonaController {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900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successivamente andranno implementati i metodi che definiranno il comportamento del </a:t>
            </a:r>
            <a:r>
              <a:rPr i="1" lang="it-IT"/>
              <a:t>controller </a:t>
            </a:r>
            <a:r>
              <a:rPr lang="it-IT"/>
              <a:t>in funzione delle chiamate Http che riceverà. Ogni metodo potrà definire se risponde ad una richiesta in </a:t>
            </a:r>
            <a:r>
              <a:rPr i="1" lang="it-IT"/>
              <a:t>get</a:t>
            </a:r>
            <a:r>
              <a:rPr lang="it-IT"/>
              <a:t> o in </a:t>
            </a:r>
            <a:r>
              <a:rPr i="1" lang="it-IT"/>
              <a:t>post</a:t>
            </a:r>
            <a:r>
              <a:rPr lang="it-IT"/>
              <a:t>, se deve usare degli attributi collegati alla </a:t>
            </a:r>
            <a:r>
              <a:rPr i="1" lang="it-IT"/>
              <a:t>request</a:t>
            </a:r>
            <a:r>
              <a:rPr lang="it-IT"/>
              <a:t> e/o alla </a:t>
            </a:r>
            <a:r>
              <a:rPr i="1" lang="it-IT"/>
              <a:t>session</a:t>
            </a:r>
            <a:r>
              <a:rPr lang="it-IT"/>
              <a:t> e quale sarà il nome logico associato alla </a:t>
            </a:r>
            <a:r>
              <a:rPr i="1" lang="it-IT"/>
              <a:t>view</a:t>
            </a:r>
            <a:r>
              <a:rPr lang="it-IT"/>
              <a:t> da presentare come risposta Http</a:t>
            </a:r>
            <a:endParaRPr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Il </a:t>
            </a:r>
            <a:r>
              <a:rPr i="1" lang="it-IT"/>
              <a:t>controller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@RequestMapping("/welcome")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String welcome(Model model)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PersonaBean personaBean = new PersonaBean("Pippo","Pluto");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model.addAttribute("chiave",personaBean);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return "welcome";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invocato su </a:t>
            </a:r>
            <a:r>
              <a:rPr i="1" lang="it-IT"/>
              <a:t>url</a:t>
            </a:r>
            <a:r>
              <a:rPr lang="it-IT"/>
              <a:t> del tipo </a:t>
            </a:r>
            <a:r>
              <a:rPr i="1" lang="it-IT" u="sng">
                <a:solidFill>
                  <a:schemeClr val="hlink"/>
                </a:solidFill>
                <a:hlinkClick r:id="rId3"/>
              </a:rPr>
              <a:t>http://nome_server:porta/nome_webapp/</a:t>
            </a:r>
            <a:r>
              <a:rPr b="1" i="1" lang="it-IT" u="sng">
                <a:solidFill>
                  <a:schemeClr val="hlink"/>
                </a:solidFill>
                <a:hlinkClick r:id="rId4"/>
              </a:rPr>
              <a:t>welcome</a:t>
            </a:r>
            <a:endParaRPr b="1"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crea un oggetto/</a:t>
            </a:r>
            <a:r>
              <a:rPr i="1" lang="it-IT"/>
              <a:t>bean </a:t>
            </a:r>
            <a:r>
              <a:rPr lang="it-IT"/>
              <a:t>e lo inserisce nella </a:t>
            </a:r>
            <a:r>
              <a:rPr i="1" lang="it-IT"/>
              <a:t>request </a:t>
            </a:r>
            <a:r>
              <a:rPr lang="it-IT"/>
              <a:t>associandolo alla chiave </a:t>
            </a:r>
            <a:r>
              <a:rPr i="1" lang="it-IT"/>
              <a:t>chiave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la risposta, richiama la </a:t>
            </a:r>
            <a:r>
              <a:rPr i="1" lang="it-IT"/>
              <a:t>view</a:t>
            </a:r>
            <a:r>
              <a:rPr lang="it-IT"/>
              <a:t> associata al nome logico </a:t>
            </a:r>
            <a:r>
              <a:rPr i="1" lang="it-IT"/>
              <a:t>welcome</a:t>
            </a:r>
            <a:endParaRPr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Un primo esempio di </a:t>
            </a:r>
            <a:br>
              <a:rPr lang="it-IT"/>
            </a:br>
            <a:r>
              <a:rPr lang="it-IT"/>
              <a:t>metodo di un </a:t>
            </a:r>
            <a:r>
              <a:rPr i="1" lang="it-IT"/>
              <a:t>controller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@RequestMapping("/welcome") </a:t>
            </a:r>
            <a:r>
              <a:rPr lang="it-IT"/>
              <a:t>sta ad indicare che il metodo del </a:t>
            </a:r>
            <a:r>
              <a:rPr i="1" lang="it-IT"/>
              <a:t>controller</a:t>
            </a:r>
            <a:r>
              <a:rPr lang="it-IT"/>
              <a:t> verrà invocato su ogni richiesta che termina con /</a:t>
            </a:r>
            <a:r>
              <a:rPr i="1" lang="it-IT"/>
              <a:t>welcome</a:t>
            </a:r>
            <a:r>
              <a:rPr lang="it-IT"/>
              <a:t>; ogni richiesta equivale a dire </a:t>
            </a:r>
            <a:r>
              <a:rPr i="1" lang="it-IT"/>
              <a:t>get</a:t>
            </a:r>
            <a:r>
              <a:rPr lang="it-IT"/>
              <a:t>, </a:t>
            </a:r>
            <a:r>
              <a:rPr i="1" lang="it-IT"/>
              <a:t>post</a:t>
            </a:r>
            <a:r>
              <a:rPr lang="it-IT"/>
              <a:t>, </a:t>
            </a:r>
            <a:r>
              <a:rPr i="1" lang="it-IT"/>
              <a:t>put</a:t>
            </a:r>
            <a:r>
              <a:rPr lang="it-IT"/>
              <a:t> e </a:t>
            </a:r>
            <a:r>
              <a:rPr i="1" lang="it-IT"/>
              <a:t>delete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vogliamo il nostro metodo del </a:t>
            </a:r>
            <a:r>
              <a:rPr i="1" lang="it-IT"/>
              <a:t>controller </a:t>
            </a:r>
            <a:r>
              <a:rPr lang="it-IT"/>
              <a:t>risponda solo alle chiamate </a:t>
            </a:r>
            <a:r>
              <a:rPr i="1" lang="it-IT"/>
              <a:t>get</a:t>
            </a:r>
            <a:r>
              <a:rPr lang="it-IT"/>
              <a:t> possiamo scrivere: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@RequestMapping(value=</a:t>
            </a:r>
            <a:r>
              <a:rPr i="1" lang="it-IT" sz="2400"/>
              <a:t>"/welcome", method=RequestMethod.GET)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o più semplicemente</a:t>
            </a:r>
            <a:r>
              <a:rPr i="1" lang="it-IT"/>
              <a:t>:</a:t>
            </a:r>
            <a:r>
              <a:rPr i="1" lang="it-IT" sz="2400"/>
              <a:t> </a:t>
            </a:r>
            <a:r>
              <a:rPr i="1" lang="it-IT"/>
              <a:t>@GetMapping(value="/welcome")</a:t>
            </a:r>
            <a:endParaRPr i="1"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@RequestMapping</a:t>
            </a:r>
            <a:br>
              <a:rPr i="1" lang="it-IT"/>
            </a:br>
            <a:r>
              <a:rPr i="1" lang="it-IT"/>
              <a:t>@GetMapping</a:t>
            </a:r>
            <a:r>
              <a:rPr lang="it-IT"/>
              <a:t> e </a:t>
            </a:r>
            <a:r>
              <a:rPr i="1" lang="it-IT"/>
              <a:t>@PostMapping (1/2)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analogamente se avessimo voluto che il metodo del </a:t>
            </a:r>
            <a:r>
              <a:rPr i="1" lang="it-IT"/>
              <a:t>controller</a:t>
            </a:r>
            <a:r>
              <a:rPr lang="it-IT"/>
              <a:t> intercettasse solo chiamate </a:t>
            </a:r>
            <a:r>
              <a:rPr i="1" lang="it-IT"/>
              <a:t>post</a:t>
            </a:r>
            <a:r>
              <a:rPr lang="it-IT"/>
              <a:t>: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@RequestMapping(value=</a:t>
            </a:r>
            <a:r>
              <a:rPr i="1" lang="it-IT" sz="2400"/>
              <a:t>"/welcome", method=RequestMethod.POST)</a:t>
            </a:r>
            <a:endParaRPr i="1" sz="24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o più semplicemente</a:t>
            </a:r>
            <a:r>
              <a:rPr i="1" lang="it-IT"/>
              <a:t>:</a:t>
            </a:r>
            <a:r>
              <a:rPr i="1" lang="it-IT" sz="2400"/>
              <a:t> </a:t>
            </a:r>
            <a:r>
              <a:rPr i="1" lang="it-IT"/>
              <a:t>@PostMapping(value="/welcome")</a:t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i="1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@RequestMapping</a:t>
            </a:r>
            <a:br>
              <a:rPr i="1" lang="it-IT"/>
            </a:br>
            <a:r>
              <a:rPr i="1" lang="it-IT"/>
              <a:t>@GetMapping</a:t>
            </a:r>
            <a:r>
              <a:rPr lang="it-IT"/>
              <a:t> e </a:t>
            </a:r>
            <a:r>
              <a:rPr i="1" lang="it-IT"/>
              <a:t>@PostMapping (2/2)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un </a:t>
            </a:r>
            <a:r>
              <a:rPr i="1" lang="it-IT"/>
              <a:t>url</a:t>
            </a:r>
            <a:r>
              <a:rPr lang="it-IT"/>
              <a:t> con dei parametry nella </a:t>
            </a:r>
            <a:r>
              <a:rPr i="1" lang="it-IT"/>
              <a:t>query string</a:t>
            </a:r>
            <a:r>
              <a:rPr lang="it-IT"/>
              <a:t>, del tipo: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http://server:port/webapp/benvenuto?nome=aaa&amp;cognome=bbb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può essere gestita con un metodo del </a:t>
            </a:r>
            <a:r>
              <a:rPr i="1" lang="it-IT"/>
              <a:t>controller</a:t>
            </a:r>
            <a:r>
              <a:rPr lang="it-IT"/>
              <a:t> annotato così: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@GetMapping("/benvenuto")</a:t>
            </a:r>
            <a:endParaRPr/>
          </a:p>
          <a:p>
            <a:pPr indent="0" lvl="1" marL="301943" rtl="0" algn="l">
              <a:spcBef>
                <a:spcPts val="314"/>
              </a:spcBef>
              <a:spcAft>
                <a:spcPts val="0"/>
              </a:spcAft>
              <a:buSzPct val="100000"/>
              <a:buNone/>
            </a:pPr>
            <a:r>
              <a:rPr i="1" lang="it-IT" sz="1700"/>
              <a:t>public String welcome2(@RequestParam("nome") String requestParamNome,@RequestParam("cognome") String requestParamCognome,Model model) {</a:t>
            </a:r>
            <a:endParaRPr i="1" sz="1700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l’annotation </a:t>
            </a:r>
            <a:r>
              <a:rPr i="1" lang="it-IT"/>
              <a:t>@RequestParam</a:t>
            </a:r>
            <a:r>
              <a:rPr lang="it-IT"/>
              <a:t> ci consente di mappare il nome del parametro sulla </a:t>
            </a:r>
            <a:r>
              <a:rPr i="1" lang="it-IT"/>
              <a:t>query string</a:t>
            </a:r>
            <a:r>
              <a:rPr lang="it-IT"/>
              <a:t> dell’</a:t>
            </a:r>
            <a:r>
              <a:rPr i="1" lang="it-IT"/>
              <a:t>url</a:t>
            </a:r>
            <a:r>
              <a:rPr lang="it-IT"/>
              <a:t> con il nome del parametro di input del metodo del </a:t>
            </a:r>
            <a:r>
              <a:rPr i="1" lang="it-IT"/>
              <a:t>controller</a:t>
            </a:r>
            <a:r>
              <a:rPr lang="it-IT"/>
              <a:t> (se i due nomi coincidono si può omettere la stringa all’interno delle parentesi tonde di </a:t>
            </a:r>
            <a:r>
              <a:rPr i="1" lang="it-IT"/>
              <a:t>@RequestParam</a:t>
            </a:r>
            <a:r>
              <a:rPr lang="it-IT"/>
              <a:t>)</a:t>
            </a:r>
            <a:endParaRPr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Parametri sulla richiesta:</a:t>
            </a:r>
            <a:br>
              <a:rPr lang="it-IT"/>
            </a:br>
            <a:r>
              <a:rPr lang="it-IT"/>
              <a:t>URL e </a:t>
            </a:r>
            <a:r>
              <a:rPr i="1" lang="it-IT"/>
              <a:t>@RequestParam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33350" lvl="0" marL="27432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Uri </a:t>
            </a:r>
            <a:r>
              <a:rPr lang="it-IT"/>
              <a:t>del tipo </a:t>
            </a:r>
            <a:r>
              <a:rPr i="1" lang="it-IT" sz="1800" u="sng">
                <a:solidFill>
                  <a:schemeClr val="hlink"/>
                </a:solidFill>
                <a:hlinkClick r:id="rId3"/>
              </a:rPr>
              <a:t>http://server:port/webapp/salve/{nome}/{cognome}</a:t>
            </a:r>
            <a:r>
              <a:rPr lang="it-IT"/>
              <a:t> come ad esempio: </a:t>
            </a:r>
            <a:r>
              <a:rPr i="1" lang="it-IT" u="sng">
                <a:solidFill>
                  <a:schemeClr val="hlink"/>
                </a:solidFill>
                <a:hlinkClick r:id="rId4"/>
              </a:rPr>
              <a:t>http://server:port/webapp/salve/Carlo/Rossi</a:t>
            </a:r>
            <a:endParaRPr i="1"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possono essere intercettate da un metodo del </a:t>
            </a:r>
            <a:r>
              <a:rPr i="1" lang="it-IT"/>
              <a:t>controller</a:t>
            </a:r>
            <a:r>
              <a:rPr lang="it-IT"/>
              <a:t> annotato così: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@GetMapping("/salve/{nome}/{cognome}")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String welcome3(@PathVariable("nome") String requestParamNome,@PathVariable("cognome") String requestParamCognome,Model model) {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l’annotation </a:t>
            </a:r>
            <a:r>
              <a:rPr i="1" lang="it-IT"/>
              <a:t>@PathVariable</a:t>
            </a:r>
            <a:r>
              <a:rPr lang="it-IT"/>
              <a:t> mappa la parte parametrica dell’</a:t>
            </a:r>
            <a:r>
              <a:rPr i="1" lang="it-IT"/>
              <a:t>uri</a:t>
            </a:r>
            <a:r>
              <a:rPr lang="it-IT"/>
              <a:t> con il nome del parametro di input del metodo del </a:t>
            </a:r>
            <a:r>
              <a:rPr i="1" lang="it-IT"/>
              <a:t>controller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URI parametriche e </a:t>
            </a:r>
            <a:r>
              <a:rPr i="1" lang="it-IT"/>
              <a:t>@PathVariable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 metodi dei </a:t>
            </a:r>
            <a:r>
              <a:rPr i="1" lang="it-IT"/>
              <a:t>controller</a:t>
            </a:r>
            <a:r>
              <a:rPr lang="it-IT"/>
              <a:t> possono farsi passare in input oggetti di classe </a:t>
            </a:r>
            <a:r>
              <a:rPr i="1" lang="it-IT"/>
              <a:t>HttpServletRequest</a:t>
            </a:r>
            <a:r>
              <a:rPr lang="it-IT"/>
              <a:t>, </a:t>
            </a:r>
            <a:r>
              <a:rPr i="1" lang="it-IT"/>
              <a:t>HttpServletResponse</a:t>
            </a:r>
            <a:r>
              <a:rPr lang="it-IT"/>
              <a:t>, piuttosto che </a:t>
            </a:r>
            <a:r>
              <a:rPr i="1" lang="it-IT"/>
              <a:t>Reader</a:t>
            </a:r>
            <a:r>
              <a:rPr lang="it-IT"/>
              <a:t> e </a:t>
            </a:r>
            <a:r>
              <a:rPr i="1" lang="it-IT"/>
              <a:t>PrintWriter </a:t>
            </a:r>
            <a:r>
              <a:rPr lang="it-IT"/>
              <a:t>(per gli </a:t>
            </a:r>
            <a:r>
              <a:rPr i="1" lang="it-IT"/>
              <a:t>stream </a:t>
            </a:r>
            <a:r>
              <a:rPr lang="it-IT"/>
              <a:t>associati alla </a:t>
            </a:r>
            <a:r>
              <a:rPr i="1" lang="it-IT"/>
              <a:t>response</a:t>
            </a:r>
            <a:r>
              <a:rPr lang="it-IT"/>
              <a:t> della </a:t>
            </a:r>
            <a:r>
              <a:rPr i="1" lang="it-IT"/>
              <a:t>servlet</a:t>
            </a:r>
            <a:r>
              <a:rPr lang="it-IT"/>
              <a:t>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inoltre, i metodi dei </a:t>
            </a:r>
            <a:r>
              <a:rPr i="1" lang="it-IT"/>
              <a:t>controller</a:t>
            </a:r>
            <a:r>
              <a:rPr lang="it-IT"/>
              <a:t> possono farsi passare in input il </a:t>
            </a:r>
            <a:r>
              <a:rPr i="1" lang="it-IT"/>
              <a:t>Model</a:t>
            </a:r>
            <a:r>
              <a:rPr lang="it-IT"/>
              <a:t>, ovvero l’oggetto fondamentale per lo scambio dati tra </a:t>
            </a:r>
            <a:r>
              <a:rPr i="1" lang="it-IT"/>
              <a:t>controller</a:t>
            </a:r>
            <a:r>
              <a:rPr lang="it-IT"/>
              <a:t> e </a:t>
            </a:r>
            <a:r>
              <a:rPr i="1" lang="it-IT"/>
              <a:t>view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model.addAttribute("chiave",personaBean);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 questo modo il </a:t>
            </a:r>
            <a:r>
              <a:rPr i="1" lang="it-IT"/>
              <a:t>controller</a:t>
            </a:r>
            <a:r>
              <a:rPr lang="it-IT"/>
              <a:t> aggiunge un dato, nella classica forma delle </a:t>
            </a:r>
            <a:r>
              <a:rPr i="1" lang="it-IT"/>
              <a:t>mappe chiave-valore</a:t>
            </a:r>
            <a:r>
              <a:rPr lang="it-IT"/>
              <a:t>, che diventerà disponibile per la </a:t>
            </a:r>
            <a:r>
              <a:rPr i="1" lang="it-IT"/>
              <a:t>view</a:t>
            </a:r>
            <a:r>
              <a:rPr lang="it-IT"/>
              <a:t> che rappresenterà la pagina di risposta</a:t>
            </a:r>
            <a:endParaRPr/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Parametri di input dei metodi </a:t>
            </a:r>
            <a:br>
              <a:rPr lang="it-IT"/>
            </a:br>
            <a:r>
              <a:rPr lang="it-IT"/>
              <a:t>dei </a:t>
            </a:r>
            <a:r>
              <a:rPr i="1" lang="it-IT"/>
              <a:t>controller </a:t>
            </a:r>
            <a:r>
              <a:rPr lang="it-IT"/>
              <a:t>e classe </a:t>
            </a:r>
            <a:r>
              <a:rPr i="1" lang="it-IT"/>
              <a:t>Model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Generalmente il metodo del </a:t>
            </a:r>
            <a:r>
              <a:rPr i="1" lang="it-IT"/>
              <a:t>controller</a:t>
            </a:r>
            <a:r>
              <a:rPr lang="it-IT"/>
              <a:t> dovrebbe ritornare una </a:t>
            </a:r>
            <a:r>
              <a:rPr i="1" lang="it-IT"/>
              <a:t>String</a:t>
            </a:r>
            <a:r>
              <a:rPr lang="it-IT"/>
              <a:t> che indica il nome logico della </a:t>
            </a:r>
            <a:r>
              <a:rPr i="1" lang="it-IT"/>
              <a:t>view</a:t>
            </a:r>
            <a:r>
              <a:rPr lang="it-IT"/>
              <a:t> da invocare come pagina di risposta: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"welcome";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 questo punto il </a:t>
            </a:r>
            <a:r>
              <a:rPr i="1" lang="it-IT"/>
              <a:t>ViewResolver</a:t>
            </a:r>
            <a:r>
              <a:rPr lang="it-IT"/>
              <a:t> in base alla configurazione impostata andrà a </a:t>
            </a:r>
            <a:r>
              <a:rPr i="1" lang="it-IT"/>
              <a:t>risolvere</a:t>
            </a:r>
            <a:r>
              <a:rPr lang="it-IT"/>
              <a:t> il nome logico </a:t>
            </a:r>
            <a:r>
              <a:rPr i="1" lang="it-IT"/>
              <a:t>welcome</a:t>
            </a:r>
            <a:r>
              <a:rPr lang="it-IT"/>
              <a:t> con una pagina fisica da presentare come </a:t>
            </a:r>
            <a:r>
              <a:rPr i="1" lang="it-IT"/>
              <a:t>view</a:t>
            </a:r>
            <a:r>
              <a:rPr lang="it-IT"/>
              <a:t> di risposta. In base alla configurazione illustrata nelle slide precedenti il </a:t>
            </a:r>
            <a:r>
              <a:rPr i="1" lang="it-IT"/>
              <a:t>ViewResolver</a:t>
            </a:r>
            <a:r>
              <a:rPr lang="it-IT"/>
              <a:t> preleverà la pagina </a:t>
            </a:r>
            <a:r>
              <a:rPr i="1" lang="it-IT"/>
              <a:t>welcome.jsp</a:t>
            </a:r>
            <a:r>
              <a:rPr lang="it-IT"/>
              <a:t> presente nella cartella </a:t>
            </a:r>
            <a:r>
              <a:rPr i="1" lang="it-IT"/>
              <a:t>WEB-INF/views</a:t>
            </a:r>
            <a:endParaRPr/>
          </a:p>
        </p:txBody>
      </p:sp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Valore di ritorno </a:t>
            </a:r>
            <a:br>
              <a:rPr lang="it-IT"/>
            </a:br>
            <a:r>
              <a:rPr lang="it-IT"/>
              <a:t>dei metodi del </a:t>
            </a:r>
            <a:r>
              <a:rPr i="1" lang="it-IT"/>
              <a:t>controller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metodo di un </a:t>
            </a:r>
            <a:r>
              <a:rPr i="1" lang="it-IT"/>
              <a:t>controller</a:t>
            </a:r>
            <a:r>
              <a:rPr lang="it-IT"/>
              <a:t> può anche terminare con una classica </a:t>
            </a:r>
            <a:r>
              <a:rPr i="1" lang="it-IT"/>
              <a:t>forward</a:t>
            </a:r>
            <a:r>
              <a:rPr lang="it-IT"/>
              <a:t> ad un altro metodo dello stesso o di un altro </a:t>
            </a:r>
            <a:r>
              <a:rPr i="1" lang="it-IT"/>
              <a:t>controller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"forward:/afterFwRed";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oppure con un classico </a:t>
            </a:r>
            <a:r>
              <a:rPr i="1" lang="it-IT"/>
              <a:t>redirect</a:t>
            </a:r>
            <a:r>
              <a:rPr lang="it-IT"/>
              <a:t> ad un altro metodo dello stesso o di un altro </a:t>
            </a:r>
            <a:r>
              <a:rPr i="1" lang="it-IT"/>
              <a:t>controller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"redirect:/afterFwRed";</a:t>
            </a:r>
            <a:endParaRPr i="1" sz="18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5" name="Google Shape;255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forward </a:t>
            </a:r>
            <a:r>
              <a:rPr lang="it-IT"/>
              <a:t>e </a:t>
            </a:r>
            <a:r>
              <a:rPr i="1" lang="it-IT"/>
              <a:t>redirect</a:t>
            </a:r>
            <a:r>
              <a:rPr lang="it-IT"/>
              <a:t> del </a:t>
            </a:r>
            <a:r>
              <a:rPr i="1" lang="it-IT"/>
              <a:t>controller</a:t>
            </a:r>
            <a:endParaRPr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Nell’esempio mostrato nelle slide precedenti abbiamo visto che la </a:t>
            </a:r>
            <a:r>
              <a:rPr i="1" lang="it-IT"/>
              <a:t>view</a:t>
            </a:r>
            <a:r>
              <a:rPr lang="it-IT"/>
              <a:t> associata al nome logico </a:t>
            </a:r>
            <a:r>
              <a:rPr i="1" lang="it-IT"/>
              <a:t>welcome</a:t>
            </a:r>
            <a:r>
              <a:rPr lang="it-IT"/>
              <a:t> sarà la pagina </a:t>
            </a:r>
            <a:r>
              <a:rPr i="1" lang="it-IT"/>
              <a:t>welcome.jsp</a:t>
            </a:r>
            <a:r>
              <a:rPr lang="it-IT"/>
              <a:t> posizionata nella directory </a:t>
            </a:r>
            <a:r>
              <a:rPr i="1" lang="it-IT"/>
              <a:t>WEB-INF/views</a:t>
            </a:r>
            <a:r>
              <a:rPr lang="it-IT"/>
              <a:t> (per come abbiamo configurato Spring)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</a:t>
            </a:r>
            <a:r>
              <a:rPr i="1" lang="it-IT"/>
              <a:t>view </a:t>
            </a:r>
            <a:r>
              <a:rPr lang="it-IT"/>
              <a:t>potrà visualizzare le informazioni associate alla chiave inserita nella </a:t>
            </a:r>
            <a:r>
              <a:rPr i="1" lang="it-IT"/>
              <a:t>request </a:t>
            </a:r>
            <a:r>
              <a:rPr lang="it-IT"/>
              <a:t>dal </a:t>
            </a:r>
            <a:r>
              <a:rPr i="1" lang="it-IT"/>
              <a:t>controller</a:t>
            </a:r>
            <a:r>
              <a:rPr lang="it-IT"/>
              <a:t>: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&lt;p&gt;${chiave.nome}&lt;/p&gt;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&lt;p&gt;${chiave.cognome}&lt;/p&gt;</a:t>
            </a:r>
            <a:endParaRPr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Primo esempio di </a:t>
            </a:r>
            <a:r>
              <a:rPr i="1" lang="it-IT"/>
              <a:t>view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controller può inserire nella </a:t>
            </a:r>
            <a:r>
              <a:rPr i="1" lang="it-IT"/>
              <a:t>request</a:t>
            </a:r>
            <a:r>
              <a:rPr lang="it-IT"/>
              <a:t> qualsiasi tipo di oggetto Java associandolo ad una chiave; per esempio potrebbe inserire una </a:t>
            </a:r>
            <a:r>
              <a:rPr i="1" lang="it-IT"/>
              <a:t>List</a:t>
            </a:r>
            <a:r>
              <a:rPr lang="it-IT"/>
              <a:t>: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List&lt;PersonaBean&gt; l = Arrays.asList(new PersonaBean("Carlo","Rossi"),…)</a:t>
            </a:r>
            <a:endParaRPr i="1" sz="1800"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model.addAttribute("listaPersone",l);</a:t>
            </a:r>
            <a:endParaRPr/>
          </a:p>
          <a:p>
            <a:pPr indent="0" lvl="2" marL="5813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"elenco";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Secondo esempio di view:</a:t>
            </a:r>
            <a:br>
              <a:rPr lang="it-IT" sz="3600"/>
            </a:br>
            <a:r>
              <a:rPr lang="it-IT" sz="3600"/>
              <a:t>passaggio di una lista come </a:t>
            </a:r>
            <a:r>
              <a:rPr i="1" lang="it-IT" sz="3600"/>
              <a:t>model (1/2)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</a:t>
            </a:r>
            <a:r>
              <a:rPr i="1" lang="it-IT"/>
              <a:t>view</a:t>
            </a:r>
            <a:r>
              <a:rPr lang="it-IT"/>
              <a:t> </a:t>
            </a:r>
            <a:r>
              <a:rPr i="1" lang="it-IT"/>
              <a:t>elenco.jsp</a:t>
            </a:r>
            <a:r>
              <a:rPr lang="it-IT"/>
              <a:t> potrà scorrere la lista usando ad esempio la </a:t>
            </a:r>
            <a:r>
              <a:rPr i="1" lang="it-IT"/>
              <a:t>taglib c: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&lt;%@ taglib prefix="c" uri="http://java.sun.com/jsp/jstl/core"%&gt;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&lt;c:if test="${listaPersone.size() &gt; 0}"&gt;</a:t>
            </a:r>
            <a:endParaRPr/>
          </a:p>
          <a:p>
            <a:pPr indent="0" lvl="0" marL="0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lang="it-IT" sz="1900"/>
              <a:t>	</a:t>
            </a:r>
            <a:r>
              <a:rPr i="1" lang="it-IT" sz="1800"/>
              <a:t>&lt;table border="1" &gt;</a:t>
            </a:r>
            <a:endParaRPr/>
          </a:p>
          <a:p>
            <a:pPr indent="0" lvl="0" marL="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       &lt;tr&gt;</a:t>
            </a:r>
            <a:endParaRPr/>
          </a:p>
          <a:p>
            <a:pPr indent="0" lvl="4" marL="118872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&lt;th&gt;</a:t>
            </a:r>
            <a:r>
              <a:rPr i="1" lang="it-IT" sz="1800" u="sng"/>
              <a:t>Nome&lt;/th&gt;</a:t>
            </a:r>
            <a:endParaRPr/>
          </a:p>
          <a:p>
            <a:pPr indent="0" lvl="4" marL="118872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&lt;th&gt;</a:t>
            </a:r>
            <a:r>
              <a:rPr i="1" lang="it-IT" sz="1800" u="sng"/>
              <a:t>Cognome&lt;/th&gt;</a:t>
            </a:r>
            <a:endParaRPr/>
          </a:p>
          <a:p>
            <a:pPr indent="0" lvl="4" marL="1188720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&lt;/tr&gt;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       &lt;c:forEach var="persona" items="${listaPersone}"&gt;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       &lt;tr&gt;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	&lt;td style="text-align: center"&gt;${persona.nome}&lt;/td&gt;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	&lt;td style="text-align: center"&gt;${persona.cognome}&lt;/td&gt;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      &lt;/tr&gt;</a:t>
            </a:r>
            <a:endParaRPr/>
          </a:p>
          <a:p>
            <a:pPr indent="0" lvl="1" marL="301943" rtl="0" algn="l">
              <a:spcBef>
                <a:spcPts val="333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                   &lt;/c:forEach&gt;</a:t>
            </a:r>
            <a:endParaRPr i="1" sz="1800"/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ndara"/>
              <a:buNone/>
            </a:pPr>
            <a:r>
              <a:rPr lang="it-IT" sz="3600"/>
              <a:t>Secondo esempio di view:</a:t>
            </a:r>
            <a:br>
              <a:rPr lang="it-IT" sz="3600"/>
            </a:br>
            <a:r>
              <a:rPr lang="it-IT" sz="3600"/>
              <a:t>passaggio di una lista come </a:t>
            </a:r>
            <a:r>
              <a:rPr i="1" lang="it-IT" sz="3600"/>
              <a:t>model (2/2)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</a:t>
            </a:r>
            <a:r>
              <a:rPr i="1" lang="it-IT"/>
              <a:t>controller </a:t>
            </a:r>
            <a:r>
              <a:rPr lang="it-IT"/>
              <a:t>possiamo definire un metodo che crea un </a:t>
            </a:r>
            <a:r>
              <a:rPr i="1" lang="it-IT"/>
              <a:t>bean</a:t>
            </a:r>
            <a:r>
              <a:rPr lang="it-IT"/>
              <a:t> e lo imposta com </a:t>
            </a:r>
            <a:r>
              <a:rPr i="1" lang="it-IT"/>
              <a:t>ModelAttribute </a:t>
            </a:r>
            <a:r>
              <a:rPr lang="it-IT"/>
              <a:t>assegnandogli un nome logico: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@ModelAttribute("modelAttributeUtenteRegistrazione")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PersonaBean registrazione()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new PersonaBean("","");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 nella form possiamo riferirci al </a:t>
            </a:r>
            <a:r>
              <a:rPr i="1" lang="it-IT"/>
              <a:t>model attribute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&lt;form:form modelAttribute="modelAttributeUtenteRegistrazione" …</a:t>
            </a:r>
            <a:endParaRPr i="1" sz="1800"/>
          </a:p>
        </p:txBody>
      </p:sp>
      <p:sp>
        <p:nvSpPr>
          <p:cNvPr id="283" name="Google Shape;283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4" name="Google Shape;284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Passaggio di dati tra </a:t>
            </a:r>
            <a:br>
              <a:rPr lang="it-IT"/>
            </a:br>
            <a:r>
              <a:rPr lang="it-IT"/>
              <a:t>form e controller (1/3)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prima volta che l’utente richiede la form, Spring, vedendo l’attibuto </a:t>
            </a:r>
            <a:r>
              <a:rPr i="1" lang="it-IT"/>
              <a:t>modelAttribute</a:t>
            </a:r>
            <a:r>
              <a:rPr lang="it-IT"/>
              <a:t> nel tag form, ricerca nel </a:t>
            </a:r>
            <a:r>
              <a:rPr i="1" lang="it-IT"/>
              <a:t>controller </a:t>
            </a:r>
            <a:r>
              <a:rPr lang="it-IT"/>
              <a:t>il metodo con l’annotation </a:t>
            </a:r>
            <a:r>
              <a:rPr i="1" lang="it-IT"/>
              <a:t>@ModelAttribute("modelAttributeUtenteRegistrazione") </a:t>
            </a:r>
            <a:r>
              <a:rPr lang="it-IT"/>
              <a:t>e lo invoca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come lo abbiamo implementato nell’esempio il metodo crea un oggetto </a:t>
            </a:r>
            <a:r>
              <a:rPr i="1" lang="it-IT"/>
              <a:t>PersonaBean</a:t>
            </a:r>
            <a:r>
              <a:rPr lang="it-IT"/>
              <a:t> con </a:t>
            </a:r>
            <a:r>
              <a:rPr i="1" lang="it-IT"/>
              <a:t>nome="" </a:t>
            </a:r>
            <a:r>
              <a:rPr lang="it-IT"/>
              <a:t>e </a:t>
            </a:r>
            <a:r>
              <a:rPr i="1" lang="it-IT"/>
              <a:t>cognome="" </a:t>
            </a:r>
            <a:r>
              <a:rPr lang="it-IT"/>
              <a:t>e di conseguenza la form viene inizializzata con gli </a:t>
            </a:r>
            <a:r>
              <a:rPr i="1" lang="it-IT"/>
              <a:t>input</a:t>
            </a:r>
            <a:r>
              <a:rPr lang="it-IT"/>
              <a:t> corrispondenti vuoti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In questo modo Spring implementa il binding tra campi della Form e attributi della classe Java</a:t>
            </a:r>
            <a:endParaRPr/>
          </a:p>
        </p:txBody>
      </p:sp>
      <p:sp>
        <p:nvSpPr>
          <p:cNvPr id="290" name="Google Shape;290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1" name="Google Shape;291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Passaggio di dati tra </a:t>
            </a:r>
            <a:br>
              <a:rPr lang="it-IT"/>
            </a:br>
            <a:r>
              <a:rPr lang="it-IT"/>
              <a:t>form e controller (2/3)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 questo punto il metodo del </a:t>
            </a:r>
            <a:r>
              <a:rPr i="1" lang="it-IT"/>
              <a:t>contoller</a:t>
            </a:r>
            <a:r>
              <a:rPr lang="it-IT"/>
              <a:t> invocato sul </a:t>
            </a:r>
            <a:r>
              <a:rPr i="1" lang="it-IT"/>
              <a:t>submit</a:t>
            </a:r>
            <a:r>
              <a:rPr lang="it-IT"/>
              <a:t> della form potrà ricevere in input il </a:t>
            </a:r>
            <a:r>
              <a:rPr i="1" lang="it-IT"/>
              <a:t>bean </a:t>
            </a:r>
            <a:r>
              <a:rPr lang="it-IT"/>
              <a:t>Java già valorizzato con i campi inputati dall’utente:</a:t>
            </a:r>
            <a:endParaRPr/>
          </a:p>
          <a:p>
            <a:pPr indent="-121920" lvl="0" marL="274320" rtl="0" algn="just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@PostMapping("/registra")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String registra(@ModelAttribute("modelAttributeUtenteRegistrazione") PersonaBean personaBean,Model model)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System.out.println("Nome: " + personaBean.getNome());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System.out.println("Cognome: " + personaBean.getCognome());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model.addAttribute("messaggio","Registrazione effettuata");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model.addAttribute("utente",personaBean);</a:t>
            </a:r>
            <a:endParaRPr/>
          </a:p>
        </p:txBody>
      </p:sp>
      <p:sp>
        <p:nvSpPr>
          <p:cNvPr id="297" name="Google Shape;297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8" name="Google Shape;298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Passaggio di dati tra </a:t>
            </a:r>
            <a:br>
              <a:rPr lang="it-IT"/>
            </a:br>
            <a:r>
              <a:rPr lang="it-IT"/>
              <a:t>form e controller (3/3)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Perché tutto il meccanismo del </a:t>
            </a:r>
            <a:r>
              <a:rPr i="1" lang="it-IT"/>
              <a:t>binding</a:t>
            </a:r>
            <a:r>
              <a:rPr lang="it-IT"/>
              <a:t> descritto nelle slide precedenti funzioni è necessario che, nella pagina Jsp, per il tag </a:t>
            </a:r>
            <a:r>
              <a:rPr i="1" lang="it-IT"/>
              <a:t>form </a:t>
            </a:r>
            <a:r>
              <a:rPr lang="it-IT"/>
              <a:t>e per i tag </a:t>
            </a:r>
            <a:r>
              <a:rPr i="1" lang="it-IT"/>
              <a:t>input</a:t>
            </a:r>
            <a:r>
              <a:rPr lang="it-IT"/>
              <a:t> si utilizzino tag specifici di Spring ed i nomi degli attributi della classe Java collegata alla form siano riportati nell’attributo </a:t>
            </a:r>
            <a:r>
              <a:rPr i="1" lang="it-IT"/>
              <a:t>path</a:t>
            </a:r>
            <a:r>
              <a:rPr lang="it-IT"/>
              <a:t> del tag </a:t>
            </a:r>
            <a:r>
              <a:rPr i="1" lang="it-IT"/>
              <a:t>input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&lt;form:form </a:t>
            </a:r>
            <a:endParaRPr i="1" sz="18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&lt;form:input path="nome"</a:t>
            </a:r>
            <a:endParaRPr i="1" sz="18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 per utilizzare i tag occorrerà importare la </a:t>
            </a:r>
            <a:r>
              <a:rPr i="1" lang="it-IT"/>
              <a:t>taglib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&lt;%@ taglib uri="http://www.springframework.org/tags/form" prefix="form"%&gt;</a:t>
            </a:r>
            <a:r>
              <a:rPr i="1" lang="it-IT"/>
              <a:t> </a:t>
            </a:r>
            <a:r>
              <a:rPr i="1" lang="it-IT" sz="1800"/>
              <a:t>	</a:t>
            </a:r>
            <a:endParaRPr/>
          </a:p>
        </p:txBody>
      </p:sp>
      <p:sp>
        <p:nvSpPr>
          <p:cNvPr id="304" name="Google Shape;304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5" name="Google Shape;305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Tag Spring nella </a:t>
            </a:r>
            <a:r>
              <a:rPr i="1" lang="it-IT"/>
              <a:t>form</a:t>
            </a:r>
            <a:endParaRPr i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meccanismo del </a:t>
            </a:r>
            <a:r>
              <a:rPr i="1" lang="it-IT"/>
              <a:t>binding</a:t>
            </a:r>
            <a:r>
              <a:rPr lang="it-IT"/>
              <a:t> mostrato nelle slide precedenti, attraverso l’esempio del </a:t>
            </a:r>
            <a:r>
              <a:rPr i="1" lang="it-IT"/>
              <a:t>model attribute modelAttributeUtenteRegistrazione</a:t>
            </a:r>
            <a:r>
              <a:rPr lang="it-IT"/>
              <a:t>, ha permesso il passaggio di informazioni tra </a:t>
            </a:r>
            <a:r>
              <a:rPr i="1" lang="it-IT"/>
              <a:t>form</a:t>
            </a:r>
            <a:r>
              <a:rPr lang="it-IT"/>
              <a:t> e </a:t>
            </a:r>
            <a:r>
              <a:rPr i="1" lang="it-IT"/>
              <a:t>controller</a:t>
            </a:r>
            <a:r>
              <a:rPr lang="it-IT"/>
              <a:t> sulla </a:t>
            </a:r>
            <a:r>
              <a:rPr i="1" lang="it-IT"/>
              <a:t>request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vogliamo passare delle informazioni sulla </a:t>
            </a:r>
            <a:r>
              <a:rPr i="1" lang="it-IT"/>
              <a:t>session</a:t>
            </a:r>
            <a:r>
              <a:rPr lang="it-IT"/>
              <a:t> si può utilizzare lo stesso identico meccanismo del </a:t>
            </a:r>
            <a:r>
              <a:rPr i="1" lang="it-IT"/>
              <a:t>model attribute</a:t>
            </a:r>
            <a:r>
              <a:rPr lang="it-IT"/>
              <a:t> già visto, ma premettendo alla dichiarazione del </a:t>
            </a:r>
            <a:r>
              <a:rPr i="1" lang="it-IT"/>
              <a:t>controller </a:t>
            </a:r>
            <a:r>
              <a:rPr lang="it-IT"/>
              <a:t>l’annotation </a:t>
            </a:r>
            <a:r>
              <a:rPr i="1" lang="it-IT"/>
              <a:t>@SessionAttributes(</a:t>
            </a:r>
            <a:r>
              <a:rPr lang="it-IT"/>
              <a:t>" </a:t>
            </a:r>
            <a:r>
              <a:rPr i="1" lang="it-IT"/>
              <a:t>name</a:t>
            </a:r>
            <a:r>
              <a:rPr lang="it-IT"/>
              <a:t> ") dove </a:t>
            </a:r>
            <a:r>
              <a:rPr i="1" lang="it-IT"/>
              <a:t>name</a:t>
            </a:r>
            <a:r>
              <a:rPr lang="it-IT"/>
              <a:t> dovrà corrispondere al nome logico del </a:t>
            </a:r>
            <a:r>
              <a:rPr i="1" lang="it-IT"/>
              <a:t>model attribute</a:t>
            </a:r>
            <a:endParaRPr i="1"/>
          </a:p>
        </p:txBody>
      </p:sp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2" name="Google Shape;312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Passaggio di parametri in sessione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Davanti alla dichiarazione del </a:t>
            </a:r>
            <a:r>
              <a:rPr i="1" lang="it-IT"/>
              <a:t>controller: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@Controller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@SessionAttributes({"loginModelAttribute"})</a:t>
            </a:r>
            <a:endParaRPr/>
          </a:p>
          <a:p>
            <a:pPr indent="0" lvl="1" marL="301943" rtl="0" algn="l"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i="1" lang="it-IT" sz="1900"/>
              <a:t>public class LoginController {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metodo del </a:t>
            </a:r>
            <a:r>
              <a:rPr i="1" lang="it-IT"/>
              <a:t>controller </a:t>
            </a:r>
            <a:r>
              <a:rPr lang="it-IT"/>
              <a:t>che definisce il </a:t>
            </a:r>
            <a:r>
              <a:rPr i="1" lang="it-IT"/>
              <a:t>model attribute: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@ModelAttribute("loginModelAttribute")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public Utente loginModelAttribute() {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return new Utente("","",false,null);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}</a:t>
            </a:r>
            <a:endParaRPr/>
          </a:p>
        </p:txBody>
      </p: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di parametro in sessione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2020-10-19T09:44:59Z</dcterms:created>
  <dc:creator>Roberto Santoro</dc:creator>
</cp:coreProperties>
</file>