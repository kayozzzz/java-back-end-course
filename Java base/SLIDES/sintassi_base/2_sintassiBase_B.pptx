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embeddedFontLst>
    <p:embeddedFont>
      <p:font typeface="Candara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gGhmBR+ZWOe+id163raOp+RYv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ndara-bold.fntdata"/><Relationship Id="rId30" Type="http://schemas.openxmlformats.org/officeDocument/2006/relationships/font" Target="fonts/Candara-regular.fntdata"/><Relationship Id="rId11" Type="http://schemas.openxmlformats.org/officeDocument/2006/relationships/slide" Target="slides/slide6.xml"/><Relationship Id="rId33" Type="http://schemas.openxmlformats.org/officeDocument/2006/relationships/font" Target="fonts/Candara-boldItalic.fntdata"/><Relationship Id="rId10" Type="http://schemas.openxmlformats.org/officeDocument/2006/relationships/slide" Target="slides/slide5.xml"/><Relationship Id="rId32" Type="http://schemas.openxmlformats.org/officeDocument/2006/relationships/font" Target="fonts/Candar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26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2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2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2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2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2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26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28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862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28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28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28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28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28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29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30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30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30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32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3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3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3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3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32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3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33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3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3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3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3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33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33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34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3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3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3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3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3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34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3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34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3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36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3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3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3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3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3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36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25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2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2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2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2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25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Java – sintassi base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it-IT"/>
              <a:t>(seconda parte)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Consentono di alterare il normale flusso di esecuzione di un blocco di codice che è sequenziale, dall’alto in basso e da sinistra a destra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int x = 2;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int y = x + 3; // y è uguale a 5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int z = 1;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z += y; // equivale a scrivere z = z + y, quindi z è uguale a 6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istruzioni del frammento di codice riportato sopra portano ai risultati indicati nei commenti proprio perché eseguite in ordine sequenziale dall’alto in basso e da sinistra a destra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43" name="Google Shape;143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4" name="Google Shape;144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Istruzioni di controllo del flusso</a:t>
            </a:r>
            <a:br>
              <a:rPr lang="it-IT"/>
            </a:br>
            <a:r>
              <a:rPr lang="it-IT"/>
              <a:t>introduzione (1/2)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int x = 2;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int y = x + 3;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int z = 1;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if ( y &lt; x ) {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	z += y;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}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else {</a:t>
            </a:r>
            <a:endParaRPr b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lang="it-IT"/>
              <a:t>	z += x;</a:t>
            </a:r>
            <a:endParaRPr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b="1" lang="it-IT"/>
              <a:t>}</a:t>
            </a:r>
            <a:endParaRPr/>
          </a:p>
          <a:p>
            <a:pPr indent="0" lvl="1" marL="301943" rtl="0" algn="l">
              <a:spcBef>
                <a:spcPts val="481"/>
              </a:spcBef>
              <a:spcAft>
                <a:spcPts val="0"/>
              </a:spcAft>
              <a:buSzPct val="100000"/>
              <a:buNone/>
            </a:pPr>
            <a:r>
              <a:rPr lang="it-IT" sz="2600"/>
              <a:t>Le istruzioni «if» «else», dette di salto condizionale, alterano il normale flusso di esecuzione determinando dei «salti» nell’esecuzione del codice</a:t>
            </a:r>
            <a:endParaRPr sz="2600"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Istruzioni di controllo del flusso</a:t>
            </a:r>
            <a:br>
              <a:rPr lang="it-IT"/>
            </a:br>
            <a:r>
              <a:rPr lang="it-IT"/>
              <a:t>introduzione (2/2)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istruzioni di salto condizionale</a:t>
            </a:r>
            <a:r>
              <a:rPr lang="it-IT"/>
              <a:t>: sono le istruzioni </a:t>
            </a:r>
            <a:r>
              <a:rPr i="1" lang="it-IT"/>
              <a:t>if-else, switch, case</a:t>
            </a:r>
            <a:r>
              <a:rPr lang="it-IT"/>
              <a:t>. La modifica del flusso avviene a seconda che si verifichi o meno una determinata condizione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istruzioni iterative</a:t>
            </a:r>
            <a:r>
              <a:rPr lang="it-IT"/>
              <a:t>: </a:t>
            </a:r>
            <a:r>
              <a:rPr i="1" lang="it-IT"/>
              <a:t>for, do, while</a:t>
            </a:r>
            <a:r>
              <a:rPr lang="it-IT"/>
              <a:t>. La modifica del flusso avviene ripetendo una sequenza di istruzioni finchè è valida una determinata condizione. Supponendo di avere un blocco di 10 istruzioni che vengono ripetute finchè si verifica una determinata condizione, il flusso eseguirà le istruzioni del blocco dalla 1 alla 10, dopodichè anziché eseguire l’istruzione 11, ritornerà ad eseguire l’istruzione 1 del blocco; questo finchè la condizione sarà valida</a:t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Tipologie di istruzioni di </a:t>
            </a:r>
            <a:br>
              <a:rPr lang="it-IT"/>
            </a:br>
            <a:r>
              <a:rPr lang="it-IT"/>
              <a:t>controllo del flusso (1/2)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istruzioni di salto incondizionato</a:t>
            </a:r>
            <a:r>
              <a:rPr lang="it-IT"/>
              <a:t>: </a:t>
            </a:r>
            <a:r>
              <a:rPr i="1" lang="it-IT"/>
              <a:t>break, continue, return</a:t>
            </a:r>
            <a:r>
              <a:rPr lang="it-IT"/>
              <a:t>. Queste istruzioni determinano il salto del codice “forzato” ad una istruzione differente dalla successiva nell’ordine sequenziale</a:t>
            </a:r>
            <a:endParaRPr/>
          </a:p>
          <a:p>
            <a:pPr indent="-274320" lvl="0" marL="274320" rtl="0" algn="l">
              <a:spcBef>
                <a:spcPts val="408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istruzioni di gestione delle eccezion</a:t>
            </a:r>
            <a:r>
              <a:rPr lang="it-IT"/>
              <a:t>i: </a:t>
            </a:r>
            <a:r>
              <a:rPr i="1" lang="it-IT"/>
              <a:t>try-catch-finally</a:t>
            </a:r>
            <a:r>
              <a:rPr lang="it-IT"/>
              <a:t>. Queste istruzioni verranno approfondite più avanti nel corso. Per ora possiamo iniziare a dire che hanno un comportamento simile alle istruzioni condizionali. Qui però la condizione che determina il salto nel flusso di codice è determinata dal verificarsi di un errore. Ovvero, se si verifica un errore (in Java </a:t>
            </a:r>
            <a:r>
              <a:rPr b="1" lang="it-IT"/>
              <a:t>eccezione </a:t>
            </a:r>
            <a:r>
              <a:rPr lang="it-IT"/>
              <a:t>o </a:t>
            </a:r>
            <a:r>
              <a:rPr b="1" lang="it-IT"/>
              <a:t>Exception</a:t>
            </a:r>
            <a:r>
              <a:rPr lang="it-IT"/>
              <a:t>) il codice “salta” l’ordine sequenziale. Il significato di </a:t>
            </a:r>
            <a:r>
              <a:rPr i="1" lang="it-IT"/>
              <a:t>try-catch</a:t>
            </a:r>
            <a:r>
              <a:rPr lang="it-IT"/>
              <a:t> (prova e cattura) lo potremmo riassumere  così: “prova (try) ad eseguire questo blocco di istruzioni, se si verificasse un’eccezione (errore), cattura (catch) il flusso ed esegui quest’altro blocco di istruzioni”</a:t>
            </a:r>
            <a:endParaRPr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Tipologie di istruzioni di </a:t>
            </a:r>
            <a:br>
              <a:rPr lang="it-IT"/>
            </a:br>
            <a:r>
              <a:rPr lang="it-IT"/>
              <a:t>controllo del flusso (2/2)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1628800"/>
            <a:ext cx="7408333" cy="44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int x = 2;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int y = 3;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 int z = 1;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if ( y &lt; x )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z += 10;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}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else if ( x == y )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z += 20;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}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else { 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z = 100;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 </a:t>
            </a:r>
            <a:endParaRPr sz="2000"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Esempio if-else if-else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2067" y="1556792"/>
            <a:ext cx="7408333" cy="456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int x = 2; int y = 3; int z = 1;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switch ( y – x )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case -1: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z = 11;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break;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} 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case 0: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z = 21;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	break; </a:t>
            </a:r>
            <a:endParaRPr i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	}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	default: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		z = 100;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	}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} </a:t>
            </a:r>
            <a:endParaRPr sz="2000"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Esempio switch - case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for ( int i=0 ; i&lt;10; i++ ){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System.out.println(“Numero: “ + i);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/*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verranno stampate a video 10 stringhe del tipo: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0;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1;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….;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9;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*/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Esempio ciclo for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All’interno delle parentesi tonde successive alla parola chiave </a:t>
            </a:r>
            <a:r>
              <a:rPr i="1" lang="it-IT"/>
              <a:t>for</a:t>
            </a:r>
            <a:r>
              <a:rPr lang="it-IT"/>
              <a:t> abbiamo 3 elementi: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condizione di inizio: </a:t>
            </a:r>
            <a:r>
              <a:rPr i="1" lang="it-IT"/>
              <a:t>int i=0;</a:t>
            </a:r>
            <a:r>
              <a:rPr lang="it-IT"/>
              <a:t>. Ovvero il ciclo inizia con i=0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condizione di uscita dal ciclo: </a:t>
            </a:r>
            <a:r>
              <a:rPr i="1" lang="it-IT"/>
              <a:t>i&lt;10;</a:t>
            </a:r>
            <a:r>
              <a:rPr lang="it-IT"/>
              <a:t>. Ovvero il ciclo termina appena </a:t>
            </a:r>
            <a:r>
              <a:rPr i="1" lang="it-IT"/>
              <a:t>i</a:t>
            </a:r>
            <a:r>
              <a:rPr lang="it-IT"/>
              <a:t> è maggiore o uguale di 10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espressione da eseguire </a:t>
            </a:r>
            <a:r>
              <a:rPr b="1" lang="it-IT"/>
              <a:t>alla fine</a:t>
            </a:r>
            <a:r>
              <a:rPr lang="it-IT"/>
              <a:t> di ogni passo del ciclo: </a:t>
            </a:r>
            <a:r>
              <a:rPr i="1" lang="it-IT"/>
              <a:t>i++</a:t>
            </a:r>
            <a:r>
              <a:rPr lang="it-IT"/>
              <a:t>. Ovvero ad ogni passo del ciclo incrementa i di 1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Pertanto, l’istruzione </a:t>
            </a:r>
            <a:r>
              <a:rPr i="1" lang="it-IT"/>
              <a:t>for ( int i=0; i&lt;10; i++ )</a:t>
            </a:r>
            <a:r>
              <a:rPr lang="it-IT"/>
              <a:t> va interpretata come “per i che va da 0 a 9, incrementandosi di un’unità, esegui il blocco di codice seguente”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Conseguentemente, come indicato nel commento multi-linea (stringhe comprese tra /* e */), verrà eseguita la stampa a video della stringa “Numero 0”, fino a “Numero 9”</a:t>
            </a:r>
            <a:endParaRPr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Ciclo for – interpretazione (1/2)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Da notare che l’incremento della variabile i tramite l’istruzione </a:t>
            </a:r>
            <a:r>
              <a:rPr i="1" lang="it-IT"/>
              <a:t>i++</a:t>
            </a:r>
            <a:r>
              <a:rPr lang="it-IT"/>
              <a:t> interna alle parentesi tonde del ciclo </a:t>
            </a:r>
            <a:r>
              <a:rPr i="1" lang="it-IT"/>
              <a:t>for</a:t>
            </a:r>
            <a:r>
              <a:rPr lang="it-IT"/>
              <a:t> viene eseguita come ultima istruzione del ciclo, quindi </a:t>
            </a:r>
            <a:r>
              <a:rPr b="1" lang="it-IT"/>
              <a:t>dopo</a:t>
            </a:r>
            <a:r>
              <a:rPr lang="it-IT"/>
              <a:t> l’istruzione di stampa a video </a:t>
            </a:r>
            <a:r>
              <a:rPr i="1" lang="it-IT"/>
              <a:t>System.out.println</a:t>
            </a:r>
            <a:r>
              <a:rPr lang="it-IT"/>
              <a:t>. E’ per questo che le stringhe stampate a video partono da “Numero 0”; se fosse stata incrementata prima la variabile </a:t>
            </a:r>
            <a:r>
              <a:rPr i="1" lang="it-IT"/>
              <a:t>i</a:t>
            </a:r>
            <a:r>
              <a:rPr lang="it-IT"/>
              <a:t> e poi effettuata la stampa a video, le stampe sarebbero partite da “Numero 1”.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Da notare anche all’interno dell’istruzione di stampa a video, la conversione da numero a stringa dell’intero </a:t>
            </a:r>
            <a:r>
              <a:rPr i="1" lang="it-IT"/>
              <a:t>i </a:t>
            </a:r>
            <a:r>
              <a:rPr lang="it-IT"/>
              <a:t> e la successiva concatenazione tramite l’operatore </a:t>
            </a:r>
            <a:r>
              <a:rPr i="1" lang="it-IT"/>
              <a:t>+</a:t>
            </a:r>
            <a:r>
              <a:rPr lang="it-IT"/>
              <a:t> delle stringhe “Numero “ e “i” (prima valutato come numero e poi convertito a stringa)</a:t>
            </a:r>
            <a:endParaRPr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Ciclo for – interpretazione (2/2)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for ( int i=7; i&lt;10; i++ )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System.out.println(“Numero: “ + i);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/*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verranno stampate a video 3 stringhe: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7;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8;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9;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*/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 quest’utlimo esempio abbiamo cambiato la condizione di inizio, che adesso è </a:t>
            </a:r>
            <a:r>
              <a:rPr i="1" lang="it-IT"/>
              <a:t>i=7</a:t>
            </a:r>
            <a:r>
              <a:rPr lang="it-IT"/>
              <a:t>.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Pertanto il ciclo verrà eseguito 3 volte per i=7, i=8 e i=9</a:t>
            </a:r>
            <a:endParaRPr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ciclo for (1/3)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for ( int i=0; i&lt;2; i++ )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System.out.println(“Numero: “ + i);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/*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verranno stampate a video 2 stringhe: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0;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Numero 1;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*/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 quest’ultimo esempio abbiamo cambiato la condizione di uscita dal ciclo che adesso è </a:t>
            </a:r>
            <a:r>
              <a:rPr i="1" lang="it-IT"/>
              <a:t>i&lt;2</a:t>
            </a:r>
            <a:r>
              <a:rPr lang="it-IT"/>
              <a:t>. Pertanto il ciclo verrà eseguito solo 2 volte, per i=0 e i=1</a:t>
            </a:r>
            <a:endParaRPr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ciclo for (2/3)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for ( int i=0; i&lt;10; i=i+2 )</a:t>
            </a:r>
            <a:endParaRPr sz="3600"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{</a:t>
            </a:r>
            <a:endParaRPr sz="3600"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	System.out.println(“Numero: “ + i); </a:t>
            </a:r>
            <a:endParaRPr sz="3600"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	/*</a:t>
            </a:r>
            <a:endParaRPr sz="3600"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		verranno stampate a video 5 stringhe: Numero 0; </a:t>
            </a:r>
            <a:endParaRPr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		Numero2; Numero 4;Numero 6;Numero 8;	</a:t>
            </a:r>
            <a:endParaRPr sz="3600"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	*/</a:t>
            </a:r>
            <a:endParaRPr sz="3600"/>
          </a:p>
          <a:p>
            <a:pPr indent="0" lvl="0" marL="0" rtl="0" algn="l">
              <a:spcBef>
                <a:spcPts val="396"/>
              </a:spcBef>
              <a:spcAft>
                <a:spcPts val="0"/>
              </a:spcAft>
              <a:buSzPct val="100000"/>
              <a:buNone/>
            </a:pPr>
            <a:r>
              <a:rPr i="1" lang="it-IT" sz="3600"/>
              <a:t>}</a:t>
            </a:r>
            <a:endParaRPr sz="3600"/>
          </a:p>
          <a:p>
            <a:pPr indent="-274320" lvl="0" marL="274320" rtl="0" algn="l">
              <a:spcBef>
                <a:spcPts val="506"/>
              </a:spcBef>
              <a:spcAft>
                <a:spcPts val="0"/>
              </a:spcAft>
              <a:buSzPct val="100000"/>
              <a:buChar char="*"/>
            </a:pPr>
            <a:r>
              <a:rPr lang="it-IT" sz="4600"/>
              <a:t>In quest’ultimo esempio abbiamo cambiato l’istruzione da eseguire ad ogni passo del ciclo, adesso è i=i+2. Ovvero stiamo dicendo che ad ogni passo del ciclo i si deve incrementare non più di un’unità bensì di 2 unità</a:t>
            </a:r>
            <a:endParaRPr sz="4600"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ciclo for (3/3)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int i = 0;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while ( i &lt; 10 ){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System.out.println(“Numero “ + i);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i++;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}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 di istruzione iterativa </a:t>
            </a:r>
            <a:r>
              <a:rPr i="1" lang="it-IT"/>
              <a:t>while</a:t>
            </a:r>
            <a:r>
              <a:rPr lang="it-IT"/>
              <a:t> equivalente al primo esempio svolto tramite istruzione iterativa </a:t>
            </a:r>
            <a:r>
              <a:rPr i="1" lang="it-IT"/>
              <a:t>for</a:t>
            </a:r>
            <a:endParaRPr/>
          </a:p>
        </p:txBody>
      </p:sp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while (1/3)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int i = 0;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boolean exit = false;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while ( !exit  ) 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if ( i &gt;= 2 ) 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exit = true;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else 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System.out.println(“Numero “ + i);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i++;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while (2/3)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quest’ultimo esempio la condizione di uscita dal ciclo </a:t>
            </a:r>
            <a:r>
              <a:rPr i="1" lang="it-IT"/>
              <a:t>while</a:t>
            </a:r>
            <a:r>
              <a:rPr lang="it-IT"/>
              <a:t> è data dall’espressione </a:t>
            </a:r>
            <a:r>
              <a:rPr i="1" lang="it-IT"/>
              <a:t>!exit</a:t>
            </a:r>
            <a:r>
              <a:rPr lang="it-IT"/>
              <a:t> che equivale a “NOT exit” oppure a “exit == false”. Quindi, la condizione di uscita si verifica appena la variabile exit, che è stata inizializzata a </a:t>
            </a:r>
            <a:r>
              <a:rPr i="1" lang="it-IT"/>
              <a:t>true</a:t>
            </a:r>
            <a:r>
              <a:rPr lang="it-IT"/>
              <a:t>, diventa </a:t>
            </a:r>
            <a:r>
              <a:rPr i="1" lang="it-IT"/>
              <a:t>false</a:t>
            </a:r>
            <a:r>
              <a:rPr lang="it-IT"/>
              <a:t>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exit </a:t>
            </a:r>
            <a:r>
              <a:rPr lang="it-IT"/>
              <a:t>diventerà</a:t>
            </a:r>
            <a:r>
              <a:rPr i="1" lang="it-IT"/>
              <a:t> false</a:t>
            </a:r>
            <a:r>
              <a:rPr lang="it-IT"/>
              <a:t> quando la variabile </a:t>
            </a:r>
            <a:r>
              <a:rPr i="1" lang="it-IT"/>
              <a:t>i</a:t>
            </a:r>
            <a:r>
              <a:rPr lang="it-IT"/>
              <a:t>, inizializzata a 0, diventerà maggiore o uguale di 2.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Pertanto il codice stamperà a video le 2 stringhe “Numero 0” e “Numero 1”, dopodichè la variabile </a:t>
            </a:r>
            <a:r>
              <a:rPr i="1" lang="it-IT"/>
              <a:t>i</a:t>
            </a:r>
            <a:r>
              <a:rPr lang="it-IT"/>
              <a:t> diventarà uguale a 2 e quindi la condizione dell’</a:t>
            </a:r>
            <a:r>
              <a:rPr i="1" lang="it-IT"/>
              <a:t>if</a:t>
            </a:r>
            <a:r>
              <a:rPr lang="it-IT"/>
              <a:t> imposterà la variabile </a:t>
            </a:r>
            <a:r>
              <a:rPr i="1" lang="it-IT"/>
              <a:t>exit</a:t>
            </a:r>
            <a:r>
              <a:rPr lang="it-IT"/>
              <a:t> a false e farà di conseguenza terminare il ciclo </a:t>
            </a:r>
            <a:r>
              <a:rPr i="1" lang="it-IT"/>
              <a:t>while</a:t>
            </a:r>
            <a:r>
              <a:rPr lang="it-IT"/>
              <a:t>.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while (3/3)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" type="body"/>
          </p:nvPr>
        </p:nvSpPr>
        <p:spPr>
          <a:xfrm>
            <a:off x="872067" y="2348880"/>
            <a:ext cx="7408333" cy="3777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L’istruzione iterativa </a:t>
            </a:r>
            <a:r>
              <a:rPr i="1" lang="it-IT"/>
              <a:t>do while</a:t>
            </a:r>
            <a:r>
              <a:rPr lang="it-IT"/>
              <a:t> è pressochè identica all’istruzione </a:t>
            </a:r>
            <a:r>
              <a:rPr i="1" lang="it-IT"/>
              <a:t>while</a:t>
            </a:r>
            <a:r>
              <a:rPr lang="it-IT"/>
              <a:t> ad eccezione del fatto che nel ciclo </a:t>
            </a:r>
            <a:r>
              <a:rPr i="1" lang="it-IT"/>
              <a:t>do while</a:t>
            </a:r>
            <a:r>
              <a:rPr lang="it-IT"/>
              <a:t> la valutazione della condizione di permanenza del ciclo viene effettuata alla fine, dopo il blocco di istruzioni del ciclo. Pertanto, nel ciclo </a:t>
            </a:r>
            <a:r>
              <a:rPr i="1" lang="it-IT"/>
              <a:t>do while</a:t>
            </a:r>
            <a:r>
              <a:rPr lang="it-IT"/>
              <a:t>, il ciclo viene sempre eseguito almeno una volta (la prima).</a:t>
            </a:r>
            <a:endParaRPr/>
          </a:p>
        </p:txBody>
      </p:sp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Istruzione iterativa do while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int i = 0;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do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{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System.out.println(“Numero “ + i);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i++;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} while ( i &lt; 10 ); </a:t>
            </a:r>
            <a:endParaRPr i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it-IT"/>
              <a:t>L’esempio appena proposto è equivalente al primo esempio mostrato sia per l’iterazione </a:t>
            </a:r>
            <a:r>
              <a:rPr i="1" lang="it-IT"/>
              <a:t>for </a:t>
            </a:r>
            <a:r>
              <a:rPr lang="it-IT"/>
              <a:t>che per l’iterazione </a:t>
            </a:r>
            <a:r>
              <a:rPr i="1" lang="it-IT"/>
              <a:t>while</a:t>
            </a:r>
            <a:r>
              <a:rPr lang="it-IT"/>
              <a:t> e produce quindi la stampa di 10 stringhe del tipo “Numero 0”….”Numero 9”.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6" name="Google Shape;256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do while (1/2)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int i = 11;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do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{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System.out.println(“Numero “ + i);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i++;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 while ( i &lt; 10 );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100000"/>
              <a:buNone/>
            </a:pPr>
            <a:r>
              <a:rPr lang="it-IT" sz="2600"/>
              <a:t>Quest’ultimo esempio mostra come l’istruzione do while determina sempre l’esecuzione del blocco di codice successivo all’istruzione </a:t>
            </a:r>
            <a:r>
              <a:rPr i="1" lang="it-IT" sz="2600"/>
              <a:t>do</a:t>
            </a:r>
            <a:r>
              <a:rPr lang="it-IT" sz="2600"/>
              <a:t>, almeno la prima volta. Infatti nell’esempio la variabile </a:t>
            </a:r>
            <a:r>
              <a:rPr i="1" lang="it-IT" sz="2600"/>
              <a:t>i</a:t>
            </a:r>
            <a:r>
              <a:rPr lang="it-IT" sz="2600"/>
              <a:t> è inizializzata ad 11, ma la condizione di uscita </a:t>
            </a:r>
            <a:r>
              <a:rPr i="1" lang="it-IT" sz="2600"/>
              <a:t>( i &lt; 10 )</a:t>
            </a:r>
            <a:r>
              <a:rPr lang="it-IT" sz="2600"/>
              <a:t> è valutata </a:t>
            </a:r>
            <a:r>
              <a:rPr b="1" lang="it-IT" sz="2600"/>
              <a:t>dopo</a:t>
            </a:r>
            <a:r>
              <a:rPr lang="it-IT" sz="2600"/>
              <a:t> l’esecuzione del blocco di codice successivo all’istruzione </a:t>
            </a:r>
            <a:r>
              <a:rPr i="1" lang="it-IT" sz="2600"/>
              <a:t>do</a:t>
            </a:r>
            <a:endParaRPr sz="2600"/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3" name="Google Shape;263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do while (2/2)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600"/>
              <a:buChar char="*"/>
            </a:pPr>
            <a:r>
              <a:rPr lang="it-IT" sz="2600"/>
              <a:t>L’istruzione </a:t>
            </a:r>
            <a:r>
              <a:rPr i="1" lang="it-IT" sz="2600"/>
              <a:t>break</a:t>
            </a:r>
            <a:r>
              <a:rPr lang="it-IT" sz="2600"/>
              <a:t> determina l’interruzione dell’iterazione e manda in esecuzione la prima istruzione successiva al blocco di codice iterativo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for ( int i=0; i&lt;10; i++ ) {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lang="it-IT" sz="2100"/>
              <a:t>	</a:t>
            </a:r>
            <a:r>
              <a:rPr i="1" lang="it-IT" sz="2100"/>
              <a:t>System.out.println(“Una prima stringa, al passo ” + i); 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	if ( i == 1 ) {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		break;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	}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	System.out.println(“Una seconda stringa al passo ” + i);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}</a:t>
            </a:r>
            <a:endParaRPr sz="21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ts val="2100"/>
              <a:buNone/>
            </a:pPr>
            <a:r>
              <a:rPr i="1" lang="it-IT" sz="2100"/>
              <a:t>System.out.println(“Finito il ciclo”);</a:t>
            </a:r>
            <a:endParaRPr sz="21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Istruzione break (1/2)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codice precedente mandato in esecuzione stamperebbe a video: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Una prima stringa al passo 0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Una seconda stringa al passo 0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Una prima stringa al passo 1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Finito il ciclo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7" name="Google Shape;277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Istruzione break (2/2)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L’istruzione </a:t>
            </a:r>
            <a:r>
              <a:rPr i="1" lang="it-IT"/>
              <a:t>continue</a:t>
            </a:r>
            <a:r>
              <a:rPr lang="it-IT"/>
              <a:t> ha l’effetto di saltare le successive istruzioni del blocco iterativo e riportare l’esecuzione del codice al successivo passo di iterazione. Quindi, la differenza rispetto all’istruzione </a:t>
            </a:r>
            <a:r>
              <a:rPr i="1" lang="it-IT"/>
              <a:t>break</a:t>
            </a:r>
            <a:r>
              <a:rPr lang="it-IT"/>
              <a:t>, risiede nel fatto che mentre quest’ultima determina l’arresto di tutto il ciclo iterativo, l’istruzione </a:t>
            </a:r>
            <a:r>
              <a:rPr i="1" lang="it-IT"/>
              <a:t>continue</a:t>
            </a:r>
            <a:r>
              <a:rPr lang="it-IT"/>
              <a:t> determina l’interruzione solo dell’iterazione correntemente in esecuzione nel ciclo. La </a:t>
            </a:r>
            <a:r>
              <a:rPr i="1" lang="it-IT"/>
              <a:t>continue</a:t>
            </a:r>
            <a:r>
              <a:rPr lang="it-IT"/>
              <a:t> può essere interpretata come “continua l’iterazione andando direttamente al successivo passo del ciclo”.</a:t>
            </a:r>
            <a:endParaRPr b="1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4" name="Google Shape;284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Istruzione continue (1/2)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for ( int i=0; i&lt;3; i++ ) {</a:t>
            </a:r>
            <a:endParaRPr b="1"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if ( i == 1 ) {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b="1" i="1" lang="it-IT"/>
              <a:t>		</a:t>
            </a:r>
            <a:r>
              <a:rPr i="1" lang="it-IT"/>
              <a:t>continue; </a:t>
            </a:r>
            <a:endParaRPr b="1"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System.out.println(“Stampa “ + i);</a:t>
            </a:r>
            <a:endParaRPr b="1"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  </a:t>
            </a:r>
            <a:r>
              <a:rPr b="1" i="1" lang="it-IT"/>
              <a:t> </a:t>
            </a:r>
            <a:endParaRPr b="1"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System.out.println(“Ciclo finito”);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100000"/>
              <a:buChar char="*"/>
            </a:pPr>
            <a:r>
              <a:rPr lang="it-IT" sz="2600"/>
              <a:t>l’output sarebbe questo:</a:t>
            </a:r>
            <a:endParaRPr b="1" sz="26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Stampa 0</a:t>
            </a:r>
            <a:endParaRPr b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Stampa 2</a:t>
            </a:r>
            <a:endParaRPr b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Ciclo finito</a:t>
            </a:r>
            <a:endParaRPr b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</p:txBody>
      </p:sp>
      <p:sp>
        <p:nvSpPr>
          <p:cNvPr id="290" name="Google Shape;290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1" name="Google Shape;291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Istruzione continue (2/2)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int x = 25;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int y = 0;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try 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System.out.println(“X = “ + x);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System.out.println(“Y = “ + y);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it-IT"/>
              <a:t>	</a:t>
            </a:r>
            <a:r>
              <a:rPr i="1" lang="it-IT"/>
              <a:t>int z = x / y;</a:t>
            </a:r>
            <a:r>
              <a:rPr lang="it-IT"/>
              <a:t>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System.out.println(“Z = “ + z);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it-IT"/>
              <a:t>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catch (  Exception ex ) {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ex.printStackTrace();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</p:txBody>
      </p:sp>
      <p:sp>
        <p:nvSpPr>
          <p:cNvPr id="297" name="Google Shape;297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8" name="Google Shape;298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Esempio eccezioni (anticipazione)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2020-03-05T12:19:16Z</dcterms:created>
  <dc:creator>Roberto Santoro</dc:creator>
</cp:coreProperties>
</file>