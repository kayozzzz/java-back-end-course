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9144000"/>
  <p:notesSz cx="6858000" cy="9144000"/>
  <p:embeddedFontLst>
    <p:embeddedFont>
      <p:font typeface="Candara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8" roundtripDataSignature="AMtx7miepqgSCnK/SQGdJpU8R8uIjcBX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D79CF9-D480-45D7-A51D-D7BE497A3077}">
  <a:tblStyle styleId="{7DD79CF9-D480-45D7-A51D-D7BE497A3077}" styleName="Table_0">
    <a:wholeTbl>
      <a:tcTxStyle b="off" i="off">
        <a:font>
          <a:latin typeface="Candara"/>
          <a:ea typeface="Candara"/>
          <a:cs typeface="Candar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FF"/>
          </a:solidFill>
        </a:fill>
      </a:tcStyle>
    </a:wholeTbl>
    <a:band1H>
      <a:tcTxStyle/>
      <a:tcStyle>
        <a:fill>
          <a:solidFill>
            <a:srgbClr val="CCE5FE"/>
          </a:solidFill>
        </a:fill>
      </a:tcStyle>
    </a:band1H>
    <a:band2H>
      <a:tcTxStyle/>
    </a:band2H>
    <a:band1V>
      <a:tcTxStyle/>
      <a:tcStyle>
        <a:fill>
          <a:solidFill>
            <a:srgbClr val="CCE5FE"/>
          </a:solidFill>
        </a:fill>
      </a:tcStyle>
    </a:band1V>
    <a:band2V>
      <a:tcTxStyle/>
    </a:band2V>
    <a:la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ndara"/>
          <a:ea typeface="Candara"/>
          <a:cs typeface="Candar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Candara-bold.fntdata"/><Relationship Id="rId10" Type="http://schemas.openxmlformats.org/officeDocument/2006/relationships/slide" Target="slides/slide4.xml"/><Relationship Id="rId54" Type="http://schemas.openxmlformats.org/officeDocument/2006/relationships/font" Target="fonts/Candara-regular.fntdata"/><Relationship Id="rId13" Type="http://schemas.openxmlformats.org/officeDocument/2006/relationships/slide" Target="slides/slide7.xml"/><Relationship Id="rId57" Type="http://schemas.openxmlformats.org/officeDocument/2006/relationships/font" Target="fonts/Candara-boldItalic.fntdata"/><Relationship Id="rId12" Type="http://schemas.openxmlformats.org/officeDocument/2006/relationships/slide" Target="slides/slide6.xml"/><Relationship Id="rId56" Type="http://schemas.openxmlformats.org/officeDocument/2006/relationships/font" Target="fonts/Candara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9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49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4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4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4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4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4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49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0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5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1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51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8627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51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51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51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51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51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1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5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52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52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3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53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53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53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5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55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5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5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5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5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55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5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6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5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56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56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5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5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5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5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5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56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6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7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57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5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5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5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5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57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57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7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5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57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8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5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9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5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59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5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5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5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5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59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59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9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8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48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4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8627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4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4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4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48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4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48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Java – sintassi base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it-IT"/>
              <a:t>(prima parte)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sorgente Java è una sequenza di linee di codice all’interno delle quali saranno presenti una serie di elementi sintattici del linguaggio quali ad esempio: commenti, variabili, tipi, etc.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sintassi Java prevede che ogni istruzione termini con il carattere ; (punto e virgola).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b="1" i="1" lang="it-IT"/>
              <a:t>	String s = “Ciao”;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blocchi di istruzioni sono racchiusi tra parentesi graffe</a:t>
            </a:r>
            <a:endParaRPr/>
          </a:p>
        </p:txBody>
      </p:sp>
      <p:sp>
        <p:nvSpPr>
          <p:cNvPr id="143" name="Google Shape;143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Istruzioni</a:t>
            </a:r>
            <a:endParaRPr/>
          </a:p>
        </p:txBody>
      </p:sp>
      <p:sp>
        <p:nvSpPr>
          <p:cNvPr id="144" name="Google Shape;144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I commenti </a:t>
            </a:r>
            <a:r>
              <a:rPr lang="it-IT"/>
              <a:t>in un qualsiasi linguaggio di programmazione sono quelle parti del codice che vengono ignorate dal compilatore. Servono a documentare una parte del codice in modo da rendere più agevole la lettura e la comprensione del codice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Java è possibile scrivere un commento su di una sola linea di codice: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 sz="2200"/>
              <a:t>     String s = “Ciao”; // questo è un commento su singola linea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o su più linee:</a:t>
            </a:r>
            <a:endParaRPr b="1" i="1"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/* Adesso inizia la sequenza di linee di commento</a:t>
            </a:r>
            <a:endParaRPr b="1"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Termine della sequenza di linee di commento */</a:t>
            </a:r>
            <a:endParaRPr b="1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Commenti</a:t>
            </a:r>
            <a:endParaRPr/>
          </a:p>
        </p:txBody>
      </p:sp>
      <p:sp>
        <p:nvSpPr>
          <p:cNvPr id="151" name="Google Shape;151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99592" y="1628800"/>
            <a:ext cx="7408333" cy="43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variabile è un dato che può assumere diversi valori (appunto variabili), definiti all’interno di un insieme di possibili valori. L’insieme dei possibili valori che può assumere la variabile è detto </a:t>
            </a:r>
            <a:r>
              <a:rPr b="1" lang="it-IT"/>
              <a:t>tipo</a:t>
            </a:r>
            <a:r>
              <a:rPr lang="it-IT"/>
              <a:t> della variabile.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Tecnicamente la variabile è una cella di memoria (Ram) ed il </a:t>
            </a:r>
            <a:r>
              <a:rPr b="1" lang="it-IT"/>
              <a:t>tipo</a:t>
            </a:r>
            <a:r>
              <a:rPr lang="it-IT"/>
              <a:t> specifica i valori  che si possono memorizzare in quella cella (e quindi anche la dimensione della cella di memoria)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Variabili</a:t>
            </a:r>
            <a:endParaRPr/>
          </a:p>
        </p:txBody>
      </p:sp>
      <p:sp>
        <p:nvSpPr>
          <p:cNvPr id="158" name="Google Shape;158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27584" y="2132856"/>
            <a:ext cx="7408333" cy="3816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variabile, prima di essere utilizzata deve essere definita, ovvero bisogna scegliere il suo nome e descrivere qual è il tipo di appartenenza (oltre ad altre informazioni che vedremo tra poco); per 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String s;</a:t>
            </a:r>
            <a:r>
              <a:rPr lang="it-IT"/>
              <a:t>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L’istruzione precedente sta definendo una variabile di nome </a:t>
            </a:r>
            <a:r>
              <a:rPr i="1" lang="it-IT"/>
              <a:t>s</a:t>
            </a:r>
            <a:r>
              <a:rPr lang="it-IT"/>
              <a:t> e di tipo </a:t>
            </a:r>
            <a:r>
              <a:rPr i="1" lang="it-IT"/>
              <a:t>String </a:t>
            </a:r>
            <a:r>
              <a:rPr lang="it-IT"/>
              <a:t>(stringa, ovvero sequenza di caratteri) 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Definizione di una variabile</a:t>
            </a:r>
            <a:endParaRPr/>
          </a:p>
        </p:txBody>
      </p:sp>
      <p:sp>
        <p:nvSpPr>
          <p:cNvPr id="165" name="Google Shape;165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volta che è stata definita, la variabile può essere utilizzata assegnandole un valore tra quelli ammissibili per il suo tipo; esempio: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s = “Ciao”;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it-IT" sz="2000"/>
              <a:t>e ovviamente, essendo </a:t>
            </a:r>
            <a:r>
              <a:rPr i="1" lang="it-IT" sz="2000"/>
              <a:t>variabile</a:t>
            </a:r>
            <a:r>
              <a:rPr lang="it-IT" sz="2000"/>
              <a:t>, i valori possono essere successivamente modificati; esempio: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s = "Come va?";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E’ anche possibile contemporaneamente dichiarare ed assegnare un valore ad una variabile. Esempio: </a:t>
            </a:r>
            <a:endParaRPr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String s = “Ciao”;</a:t>
            </a:r>
            <a:endParaRPr b="1"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int x = 3;</a:t>
            </a:r>
            <a:endParaRPr b="1" sz="20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Assegnazione di valore</a:t>
            </a:r>
            <a:br>
              <a:rPr lang="it-IT"/>
            </a:br>
            <a:r>
              <a:rPr lang="it-IT"/>
              <a:t>ad una variabile</a:t>
            </a:r>
            <a:endParaRPr/>
          </a:p>
        </p:txBody>
      </p:sp>
      <p:sp>
        <p:nvSpPr>
          <p:cNvPr id="172" name="Google Shape;172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variabile, quindi, prima di essere usata: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va sempre dichiarata </a:t>
            </a:r>
            <a:r>
              <a:rPr b="1" lang="it-IT"/>
              <a:t>una sola volta </a:t>
            </a:r>
            <a:r>
              <a:rPr lang="it-IT"/>
              <a:t>(all’interno di una coppia di parentesi graffe; ne parleremo più avanti)</a:t>
            </a:r>
            <a:endParaRPr b="1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successivamente le si possono assegnare valori, ogni volta che vogliamo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int x = 3; // corretto; dichiarazione e assegnazione insieme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x = 6; // corretto; assegnazione di un nuovo valore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x= 10; // corretto; assegnazione di un nuovo valore</a:t>
            </a:r>
            <a:endParaRPr i="1"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 u="sng"/>
              <a:t>int x</a:t>
            </a:r>
            <a:r>
              <a:rPr i="1" lang="it-IT"/>
              <a:t> = 2; // sbagliato! x è già stata dichiarata prima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Dichiarazione e uso di variabili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1628800"/>
            <a:ext cx="7408333" cy="44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it-IT" sz="2600"/>
              <a:t>La definizione di una variabile è composta da: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100000"/>
              <a:buChar char="*"/>
            </a:pPr>
            <a:r>
              <a:rPr lang="it-IT" sz="2600"/>
              <a:t>un </a:t>
            </a:r>
            <a:r>
              <a:rPr b="1" lang="it-IT" sz="2600"/>
              <a:t>nome </a:t>
            </a:r>
            <a:r>
              <a:rPr lang="it-IT" sz="2600"/>
              <a:t>o</a:t>
            </a:r>
            <a:r>
              <a:rPr b="1" lang="it-IT" sz="2600"/>
              <a:t> identificatore:</a:t>
            </a:r>
            <a:r>
              <a:rPr lang="it-IT" sz="2600"/>
              <a:t> una qualsiasi sequenza di caratteri alfanumerici senza spazi. Il nome non può iniziare con un carattere numerico e non possono essere utilizzate alcune parole chiave che sono riservate al JDK. La convenzione Java, usata dalla maggior parte degli sviluppatori Java, prevede l’utilizzo del cosiddetto “camel-case” (notazione a cammello):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il primo carattere è sempre una lettera minuscola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si predilige l’uso solo di lettere minuscole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quando il nome è composto da più parole, queste si uniscono senza lasciare spazi e usando la maiuscola solo per la prima lettera di tutte le parole successive alla prima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Alcuni esempi di nomi con la notazione camelCase:</a:t>
            </a:r>
            <a:endParaRPr/>
          </a:p>
          <a:p>
            <a:pPr indent="-228600" lvl="2" marL="855663" rtl="0" algn="l">
              <a:spcBef>
                <a:spcPts val="340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String nome; String nomeVariabile; String nomeSecondaVariabile;</a:t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Variabili – regole di sintassi (1/2)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</a:t>
            </a:r>
            <a:r>
              <a:rPr b="1" lang="it-IT"/>
              <a:t>tipo:</a:t>
            </a:r>
            <a:r>
              <a:rPr lang="it-IT"/>
              <a:t> come già detto, il tipo rappresenta l’insieme dei possibili valori che può assumere una variabile (concetto matematico di insieme). Esempi di tipi sono: </a:t>
            </a:r>
            <a:r>
              <a:rPr i="1" lang="it-IT"/>
              <a:t>int, long, double, boolean, String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</a:t>
            </a:r>
            <a:r>
              <a:rPr b="1" lang="it-IT"/>
              <a:t>ambito</a:t>
            </a:r>
            <a:r>
              <a:rPr lang="it-IT"/>
              <a:t> o </a:t>
            </a:r>
            <a:r>
              <a:rPr b="1" lang="it-IT"/>
              <a:t>scope: </a:t>
            </a:r>
            <a:r>
              <a:rPr lang="it-IT"/>
              <a:t>determina le zone di visibilità di una variabile (se globale o locale; su questo ci torneremo più avanti)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uno </a:t>
            </a:r>
            <a:r>
              <a:rPr b="1" lang="it-IT"/>
              <a:t>specificatore di accesso</a:t>
            </a:r>
            <a:r>
              <a:rPr lang="it-IT"/>
              <a:t> che determina chi può accedere alla variabile (se pubblica, privata, protetta; anche su questo ci torneremo più avanti)</a:t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Variabili – regole di sintassi (2/2)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2420888"/>
            <a:ext cx="7408333" cy="37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dichiarazione di una variabile di nome </a:t>
            </a:r>
            <a:r>
              <a:rPr i="1" lang="it-IT"/>
              <a:t>variabileNumero</a:t>
            </a:r>
            <a:r>
              <a:rPr lang="it-IT"/>
              <a:t> di tipo intero e con accesso pubblico: 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public int variabileNumero;</a:t>
            </a:r>
            <a:r>
              <a:rPr i="1" lang="it-IT"/>
              <a:t> 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Dichiarazione di una variabile di nome </a:t>
            </a:r>
            <a:r>
              <a:rPr i="1" lang="it-IT"/>
              <a:t>variabileStringa</a:t>
            </a:r>
            <a:r>
              <a:rPr lang="it-IT"/>
              <a:t> di tipo Stringa e con accesso privato: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b="1" i="1" lang="it-IT" sz="2000"/>
              <a:t>private String variabileStringa;</a:t>
            </a:r>
            <a:endParaRPr b="1" sz="2000"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Variabili – esempi di dichiarazioni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Insieme di valori che può assumere una variabile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 u="sng"/>
              <a:t>In Java tutti i tipi di dato sono classi, ad eccezione degli 8 tipi primitivi che sono:</a:t>
            </a:r>
            <a:r>
              <a:rPr lang="it-IT"/>
              <a:t> 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byte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short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long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float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double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boolean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char</a:t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Tipi di dato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1" marL="576263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 sz="2400"/>
              <a:t>byte </a:t>
            </a:r>
            <a:endParaRPr b="1" sz="2400"/>
          </a:p>
          <a:p>
            <a:pPr indent="-228600" lvl="2" marL="8556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intero a 8 bit</a:t>
            </a:r>
            <a:endParaRPr sz="2400"/>
          </a:p>
          <a:p>
            <a:pPr indent="-228600" lvl="2" marL="8556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minimo -128 (-2^</a:t>
            </a:r>
            <a:r>
              <a:rPr baseline="30000" lang="it-IT" sz="2400"/>
              <a:t>7</a:t>
            </a:r>
            <a:r>
              <a:rPr lang="it-IT" sz="2400"/>
              <a:t>)</a:t>
            </a:r>
            <a:endParaRPr sz="2400"/>
          </a:p>
          <a:p>
            <a:pPr indent="-228600" lvl="2" marL="8556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massimo 127 (2^</a:t>
            </a:r>
            <a:r>
              <a:rPr baseline="30000" lang="it-IT" sz="2400"/>
              <a:t>7</a:t>
            </a:r>
            <a:r>
              <a:rPr lang="it-IT" sz="2400"/>
              <a:t>-1)</a:t>
            </a:r>
            <a:endParaRPr sz="2400"/>
          </a:p>
          <a:p>
            <a:pPr indent="-228600" lvl="2" marL="8556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</a:t>
            </a:r>
            <a:endParaRPr/>
          </a:p>
          <a:p>
            <a:pPr indent="-228600" lvl="2" marL="8556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byte b = 100; </a:t>
            </a:r>
            <a:endParaRPr sz="24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byte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2420888"/>
            <a:ext cx="7408333" cy="37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short</a:t>
            </a:r>
            <a:endParaRPr b="1"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intero a 16 bit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minimo -32.768 (-2^</a:t>
            </a:r>
            <a:r>
              <a:rPr baseline="30000" lang="it-IT" sz="2400"/>
              <a:t>15</a:t>
            </a:r>
            <a:r>
              <a:rPr lang="it-IT" sz="2400"/>
              <a:t>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Massimo 32.768 (2^</a:t>
            </a:r>
            <a:r>
              <a:rPr baseline="30000" lang="it-IT" sz="2400"/>
              <a:t>15 </a:t>
            </a:r>
            <a:r>
              <a:rPr lang="it-IT" sz="2400"/>
              <a:t>- 1)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short s = 20000;</a:t>
            </a:r>
            <a:endParaRPr sz="2400"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short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int</a:t>
            </a:r>
            <a:endParaRPr b="1"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intero a 32 bit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minimo – 2.147.483.648 (-2^</a:t>
            </a:r>
            <a:r>
              <a:rPr baseline="30000" lang="it-IT" sz="2400"/>
              <a:t>31</a:t>
            </a:r>
            <a:r>
              <a:rPr lang="it-IT" sz="2400"/>
              <a:t>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massimo 2.147.483.647  (2^</a:t>
            </a:r>
            <a:r>
              <a:rPr baseline="30000" lang="it-IT" sz="2400"/>
              <a:t>31</a:t>
            </a:r>
            <a:r>
              <a:rPr lang="it-IT" sz="2400"/>
              <a:t> - 1)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int i = 2.000.000;</a:t>
            </a:r>
            <a:endParaRPr sz="2400"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int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872067" y="2420888"/>
            <a:ext cx="7408333" cy="37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long</a:t>
            </a:r>
            <a:endParaRPr b="1"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intero a 64 bit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minimo -9,223,372,036,854,775,808 (-2^</a:t>
            </a:r>
            <a:r>
              <a:rPr baseline="30000" lang="it-IT" sz="2400"/>
              <a:t>63</a:t>
            </a:r>
            <a:r>
              <a:rPr lang="it-IT" sz="2400"/>
              <a:t>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massimo 9,223,372,036,854,775,807 (2^</a:t>
            </a:r>
            <a:r>
              <a:rPr baseline="30000" lang="it-IT" sz="2400"/>
              <a:t>63 </a:t>
            </a:r>
            <a:r>
              <a:rPr lang="it-IT" sz="2400"/>
              <a:t>- 1)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0L</a:t>
            </a:r>
            <a:endParaRPr sz="20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long variabileLong = 2.000.000.000L;</a:t>
            </a:r>
            <a:endParaRPr sz="2400"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long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float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reale a virgola mobile a precisione singola di 32 bit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0F</a:t>
            </a:r>
            <a:endParaRPr sz="24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float variabileFloat = 123.45F;</a:t>
            </a:r>
            <a:endParaRPr sz="2400"/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float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double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numero reale a virgola mobile a doppia precisione a 64 bit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0.0D</a:t>
            </a:r>
            <a:endParaRPr sz="24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double variabileDouble = 123456789.12D;</a:t>
            </a:r>
            <a:endParaRPr sz="2400"/>
          </a:p>
        </p:txBody>
      </p:sp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double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872067" y="2564904"/>
            <a:ext cx="7408333" cy="3561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boolean</a:t>
            </a:r>
            <a:endParaRPr b="1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tipo di dato che può assumere solo i 2 valori </a:t>
            </a:r>
            <a:r>
              <a:rPr i="1" lang="it-IT" sz="2400"/>
              <a:t>true </a:t>
            </a:r>
            <a:r>
              <a:rPr lang="it-IT" sz="2400"/>
              <a:t>e</a:t>
            </a:r>
            <a:r>
              <a:rPr i="1" lang="it-IT" sz="2400"/>
              <a:t> false</a:t>
            </a:r>
            <a:r>
              <a:rPr lang="it-IT" sz="2400"/>
              <a:t> della logica booleana. Pertanto occupa un solo bit di memoria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valore di default: false</a:t>
            </a:r>
            <a:endParaRPr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boolean b = true;</a:t>
            </a:r>
            <a:endParaRPr sz="2400"/>
          </a:p>
        </p:txBody>
      </p:sp>
      <p:sp>
        <p:nvSpPr>
          <p:cNvPr id="255" name="Google Shape;255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boolean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char</a:t>
            </a:r>
            <a:endParaRPr b="1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singolo carattere 16-bit Unicode</a:t>
            </a:r>
            <a:endParaRPr sz="2400"/>
          </a:p>
          <a:p>
            <a:pPr indent="-274319" lvl="1" marL="576263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 sz="2400"/>
              <a:t>esempio: </a:t>
            </a:r>
            <a:r>
              <a:rPr i="1" lang="it-IT" sz="2400"/>
              <a:t>char c = ‘A’;</a:t>
            </a:r>
            <a:endParaRPr sz="2400"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Tipo primitivo char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I tipi oggetto/classe</a:t>
            </a:r>
            <a:r>
              <a:rPr lang="it-IT"/>
              <a:t>, a differenza dei tipi base primitivi, sono tipi complessi. Saranno più chiari più avanti nel corso quando approfondiremo il concetto di </a:t>
            </a:r>
            <a:r>
              <a:rPr b="1" lang="it-IT"/>
              <a:t>classi</a:t>
            </a:r>
            <a:r>
              <a:rPr lang="it-IT"/>
              <a:t> ed </a:t>
            </a:r>
            <a:r>
              <a:rPr b="1" lang="it-IT"/>
              <a:t>oggetti</a:t>
            </a:r>
            <a:r>
              <a:rPr lang="it-IT"/>
              <a:t>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adesso possiamo iniziare a dire che la </a:t>
            </a:r>
            <a:r>
              <a:rPr b="1" lang="it-IT"/>
              <a:t>classe</a:t>
            </a:r>
            <a:r>
              <a:rPr lang="it-IT"/>
              <a:t> è un tipo di dato costituito essenzialmente da: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alcuni attributi, che possono essere variabili di tipo primitivo o a loro volta essere riferimenti ad altre classi. Tali attributi vengono chiamati, membri o campi (fields) della classe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alcune funzioni, dette metodi</a:t>
            </a:r>
            <a:endParaRPr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Tipi di dato: classi (anticipazioni)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827584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public class Esempio 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it-IT"/>
              <a:t>	</a:t>
            </a:r>
            <a:r>
              <a:rPr i="1" lang="it-IT"/>
              <a:t>int x = 0;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String s = “Ciao”;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void printX()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System.out.println(x);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public void printS()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{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	System.out.println(s);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	}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}</a:t>
            </a:r>
            <a:endParaRPr/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Esempio classe (anticipazioni)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oggetto è una variabile di tipo classe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 oggetto, tecnicamente, è un’istanza della classe, ovvero uno dei possibili valori (variabili nel tempo) che può assumere la classe, esattamente come una variabile rappresenta uno dei possibili valori all’interno di un tipo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Definizione di variabile primitiva di tipo int: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int x;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Definizione di oggetto di classe (tipo) 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Esempio obj;</a:t>
            </a:r>
            <a:endParaRPr b="1" i="1"/>
          </a:p>
        </p:txBody>
      </p:sp>
      <p:sp>
        <p:nvSpPr>
          <p:cNvPr id="283" name="Google Shape;283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84" name="Google Shape;284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Classi e oggetti (anticipazioni)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sono dichiarazioni lecite di variabili anche le seguenti: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int a, b, c; // dichiarazione multipla sulla stessa linea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int a, b=0; // dichiarazione per </a:t>
            </a:r>
            <a:r>
              <a:rPr i="1" lang="it-IT"/>
              <a:t>a</a:t>
            </a:r>
            <a:r>
              <a:rPr lang="it-IT"/>
              <a:t> e dichiarazione e inizializzazione per </a:t>
            </a:r>
            <a:r>
              <a:rPr i="1" lang="it-IT"/>
              <a:t>b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int a=1, b=3; // dichiarazione ed inizializzazione per </a:t>
            </a:r>
            <a:r>
              <a:rPr i="1" lang="it-IT"/>
              <a:t>a </a:t>
            </a:r>
            <a:r>
              <a:rPr lang="it-IT"/>
              <a:t>e </a:t>
            </a:r>
            <a:r>
              <a:rPr i="1" lang="it-IT"/>
              <a:t>b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una variabile dichiarata all’interno di un metodo è </a:t>
            </a:r>
            <a:r>
              <a:rPr b="1" i="1" lang="it-IT"/>
              <a:t>locale</a:t>
            </a:r>
            <a:r>
              <a:rPr b="1" lang="it-IT"/>
              <a:t> </a:t>
            </a:r>
            <a:r>
              <a:rPr lang="it-IT"/>
              <a:t>a quel metodo e non viene inizializzata di default dal compilatore (a differenza, come vedremo, degli attributi di classe)</a:t>
            </a:r>
            <a:endParaRPr/>
          </a:p>
        </p:txBody>
      </p:sp>
      <p:sp>
        <p:nvSpPr>
          <p:cNvPr id="290" name="Google Shape;290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1" name="Google Shape;291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Ancora sulla dichiarazione e sull’inizializzazione di variabili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Ricordiamo che mandare in esecuzione un codice Java, vuol dire eseguire una classe che presenti il metodo </a:t>
            </a:r>
            <a:r>
              <a:rPr i="1" lang="it-IT"/>
              <a:t>main</a:t>
            </a:r>
            <a:r>
              <a:rPr lang="it-IT"/>
              <a:t> così fatto: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	</a:t>
            </a:r>
            <a:r>
              <a:rPr i="1" lang="it-IT" sz="2000"/>
              <a:t>public static void main(String args[])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quindi una classe che non presenti il metodo </a:t>
            </a:r>
            <a:r>
              <a:rPr i="1" lang="it-IT"/>
              <a:t>main </a:t>
            </a:r>
            <a:r>
              <a:rPr lang="it-IT"/>
              <a:t>(il 99% delle classi che un programmatore scriverà), è una classe perfettamente valida (anzi ripetiamo rientra nella stragrande maggioranza delle classi), ma non è direttamente eseguibile, ovvero non può essere data in ingresso al comando </a:t>
            </a:r>
            <a:r>
              <a:rPr i="1" lang="it-IT"/>
              <a:t>java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metodo </a:t>
            </a:r>
            <a:r>
              <a:rPr i="1" lang="it-IT"/>
              <a:t>main</a:t>
            </a:r>
            <a:r>
              <a:rPr lang="it-IT"/>
              <a:t> rappresenta il punto di inizio dell’esecuzione del programma</a:t>
            </a:r>
            <a:endParaRPr/>
          </a:p>
        </p:txBody>
      </p:sp>
      <p:sp>
        <p:nvSpPr>
          <p:cNvPr id="297" name="Google Shape;297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98" name="Google Shape;298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Metodo main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pertanto tutti gli esempi che svilupperemo, per poter essere provati, dovranno essere invocati dal metodo </a:t>
            </a:r>
            <a:r>
              <a:rPr i="1" lang="it-IT"/>
              <a:t>main</a:t>
            </a:r>
            <a:r>
              <a:rPr lang="it-IT"/>
              <a:t> di una classe che andremo a scrivere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poter provare i vari esempi sarà molto utile poter interagire con la </a:t>
            </a:r>
            <a:r>
              <a:rPr i="1" lang="it-IT"/>
              <a:t>console</a:t>
            </a:r>
            <a:r>
              <a:rPr lang="it-IT"/>
              <a:t>, sia per visualizzare dati in output, sia per ricevere dati dall’utente in input. Le classi che Java mette a disposizione sono rispettivamente: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System.out </a:t>
            </a:r>
            <a:r>
              <a:rPr lang="it-IT"/>
              <a:t>che espone il metodo </a:t>
            </a:r>
            <a:r>
              <a:rPr i="1" lang="it-IT"/>
              <a:t>println</a:t>
            </a:r>
            <a:r>
              <a:rPr lang="it-IT"/>
              <a:t> per stampare a console:  </a:t>
            </a:r>
            <a:r>
              <a:rPr i="1" lang="it-IT"/>
              <a:t>System.out.println("ciao") 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Scanner </a:t>
            </a:r>
            <a:r>
              <a:rPr lang="it-IT"/>
              <a:t> e </a:t>
            </a:r>
            <a:r>
              <a:rPr i="1" lang="it-IT"/>
              <a:t>System.in</a:t>
            </a:r>
            <a:r>
              <a:rPr lang="it-IT"/>
              <a:t> per ricevere dati (digitati dall’utente del programma) dalla console</a:t>
            </a:r>
            <a:endParaRPr i="1"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4" name="Google Shape;304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05" name="Google Shape;305;p2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Metodo main e console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import java.util.Scanner;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public class Test {</a:t>
            </a:r>
            <a:endParaRPr i="1" sz="2000"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public static void main(String[] args) {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	Scanner scanner = new Scanner(System.in);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	System.out.println("Digitare il nome:");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	String s = scanner.nextLine();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	System.out.println("Digitato " + s);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i="1" lang="it-IT" sz="2000"/>
              <a:t>		scanner.close();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lang="it-IT" sz="2000"/>
              <a:t>	}</a:t>
            </a:r>
            <a:endParaRPr/>
          </a:p>
          <a:p>
            <a:pPr indent="0" lvl="1" marL="301943" rtl="0" algn="l">
              <a:spcBef>
                <a:spcPts val="340"/>
              </a:spcBef>
              <a:spcAft>
                <a:spcPts val="0"/>
              </a:spcAft>
              <a:buSzPct val="100000"/>
              <a:buNone/>
            </a:pPr>
            <a:r>
              <a:rPr lang="it-IT" sz="2000"/>
              <a:t>}</a:t>
            </a:r>
            <a:endParaRPr sz="2000"/>
          </a:p>
          <a:p>
            <a:pPr indent="-274320" lvl="0" marL="274320" rtl="0" algn="l">
              <a:spcBef>
                <a:spcPts val="408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L’esempio:</a:t>
            </a:r>
            <a:endParaRPr/>
          </a:p>
          <a:p>
            <a:pPr indent="-274320" lvl="1" marL="576263" rtl="0" algn="l">
              <a:spcBef>
                <a:spcPts val="37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crea un oggetto </a:t>
            </a:r>
            <a:r>
              <a:rPr i="1" lang="it-IT"/>
              <a:t>Scanner</a:t>
            </a:r>
            <a:r>
              <a:rPr lang="it-IT"/>
              <a:t> sull’oggetto </a:t>
            </a:r>
            <a:r>
              <a:rPr i="1" lang="it-IT"/>
              <a:t>System.in </a:t>
            </a:r>
            <a:r>
              <a:rPr lang="it-IT"/>
              <a:t>(input da console) (è necessaria l’istruzione </a:t>
            </a:r>
            <a:r>
              <a:rPr i="1" lang="it-IT"/>
              <a:t>import</a:t>
            </a:r>
            <a:r>
              <a:rPr lang="it-IT"/>
              <a:t>, alla prima riga, che vedremo meglio in seguito)</a:t>
            </a:r>
            <a:endParaRPr/>
          </a:p>
          <a:p>
            <a:pPr indent="-274320" lvl="1" marL="576263" rtl="0" algn="l">
              <a:spcBef>
                <a:spcPts val="408"/>
              </a:spcBef>
              <a:spcAft>
                <a:spcPts val="0"/>
              </a:spcAft>
              <a:buSzPct val="122222"/>
              <a:buChar char="*"/>
            </a:pPr>
            <a:r>
              <a:rPr lang="it-IT"/>
              <a:t>stampa a console la stringa </a:t>
            </a:r>
            <a:r>
              <a:rPr i="1" lang="it-IT" sz="2400"/>
              <a:t>"</a:t>
            </a:r>
            <a:r>
              <a:rPr lang="it-IT"/>
              <a:t>digitare il nome</a:t>
            </a:r>
            <a:r>
              <a:rPr i="1" lang="it-IT" sz="2400"/>
              <a:t>"</a:t>
            </a:r>
            <a:endParaRPr i="1" sz="1800"/>
          </a:p>
        </p:txBody>
      </p:sp>
      <p:sp>
        <p:nvSpPr>
          <p:cNvPr id="311" name="Google Shape;311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2" name="Google Shape;312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Console – esempio di input/output</a:t>
            </a:r>
            <a:br>
              <a:rPr lang="it-IT"/>
            </a:br>
            <a:r>
              <a:rPr lang="it-IT"/>
              <a:t>(1/3)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19" lvl="1" marL="576263" rtl="0" algn="l">
              <a:spcBef>
                <a:spcPts val="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a questo punto il programma si blocca aspettando l’input da console; di fatti si può notare il prompt che lampeggia nella console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quando l’utente ha finito di digare e batte invio, la stringa scritta dall’utente viene letta nel codice e salvata nella variabile </a:t>
            </a:r>
            <a:r>
              <a:rPr i="1" lang="it-IT"/>
              <a:t>String s</a:t>
            </a:r>
            <a:r>
              <a:rPr lang="it-IT"/>
              <a:t> grazie all’istruzione </a:t>
            </a:r>
            <a:r>
              <a:rPr i="1" lang="it-IT"/>
              <a:t>scanner.nextLine()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dopodichè la variabile </a:t>
            </a:r>
            <a:r>
              <a:rPr i="1" lang="it-IT"/>
              <a:t>s</a:t>
            </a:r>
            <a:r>
              <a:rPr lang="it-IT"/>
              <a:t> concatenata con la stringa </a:t>
            </a:r>
            <a:r>
              <a:rPr i="1" lang="it-IT"/>
              <a:t>Digitato</a:t>
            </a:r>
            <a:r>
              <a:rPr lang="it-IT"/>
              <a:t> viene stampata a console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Infine viene chiuso l’input della console</a:t>
            </a:r>
            <a:endParaRPr/>
          </a:p>
        </p:txBody>
      </p:sp>
      <p:sp>
        <p:nvSpPr>
          <p:cNvPr id="318" name="Google Shape;318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19" name="Google Shape;319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Console – esempio di input/output</a:t>
            </a:r>
            <a:br>
              <a:rPr lang="it-IT"/>
            </a:br>
            <a:r>
              <a:rPr lang="it-IT"/>
              <a:t>(2/3)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console si presenterà così: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Digitare il nome: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Roberto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Digitato Roberto</a:t>
            </a:r>
            <a:endParaRPr i="1" sz="2000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6" name="Google Shape;326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Console – esempio di input/output</a:t>
            </a:r>
            <a:br>
              <a:rPr lang="it-IT"/>
            </a:br>
            <a:r>
              <a:rPr lang="it-IT"/>
              <a:t>(3/3)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vogliamo forzare l’utente a fornire in input al programma un numero si può usare il metodo </a:t>
            </a:r>
            <a:r>
              <a:rPr i="1" lang="it-IT"/>
              <a:t>nextInt()</a:t>
            </a:r>
            <a:r>
              <a:rPr lang="it-IT"/>
              <a:t>al posto di </a:t>
            </a:r>
            <a:r>
              <a:rPr i="1" lang="it-IT"/>
              <a:t>nextLine() </a:t>
            </a:r>
            <a:r>
              <a:rPr lang="it-IT"/>
              <a:t>(o analogamente </a:t>
            </a:r>
            <a:r>
              <a:rPr i="1" lang="it-IT"/>
              <a:t>nextLong(), nextDouble() </a:t>
            </a:r>
            <a:r>
              <a:rPr lang="it-IT"/>
              <a:t>etc.). Attenzione però che in questo caso se l’utente digita una stringa che non rappresenta un numero il programma va in eccezione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Scanner scanner = new Scanner(System.in);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System.out.println("Digitare un numero:");</a:t>
            </a:r>
            <a:endParaRPr i="1" sz="2000"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int x = scanner.nextInt();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System.out.println("Digitato " + x);</a:t>
            </a:r>
            <a:endParaRPr/>
          </a:p>
          <a:p>
            <a:pPr indent="0" lvl="1" marL="3019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 sz="2000"/>
              <a:t>scanner.close();</a:t>
            </a:r>
            <a:endParaRPr/>
          </a:p>
        </p:txBody>
      </p:sp>
      <p:sp>
        <p:nvSpPr>
          <p:cNvPr id="332" name="Google Shape;332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3" name="Google Shape;333;p2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Console – input numerico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0"/>
          <p:cNvSpPr txBox="1"/>
          <p:nvPr>
            <p:ph idx="1" type="body"/>
          </p:nvPr>
        </p:nvSpPr>
        <p:spPr>
          <a:xfrm>
            <a:off x="872067" y="2276872"/>
            <a:ext cx="7408333" cy="384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definire una costante in Java si utilizza la parola chiave </a:t>
            </a:r>
            <a:r>
              <a:rPr b="1" lang="it-IT"/>
              <a:t>final</a:t>
            </a:r>
            <a:endParaRPr b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convenzione nella definizione del nome di una costante si usano solo lettere maiuscole.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public final String STRINGA_COSTANTE = “Questa è una stringa immutabile”;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9" name="Google Shape;339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Costanti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1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un qualsiasi linguaggio di programmazione gli operatori sono elementi di un’istruzione che compiono un’operazione su degli operandi e restituiscono un risultato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Ad esempio nell’istruzione </a:t>
            </a:r>
            <a:r>
              <a:rPr b="1" i="1" lang="it-IT"/>
              <a:t>z = x+y</a:t>
            </a:r>
            <a:r>
              <a:rPr lang="it-IT"/>
              <a:t> abbiamo 2 operatori: 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l’operatore </a:t>
            </a:r>
            <a:r>
              <a:rPr b="1" i="1" lang="it-IT"/>
              <a:t>+</a:t>
            </a:r>
            <a:r>
              <a:rPr lang="it-IT"/>
              <a:t> che effettua la somma tra gli operandi </a:t>
            </a:r>
            <a:r>
              <a:rPr b="1" i="1" lang="it-IT"/>
              <a:t>x</a:t>
            </a:r>
            <a:r>
              <a:rPr lang="it-IT"/>
              <a:t> ed </a:t>
            </a:r>
            <a:r>
              <a:rPr b="1" i="1" lang="it-IT"/>
              <a:t>y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l’operatore </a:t>
            </a:r>
            <a:r>
              <a:rPr b="1" i="1" lang="it-IT"/>
              <a:t>=</a:t>
            </a:r>
            <a:r>
              <a:rPr lang="it-IT"/>
              <a:t> che assegna il risultato a </a:t>
            </a:r>
            <a:r>
              <a:rPr b="1" i="1" lang="it-IT"/>
              <a:t>z</a:t>
            </a:r>
            <a:r>
              <a:rPr lang="it-IT"/>
              <a:t> </a:t>
            </a:r>
            <a:endParaRPr/>
          </a:p>
        </p:txBody>
      </p:sp>
      <p:sp>
        <p:nvSpPr>
          <p:cNvPr id="346" name="Google Shape;346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47" name="Google Shape;347;p3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Operatori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+ = somma; es. int c = a + b;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- = differenza; es. int c = a - b;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* = prodotto; es. int c = a*b;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/ =  divisione; es. int c = a/b;</a:t>
            </a:r>
            <a:endParaRPr/>
          </a:p>
        </p:txBody>
      </p:sp>
      <p:sp>
        <p:nvSpPr>
          <p:cNvPr id="353" name="Google Shape;353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4" name="Google Shape;354;p3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Es.: operatori matematici base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872067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 seconda del numero di operandi su cui agisce l’operatore si possono avere operatori: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unari</a:t>
            </a:r>
            <a:r>
              <a:rPr lang="it-IT"/>
              <a:t> (o monadici) compiono l'operazione su un unico operando  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binari</a:t>
            </a:r>
            <a:r>
              <a:rPr lang="it-IT"/>
              <a:t> (o diadici) compiono l'operazione su due operandi  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b="1" lang="it-IT"/>
              <a:t>ternari</a:t>
            </a:r>
            <a:r>
              <a:rPr lang="it-IT"/>
              <a:t> (o triadici) compiono l'operazione su tre operandi</a:t>
            </a:r>
            <a:endParaRPr/>
          </a:p>
        </p:txBody>
      </p:sp>
      <p:sp>
        <p:nvSpPr>
          <p:cNvPr id="360" name="Google Shape;360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61" name="Google Shape;361;p3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Cardinalità degli operatori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int x = 0;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int y = ++x; (adesso, col pre-incremento, sia x che y valgono 1)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invece usavamo il post-incremento: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int x = 0;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int y = x++; (adesso x vale 1 e y vale 0)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L’operatore ++ incrementa x di un’unità. Può essere un pre-incremento </a:t>
            </a:r>
            <a:r>
              <a:rPr i="1" lang="it-IT"/>
              <a:t>++x</a:t>
            </a:r>
            <a:r>
              <a:rPr lang="it-IT"/>
              <a:t>, o un post-incremento </a:t>
            </a:r>
            <a:r>
              <a:rPr i="1" lang="it-IT"/>
              <a:t>x++</a:t>
            </a:r>
            <a:r>
              <a:rPr lang="it-IT"/>
              <a:t>. La differenza sta nel quando viene effettuata l’assegnazione ad y. Nel pre-incremento viene effettuata subito, viceversa nel post incremento viene differita</a:t>
            </a:r>
            <a:endParaRPr/>
          </a:p>
        </p:txBody>
      </p:sp>
      <p:sp>
        <p:nvSpPr>
          <p:cNvPr id="367" name="Google Shape;367;p3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68" name="Google Shape;368;p3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Operatori unari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int x = 0;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System.out.println(x++); </a:t>
            </a:r>
            <a:r>
              <a:rPr lang="it-IT"/>
              <a:t>(verrà stampato a video 0, perchè l’incremento di x avviene dopo la stampa a video)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System.out.println(x); </a:t>
            </a:r>
            <a:r>
              <a:rPr lang="it-IT"/>
              <a:t>(verrà stampato 1, perchè adesso x è stato incrementato)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System.out.println(++x); </a:t>
            </a:r>
            <a:r>
              <a:rPr lang="it-IT"/>
              <a:t>(verrà stampato 2, perché l’incremento di x avviene subito e quindi prima della stampa a video)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Le stesse identiche considerazioni, ma ovviamente al viceversa, valgono per il decremento (pre o post) che avviene attraverso l’operatore </a:t>
            </a:r>
            <a:r>
              <a:rPr i="1" lang="it-IT"/>
              <a:t>--</a:t>
            </a:r>
            <a:endParaRPr/>
          </a:p>
        </p:txBody>
      </p:sp>
      <p:sp>
        <p:nvSpPr>
          <p:cNvPr id="374" name="Google Shape;374;p3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75" name="Google Shape;375;p3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Esempi di pre e post incremento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6"/>
          <p:cNvSpPr txBox="1"/>
          <p:nvPr>
            <p:ph idx="1" type="body"/>
          </p:nvPr>
        </p:nvSpPr>
        <p:spPr>
          <a:xfrm>
            <a:off x="872067" y="2420888"/>
            <a:ext cx="7408333" cy="370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int x = 1; //operatore unario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int y = 2; //operatore unario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int z = x + y; //operatore binario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Int w = y – x; //operatore binario</a:t>
            </a:r>
            <a:endParaRPr/>
          </a:p>
        </p:txBody>
      </p:sp>
      <p:sp>
        <p:nvSpPr>
          <p:cNvPr id="381" name="Google Shape;381;p3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82" name="Google Shape;382;p3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Operatori binari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operando1 (condizione)? operando2 : operando3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si verifica la condizione assegna all’operando1 il valore l’operando2 altrimenti assegna all’operando1 il valore dell’operando3. (si comprenderà meglio quando parleremo dell’istruzione «if»)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b="1" i="1" lang="it-IT"/>
              <a:t>int x = ( y &gt; 3 ) ? 5 : 6;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y è maggiore di 3 assegna ad x il valore 5, altrimenti assegna ad x il valore 6.</a:t>
            </a:r>
            <a:endParaRPr/>
          </a:p>
        </p:txBody>
      </p:sp>
      <p:sp>
        <p:nvSpPr>
          <p:cNvPr id="388" name="Google Shape;388;p3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89" name="Google Shape;389;p3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Operatori ternari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aritmetici: </a:t>
            </a:r>
            <a:r>
              <a:rPr lang="it-IT"/>
              <a:t>effettuano operazioni aritmetiche. Esempi sono i classici </a:t>
            </a:r>
            <a:r>
              <a:rPr i="1" lang="it-IT"/>
              <a:t>+ - * /</a:t>
            </a:r>
            <a:r>
              <a:rPr lang="it-IT"/>
              <a:t> per le 4 operazioni aritmetiche di base, % che restituisce il modulo (resto intero della divisione), ++ e --  (pre e post incremento e pre e post decremento di cui abbiamo parlato prima)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assegnazione: </a:t>
            </a:r>
            <a:r>
              <a:rPr lang="it-IT"/>
              <a:t>assegnano valori a variabili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condizionali</a:t>
            </a:r>
            <a:r>
              <a:rPr lang="it-IT"/>
              <a:t> effettuano operazioni in base ad una condizione (come nel caso dell’operatore ternario)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confronto:</a:t>
            </a:r>
            <a:r>
              <a:rPr lang="it-IT"/>
              <a:t> confrontano i valori degli operandi. Esempi sono i classici &gt; (maggiore), &gt;= (maggiore o uguale), &lt; (minore), &lt;= (minore o  uguale), == (uguale), != (diverso)</a:t>
            </a:r>
            <a:endParaRPr/>
          </a:p>
        </p:txBody>
      </p:sp>
      <p:sp>
        <p:nvSpPr>
          <p:cNvPr id="395" name="Google Shape;395;p3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96" name="Google Shape;396;p3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(1/6)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logici:</a:t>
            </a:r>
            <a:r>
              <a:rPr lang="it-IT"/>
              <a:t> compiono operazioni logiche su variabili boolean. Esempi sono &amp;&amp; (AND), || (OR), ! (NOT). Per il significato si rimanda allo studio della logica Booleana che non può essere oggetto del corso Java, anche per motivi di spazio.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boolean a = false;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boolean b = true;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booelan c = a &amp;&amp; b; ( c sarà uguale a false)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boolean d = a || b; ( d sarà uguale a true )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boolean e = !a; ( e sarà uguale a true )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boolean f = !b; ( f sarà uguale a false )</a:t>
            </a:r>
            <a:endParaRPr/>
          </a:p>
        </p:txBody>
      </p:sp>
      <p:sp>
        <p:nvSpPr>
          <p:cNvPr id="402" name="Google Shape;402;p3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3" name="Google Shape;403;p3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(2/6)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8" name="Google Shape;408;p40"/>
          <p:cNvGraphicFramePr/>
          <p:nvPr/>
        </p:nvGraphicFramePr>
        <p:xfrm>
          <a:off x="1043608" y="2348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{7DD79CF9-D480-45D7-A51D-D7BE497A3077}</a:tableStyleId>
              </a:tblPr>
              <a:tblGrid>
                <a:gridCol w="2193600"/>
                <a:gridCol w="2193600"/>
                <a:gridCol w="2193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x &amp;&amp; y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09" name="Google Shape;409;p4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10" name="Google Shape;410;p4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Tabella And (0=false; 1=true)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" name="Google Shape;415;p41"/>
          <p:cNvGraphicFramePr/>
          <p:nvPr/>
        </p:nvGraphicFramePr>
        <p:xfrm>
          <a:off x="1043608" y="2348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{7DD79CF9-D480-45D7-A51D-D7BE497A3077}</a:tableStyleId>
              </a:tblPr>
              <a:tblGrid>
                <a:gridCol w="2193600"/>
                <a:gridCol w="2193600"/>
                <a:gridCol w="2193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x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y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x || y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6" name="Google Shape;416;p4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17" name="Google Shape;417;p4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Tabella Or (0=false; 1=true)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2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su bit:</a:t>
            </a:r>
            <a:r>
              <a:rPr lang="it-IT"/>
              <a:t> compiono operazioni sui singoli bit in memoria 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di concatenamento: </a:t>
            </a:r>
            <a:r>
              <a:rPr lang="it-IT"/>
              <a:t>che concatenano dati diversi. Un classico esempio è dato dall’operatore + utilizzato per concatenare le stringhe.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String s = “Ci” + “ao”; ( il risultato sarà s = “Ciao”)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423" name="Google Shape;423;p4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24" name="Google Shape;424;p4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(3/6)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b="1" lang="it-IT"/>
              <a:t>di conversione:</a:t>
            </a:r>
            <a:r>
              <a:rPr lang="it-IT"/>
              <a:t> effettuano conversioni tra tipi di dati. Le conversioni tra tipi di dati sono possibili quando c’è compatibilità tra i tipi. Ad esempio un int può essere convertito a float e viceversa (salvo perdita di precisione, poiché si perde la parte frazionaria) perché sono entrambi tipi numerici, ma non è possibile convertire un boolean in un float. La conversione avviene tramite l’operatore ():</a:t>
            </a:r>
            <a:endParaRPr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float x = 123.45F;</a:t>
            </a:r>
            <a:endParaRPr i="1"/>
          </a:p>
          <a:p>
            <a:pPr indent="0" lvl="1" marL="301943" rtl="0" algn="l">
              <a:spcBef>
                <a:spcPts val="407"/>
              </a:spcBef>
              <a:spcAft>
                <a:spcPts val="0"/>
              </a:spcAft>
              <a:buSzPct val="100000"/>
              <a:buNone/>
            </a:pPr>
            <a:r>
              <a:rPr i="1" lang="it-IT"/>
              <a:t>int  y = (int) x; // y diventerà 123, perdendosi la parte frazionaria</a:t>
            </a:r>
            <a:endParaRPr i="1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lang="it-IT"/>
              <a:t>     Inoltre è possibile convertire oggetti tra di loro, si parla di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rPr b="1" lang="it-IT"/>
              <a:t>     casting, </a:t>
            </a:r>
            <a:r>
              <a:rPr lang="it-IT"/>
              <a:t>ma di questo parleremo più avanti</a:t>
            </a:r>
            <a:endParaRPr/>
          </a:p>
        </p:txBody>
      </p:sp>
      <p:sp>
        <p:nvSpPr>
          <p:cNvPr id="430" name="Google Shape;430;p4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31" name="Google Shape;431;p4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(4/6)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867833" y="2132856"/>
            <a:ext cx="740833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it-IT"/>
              <a:t>Inoltre quando si concatena una stringa con un tipo primitivo automaticamente Java effettua una conversione del tipo primitivo in stringa e poi concatena le due stringhe.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it-IT"/>
              <a:t>Esempio: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int x = 1;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String s = “Ciao”;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/>
              <a:t>String s2 = s + x; </a:t>
            </a:r>
            <a:r>
              <a:rPr lang="it-IT"/>
              <a:t>( s2 sarà uguale a “Ciao1”)</a:t>
            </a:r>
            <a:endParaRPr/>
          </a:p>
        </p:txBody>
      </p:sp>
      <p:sp>
        <p:nvSpPr>
          <p:cNvPr id="437" name="Google Shape;437;p4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38" name="Google Shape;438;p4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(5/6)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5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b="1" lang="it-IT"/>
              <a:t>abbreviati (shortcut)</a:t>
            </a:r>
            <a:r>
              <a:rPr lang="it-IT"/>
              <a:t>: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y+=x che si interpreta come y = y +x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it-IT"/>
              <a:t>Esempio:</a:t>
            </a:r>
            <a:endParaRPr/>
          </a:p>
          <a:p>
            <a:pPr indent="0" lvl="1" marL="30194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 sz="2400"/>
              <a:t>int x = 1;</a:t>
            </a:r>
            <a:endParaRPr/>
          </a:p>
          <a:p>
            <a:pPr indent="0" lvl="1" marL="30194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 sz="2400"/>
              <a:t>int y = 2;</a:t>
            </a:r>
            <a:endParaRPr/>
          </a:p>
          <a:p>
            <a:pPr indent="0" lvl="1" marL="301943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it-IT" sz="2400"/>
              <a:t>y +=x; //  y sarà uguale a 3</a:t>
            </a:r>
            <a:endParaRPr i="1" sz="2400"/>
          </a:p>
        </p:txBody>
      </p:sp>
      <p:sp>
        <p:nvSpPr>
          <p:cNvPr id="444" name="Google Shape;444;p4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45" name="Google Shape;445;p4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Classificazione degli operatori</a:t>
            </a:r>
            <a:br>
              <a:rPr lang="it-IT"/>
            </a:br>
            <a:r>
              <a:rPr lang="it-IT"/>
              <a:t>in base al tipo di operazione (6/6)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Quando effettuiamo un’operazione aritmetica su variabili di tipi numerici differenti Java applica le seguenti regole: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la variabile di tipo </a:t>
            </a:r>
            <a:r>
              <a:rPr i="1" lang="it-IT"/>
              <a:t>più piccolo</a:t>
            </a:r>
            <a:r>
              <a:rPr lang="it-IT"/>
              <a:t> viene automaticamente promossa al tipo </a:t>
            </a:r>
            <a:r>
              <a:rPr i="1" lang="it-IT"/>
              <a:t>più grande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se una variabile è di tipo intero</a:t>
            </a:r>
            <a:r>
              <a:rPr i="1" lang="it-IT"/>
              <a:t> </a:t>
            </a:r>
            <a:r>
              <a:rPr lang="it-IT"/>
              <a:t>(</a:t>
            </a:r>
            <a:r>
              <a:rPr i="1" lang="it-IT"/>
              <a:t>byte-short-int-long)</a:t>
            </a:r>
            <a:r>
              <a:rPr lang="it-IT"/>
              <a:t> e l’altra di tipo a virgola mobile (</a:t>
            </a:r>
            <a:r>
              <a:rPr i="1" lang="it-IT"/>
              <a:t>floating-point, double)</a:t>
            </a:r>
            <a:r>
              <a:rPr lang="it-IT"/>
              <a:t>, la variabile intera viene </a:t>
            </a:r>
            <a:r>
              <a:rPr i="1" lang="it-IT"/>
              <a:t>promossa </a:t>
            </a:r>
            <a:r>
              <a:rPr lang="it-IT"/>
              <a:t>a virgola mobile</a:t>
            </a:r>
            <a:endParaRPr i="1"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Le variabili di tipo </a:t>
            </a:r>
            <a:r>
              <a:rPr i="1" lang="it-IT"/>
              <a:t>byte, short </a:t>
            </a:r>
            <a:r>
              <a:rPr lang="it-IT"/>
              <a:t>e </a:t>
            </a:r>
            <a:r>
              <a:rPr i="1" lang="it-IT"/>
              <a:t>char</a:t>
            </a:r>
            <a:r>
              <a:rPr lang="it-IT"/>
              <a:t> vengono sempre </a:t>
            </a:r>
            <a:r>
              <a:rPr i="1" lang="it-IT"/>
              <a:t>promosse </a:t>
            </a:r>
            <a:r>
              <a:rPr lang="it-IT"/>
              <a:t>ad </a:t>
            </a:r>
            <a:r>
              <a:rPr i="1" lang="it-IT"/>
              <a:t>int</a:t>
            </a:r>
            <a:r>
              <a:rPr lang="it-IT"/>
              <a:t> quando vengono usate come operandi (anche se non compare nell’operazione una variabile di tipo </a:t>
            </a:r>
            <a:r>
              <a:rPr i="1" lang="it-IT"/>
              <a:t>più grande</a:t>
            </a:r>
            <a:r>
              <a:rPr lang="it-IT"/>
              <a:t>)</a:t>
            </a:r>
            <a:endParaRPr/>
          </a:p>
          <a:p>
            <a:pPr indent="-457200" lvl="1" marL="759143" rtl="0" algn="l">
              <a:spcBef>
                <a:spcPts val="407"/>
              </a:spcBef>
              <a:spcAft>
                <a:spcPts val="0"/>
              </a:spcAft>
              <a:buSzPct val="100000"/>
              <a:buFont typeface="Candara"/>
              <a:buAutoNum type="arabicPeriod"/>
            </a:pPr>
            <a:r>
              <a:rPr lang="it-IT"/>
              <a:t>dopo che tutte le regole precedenti sono state applicate, gli operandi saranno tutti dello stesso tipo ed il risultato finale sarà del tipo </a:t>
            </a:r>
            <a:r>
              <a:rPr i="1" lang="it-IT"/>
              <a:t>promosso</a:t>
            </a:r>
            <a:endParaRPr/>
          </a:p>
        </p:txBody>
      </p:sp>
      <p:sp>
        <p:nvSpPr>
          <p:cNvPr id="451" name="Google Shape;451;p4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2" name="Google Shape;452;p4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Promozione numerica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7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ATTENZIONE: la </a:t>
            </a:r>
            <a:r>
              <a:rPr i="1" lang="it-IT"/>
              <a:t>promozione numerica </a:t>
            </a:r>
            <a:r>
              <a:rPr lang="it-IT"/>
              <a:t>implica che il risultato finale può essere di tipo diverso rispetto ai tipi dei dati originali. Di seguito alcuni esempi: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sommo uno </a:t>
            </a:r>
            <a:r>
              <a:rPr i="1" lang="it-IT"/>
              <a:t>short</a:t>
            </a:r>
            <a:r>
              <a:rPr lang="it-IT"/>
              <a:t> con un </a:t>
            </a:r>
            <a:r>
              <a:rPr i="1" lang="it-IT"/>
              <a:t>int </a:t>
            </a:r>
            <a:r>
              <a:rPr lang="it-IT"/>
              <a:t>il risultato sarà un </a:t>
            </a:r>
            <a:r>
              <a:rPr i="1" lang="it-IT"/>
              <a:t>int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ma anche se sommo due </a:t>
            </a:r>
            <a:r>
              <a:rPr i="1" lang="it-IT"/>
              <a:t>short</a:t>
            </a:r>
            <a:r>
              <a:rPr lang="it-IT"/>
              <a:t> il risultato sarà un </a:t>
            </a:r>
            <a:r>
              <a:rPr i="1" lang="it-IT"/>
              <a:t>int</a:t>
            </a:r>
            <a:r>
              <a:rPr lang="it-IT"/>
              <a:t>, (stessa cosa se sommo due </a:t>
            </a:r>
            <a:r>
              <a:rPr i="1" lang="it-IT"/>
              <a:t>byte)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sommo un </a:t>
            </a:r>
            <a:r>
              <a:rPr i="1" lang="it-IT"/>
              <a:t>int</a:t>
            </a:r>
            <a:r>
              <a:rPr lang="it-IT"/>
              <a:t> con </a:t>
            </a:r>
            <a:r>
              <a:rPr i="1" lang="it-IT"/>
              <a:t>long</a:t>
            </a:r>
            <a:r>
              <a:rPr lang="it-IT"/>
              <a:t> il risultato sarà un </a:t>
            </a:r>
            <a:r>
              <a:rPr i="1" lang="it-IT"/>
              <a:t>long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sommo un </a:t>
            </a:r>
            <a:r>
              <a:rPr i="1" lang="it-IT"/>
              <a:t>int </a:t>
            </a:r>
            <a:r>
              <a:rPr lang="it-IT"/>
              <a:t>con un </a:t>
            </a:r>
            <a:r>
              <a:rPr i="1" lang="it-IT"/>
              <a:t>float</a:t>
            </a:r>
            <a:r>
              <a:rPr lang="it-IT"/>
              <a:t> il risultato sarà un </a:t>
            </a:r>
            <a:r>
              <a:rPr i="1" lang="it-IT"/>
              <a:t>float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sommo un </a:t>
            </a:r>
            <a:r>
              <a:rPr i="1" lang="it-IT"/>
              <a:t>float </a:t>
            </a:r>
            <a:r>
              <a:rPr lang="it-IT"/>
              <a:t>con un </a:t>
            </a:r>
            <a:r>
              <a:rPr i="1" lang="it-IT"/>
              <a:t>double</a:t>
            </a:r>
            <a:r>
              <a:rPr lang="it-IT"/>
              <a:t> il risultato sarà un </a:t>
            </a:r>
            <a:r>
              <a:rPr i="1" lang="it-IT"/>
              <a:t>double</a:t>
            </a:r>
            <a:endParaRPr/>
          </a:p>
        </p:txBody>
      </p:sp>
      <p:sp>
        <p:nvSpPr>
          <p:cNvPr id="458" name="Google Shape;458;p4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59" name="Google Shape;459;p4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Promozione numerica - Esempi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2020-03-05T12:19:16Z</dcterms:created>
  <dc:creator>Roberto Santoro</dc:creator>
</cp:coreProperties>
</file>