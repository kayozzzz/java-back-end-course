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6"/>
  </p:notesMasterIdLst>
  <p:sldIdLst>
    <p:sldId id="256" r:id="rId2"/>
    <p:sldId id="287" r:id="rId3"/>
    <p:sldId id="288" r:id="rId4"/>
    <p:sldId id="289" r:id="rId5"/>
    <p:sldId id="318" r:id="rId6"/>
    <p:sldId id="319" r:id="rId7"/>
    <p:sldId id="321" r:id="rId8"/>
    <p:sldId id="320" r:id="rId9"/>
    <p:sldId id="290" r:id="rId10"/>
    <p:sldId id="307" r:id="rId11"/>
    <p:sldId id="291" r:id="rId12"/>
    <p:sldId id="292" r:id="rId13"/>
    <p:sldId id="293" r:id="rId14"/>
    <p:sldId id="294" r:id="rId15"/>
    <p:sldId id="295" r:id="rId16"/>
    <p:sldId id="308" r:id="rId17"/>
    <p:sldId id="296" r:id="rId18"/>
    <p:sldId id="310" r:id="rId19"/>
    <p:sldId id="311" r:id="rId20"/>
    <p:sldId id="309" r:id="rId21"/>
    <p:sldId id="312" r:id="rId22"/>
    <p:sldId id="298" r:id="rId23"/>
    <p:sldId id="299" r:id="rId24"/>
    <p:sldId id="302" r:id="rId25"/>
    <p:sldId id="303" r:id="rId26"/>
    <p:sldId id="316" r:id="rId27"/>
    <p:sldId id="317" r:id="rId28"/>
    <p:sldId id="284" r:id="rId29"/>
    <p:sldId id="285" r:id="rId30"/>
    <p:sldId id="304" r:id="rId31"/>
    <p:sldId id="305" r:id="rId32"/>
    <p:sldId id="306" r:id="rId33"/>
    <p:sldId id="313" r:id="rId34"/>
    <p:sldId id="314" r:id="rId35"/>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4D41FD-2164-44CC-982D-D17B2FAF95D0}" type="datetimeFigureOut">
              <a:rPr lang="it-IT" smtClean="0"/>
              <a:t>03/10/2025</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57180D-0B86-460C-A919-75151D8EDC9D}" type="slidenum">
              <a:rPr lang="it-IT" smtClean="0"/>
              <a:t>‹N›</a:t>
            </a:fld>
            <a:endParaRPr lang="it-IT"/>
          </a:p>
        </p:txBody>
      </p:sp>
    </p:spTree>
    <p:extLst>
      <p:ext uri="{BB962C8B-B14F-4D97-AF65-F5344CB8AC3E}">
        <p14:creationId xmlns:p14="http://schemas.microsoft.com/office/powerpoint/2010/main" val="607243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it-IT" smtClean="0"/>
              <a:t>Fare clic per modificare lo stile del titolo</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3EEEB163-3ACF-4C42-848A-99A2A21A1D68}" type="datetime1">
              <a:rPr lang="it-IT" smtClean="0"/>
              <a:t>03/10/2025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Date Placeholder 3"/>
          <p:cNvSpPr>
            <a:spLocks noGrp="1"/>
          </p:cNvSpPr>
          <p:nvPr>
            <p:ph type="dt" sz="half" idx="10"/>
          </p:nvPr>
        </p:nvSpPr>
        <p:spPr/>
        <p:txBody>
          <a:bodyPr/>
          <a:lstStyle/>
          <a:p>
            <a:fld id="{ECD441F7-279C-47F0-95EF-3D6AB589B982}" type="datetime1">
              <a:rPr lang="it-IT" smtClean="0"/>
              <a:t>03/10/2025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
        <p:nvSpPr>
          <p:cNvPr id="7" name="Title 6"/>
          <p:cNvSpPr>
            <a:spLocks noGrp="1"/>
          </p:cNvSpPr>
          <p:nvPr>
            <p:ph type="title"/>
          </p:nvPr>
        </p:nvSpPr>
        <p:spPr/>
        <p:txBody>
          <a:bodyPr/>
          <a:lstStyle/>
          <a:p>
            <a:r>
              <a:rPr lang="it-IT" smtClean="0"/>
              <a:t>Fare clic per modificare lo stile del titolo</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Date Placeholder 3"/>
          <p:cNvSpPr>
            <a:spLocks noGrp="1"/>
          </p:cNvSpPr>
          <p:nvPr>
            <p:ph type="dt" sz="half" idx="10"/>
          </p:nvPr>
        </p:nvSpPr>
        <p:spPr/>
        <p:txBody>
          <a:bodyPr/>
          <a:lstStyle/>
          <a:p>
            <a:fld id="{832CDCDA-1E73-446C-B170-ED426E14949E}" type="datetime1">
              <a:rPr lang="it-IT" smtClean="0"/>
              <a:t>03/10/2025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5" name="Date Placeholder 4"/>
          <p:cNvSpPr>
            <a:spLocks noGrp="1"/>
          </p:cNvSpPr>
          <p:nvPr>
            <p:ph type="dt" sz="half" idx="10"/>
          </p:nvPr>
        </p:nvSpPr>
        <p:spPr/>
        <p:txBody>
          <a:bodyPr/>
          <a:lstStyle/>
          <a:p>
            <a:fld id="{38385ECE-3A2F-4938-ACD6-0941E2B08D13}" type="datetime1">
              <a:rPr lang="it-IT" smtClean="0"/>
              <a:t>03/10/2025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7A41E1B-4F70-4964-A407-84C68BE8251C}" type="slidenum">
              <a:rPr lang="it-IT" smtClean="0"/>
              <a:t>‹N›</a:t>
            </a:fld>
            <a:endParaRPr lang="it-IT"/>
          </a:p>
        </p:txBody>
      </p:sp>
      <p:sp>
        <p:nvSpPr>
          <p:cNvPr id="9" name="Content Placeholder 8"/>
          <p:cNvSpPr>
            <a:spLocks noGrp="1"/>
          </p:cNvSpPr>
          <p:nvPr>
            <p:ph sz="quarter" idx="13"/>
          </p:nvPr>
        </p:nvSpPr>
        <p:spPr>
          <a:xfrm>
            <a:off x="676655" y="2679192"/>
            <a:ext cx="3822192" cy="34472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smtClean="0"/>
              <a:t>Fare clic per modificare lo stile del titolo</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7" name="Date Placeholder 6"/>
          <p:cNvSpPr>
            <a:spLocks noGrp="1"/>
          </p:cNvSpPr>
          <p:nvPr>
            <p:ph type="dt" sz="half" idx="10"/>
          </p:nvPr>
        </p:nvSpPr>
        <p:spPr/>
        <p:txBody>
          <a:bodyPr/>
          <a:lstStyle/>
          <a:p>
            <a:fld id="{1B172B1D-412D-463A-9D0B-3121623DE25D}" type="datetime1">
              <a:rPr lang="it-IT" smtClean="0"/>
              <a:t>03/10/2025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3" name="Date Placeholder 2"/>
          <p:cNvSpPr>
            <a:spLocks noGrp="1"/>
          </p:cNvSpPr>
          <p:nvPr>
            <p:ph type="dt" sz="half" idx="10"/>
          </p:nvPr>
        </p:nvSpPr>
        <p:spPr/>
        <p:txBody>
          <a:bodyPr/>
          <a:lstStyle/>
          <a:p>
            <a:fld id="{F65B0227-8E29-49FB-BC79-C6025C1696E9}" type="datetime1">
              <a:rPr lang="it-IT" smtClean="0"/>
              <a:t>03/10/2025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uota">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A939F62C-064D-4EFF-BCC8-4277A0168C76}" type="datetime1">
              <a:rPr lang="it-IT" smtClean="0"/>
              <a:t>03/10/2025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to con didascalia">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D152BCC4-5A37-49F6-A7B2-7B0CD7E9C0CF}" type="datetime1">
              <a:rPr lang="it-IT" smtClean="0"/>
              <a:t>03/10/2025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7A41E1B-4F70-4964-A407-84C68BE8251C}" type="slidenum">
              <a:rPr lang="it-IT" smtClean="0"/>
              <a:t>‹N›</a:t>
            </a:fld>
            <a:endParaRPr lang="it-IT"/>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it-IT" smtClean="0"/>
              <a:t>Fare clic per modificare lo stile del titolo</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it-IT" smtClean="0"/>
              <a:t>Fare clic per modificare lo stile del titolo</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Date Placeholder 4"/>
          <p:cNvSpPr>
            <a:spLocks noGrp="1"/>
          </p:cNvSpPr>
          <p:nvPr>
            <p:ph type="dt" sz="half" idx="10"/>
          </p:nvPr>
        </p:nvSpPr>
        <p:spPr/>
        <p:txBody>
          <a:bodyPr/>
          <a:lstStyle/>
          <a:p>
            <a:fld id="{23BBA75F-D456-4743-BC59-B2E3ADF974F5}" type="datetime1">
              <a:rPr lang="it-IT" smtClean="0"/>
              <a:t>03/10/2025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E7A41E1B-4F70-4964-A407-84C68BE8251C}" type="slidenum">
              <a:rPr lang="it-IT" smtClean="0"/>
              <a:t>‹N›</a:t>
            </a:fld>
            <a:endParaRPr lang="it-IT"/>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smtClean="0"/>
              <a:t>Fare clic sull'icona per inserire un'immagine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Date Placeholder 3"/>
          <p:cNvSpPr>
            <a:spLocks noGrp="1"/>
          </p:cNvSpPr>
          <p:nvPr>
            <p:ph type="dt" sz="half" idx="10"/>
          </p:nvPr>
        </p:nvSpPr>
        <p:spPr/>
        <p:txBody>
          <a:bodyPr/>
          <a:lstStyle/>
          <a:p>
            <a:fld id="{06E15203-0351-4584-9686-65B6F81A0B38}" type="datetime1">
              <a:rPr lang="it-IT" smtClean="0"/>
              <a:t>03/10/2025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1_Titolo e testo verticale">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DC996D59-42AF-41FA-8F61-E8BF640F478A}" type="datetime1">
              <a:rPr lang="it-IT" smtClean="0"/>
              <a:t>03/10/2025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E7A41E1B-4F70-4964-A407-84C68BE8251C}" type="slidenum">
              <a:rPr lang="it-IT" smtClean="0"/>
              <a:t>‹N›</a:t>
            </a:fld>
            <a:endParaRPr lang="it-IT"/>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it-IT" smtClean="0"/>
              <a:t>Fare clic per modificare lo stile del titolo</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it-IT" smtClean="0"/>
              <a:t>Fare clic per modificare lo stile del titolo</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9A36433C-2F6B-4191-BFCF-394A9329130E}" type="datetime1">
              <a:rPr lang="it-IT" smtClean="0"/>
              <a:t>03/10/2025</a:t>
            </a:fld>
            <a:endParaRPr lang="it-IT"/>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it-IT"/>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E7A41E1B-4F70-4964-A407-84C68BE8251C}" type="slidenum">
              <a:rPr lang="it-IT" smtClean="0"/>
              <a:t>‹N›</a:t>
            </a:fld>
            <a:endParaRPr lang="it-IT"/>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p:txBody>
          <a:bodyPr/>
          <a:lstStyle/>
          <a:p>
            <a:r>
              <a:rPr lang="it-IT" dirty="0" smtClean="0"/>
              <a:t>Classi e oggetti</a:t>
            </a:r>
            <a:br>
              <a:rPr lang="it-IT" dirty="0" smtClean="0"/>
            </a:br>
            <a:r>
              <a:rPr lang="it-IT" dirty="0" smtClean="0"/>
              <a:t>(parte B)</a:t>
            </a:r>
            <a:endParaRPr lang="it-IT" dirty="0"/>
          </a:p>
        </p:txBody>
      </p:sp>
      <p:sp>
        <p:nvSpPr>
          <p:cNvPr id="3" name="Sottotitolo 2"/>
          <p:cNvSpPr>
            <a:spLocks noGrp="1"/>
          </p:cNvSpPr>
          <p:nvPr>
            <p:ph type="subTitle" idx="1"/>
          </p:nvPr>
        </p:nvSpPr>
        <p:spPr/>
        <p:txBody>
          <a:bodyPr/>
          <a:lstStyle/>
          <a:p>
            <a:endParaRPr lang="it-IT" dirty="0"/>
          </a:p>
        </p:txBody>
      </p:sp>
    </p:spTree>
    <p:extLst>
      <p:ext uri="{BB962C8B-B14F-4D97-AF65-F5344CB8AC3E}">
        <p14:creationId xmlns:p14="http://schemas.microsoft.com/office/powerpoint/2010/main" val="2270823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276872"/>
            <a:ext cx="7408333" cy="3849291"/>
          </a:xfrm>
        </p:spPr>
        <p:txBody>
          <a:bodyPr/>
          <a:lstStyle/>
          <a:p>
            <a:r>
              <a:rPr lang="it-IT" dirty="0" smtClean="0"/>
              <a:t>Un oggetto è un’istanza di una classe, ovvero un particolare «valore» assunto in un determinato momento tra i possibili «valori» ammessi per il tipo-classe definito</a:t>
            </a:r>
          </a:p>
          <a:p>
            <a:r>
              <a:rPr lang="it-IT" dirty="0" smtClean="0"/>
              <a:t>L’oggetto sta alla classe esattamente come la variabile sta al tipo di dato:</a:t>
            </a:r>
          </a:p>
          <a:p>
            <a:pPr lvl="1"/>
            <a:r>
              <a:rPr lang="it-IT" i="1" dirty="0" err="1" smtClean="0"/>
              <a:t>int</a:t>
            </a:r>
            <a:r>
              <a:rPr lang="it-IT" i="1" dirty="0" smtClean="0"/>
              <a:t> x; // dichiarazione di una variabile di tipo intero</a:t>
            </a:r>
          </a:p>
          <a:p>
            <a:pPr lvl="1"/>
            <a:r>
              <a:rPr lang="it-IT" i="1" dirty="0" err="1" smtClean="0"/>
              <a:t>String</a:t>
            </a:r>
            <a:r>
              <a:rPr lang="it-IT" i="1" dirty="0" smtClean="0"/>
              <a:t> s; // dichiarazione di un oggetto di classe </a:t>
            </a:r>
            <a:r>
              <a:rPr lang="it-IT" i="1" dirty="0" err="1" smtClean="0"/>
              <a:t>String</a:t>
            </a:r>
            <a:endParaRPr lang="it-IT" i="1" dirty="0" smtClean="0"/>
          </a:p>
        </p:txBody>
      </p:sp>
      <p:sp>
        <p:nvSpPr>
          <p:cNvPr id="3" name="Segnaposto numero diapositiva 2"/>
          <p:cNvSpPr>
            <a:spLocks noGrp="1"/>
          </p:cNvSpPr>
          <p:nvPr>
            <p:ph type="sldNum" sz="quarter" idx="12"/>
          </p:nvPr>
        </p:nvSpPr>
        <p:spPr/>
        <p:txBody>
          <a:bodyPr/>
          <a:lstStyle/>
          <a:p>
            <a:fld id="{E7A41E1B-4F70-4964-A407-84C68BE8251C}" type="slidenum">
              <a:rPr lang="it-IT" smtClean="0"/>
              <a:t>2</a:t>
            </a:fld>
            <a:endParaRPr lang="it-IT"/>
          </a:p>
        </p:txBody>
      </p:sp>
      <p:sp>
        <p:nvSpPr>
          <p:cNvPr id="4" name="Titolo 3"/>
          <p:cNvSpPr>
            <a:spLocks noGrp="1"/>
          </p:cNvSpPr>
          <p:nvPr>
            <p:ph type="title"/>
          </p:nvPr>
        </p:nvSpPr>
        <p:spPr/>
        <p:txBody>
          <a:bodyPr/>
          <a:lstStyle/>
          <a:p>
            <a:r>
              <a:rPr lang="it-IT" dirty="0" smtClean="0"/>
              <a:t>Oggetti</a:t>
            </a:r>
            <a:endParaRPr lang="it-IT" dirty="0"/>
          </a:p>
        </p:txBody>
      </p:sp>
    </p:spTree>
    <p:extLst>
      <p:ext uri="{BB962C8B-B14F-4D97-AF65-F5344CB8AC3E}">
        <p14:creationId xmlns:p14="http://schemas.microsoft.com/office/powerpoint/2010/main" val="2532692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p:txBody>
          <a:bodyPr/>
          <a:lstStyle/>
          <a:p>
            <a:r>
              <a:rPr lang="it-IT" dirty="0" smtClean="0"/>
              <a:t>La dichiarazione di un oggetto segue la stessa regola della dichiarazione di una variabile: </a:t>
            </a:r>
          </a:p>
          <a:p>
            <a:pPr lvl="1"/>
            <a:r>
              <a:rPr lang="it-IT" i="1" dirty="0" smtClean="0"/>
              <a:t>tipo </a:t>
            </a:r>
            <a:r>
              <a:rPr lang="it-IT" i="1" dirty="0" err="1" smtClean="0"/>
              <a:t>nome_variabile</a:t>
            </a:r>
            <a:r>
              <a:rPr lang="it-IT" i="1" dirty="0" smtClean="0"/>
              <a:t>;</a:t>
            </a:r>
          </a:p>
          <a:p>
            <a:r>
              <a:rPr lang="it-IT" dirty="0" smtClean="0"/>
              <a:t>dove il tipo sarà la classe e </a:t>
            </a:r>
            <a:r>
              <a:rPr lang="it-IT" i="1" dirty="0" err="1" smtClean="0"/>
              <a:t>nome_variabile</a:t>
            </a:r>
            <a:r>
              <a:rPr lang="it-IT" dirty="0" smtClean="0"/>
              <a:t> sarà l’oggetto</a:t>
            </a:r>
          </a:p>
        </p:txBody>
      </p:sp>
      <p:sp>
        <p:nvSpPr>
          <p:cNvPr id="3" name="Segnaposto numero diapositiva 2"/>
          <p:cNvSpPr>
            <a:spLocks noGrp="1"/>
          </p:cNvSpPr>
          <p:nvPr>
            <p:ph type="sldNum" sz="quarter" idx="12"/>
          </p:nvPr>
        </p:nvSpPr>
        <p:spPr/>
        <p:txBody>
          <a:bodyPr/>
          <a:lstStyle/>
          <a:p>
            <a:fld id="{E7A41E1B-4F70-4964-A407-84C68BE8251C}" type="slidenum">
              <a:rPr lang="it-IT" smtClean="0"/>
              <a:t>3</a:t>
            </a:fld>
            <a:endParaRPr lang="it-IT"/>
          </a:p>
        </p:txBody>
      </p:sp>
      <p:sp>
        <p:nvSpPr>
          <p:cNvPr id="4" name="Titolo 3"/>
          <p:cNvSpPr>
            <a:spLocks noGrp="1"/>
          </p:cNvSpPr>
          <p:nvPr>
            <p:ph type="title"/>
          </p:nvPr>
        </p:nvSpPr>
        <p:spPr/>
        <p:txBody>
          <a:bodyPr/>
          <a:lstStyle/>
          <a:p>
            <a:r>
              <a:rPr lang="it-IT" dirty="0" smtClean="0"/>
              <a:t>Dichiarazione di oggetto</a:t>
            </a:r>
            <a:endParaRPr lang="it-IT" dirty="0"/>
          </a:p>
        </p:txBody>
      </p:sp>
    </p:spTree>
    <p:extLst>
      <p:ext uri="{BB962C8B-B14F-4D97-AF65-F5344CB8AC3E}">
        <p14:creationId xmlns:p14="http://schemas.microsoft.com/office/powerpoint/2010/main" val="175860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348880"/>
            <a:ext cx="7408333" cy="3777283"/>
          </a:xfrm>
        </p:spPr>
        <p:txBody>
          <a:bodyPr>
            <a:normAutofit fontScale="92500"/>
          </a:bodyPr>
          <a:lstStyle/>
          <a:p>
            <a:r>
              <a:rPr lang="it-IT" dirty="0" smtClean="0"/>
              <a:t>Una volta che è stato dichiarato, prima di poter essere utilizzato, un oggetto deve essere «creato» o «istanziato» o «costruito»</a:t>
            </a:r>
          </a:p>
          <a:p>
            <a:r>
              <a:rPr lang="it-IT" dirty="0" smtClean="0"/>
              <a:t>Per «istanziare» un oggetto si usa la parola chiave «new» seguita dall’invocazione di un particolare metodo, detto «costruttore» della classe a cui appartiene l’oggetto:</a:t>
            </a:r>
          </a:p>
          <a:p>
            <a:pPr marL="301943" lvl="1" indent="0">
              <a:buNone/>
            </a:pPr>
            <a:r>
              <a:rPr lang="it-IT" i="1" dirty="0" smtClean="0"/>
              <a:t>Corso </a:t>
            </a:r>
            <a:r>
              <a:rPr lang="it-IT" i="1" dirty="0" err="1" smtClean="0"/>
              <a:t>obj</a:t>
            </a:r>
            <a:r>
              <a:rPr lang="it-IT" i="1" dirty="0" smtClean="0"/>
              <a:t>; // dichiarazione</a:t>
            </a:r>
          </a:p>
          <a:p>
            <a:pPr marL="301943" lvl="1" indent="0">
              <a:buNone/>
            </a:pPr>
            <a:r>
              <a:rPr lang="it-IT" i="1" dirty="0" err="1" smtClean="0"/>
              <a:t>obj</a:t>
            </a:r>
            <a:r>
              <a:rPr lang="it-IT" i="1" dirty="0" smtClean="0"/>
              <a:t> = new Corso(); // </a:t>
            </a:r>
            <a:r>
              <a:rPr lang="it-IT" i="1" dirty="0" err="1" smtClean="0"/>
              <a:t>istanziazione</a:t>
            </a:r>
            <a:endParaRPr lang="it-IT" i="1" dirty="0" smtClean="0"/>
          </a:p>
          <a:p>
            <a:pPr marL="301943" lvl="1" indent="0">
              <a:buNone/>
            </a:pPr>
            <a:r>
              <a:rPr lang="it-IT" i="1" dirty="0" smtClean="0"/>
              <a:t>Corso </a:t>
            </a:r>
            <a:r>
              <a:rPr lang="it-IT" i="1" dirty="0" err="1" smtClean="0"/>
              <a:t>obj</a:t>
            </a:r>
            <a:r>
              <a:rPr lang="it-IT" i="1" dirty="0" smtClean="0"/>
              <a:t> = new Corso(); // dichiarazione e </a:t>
            </a:r>
            <a:r>
              <a:rPr lang="it-IT" i="1" dirty="0" err="1" smtClean="0"/>
              <a:t>istanziazione</a:t>
            </a:r>
            <a:r>
              <a:rPr lang="it-IT" i="1" dirty="0" smtClean="0"/>
              <a:t> insieme </a:t>
            </a:r>
            <a:endParaRPr lang="it-IT"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4</a:t>
            </a:fld>
            <a:endParaRPr lang="it-IT"/>
          </a:p>
        </p:txBody>
      </p:sp>
      <p:sp>
        <p:nvSpPr>
          <p:cNvPr id="4" name="Titolo 3"/>
          <p:cNvSpPr>
            <a:spLocks noGrp="1"/>
          </p:cNvSpPr>
          <p:nvPr>
            <p:ph type="title"/>
          </p:nvPr>
        </p:nvSpPr>
        <p:spPr/>
        <p:txBody>
          <a:bodyPr/>
          <a:lstStyle/>
          <a:p>
            <a:r>
              <a:rPr lang="it-IT" dirty="0" err="1" smtClean="0"/>
              <a:t>Istanziazone</a:t>
            </a:r>
            <a:r>
              <a:rPr lang="it-IT" dirty="0" smtClean="0"/>
              <a:t> di un oggetto</a:t>
            </a:r>
            <a:endParaRPr lang="it-IT" dirty="0"/>
          </a:p>
        </p:txBody>
      </p:sp>
    </p:spTree>
    <p:extLst>
      <p:ext uri="{BB962C8B-B14F-4D97-AF65-F5344CB8AC3E}">
        <p14:creationId xmlns:p14="http://schemas.microsoft.com/office/powerpoint/2010/main" val="935376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276872"/>
            <a:ext cx="7408333" cy="3849291"/>
          </a:xfrm>
        </p:spPr>
        <p:txBody>
          <a:bodyPr>
            <a:normAutofit fontScale="92500" lnSpcReduction="10000"/>
          </a:bodyPr>
          <a:lstStyle/>
          <a:p>
            <a:r>
              <a:rPr lang="it-IT" dirty="0" smtClean="0"/>
              <a:t>La memoria </a:t>
            </a:r>
            <a:r>
              <a:rPr lang="it-IT" dirty="0" err="1" smtClean="0"/>
              <a:t>Ram</a:t>
            </a:r>
            <a:r>
              <a:rPr lang="it-IT" dirty="0" smtClean="0"/>
              <a:t> utilizzata da Java è divisa in due aree:</a:t>
            </a:r>
          </a:p>
          <a:p>
            <a:pPr lvl="1"/>
            <a:r>
              <a:rPr lang="it-IT" dirty="0" err="1" smtClean="0"/>
              <a:t>stack</a:t>
            </a:r>
            <a:r>
              <a:rPr lang="it-IT" dirty="0" smtClean="0"/>
              <a:t>: destinata a contenere le funzioni invocate durante l’esecuzione del programma, le variabili di tipo primitivo e i riferimenti (puntatori) ad oggetti</a:t>
            </a:r>
          </a:p>
          <a:p>
            <a:pPr lvl="1"/>
            <a:r>
              <a:rPr lang="it-IT" dirty="0" err="1" smtClean="0"/>
              <a:t>heap</a:t>
            </a:r>
            <a:r>
              <a:rPr lang="it-IT" dirty="0" smtClean="0"/>
              <a:t>: destinata a contenere i valori degli attributi degli oggetti (lo stato degli oggetti)</a:t>
            </a:r>
            <a:endParaRPr lang="it-IT" dirty="0"/>
          </a:p>
          <a:p>
            <a:r>
              <a:rPr lang="it-IT" dirty="0" smtClean="0"/>
              <a:t>Ogni volta che istanziamo un oggetto, tramite un’istruzione del tipo </a:t>
            </a:r>
            <a:r>
              <a:rPr lang="it-IT" i="1" dirty="0" smtClean="0"/>
              <a:t>Corso </a:t>
            </a:r>
            <a:r>
              <a:rPr lang="it-IT" i="1" dirty="0" err="1" smtClean="0"/>
              <a:t>obj</a:t>
            </a:r>
            <a:r>
              <a:rPr lang="it-IT" i="1" dirty="0" smtClean="0"/>
              <a:t> = new Corso();</a:t>
            </a:r>
            <a:r>
              <a:rPr lang="it-IT" dirty="0" smtClean="0"/>
              <a:t> stiamo creando un puntatore nell’area </a:t>
            </a:r>
            <a:r>
              <a:rPr lang="it-IT" dirty="0" err="1" smtClean="0"/>
              <a:t>stack</a:t>
            </a:r>
            <a:r>
              <a:rPr lang="it-IT" dirty="0" smtClean="0"/>
              <a:t> (</a:t>
            </a:r>
            <a:r>
              <a:rPr lang="it-IT" dirty="0" err="1" smtClean="0"/>
              <a:t>obj</a:t>
            </a:r>
            <a:r>
              <a:rPr lang="it-IT" dirty="0" smtClean="0"/>
              <a:t>) che referenzia un’area della memoria </a:t>
            </a:r>
            <a:r>
              <a:rPr lang="it-IT" dirty="0" err="1" smtClean="0"/>
              <a:t>heap</a:t>
            </a:r>
            <a:r>
              <a:rPr lang="it-IT" dirty="0" smtClean="0"/>
              <a:t> destinata a contenere i valori degli attributi dell’oggetto (stato dell’oggetto </a:t>
            </a:r>
            <a:r>
              <a:rPr lang="it-IT" i="1" dirty="0" err="1" smtClean="0"/>
              <a:t>obj</a:t>
            </a:r>
            <a:r>
              <a:rPr lang="it-IT" dirty="0" smtClean="0"/>
              <a:t> variabile nel tempo)</a:t>
            </a:r>
          </a:p>
        </p:txBody>
      </p:sp>
      <p:sp>
        <p:nvSpPr>
          <p:cNvPr id="3" name="Segnaposto numero diapositiva 2"/>
          <p:cNvSpPr>
            <a:spLocks noGrp="1"/>
          </p:cNvSpPr>
          <p:nvPr>
            <p:ph type="sldNum" sz="quarter" idx="12"/>
          </p:nvPr>
        </p:nvSpPr>
        <p:spPr/>
        <p:txBody>
          <a:bodyPr/>
          <a:lstStyle/>
          <a:p>
            <a:fld id="{E7A41E1B-4F70-4964-A407-84C68BE8251C}" type="slidenum">
              <a:rPr lang="it-IT" smtClean="0"/>
              <a:t>5</a:t>
            </a:fld>
            <a:endParaRPr lang="it-IT"/>
          </a:p>
        </p:txBody>
      </p:sp>
      <p:sp>
        <p:nvSpPr>
          <p:cNvPr id="4" name="Titolo 3"/>
          <p:cNvSpPr>
            <a:spLocks noGrp="1"/>
          </p:cNvSpPr>
          <p:nvPr>
            <p:ph type="title"/>
          </p:nvPr>
        </p:nvSpPr>
        <p:spPr/>
        <p:txBody>
          <a:bodyPr>
            <a:normAutofit fontScale="90000"/>
          </a:bodyPr>
          <a:lstStyle/>
          <a:p>
            <a:r>
              <a:rPr lang="it-IT" dirty="0" smtClean="0"/>
              <a:t>Oggetti, puntatori e</a:t>
            </a:r>
            <a:br>
              <a:rPr lang="it-IT" dirty="0" smtClean="0"/>
            </a:br>
            <a:r>
              <a:rPr lang="it-IT" dirty="0" smtClean="0"/>
              <a:t>aree di memoria (1/3)</a:t>
            </a:r>
            <a:endParaRPr lang="it-IT" dirty="0"/>
          </a:p>
        </p:txBody>
      </p:sp>
    </p:spTree>
    <p:extLst>
      <p:ext uri="{BB962C8B-B14F-4D97-AF65-F5344CB8AC3E}">
        <p14:creationId xmlns:p14="http://schemas.microsoft.com/office/powerpoint/2010/main" val="2149653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204864"/>
            <a:ext cx="7408333" cy="3921299"/>
          </a:xfrm>
        </p:spPr>
        <p:txBody>
          <a:bodyPr>
            <a:normAutofit/>
          </a:bodyPr>
          <a:lstStyle/>
          <a:p>
            <a:r>
              <a:rPr lang="it-IT" dirty="0" smtClean="0"/>
              <a:t>In Java il controllo della memoria è completamente in mano alla JVM: il codice del programma viene eseguito in un cuscinetto «</a:t>
            </a:r>
            <a:r>
              <a:rPr lang="it-IT" dirty="0" err="1" smtClean="0"/>
              <a:t>sandbox</a:t>
            </a:r>
            <a:r>
              <a:rPr lang="it-IT" dirty="0" smtClean="0"/>
              <a:t>» protetto, impedendo al programmatore di poter usare puntatori che referenzino qualsiasi area di memoria </a:t>
            </a:r>
          </a:p>
          <a:p>
            <a:r>
              <a:rPr lang="it-IT" dirty="0" smtClean="0"/>
              <a:t>La pulizia degli oggetti non più utilizzati, quindi dei puntatori  ad aree di memoria </a:t>
            </a:r>
            <a:r>
              <a:rPr lang="it-IT" dirty="0" err="1" smtClean="0"/>
              <a:t>Heap</a:t>
            </a:r>
            <a:r>
              <a:rPr lang="it-IT" dirty="0" smtClean="0"/>
              <a:t> non più usate, viene fatta in automatico dal componente della JVM che prende il nome di Garbage </a:t>
            </a:r>
            <a:r>
              <a:rPr lang="it-IT" dirty="0" err="1" smtClean="0"/>
              <a:t>Collector</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6</a:t>
            </a:fld>
            <a:endParaRPr lang="it-IT"/>
          </a:p>
        </p:txBody>
      </p:sp>
      <p:sp>
        <p:nvSpPr>
          <p:cNvPr id="4" name="Titolo 3"/>
          <p:cNvSpPr>
            <a:spLocks noGrp="1"/>
          </p:cNvSpPr>
          <p:nvPr>
            <p:ph type="title"/>
          </p:nvPr>
        </p:nvSpPr>
        <p:spPr/>
        <p:txBody>
          <a:bodyPr>
            <a:normAutofit fontScale="90000"/>
          </a:bodyPr>
          <a:lstStyle/>
          <a:p>
            <a:r>
              <a:rPr lang="it-IT" dirty="0"/>
              <a:t>Oggetti, puntatori e</a:t>
            </a:r>
            <a:br>
              <a:rPr lang="it-IT" dirty="0"/>
            </a:br>
            <a:r>
              <a:rPr lang="it-IT" dirty="0"/>
              <a:t>aree di memoria </a:t>
            </a:r>
            <a:r>
              <a:rPr lang="it-IT" dirty="0" smtClean="0"/>
              <a:t>(2/3)</a:t>
            </a:r>
            <a:endParaRPr lang="it-IT" dirty="0"/>
          </a:p>
        </p:txBody>
      </p:sp>
    </p:spTree>
    <p:extLst>
      <p:ext uri="{BB962C8B-B14F-4D97-AF65-F5344CB8AC3E}">
        <p14:creationId xmlns:p14="http://schemas.microsoft.com/office/powerpoint/2010/main" val="35108674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1916832"/>
            <a:ext cx="7344816" cy="4333331"/>
          </a:xfrm>
        </p:spPr>
      </p:pic>
      <p:sp>
        <p:nvSpPr>
          <p:cNvPr id="3" name="Segnaposto numero diapositiva 2"/>
          <p:cNvSpPr>
            <a:spLocks noGrp="1"/>
          </p:cNvSpPr>
          <p:nvPr>
            <p:ph type="sldNum" sz="quarter" idx="12"/>
          </p:nvPr>
        </p:nvSpPr>
        <p:spPr/>
        <p:txBody>
          <a:bodyPr/>
          <a:lstStyle/>
          <a:p>
            <a:fld id="{E7A41E1B-4F70-4964-A407-84C68BE8251C}" type="slidenum">
              <a:rPr lang="it-IT" smtClean="0"/>
              <a:t>7</a:t>
            </a:fld>
            <a:endParaRPr lang="it-IT"/>
          </a:p>
        </p:txBody>
      </p:sp>
      <p:sp>
        <p:nvSpPr>
          <p:cNvPr id="4" name="Titolo 3"/>
          <p:cNvSpPr>
            <a:spLocks noGrp="1"/>
          </p:cNvSpPr>
          <p:nvPr>
            <p:ph type="title"/>
          </p:nvPr>
        </p:nvSpPr>
        <p:spPr/>
        <p:txBody>
          <a:bodyPr>
            <a:normAutofit fontScale="90000"/>
          </a:bodyPr>
          <a:lstStyle/>
          <a:p>
            <a:r>
              <a:rPr lang="it-IT" dirty="0"/>
              <a:t>Oggetti, puntatori e</a:t>
            </a:r>
            <a:br>
              <a:rPr lang="it-IT" dirty="0"/>
            </a:br>
            <a:r>
              <a:rPr lang="it-IT" dirty="0"/>
              <a:t>aree di memoria </a:t>
            </a:r>
            <a:r>
              <a:rPr lang="it-IT" dirty="0" smtClean="0"/>
              <a:t>(3/3</a:t>
            </a:r>
            <a:r>
              <a:rPr lang="it-IT" dirty="0"/>
              <a:t>)</a:t>
            </a:r>
          </a:p>
        </p:txBody>
      </p:sp>
    </p:spTree>
    <p:extLst>
      <p:ext uri="{BB962C8B-B14F-4D97-AF65-F5344CB8AC3E}">
        <p14:creationId xmlns:p14="http://schemas.microsoft.com/office/powerpoint/2010/main" val="11544788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132856"/>
            <a:ext cx="7408333" cy="3993307"/>
          </a:xfrm>
        </p:spPr>
        <p:txBody>
          <a:bodyPr>
            <a:normAutofit fontScale="92500" lnSpcReduction="10000"/>
          </a:bodyPr>
          <a:lstStyle/>
          <a:p>
            <a:r>
              <a:rPr lang="it-IT" dirty="0" smtClean="0"/>
              <a:t>Un oggetto che ancora non è inizializzato, ovvero un riferimento/puntatore che non ha ancora richiesto l’allocazione di memoria </a:t>
            </a:r>
            <a:r>
              <a:rPr lang="it-IT" dirty="0" err="1" smtClean="0"/>
              <a:t>Heap</a:t>
            </a:r>
            <a:r>
              <a:rPr lang="it-IT" dirty="0" smtClean="0"/>
              <a:t> tramite la clausola «new», assume il valore «</a:t>
            </a:r>
            <a:r>
              <a:rPr lang="it-IT" dirty="0" err="1" smtClean="0"/>
              <a:t>null</a:t>
            </a:r>
            <a:r>
              <a:rPr lang="it-IT" dirty="0" smtClean="0"/>
              <a:t>»</a:t>
            </a:r>
          </a:p>
          <a:p>
            <a:r>
              <a:rPr lang="it-IT" dirty="0" err="1" smtClean="0"/>
              <a:t>this</a:t>
            </a:r>
            <a:r>
              <a:rPr lang="it-IT" dirty="0" smtClean="0"/>
              <a:t> è un riferimento/puntatore implicito di un oggetto a sé stesso. In genere viene usato quando c’è conflitto di nomi tra un parametro di ingresso di un metodo ed un attributo della classe. Es.:</a:t>
            </a:r>
          </a:p>
          <a:p>
            <a:pPr marL="0" indent="0">
              <a:buNone/>
            </a:pPr>
            <a:r>
              <a:rPr lang="it-IT" i="1" dirty="0" smtClean="0"/>
              <a:t>     public </a:t>
            </a:r>
            <a:r>
              <a:rPr lang="it-IT" i="1" dirty="0" err="1" smtClean="0"/>
              <a:t>class</a:t>
            </a:r>
            <a:r>
              <a:rPr lang="it-IT" i="1" dirty="0" smtClean="0"/>
              <a:t> Corso {</a:t>
            </a:r>
          </a:p>
          <a:p>
            <a:pPr marL="301943" lvl="1" indent="0">
              <a:buNone/>
            </a:pPr>
            <a:r>
              <a:rPr lang="it-IT" i="1" dirty="0" smtClean="0"/>
              <a:t>	private </a:t>
            </a:r>
            <a:r>
              <a:rPr lang="it-IT" i="1" dirty="0" err="1" smtClean="0"/>
              <a:t>String</a:t>
            </a:r>
            <a:r>
              <a:rPr lang="it-IT" i="1" dirty="0" smtClean="0"/>
              <a:t> docente;</a:t>
            </a:r>
          </a:p>
          <a:p>
            <a:pPr marL="301943" lvl="1" indent="0">
              <a:buNone/>
            </a:pPr>
            <a:r>
              <a:rPr lang="it-IT" i="1" dirty="0" smtClean="0"/>
              <a:t>	public </a:t>
            </a:r>
            <a:r>
              <a:rPr lang="it-IT" i="1" dirty="0" err="1" smtClean="0"/>
              <a:t>void</a:t>
            </a:r>
            <a:r>
              <a:rPr lang="it-IT" i="1" dirty="0" smtClean="0"/>
              <a:t> </a:t>
            </a:r>
            <a:r>
              <a:rPr lang="it-IT" i="1" dirty="0" err="1" smtClean="0"/>
              <a:t>setDocente</a:t>
            </a:r>
            <a:r>
              <a:rPr lang="it-IT" i="1" dirty="0" smtClean="0"/>
              <a:t>(</a:t>
            </a:r>
            <a:r>
              <a:rPr lang="it-IT" i="1" dirty="0" err="1" smtClean="0"/>
              <a:t>String</a:t>
            </a:r>
            <a:r>
              <a:rPr lang="it-IT" i="1" dirty="0" smtClean="0"/>
              <a:t> docente){</a:t>
            </a:r>
          </a:p>
          <a:p>
            <a:pPr marL="627063" lvl="2" indent="0">
              <a:buNone/>
            </a:pPr>
            <a:r>
              <a:rPr lang="it-IT" i="1" dirty="0" smtClean="0"/>
              <a:t>		</a:t>
            </a:r>
            <a:r>
              <a:rPr lang="it-IT" i="1" dirty="0" err="1" smtClean="0"/>
              <a:t>this.docente</a:t>
            </a:r>
            <a:r>
              <a:rPr lang="it-IT" i="1" dirty="0" smtClean="0"/>
              <a:t> = docente;</a:t>
            </a:r>
            <a:endParaRPr lang="it-IT"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8</a:t>
            </a:fld>
            <a:endParaRPr lang="it-IT"/>
          </a:p>
        </p:txBody>
      </p:sp>
      <p:sp>
        <p:nvSpPr>
          <p:cNvPr id="4" name="Titolo 3"/>
          <p:cNvSpPr>
            <a:spLocks noGrp="1"/>
          </p:cNvSpPr>
          <p:nvPr>
            <p:ph type="title"/>
          </p:nvPr>
        </p:nvSpPr>
        <p:spPr/>
        <p:txBody>
          <a:bodyPr/>
          <a:lstStyle/>
          <a:p>
            <a:r>
              <a:rPr lang="it-IT" dirty="0" err="1" smtClean="0"/>
              <a:t>Null</a:t>
            </a:r>
            <a:r>
              <a:rPr lang="it-IT" dirty="0" smtClean="0"/>
              <a:t> e </a:t>
            </a:r>
            <a:r>
              <a:rPr lang="it-IT" dirty="0" err="1" smtClean="0"/>
              <a:t>this</a:t>
            </a:r>
            <a:endParaRPr lang="it-IT" dirty="0"/>
          </a:p>
        </p:txBody>
      </p:sp>
    </p:spTree>
    <p:extLst>
      <p:ext uri="{BB962C8B-B14F-4D97-AF65-F5344CB8AC3E}">
        <p14:creationId xmlns:p14="http://schemas.microsoft.com/office/powerpoint/2010/main" val="10263360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p:txBody>
          <a:bodyPr/>
          <a:lstStyle/>
          <a:p>
            <a:pPr lvl="1"/>
            <a:r>
              <a:rPr lang="it-IT" sz="2400" dirty="0"/>
              <a:t>Tutte le classi Java hanno un costruttore e quando non viene esplicitamente definito dal programmatore la JVM usa un </a:t>
            </a:r>
            <a:r>
              <a:rPr lang="it-IT" sz="2400" b="1" dirty="0"/>
              <a:t>costruttore di </a:t>
            </a:r>
            <a:r>
              <a:rPr lang="it-IT" sz="2400" b="1" dirty="0" smtClean="0"/>
              <a:t>default</a:t>
            </a:r>
            <a:endParaRPr lang="it-IT" sz="3200" b="1" dirty="0"/>
          </a:p>
          <a:p>
            <a:pPr lvl="1"/>
            <a:r>
              <a:rPr lang="it-IT" sz="2400" dirty="0"/>
              <a:t>Il costruttore di default è un metodo </a:t>
            </a:r>
            <a:r>
              <a:rPr lang="it-IT" sz="2400" b="1" dirty="0"/>
              <a:t>senza parametri</a:t>
            </a:r>
            <a:r>
              <a:rPr lang="it-IT" sz="2400" dirty="0"/>
              <a:t> che inizializza l’oggetto/istanza impostando tutti i suoi attributi al loro valore di </a:t>
            </a:r>
            <a:r>
              <a:rPr lang="it-IT" sz="2400" dirty="0" smtClean="0"/>
              <a:t>default (vedi slide successiva)</a:t>
            </a:r>
            <a:endParaRPr lang="it-IT" sz="3200" b="1" dirty="0"/>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9</a:t>
            </a:fld>
            <a:endParaRPr lang="it-IT"/>
          </a:p>
        </p:txBody>
      </p:sp>
      <p:sp>
        <p:nvSpPr>
          <p:cNvPr id="4" name="Titolo 3"/>
          <p:cNvSpPr>
            <a:spLocks noGrp="1"/>
          </p:cNvSpPr>
          <p:nvPr>
            <p:ph type="title"/>
          </p:nvPr>
        </p:nvSpPr>
        <p:spPr/>
        <p:txBody>
          <a:bodyPr/>
          <a:lstStyle/>
          <a:p>
            <a:r>
              <a:rPr lang="it-IT" dirty="0" smtClean="0"/>
              <a:t>Costruttore di default</a:t>
            </a:r>
            <a:endParaRPr lang="it-IT" dirty="0"/>
          </a:p>
        </p:txBody>
      </p:sp>
    </p:spTree>
    <p:extLst>
      <p:ext uri="{BB962C8B-B14F-4D97-AF65-F5344CB8AC3E}">
        <p14:creationId xmlns:p14="http://schemas.microsoft.com/office/powerpoint/2010/main" val="766788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060848"/>
            <a:ext cx="7408333" cy="4065315"/>
          </a:xfrm>
        </p:spPr>
        <p:txBody>
          <a:bodyPr/>
          <a:lstStyle/>
          <a:p>
            <a:r>
              <a:rPr lang="it-IT" dirty="0" smtClean="0"/>
              <a:t>Java utilizza le seguenti regole di inizializzazione di default </a:t>
            </a:r>
            <a:r>
              <a:rPr lang="it-IT" b="1" dirty="0" smtClean="0"/>
              <a:t>per gli attributi delle classi</a:t>
            </a:r>
            <a:r>
              <a:rPr lang="it-IT" dirty="0" smtClean="0"/>
              <a:t>:</a:t>
            </a:r>
          </a:p>
          <a:p>
            <a:pPr lvl="1"/>
            <a:r>
              <a:rPr lang="it-IT" dirty="0" smtClean="0"/>
              <a:t>primitivi interi (</a:t>
            </a:r>
            <a:r>
              <a:rPr lang="it-IT" i="1" dirty="0" smtClean="0"/>
              <a:t>byte-short-</a:t>
            </a:r>
            <a:r>
              <a:rPr lang="it-IT" i="1" dirty="0" err="1" smtClean="0"/>
              <a:t>int</a:t>
            </a:r>
            <a:r>
              <a:rPr lang="it-IT" i="1" dirty="0" smtClean="0"/>
              <a:t>-long)</a:t>
            </a:r>
            <a:r>
              <a:rPr lang="it-IT" dirty="0" smtClean="0"/>
              <a:t>: a 0</a:t>
            </a:r>
          </a:p>
          <a:p>
            <a:pPr lvl="1"/>
            <a:r>
              <a:rPr lang="it-IT" dirty="0" smtClean="0"/>
              <a:t>primitivi in virgola mobile (</a:t>
            </a:r>
            <a:r>
              <a:rPr lang="it-IT" i="1" dirty="0" smtClean="0"/>
              <a:t>float-double)</a:t>
            </a:r>
            <a:r>
              <a:rPr lang="it-IT" dirty="0" smtClean="0"/>
              <a:t>: inizializzati a 0.0</a:t>
            </a:r>
          </a:p>
          <a:p>
            <a:pPr lvl="1"/>
            <a:r>
              <a:rPr lang="it-IT" dirty="0" smtClean="0"/>
              <a:t>primitivi </a:t>
            </a:r>
            <a:r>
              <a:rPr lang="it-IT" i="1" dirty="0" err="1" smtClean="0"/>
              <a:t>boolean</a:t>
            </a:r>
            <a:r>
              <a:rPr lang="it-IT" dirty="0" smtClean="0"/>
              <a:t>: inizializzati a </a:t>
            </a:r>
            <a:r>
              <a:rPr lang="it-IT" i="1" dirty="0" smtClean="0"/>
              <a:t>false</a:t>
            </a:r>
          </a:p>
          <a:p>
            <a:pPr lvl="1"/>
            <a:r>
              <a:rPr lang="it-IT" dirty="0" smtClean="0"/>
              <a:t>primitivi </a:t>
            </a:r>
            <a:r>
              <a:rPr lang="it-IT" i="1" dirty="0" err="1" smtClean="0"/>
              <a:t>char</a:t>
            </a:r>
            <a:r>
              <a:rPr lang="it-IT" dirty="0" smtClean="0"/>
              <a:t>: inizializzati a ‘\u0000’ </a:t>
            </a:r>
          </a:p>
          <a:p>
            <a:pPr lvl="1"/>
            <a:r>
              <a:rPr lang="it-IT" dirty="0" smtClean="0"/>
              <a:t>tutti gli oggetti: inizializzati a </a:t>
            </a:r>
            <a:r>
              <a:rPr lang="it-IT" i="1" dirty="0" err="1" smtClean="0"/>
              <a:t>null</a:t>
            </a:r>
            <a:endParaRPr lang="it-IT" i="1" dirty="0" smtClean="0"/>
          </a:p>
          <a:p>
            <a:r>
              <a:rPr lang="it-IT" b="1" dirty="0" smtClean="0"/>
              <a:t>Java non inizializza di default</a:t>
            </a:r>
            <a:r>
              <a:rPr lang="it-IT" b="1" i="1" dirty="0" smtClean="0"/>
              <a:t> </a:t>
            </a:r>
            <a:r>
              <a:rPr lang="it-IT" b="1" dirty="0" smtClean="0"/>
              <a:t>le variabili locali dei metodi</a:t>
            </a:r>
          </a:p>
          <a:p>
            <a:pPr lvl="1"/>
            <a:endParaRPr lang="it-IT" dirty="0" smtClean="0"/>
          </a:p>
          <a:p>
            <a:pPr lvl="1"/>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10</a:t>
            </a:fld>
            <a:endParaRPr lang="it-IT"/>
          </a:p>
        </p:txBody>
      </p:sp>
      <p:sp>
        <p:nvSpPr>
          <p:cNvPr id="4" name="Titolo 3"/>
          <p:cNvSpPr>
            <a:spLocks noGrp="1"/>
          </p:cNvSpPr>
          <p:nvPr>
            <p:ph type="title"/>
          </p:nvPr>
        </p:nvSpPr>
        <p:spPr/>
        <p:txBody>
          <a:bodyPr/>
          <a:lstStyle/>
          <a:p>
            <a:r>
              <a:rPr lang="it-IT" dirty="0" smtClean="0"/>
              <a:t>Inizializzazioni di default di Java</a:t>
            </a:r>
            <a:endParaRPr lang="it-IT" dirty="0"/>
          </a:p>
        </p:txBody>
      </p:sp>
    </p:spTree>
    <p:extLst>
      <p:ext uri="{BB962C8B-B14F-4D97-AF65-F5344CB8AC3E}">
        <p14:creationId xmlns:p14="http://schemas.microsoft.com/office/powerpoint/2010/main" val="4165233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276872"/>
            <a:ext cx="7408333" cy="3849291"/>
          </a:xfrm>
        </p:spPr>
        <p:txBody>
          <a:bodyPr>
            <a:normAutofit lnSpcReduction="10000"/>
          </a:bodyPr>
          <a:lstStyle/>
          <a:p>
            <a:r>
              <a:rPr lang="it-IT" dirty="0" smtClean="0"/>
              <a:t>Il programmatore può definire il proprio (o i propri come vedremo) costruttore, andando quindi a fare «</a:t>
            </a:r>
            <a:r>
              <a:rPr lang="it-IT" dirty="0" err="1" smtClean="0"/>
              <a:t>ovverride</a:t>
            </a:r>
            <a:r>
              <a:rPr lang="it-IT" dirty="0" smtClean="0"/>
              <a:t>» del costruttore di default creato dalla JVM</a:t>
            </a:r>
            <a:r>
              <a:rPr lang="it-IT" b="1" dirty="0" smtClean="0"/>
              <a:t>. In tal caso, il costruttore della JVM non viene </a:t>
            </a:r>
            <a:r>
              <a:rPr lang="it-IT" b="1" dirty="0" err="1" smtClean="0"/>
              <a:t>pù</a:t>
            </a:r>
            <a:r>
              <a:rPr lang="it-IT" b="1" dirty="0" smtClean="0"/>
              <a:t> creato</a:t>
            </a:r>
          </a:p>
          <a:p>
            <a:r>
              <a:rPr lang="it-IT" dirty="0" smtClean="0"/>
              <a:t>Es.: </a:t>
            </a:r>
          </a:p>
          <a:p>
            <a:pPr marL="0" indent="0">
              <a:buNone/>
            </a:pPr>
            <a:r>
              <a:rPr lang="it-IT" i="1" dirty="0" smtClean="0"/>
              <a:t>	public Corso() {</a:t>
            </a:r>
          </a:p>
          <a:p>
            <a:pPr marL="301943" lvl="1" indent="0">
              <a:buNone/>
            </a:pPr>
            <a:r>
              <a:rPr lang="it-IT" i="1" dirty="0" smtClean="0"/>
              <a:t>		docente </a:t>
            </a:r>
            <a:r>
              <a:rPr lang="it-IT" i="1" dirty="0"/>
              <a:t>= "Pippo";</a:t>
            </a:r>
            <a:endParaRPr lang="it-IT" i="1" dirty="0" smtClean="0"/>
          </a:p>
          <a:p>
            <a:pPr marL="301943" lvl="1" indent="0">
              <a:buNone/>
            </a:pPr>
            <a:r>
              <a:rPr lang="it-IT" i="1" dirty="0" smtClean="0"/>
              <a:t>		materia </a:t>
            </a:r>
            <a:r>
              <a:rPr lang="it-IT" i="1" dirty="0"/>
              <a:t>= "Java";</a:t>
            </a:r>
            <a:endParaRPr lang="it-IT" i="1" dirty="0" smtClean="0"/>
          </a:p>
          <a:p>
            <a:pPr marL="301943" lvl="1" indent="0">
              <a:buNone/>
            </a:pPr>
            <a:r>
              <a:rPr lang="it-IT" i="1" dirty="0" smtClean="0"/>
              <a:t>	}</a:t>
            </a:r>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11</a:t>
            </a:fld>
            <a:endParaRPr lang="it-IT"/>
          </a:p>
        </p:txBody>
      </p:sp>
      <p:sp>
        <p:nvSpPr>
          <p:cNvPr id="4" name="Titolo 3"/>
          <p:cNvSpPr>
            <a:spLocks noGrp="1"/>
          </p:cNvSpPr>
          <p:nvPr>
            <p:ph type="title"/>
          </p:nvPr>
        </p:nvSpPr>
        <p:spPr/>
        <p:txBody>
          <a:bodyPr>
            <a:normAutofit fontScale="90000"/>
          </a:bodyPr>
          <a:lstStyle/>
          <a:p>
            <a:r>
              <a:rPr lang="it-IT" dirty="0" err="1" smtClean="0"/>
              <a:t>Override</a:t>
            </a:r>
            <a:r>
              <a:rPr lang="it-IT" dirty="0" smtClean="0"/>
              <a:t> del costruttore di default</a:t>
            </a:r>
            <a:endParaRPr lang="it-IT" dirty="0"/>
          </a:p>
        </p:txBody>
      </p:sp>
    </p:spTree>
    <p:extLst>
      <p:ext uri="{BB962C8B-B14F-4D97-AF65-F5344CB8AC3E}">
        <p14:creationId xmlns:p14="http://schemas.microsoft.com/office/powerpoint/2010/main" val="523874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060848"/>
            <a:ext cx="7408333" cy="4065315"/>
          </a:xfrm>
        </p:spPr>
        <p:txBody>
          <a:bodyPr>
            <a:normAutofit lnSpcReduction="10000"/>
          </a:bodyPr>
          <a:lstStyle/>
          <a:p>
            <a:r>
              <a:rPr lang="it-IT" sz="2600" dirty="0" smtClean="0"/>
              <a:t>occorre </a:t>
            </a:r>
            <a:r>
              <a:rPr lang="it-IT" sz="2600" dirty="0"/>
              <a:t>definire nell’ordine:</a:t>
            </a:r>
            <a:endParaRPr lang="it-IT" sz="3400" b="1" dirty="0"/>
          </a:p>
          <a:p>
            <a:pPr lvl="1"/>
            <a:r>
              <a:rPr lang="it-IT" dirty="0" err="1"/>
              <a:t>specificatore</a:t>
            </a:r>
            <a:r>
              <a:rPr lang="it-IT" dirty="0"/>
              <a:t> di accesso (quasi sempre sarà public)</a:t>
            </a:r>
            <a:endParaRPr lang="it-IT" sz="3000" b="1" dirty="0"/>
          </a:p>
          <a:p>
            <a:pPr lvl="1"/>
            <a:r>
              <a:rPr lang="it-IT" dirty="0"/>
              <a:t>nome del costruttore che </a:t>
            </a:r>
            <a:r>
              <a:rPr lang="it-IT" b="1" dirty="0"/>
              <a:t>deve essere uguale al nome della </a:t>
            </a:r>
            <a:r>
              <a:rPr lang="it-IT" b="1" dirty="0" smtClean="0"/>
              <a:t>classe </a:t>
            </a:r>
            <a:r>
              <a:rPr lang="it-IT" dirty="0" smtClean="0"/>
              <a:t>(case sensitive)</a:t>
            </a:r>
            <a:endParaRPr lang="it-IT" sz="3000" dirty="0"/>
          </a:p>
          <a:p>
            <a:pPr lvl="1"/>
            <a:r>
              <a:rPr lang="it-IT" dirty="0"/>
              <a:t>eventuali parametri del costruttore</a:t>
            </a:r>
            <a:endParaRPr lang="it-IT" sz="3000" b="1" dirty="0"/>
          </a:p>
          <a:p>
            <a:pPr lvl="1"/>
            <a:r>
              <a:rPr lang="it-IT" b="1" dirty="0"/>
              <a:t>corpo del costruttore, ovvero codice che deve essere eseguito quando la JVM invoca il </a:t>
            </a:r>
            <a:r>
              <a:rPr lang="it-IT" b="1" dirty="0" smtClean="0"/>
              <a:t>costruttore</a:t>
            </a:r>
          </a:p>
          <a:p>
            <a:r>
              <a:rPr lang="it-IT" dirty="0" smtClean="0"/>
              <a:t>La sintassi del costruttore è quindi identica alla sintassi di un qualsiasi metodo con l’unica differenza che il costruttore non deve specificare il tipo di ritorno</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12</a:t>
            </a:fld>
            <a:endParaRPr lang="it-IT"/>
          </a:p>
        </p:txBody>
      </p:sp>
      <p:sp>
        <p:nvSpPr>
          <p:cNvPr id="4" name="Titolo 3"/>
          <p:cNvSpPr>
            <a:spLocks noGrp="1"/>
          </p:cNvSpPr>
          <p:nvPr>
            <p:ph type="title"/>
          </p:nvPr>
        </p:nvSpPr>
        <p:spPr/>
        <p:txBody>
          <a:bodyPr/>
          <a:lstStyle/>
          <a:p>
            <a:r>
              <a:rPr lang="it-IT" dirty="0" smtClean="0"/>
              <a:t>Sintassi del costruttore</a:t>
            </a:r>
            <a:endParaRPr lang="it-IT" dirty="0"/>
          </a:p>
        </p:txBody>
      </p:sp>
    </p:spTree>
    <p:extLst>
      <p:ext uri="{BB962C8B-B14F-4D97-AF65-F5344CB8AC3E}">
        <p14:creationId xmlns:p14="http://schemas.microsoft.com/office/powerpoint/2010/main" val="3608683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204864"/>
            <a:ext cx="7408333" cy="3921299"/>
          </a:xfrm>
        </p:spPr>
        <p:txBody>
          <a:bodyPr>
            <a:normAutofit fontScale="92500"/>
          </a:bodyPr>
          <a:lstStyle/>
          <a:p>
            <a:r>
              <a:rPr lang="it-IT" dirty="0"/>
              <a:t>Il costruttore stabilisce la logica con cui deve essere costruito </a:t>
            </a:r>
            <a:r>
              <a:rPr lang="it-IT" dirty="0" smtClean="0"/>
              <a:t>l’oggetto:</a:t>
            </a:r>
            <a:endParaRPr lang="it-IT" sz="1800" i="1" dirty="0" smtClean="0"/>
          </a:p>
          <a:p>
            <a:pPr marL="0" indent="0">
              <a:buNone/>
            </a:pPr>
            <a:r>
              <a:rPr lang="it-IT" sz="1800" i="1" dirty="0" smtClean="0"/>
              <a:t>	public </a:t>
            </a:r>
            <a:r>
              <a:rPr lang="it-IT" sz="1800" i="1" dirty="0"/>
              <a:t>Corso() {</a:t>
            </a:r>
          </a:p>
          <a:p>
            <a:pPr marL="301943" lvl="1" indent="0">
              <a:buNone/>
            </a:pPr>
            <a:r>
              <a:rPr lang="it-IT" sz="1800" i="1" dirty="0"/>
              <a:t>		docente = "Pippo";</a:t>
            </a:r>
          </a:p>
          <a:p>
            <a:pPr marL="301943" lvl="1" indent="0">
              <a:buNone/>
            </a:pPr>
            <a:r>
              <a:rPr lang="it-IT" sz="1800" i="1" dirty="0"/>
              <a:t>		materia = "Java";</a:t>
            </a:r>
          </a:p>
          <a:p>
            <a:pPr marL="301943" lvl="1" indent="0">
              <a:buNone/>
            </a:pPr>
            <a:r>
              <a:rPr lang="it-IT" sz="1800" i="1" dirty="0"/>
              <a:t>	}</a:t>
            </a:r>
          </a:p>
          <a:p>
            <a:r>
              <a:rPr lang="it-IT" dirty="0" smtClean="0"/>
              <a:t>Nell’esempio mostrato sopra stiamo definendo il comportamento del costruttore senza parametri</a:t>
            </a:r>
          </a:p>
          <a:p>
            <a:r>
              <a:rPr lang="it-IT" dirty="0" smtClean="0"/>
              <a:t>Tale costruttore verrà richiamato quando da qualche altra parte del nostro programma troveremo l’istruzione:</a:t>
            </a:r>
          </a:p>
          <a:p>
            <a:pPr marL="301943" lvl="1" indent="0">
              <a:buNone/>
            </a:pPr>
            <a:r>
              <a:rPr lang="it-IT" sz="1900" dirty="0" smtClean="0"/>
              <a:t>	</a:t>
            </a:r>
            <a:r>
              <a:rPr lang="it-IT" sz="1900" i="1" dirty="0" smtClean="0"/>
              <a:t>Corso c = new Corso();</a:t>
            </a:r>
            <a:endParaRPr lang="it-IT" sz="19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13</a:t>
            </a:fld>
            <a:endParaRPr lang="it-IT"/>
          </a:p>
        </p:txBody>
      </p:sp>
      <p:sp>
        <p:nvSpPr>
          <p:cNvPr id="4" name="Titolo 3"/>
          <p:cNvSpPr>
            <a:spLocks noGrp="1"/>
          </p:cNvSpPr>
          <p:nvPr>
            <p:ph type="title"/>
          </p:nvPr>
        </p:nvSpPr>
        <p:spPr/>
        <p:txBody>
          <a:bodyPr/>
          <a:lstStyle/>
          <a:p>
            <a:r>
              <a:rPr lang="it-IT" dirty="0" smtClean="0"/>
              <a:t>Significato del costruttore (1/2)</a:t>
            </a:r>
            <a:endParaRPr lang="it-IT" dirty="0"/>
          </a:p>
        </p:txBody>
      </p:sp>
    </p:spTree>
    <p:extLst>
      <p:ext uri="{BB962C8B-B14F-4D97-AF65-F5344CB8AC3E}">
        <p14:creationId xmlns:p14="http://schemas.microsoft.com/office/powerpoint/2010/main" val="3379200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132856"/>
            <a:ext cx="7408333" cy="3993307"/>
          </a:xfrm>
        </p:spPr>
        <p:txBody>
          <a:bodyPr/>
          <a:lstStyle/>
          <a:p>
            <a:r>
              <a:rPr lang="it-IT" dirty="0" smtClean="0"/>
              <a:t>La logica dell’esempio precedente va così interpretata:</a:t>
            </a:r>
          </a:p>
          <a:p>
            <a:pPr lvl="1"/>
            <a:r>
              <a:rPr lang="it-IT" dirty="0" smtClean="0"/>
              <a:t>quando, da qualche altra parte del programma, viene istanziato un oggetto senza specificare alcun parametro ( c = </a:t>
            </a:r>
            <a:r>
              <a:rPr lang="it-IT" i="1" dirty="0" smtClean="0"/>
              <a:t>new Corso(); </a:t>
            </a:r>
            <a:r>
              <a:rPr lang="it-IT" dirty="0" smtClean="0"/>
              <a:t>), vogliamo che venga creato un corso con docente «Pippo» e materia «Java»</a:t>
            </a:r>
          </a:p>
          <a:p>
            <a:pPr lvl="1"/>
            <a:r>
              <a:rPr lang="it-IT" dirty="0" smtClean="0"/>
              <a:t>in pratica stiamo stabilendo che inizialmente, in fase di creazione, tutti gli oggetti della nostra classe Corso devono partire con docente «Pippo» e materia «Java»</a:t>
            </a:r>
          </a:p>
          <a:p>
            <a:pPr marL="301943" lvl="1" indent="0">
              <a:buNone/>
            </a:pP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14</a:t>
            </a:fld>
            <a:endParaRPr lang="it-IT"/>
          </a:p>
        </p:txBody>
      </p:sp>
      <p:sp>
        <p:nvSpPr>
          <p:cNvPr id="4" name="Titolo 3"/>
          <p:cNvSpPr>
            <a:spLocks noGrp="1"/>
          </p:cNvSpPr>
          <p:nvPr>
            <p:ph type="title"/>
          </p:nvPr>
        </p:nvSpPr>
        <p:spPr/>
        <p:txBody>
          <a:bodyPr/>
          <a:lstStyle/>
          <a:p>
            <a:r>
              <a:rPr lang="it-IT" dirty="0"/>
              <a:t>Significato del costruttore </a:t>
            </a:r>
            <a:r>
              <a:rPr lang="it-IT" dirty="0" smtClean="0"/>
              <a:t>(2/2</a:t>
            </a:r>
            <a:r>
              <a:rPr lang="it-IT" dirty="0"/>
              <a:t>)</a:t>
            </a:r>
          </a:p>
        </p:txBody>
      </p:sp>
    </p:spTree>
    <p:extLst>
      <p:ext uri="{BB962C8B-B14F-4D97-AF65-F5344CB8AC3E}">
        <p14:creationId xmlns:p14="http://schemas.microsoft.com/office/powerpoint/2010/main" val="1061966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204864"/>
            <a:ext cx="7408333" cy="3921299"/>
          </a:xfrm>
        </p:spPr>
        <p:txBody>
          <a:bodyPr>
            <a:normAutofit fontScale="92500" lnSpcReduction="10000"/>
          </a:bodyPr>
          <a:lstStyle/>
          <a:p>
            <a:r>
              <a:rPr lang="it-IT" dirty="0"/>
              <a:t>Se invece </a:t>
            </a:r>
            <a:r>
              <a:rPr lang="it-IT" dirty="0" smtClean="0"/>
              <a:t>volessimo permettere </a:t>
            </a:r>
            <a:r>
              <a:rPr lang="it-IT" dirty="0"/>
              <a:t>al codice chiamante di specificare dei parametri da usare come valori di partenza della nostra classe, dovremmo allora creare un costruttore </a:t>
            </a:r>
            <a:r>
              <a:rPr lang="it-IT" dirty="0" smtClean="0"/>
              <a:t>parametrico:</a:t>
            </a:r>
          </a:p>
          <a:p>
            <a:pPr marL="0" indent="0">
              <a:buNone/>
            </a:pPr>
            <a:r>
              <a:rPr lang="it-IT" sz="1800" i="1" dirty="0" smtClean="0"/>
              <a:t>	public Corso(</a:t>
            </a:r>
            <a:r>
              <a:rPr lang="it-IT" sz="1800" i="1" dirty="0" err="1" smtClean="0"/>
              <a:t>String</a:t>
            </a:r>
            <a:r>
              <a:rPr lang="it-IT" sz="1800" i="1" dirty="0" smtClean="0"/>
              <a:t> doc, </a:t>
            </a:r>
            <a:r>
              <a:rPr lang="it-IT" sz="1800" i="1" dirty="0" err="1" smtClean="0"/>
              <a:t>String</a:t>
            </a:r>
            <a:r>
              <a:rPr lang="it-IT" sz="1800" i="1" dirty="0" smtClean="0"/>
              <a:t> materia) </a:t>
            </a:r>
            <a:r>
              <a:rPr lang="it-IT" sz="1800" i="1" dirty="0"/>
              <a:t>{</a:t>
            </a:r>
          </a:p>
          <a:p>
            <a:pPr marL="301943" lvl="1" indent="0">
              <a:buNone/>
            </a:pPr>
            <a:r>
              <a:rPr lang="it-IT" sz="1800" i="1" dirty="0"/>
              <a:t>		docente = </a:t>
            </a:r>
            <a:r>
              <a:rPr lang="it-IT" sz="1800" i="1" dirty="0" smtClean="0"/>
              <a:t>doc;</a:t>
            </a:r>
            <a:endParaRPr lang="it-IT" sz="1800" i="1" dirty="0"/>
          </a:p>
          <a:p>
            <a:pPr marL="301943" lvl="1" indent="0">
              <a:buNone/>
            </a:pPr>
            <a:r>
              <a:rPr lang="it-IT" sz="1800" i="1" dirty="0"/>
              <a:t>		materia = </a:t>
            </a:r>
            <a:r>
              <a:rPr lang="it-IT" sz="1800" i="1" dirty="0" smtClean="0"/>
              <a:t>materia;</a:t>
            </a:r>
            <a:endParaRPr lang="it-IT" sz="1800" i="1" dirty="0"/>
          </a:p>
          <a:p>
            <a:pPr marL="301943" lvl="1" indent="0">
              <a:buNone/>
            </a:pPr>
            <a:r>
              <a:rPr lang="it-IT" sz="1800" i="1" dirty="0"/>
              <a:t>	}</a:t>
            </a:r>
          </a:p>
          <a:p>
            <a:r>
              <a:rPr lang="it-IT" dirty="0"/>
              <a:t>Tale costruttore verrà </a:t>
            </a:r>
            <a:r>
              <a:rPr lang="it-IT" dirty="0" smtClean="0"/>
              <a:t>invocato quando </a:t>
            </a:r>
            <a:r>
              <a:rPr lang="it-IT" dirty="0"/>
              <a:t>da qualche altra parte del nostro programma troveremo l’istruzione:</a:t>
            </a:r>
          </a:p>
          <a:p>
            <a:pPr marL="301943" lvl="1" indent="0">
              <a:buNone/>
            </a:pPr>
            <a:r>
              <a:rPr lang="it-IT" sz="1900" dirty="0"/>
              <a:t>	</a:t>
            </a:r>
            <a:r>
              <a:rPr lang="it-IT" sz="1900" i="1" dirty="0"/>
              <a:t>Corso c = new Corso</a:t>
            </a:r>
            <a:r>
              <a:rPr lang="it-IT" sz="1900" i="1" dirty="0" smtClean="0"/>
              <a:t>("Pluto" ,"C++");</a:t>
            </a:r>
          </a:p>
          <a:p>
            <a:pPr marL="301943" lvl="1" indent="0">
              <a:buNone/>
            </a:pPr>
            <a:r>
              <a:rPr lang="it-IT" sz="1900" dirty="0"/>
              <a:t>	</a:t>
            </a:r>
            <a:r>
              <a:rPr lang="it-IT" sz="1900" i="1" dirty="0"/>
              <a:t>Corso </a:t>
            </a:r>
            <a:r>
              <a:rPr lang="it-IT" sz="1900" i="1" dirty="0" smtClean="0"/>
              <a:t>c2 </a:t>
            </a:r>
            <a:r>
              <a:rPr lang="it-IT" sz="1900" i="1" dirty="0"/>
              <a:t>= new Corso</a:t>
            </a:r>
            <a:r>
              <a:rPr lang="it-IT" sz="1900" i="1" dirty="0" smtClean="0"/>
              <a:t>("Paperino" ,"</a:t>
            </a:r>
            <a:r>
              <a:rPr lang="it-IT" sz="1900" i="1" dirty="0" err="1" smtClean="0"/>
              <a:t>Php</a:t>
            </a:r>
            <a:r>
              <a:rPr lang="it-IT" sz="1900" i="1" dirty="0" smtClean="0"/>
              <a:t>");</a:t>
            </a:r>
            <a:endParaRPr lang="it-IT" sz="1900" i="1" dirty="0"/>
          </a:p>
          <a:p>
            <a:pPr marL="301943" lvl="1" indent="0">
              <a:buNone/>
            </a:pPr>
            <a:endParaRPr lang="it-IT" sz="1900" i="1" dirty="0"/>
          </a:p>
          <a:p>
            <a:endParaRPr lang="it-IT" dirty="0" smtClean="0"/>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15</a:t>
            </a:fld>
            <a:endParaRPr lang="it-IT"/>
          </a:p>
        </p:txBody>
      </p:sp>
      <p:sp>
        <p:nvSpPr>
          <p:cNvPr id="4" name="Titolo 3"/>
          <p:cNvSpPr>
            <a:spLocks noGrp="1"/>
          </p:cNvSpPr>
          <p:nvPr>
            <p:ph type="title"/>
          </p:nvPr>
        </p:nvSpPr>
        <p:spPr/>
        <p:txBody>
          <a:bodyPr/>
          <a:lstStyle/>
          <a:p>
            <a:r>
              <a:rPr lang="it-IT" dirty="0" smtClean="0"/>
              <a:t>Costruttori parametrici</a:t>
            </a:r>
            <a:endParaRPr lang="it-IT" dirty="0"/>
          </a:p>
        </p:txBody>
      </p:sp>
    </p:spTree>
    <p:extLst>
      <p:ext uri="{BB962C8B-B14F-4D97-AF65-F5344CB8AC3E}">
        <p14:creationId xmlns:p14="http://schemas.microsoft.com/office/powerpoint/2010/main" val="1760801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132856"/>
            <a:ext cx="7408333" cy="3993307"/>
          </a:xfrm>
        </p:spPr>
        <p:txBody>
          <a:bodyPr>
            <a:normAutofit lnSpcReduction="10000"/>
          </a:bodyPr>
          <a:lstStyle/>
          <a:p>
            <a:r>
              <a:rPr lang="it-IT" dirty="0" smtClean="0"/>
              <a:t>Se creiamo costruttori personalizzati, come detto, il compilatore non crea più il costruttore di default senza parametri. Quindi:</a:t>
            </a:r>
          </a:p>
          <a:p>
            <a:pPr lvl="1"/>
            <a:r>
              <a:rPr lang="it-IT" dirty="0" smtClean="0"/>
              <a:t>se abbiamo creato un costruttore personalizzato senza parametri l’istruzione:</a:t>
            </a:r>
          </a:p>
          <a:p>
            <a:pPr lvl="2"/>
            <a:r>
              <a:rPr lang="it-IT" sz="1800" i="1" dirty="0" err="1" smtClean="0"/>
              <a:t>ClasseNostra</a:t>
            </a:r>
            <a:r>
              <a:rPr lang="it-IT" sz="1800" i="1" dirty="0" smtClean="0"/>
              <a:t> </a:t>
            </a:r>
            <a:r>
              <a:rPr lang="it-IT" sz="1800" i="1" dirty="0" err="1" smtClean="0"/>
              <a:t>obj</a:t>
            </a:r>
            <a:r>
              <a:rPr lang="it-IT" sz="1800" i="1" dirty="0" smtClean="0"/>
              <a:t> = new </a:t>
            </a:r>
            <a:r>
              <a:rPr lang="it-IT" sz="1800" i="1" dirty="0" err="1" smtClean="0"/>
              <a:t>ClasseNostra</a:t>
            </a:r>
            <a:r>
              <a:rPr lang="it-IT" sz="1800" i="1" dirty="0" smtClean="0"/>
              <a:t>();</a:t>
            </a:r>
            <a:r>
              <a:rPr lang="it-IT" sz="1800" dirty="0" smtClean="0"/>
              <a:t> </a:t>
            </a:r>
          </a:p>
          <a:p>
            <a:pPr lvl="1"/>
            <a:r>
              <a:rPr lang="it-IT" dirty="0" smtClean="0"/>
              <a:t>continua ad essere valida, poiché invoca il nostro costruttore personalizzato senza parametri</a:t>
            </a:r>
          </a:p>
          <a:p>
            <a:pPr lvl="1"/>
            <a:r>
              <a:rPr lang="it-IT" dirty="0" smtClean="0"/>
              <a:t>se, invece, abbiamo creato </a:t>
            </a:r>
            <a:r>
              <a:rPr lang="it-IT" b="1" dirty="0" smtClean="0"/>
              <a:t>solo</a:t>
            </a:r>
            <a:r>
              <a:rPr lang="it-IT" dirty="0" smtClean="0"/>
              <a:t> costruttori personalizzati parametrici, l’istruzione precedente genera un errore di compilazione </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16</a:t>
            </a:fld>
            <a:endParaRPr lang="it-IT"/>
          </a:p>
        </p:txBody>
      </p:sp>
      <p:sp>
        <p:nvSpPr>
          <p:cNvPr id="4" name="Titolo 3"/>
          <p:cNvSpPr>
            <a:spLocks noGrp="1"/>
          </p:cNvSpPr>
          <p:nvPr>
            <p:ph type="title"/>
          </p:nvPr>
        </p:nvSpPr>
        <p:spPr/>
        <p:txBody>
          <a:bodyPr>
            <a:normAutofit/>
          </a:bodyPr>
          <a:lstStyle/>
          <a:p>
            <a:r>
              <a:rPr lang="it-IT" sz="3600" dirty="0" smtClean="0"/>
              <a:t>Costruttori parametrici ed </a:t>
            </a:r>
            <a:br>
              <a:rPr lang="it-IT" sz="3600" dirty="0" smtClean="0"/>
            </a:br>
            <a:r>
              <a:rPr lang="it-IT" sz="3600" dirty="0" smtClean="0"/>
              <a:t>eliminazione del costruttore di default</a:t>
            </a:r>
            <a:endParaRPr lang="it-IT" sz="3600" dirty="0"/>
          </a:p>
        </p:txBody>
      </p:sp>
    </p:spTree>
    <p:extLst>
      <p:ext uri="{BB962C8B-B14F-4D97-AF65-F5344CB8AC3E}">
        <p14:creationId xmlns:p14="http://schemas.microsoft.com/office/powerpoint/2010/main" val="2295898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132856"/>
            <a:ext cx="7408333" cy="3993307"/>
          </a:xfrm>
        </p:spPr>
        <p:txBody>
          <a:bodyPr>
            <a:normAutofit fontScale="92500" lnSpcReduction="20000"/>
          </a:bodyPr>
          <a:lstStyle/>
          <a:p>
            <a:r>
              <a:rPr lang="it-IT" dirty="0" smtClean="0"/>
              <a:t>Possiamo creare costruttori senza parametri, con un </a:t>
            </a:r>
            <a:r>
              <a:rPr lang="it-IT" smtClean="0"/>
              <a:t>solo parametro, </a:t>
            </a:r>
            <a:r>
              <a:rPr lang="it-IT" dirty="0" smtClean="0"/>
              <a:t>con due parametri etc.. </a:t>
            </a:r>
          </a:p>
          <a:p>
            <a:r>
              <a:rPr lang="it-IT" dirty="0" smtClean="0"/>
              <a:t>Possiamo creare uno solo dei suddetti costruttori o una qualsiasi combinazione di essi</a:t>
            </a:r>
          </a:p>
          <a:p>
            <a:r>
              <a:rPr lang="it-IT" dirty="0" smtClean="0"/>
              <a:t>Chiaramente i costruttori richiamabili dal codice chiamante sono solo quelli creati nella classe: se nella classe Corso definisco solo il costruttore con due parametri, non è ammesso un codice chiamante del tipo </a:t>
            </a:r>
            <a:r>
              <a:rPr lang="it-IT" i="1" dirty="0" smtClean="0"/>
              <a:t>Corso c = new Corso();</a:t>
            </a:r>
          </a:p>
          <a:p>
            <a:r>
              <a:rPr lang="it-IT" dirty="0" smtClean="0"/>
              <a:t>Quando più metodi hanno la stessa firma tranne che per i parametri di ingresso si parla di «</a:t>
            </a:r>
            <a:r>
              <a:rPr lang="it-IT" dirty="0" err="1" smtClean="0"/>
              <a:t>overloading</a:t>
            </a:r>
            <a:r>
              <a:rPr lang="it-IT" dirty="0" smtClean="0"/>
              <a:t>» dei metodi</a:t>
            </a:r>
          </a:p>
          <a:p>
            <a:r>
              <a:rPr lang="it-IT" dirty="0" smtClean="0"/>
              <a:t>Negli esempi precedenti abbiamo usato l’</a:t>
            </a:r>
            <a:r>
              <a:rPr lang="it-IT" dirty="0" err="1" smtClean="0"/>
              <a:t>overloading</a:t>
            </a:r>
            <a:r>
              <a:rPr lang="it-IT" dirty="0" smtClean="0"/>
              <a:t> dei costruttori</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17</a:t>
            </a:fld>
            <a:endParaRPr lang="it-IT"/>
          </a:p>
        </p:txBody>
      </p:sp>
      <p:sp>
        <p:nvSpPr>
          <p:cNvPr id="4" name="Titolo 3"/>
          <p:cNvSpPr>
            <a:spLocks noGrp="1"/>
          </p:cNvSpPr>
          <p:nvPr>
            <p:ph type="title"/>
          </p:nvPr>
        </p:nvSpPr>
        <p:spPr/>
        <p:txBody>
          <a:bodyPr/>
          <a:lstStyle/>
          <a:p>
            <a:r>
              <a:rPr lang="it-IT" dirty="0" err="1" smtClean="0"/>
              <a:t>Overloading</a:t>
            </a:r>
            <a:r>
              <a:rPr lang="it-IT" dirty="0" smtClean="0"/>
              <a:t> dei costruttori</a:t>
            </a:r>
            <a:endParaRPr lang="it-IT" dirty="0"/>
          </a:p>
        </p:txBody>
      </p:sp>
    </p:spTree>
    <p:extLst>
      <p:ext uri="{BB962C8B-B14F-4D97-AF65-F5344CB8AC3E}">
        <p14:creationId xmlns:p14="http://schemas.microsoft.com/office/powerpoint/2010/main" val="1413033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fontScale="62500" lnSpcReduction="20000"/>
          </a:bodyPr>
          <a:lstStyle/>
          <a:p>
            <a:r>
              <a:rPr lang="it-IT" sz="3200" dirty="0" smtClean="0"/>
              <a:t>Un costruttore può invocarne un altro (così come un qualsiasi metodo può invocarne un altro all’interno della stessa classe). In tal caso:</a:t>
            </a:r>
          </a:p>
          <a:p>
            <a:pPr marL="759143" lvl="1" indent="-457200">
              <a:buFont typeface="+mj-lt"/>
              <a:buAutoNum type="arabicPeriod"/>
            </a:pPr>
            <a:r>
              <a:rPr lang="it-IT" sz="2900" dirty="0" smtClean="0"/>
              <a:t>La chiamata va effettuata tramite la sintassi </a:t>
            </a:r>
            <a:r>
              <a:rPr lang="it-IT" sz="2900" i="1" dirty="0" err="1" smtClean="0"/>
              <a:t>this</a:t>
            </a:r>
            <a:r>
              <a:rPr lang="it-IT" sz="2900" i="1" dirty="0" smtClean="0"/>
              <a:t>(…):</a:t>
            </a:r>
          </a:p>
          <a:p>
            <a:pPr marL="868680" lvl="3" indent="0">
              <a:buNone/>
            </a:pPr>
            <a:r>
              <a:rPr lang="it-IT" sz="2300" i="1" dirty="0"/>
              <a:t>public Corso4(</a:t>
            </a:r>
            <a:r>
              <a:rPr lang="it-IT" sz="2300" i="1" dirty="0" err="1"/>
              <a:t>String</a:t>
            </a:r>
            <a:r>
              <a:rPr lang="it-IT" sz="2300" i="1" dirty="0"/>
              <a:t> </a:t>
            </a:r>
            <a:r>
              <a:rPr lang="it-IT" sz="2300" i="1" dirty="0" err="1"/>
              <a:t>docente,String</a:t>
            </a:r>
            <a:r>
              <a:rPr lang="it-IT" sz="2300" i="1" dirty="0"/>
              <a:t> materia){</a:t>
            </a:r>
          </a:p>
          <a:p>
            <a:pPr marL="868680" lvl="3" indent="0">
              <a:buNone/>
            </a:pPr>
            <a:r>
              <a:rPr lang="it-IT" sz="2300" i="1" dirty="0" smtClean="0"/>
              <a:t>		</a:t>
            </a:r>
            <a:r>
              <a:rPr lang="it-IT" sz="2300" i="1" dirty="0" err="1" smtClean="0"/>
              <a:t>this</a:t>
            </a:r>
            <a:r>
              <a:rPr lang="it-IT" sz="2300" i="1" dirty="0" smtClean="0"/>
              <a:t>(</a:t>
            </a:r>
            <a:r>
              <a:rPr lang="it-IT" sz="2300" i="1" dirty="0" err="1" smtClean="0"/>
              <a:t>docente,materia,null</a:t>
            </a:r>
            <a:r>
              <a:rPr lang="it-IT" sz="2300" i="1" dirty="0" smtClean="0"/>
              <a:t>);</a:t>
            </a:r>
            <a:endParaRPr lang="it-IT" sz="2300" i="1" dirty="0"/>
          </a:p>
          <a:p>
            <a:pPr marL="868680" lvl="3" indent="0">
              <a:buNone/>
            </a:pPr>
            <a:r>
              <a:rPr lang="it-IT" sz="2300" i="1" dirty="0" smtClean="0"/>
              <a:t>}</a:t>
            </a:r>
            <a:endParaRPr lang="it-IT" sz="2300" i="1" dirty="0"/>
          </a:p>
          <a:p>
            <a:pPr marL="868680" lvl="3" indent="0">
              <a:buNone/>
            </a:pPr>
            <a:r>
              <a:rPr lang="it-IT" sz="2300" i="1" dirty="0" smtClean="0"/>
              <a:t>public </a:t>
            </a:r>
            <a:r>
              <a:rPr lang="it-IT" sz="2300" i="1" dirty="0"/>
              <a:t>Corso4(</a:t>
            </a:r>
            <a:r>
              <a:rPr lang="it-IT" sz="2300" i="1" dirty="0" err="1"/>
              <a:t>String</a:t>
            </a:r>
            <a:r>
              <a:rPr lang="it-IT" sz="2300" i="1" dirty="0"/>
              <a:t> </a:t>
            </a:r>
            <a:r>
              <a:rPr lang="it-IT" sz="2300" i="1" dirty="0" err="1"/>
              <a:t>docente,String</a:t>
            </a:r>
            <a:r>
              <a:rPr lang="it-IT" sz="2300" i="1" dirty="0"/>
              <a:t> </a:t>
            </a:r>
            <a:r>
              <a:rPr lang="it-IT" sz="2300" i="1" dirty="0" err="1"/>
              <a:t>materia,Integer</a:t>
            </a:r>
            <a:r>
              <a:rPr lang="it-IT" sz="2300" i="1" dirty="0"/>
              <a:t> crediti){</a:t>
            </a:r>
          </a:p>
          <a:p>
            <a:pPr marL="868680" lvl="3" indent="0">
              <a:buNone/>
            </a:pPr>
            <a:r>
              <a:rPr lang="it-IT" sz="2300" i="1" dirty="0" smtClean="0"/>
              <a:t>		</a:t>
            </a:r>
            <a:r>
              <a:rPr lang="it-IT" sz="2300" i="1" dirty="0" err="1" smtClean="0"/>
              <a:t>this.docente</a:t>
            </a:r>
            <a:r>
              <a:rPr lang="it-IT" sz="2300" i="1" dirty="0" smtClean="0"/>
              <a:t> </a:t>
            </a:r>
            <a:r>
              <a:rPr lang="it-IT" sz="2300" i="1" dirty="0"/>
              <a:t>= docente;</a:t>
            </a:r>
          </a:p>
          <a:p>
            <a:pPr marL="868680" lvl="3" indent="0">
              <a:buNone/>
            </a:pPr>
            <a:r>
              <a:rPr lang="it-IT" sz="2300" i="1" dirty="0" smtClean="0"/>
              <a:t>		</a:t>
            </a:r>
            <a:r>
              <a:rPr lang="it-IT" sz="2300" i="1" dirty="0" err="1" smtClean="0"/>
              <a:t>this.materia</a:t>
            </a:r>
            <a:r>
              <a:rPr lang="it-IT" sz="2300" i="1" dirty="0" smtClean="0"/>
              <a:t> </a:t>
            </a:r>
            <a:r>
              <a:rPr lang="it-IT" sz="2300" i="1" dirty="0"/>
              <a:t>= materia;</a:t>
            </a:r>
          </a:p>
          <a:p>
            <a:pPr marL="868680" lvl="3" indent="0">
              <a:buNone/>
            </a:pPr>
            <a:r>
              <a:rPr lang="it-IT" sz="2300" i="1" dirty="0" smtClean="0"/>
              <a:t>		</a:t>
            </a:r>
            <a:r>
              <a:rPr lang="it-IT" sz="2300" i="1" dirty="0" err="1" smtClean="0"/>
              <a:t>this.crediti</a:t>
            </a:r>
            <a:r>
              <a:rPr lang="it-IT" sz="2300" i="1" dirty="0" smtClean="0"/>
              <a:t> </a:t>
            </a:r>
            <a:r>
              <a:rPr lang="it-IT" sz="2300" i="1" dirty="0"/>
              <a:t>= crediti;</a:t>
            </a:r>
          </a:p>
          <a:p>
            <a:pPr marL="868680" lvl="3" indent="0">
              <a:buNone/>
            </a:pPr>
            <a:r>
              <a:rPr lang="it-IT" sz="2100" i="1" dirty="0" smtClean="0"/>
              <a:t>}</a:t>
            </a:r>
            <a:endParaRPr lang="it-IT" sz="2100" dirty="0" smtClean="0"/>
          </a:p>
          <a:p>
            <a:pPr marL="759143" lvl="1" indent="-457200">
              <a:buFont typeface="+mj-lt"/>
              <a:buAutoNum type="arabicPeriod"/>
            </a:pPr>
            <a:r>
              <a:rPr lang="it-IT" sz="2900" dirty="0" smtClean="0"/>
              <a:t>La </a:t>
            </a:r>
            <a:r>
              <a:rPr lang="it-IT" sz="2900" dirty="0" err="1" smtClean="0"/>
              <a:t>chimata</a:t>
            </a:r>
            <a:r>
              <a:rPr lang="it-IT" sz="2900" dirty="0" smtClean="0"/>
              <a:t> </a:t>
            </a:r>
            <a:r>
              <a:rPr lang="it-IT" sz="2900" i="1" dirty="0" err="1" smtClean="0"/>
              <a:t>this</a:t>
            </a:r>
            <a:r>
              <a:rPr lang="it-IT" sz="2900" i="1" dirty="0" smtClean="0"/>
              <a:t>(..)</a:t>
            </a:r>
            <a:r>
              <a:rPr lang="it-IT" sz="2900" dirty="0" smtClean="0"/>
              <a:t> all’altro costruttore deve essere la prima istruzione:</a:t>
            </a:r>
          </a:p>
          <a:p>
            <a:pPr marL="868680" lvl="3" indent="0">
              <a:buNone/>
            </a:pPr>
            <a:r>
              <a:rPr lang="it-IT" sz="2300" i="1" dirty="0"/>
              <a:t>public Corso4(){</a:t>
            </a:r>
          </a:p>
          <a:p>
            <a:pPr marL="868680" lvl="3" indent="0">
              <a:buNone/>
            </a:pPr>
            <a:r>
              <a:rPr lang="it-IT" sz="2300" i="1" dirty="0" smtClean="0"/>
              <a:t>// non si può fare questa chiamata qui -&gt; </a:t>
            </a:r>
            <a:r>
              <a:rPr lang="it-IT" sz="2300" i="1" dirty="0" err="1" smtClean="0"/>
              <a:t>System.out.println</a:t>
            </a:r>
            <a:r>
              <a:rPr lang="it-IT" sz="2300" i="1" dirty="0"/>
              <a:t>("non si può</a:t>
            </a:r>
            <a:r>
              <a:rPr lang="it-IT" sz="2300" i="1" dirty="0" smtClean="0"/>
              <a:t>"); </a:t>
            </a:r>
            <a:endParaRPr lang="it-IT" sz="2300" i="1" dirty="0"/>
          </a:p>
          <a:p>
            <a:pPr marL="868680" lvl="3" indent="0">
              <a:buNone/>
            </a:pPr>
            <a:r>
              <a:rPr lang="it-IT" sz="2300" i="1" dirty="0" smtClean="0"/>
              <a:t>		</a:t>
            </a:r>
            <a:r>
              <a:rPr lang="it-IT" sz="2300" i="1" dirty="0" err="1" smtClean="0"/>
              <a:t>this</a:t>
            </a:r>
            <a:r>
              <a:rPr lang="it-IT" sz="2300" i="1" dirty="0" smtClean="0"/>
              <a:t>(</a:t>
            </a:r>
            <a:r>
              <a:rPr lang="it-IT" sz="2300" i="1" dirty="0" err="1" smtClean="0"/>
              <a:t>null</a:t>
            </a:r>
            <a:r>
              <a:rPr lang="it-IT" sz="2300" i="1" dirty="0"/>
              <a:t>);</a:t>
            </a:r>
          </a:p>
          <a:p>
            <a:pPr marL="868680" lvl="3" indent="0">
              <a:buNone/>
            </a:pPr>
            <a:r>
              <a:rPr lang="it-IT" sz="2300" i="1" dirty="0" smtClean="0"/>
              <a:t>}</a:t>
            </a:r>
            <a:endParaRPr lang="it-IT" sz="23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18</a:t>
            </a:fld>
            <a:endParaRPr lang="it-IT"/>
          </a:p>
        </p:txBody>
      </p:sp>
      <p:sp>
        <p:nvSpPr>
          <p:cNvPr id="4" name="Titolo 3"/>
          <p:cNvSpPr>
            <a:spLocks noGrp="1"/>
          </p:cNvSpPr>
          <p:nvPr>
            <p:ph type="title"/>
          </p:nvPr>
        </p:nvSpPr>
        <p:spPr/>
        <p:txBody>
          <a:bodyPr>
            <a:normAutofit fontScale="90000"/>
          </a:bodyPr>
          <a:lstStyle/>
          <a:p>
            <a:r>
              <a:rPr lang="it-IT" dirty="0" smtClean="0"/>
              <a:t>Chiamate tra costruttori</a:t>
            </a:r>
            <a:br>
              <a:rPr lang="it-IT" dirty="0" smtClean="0"/>
            </a:br>
            <a:r>
              <a:rPr lang="it-IT" i="1" dirty="0" err="1" smtClean="0"/>
              <a:t>Constructor</a:t>
            </a:r>
            <a:r>
              <a:rPr lang="it-IT" i="1" dirty="0" smtClean="0"/>
              <a:t> </a:t>
            </a:r>
            <a:r>
              <a:rPr lang="it-IT" i="1" dirty="0" err="1" smtClean="0"/>
              <a:t>chaining</a:t>
            </a:r>
            <a:r>
              <a:rPr lang="it-IT" i="1" dirty="0" smtClean="0"/>
              <a:t> </a:t>
            </a:r>
            <a:r>
              <a:rPr lang="it-IT" dirty="0" smtClean="0"/>
              <a:t>(1/2)</a:t>
            </a:r>
            <a:endParaRPr lang="it-IT" dirty="0"/>
          </a:p>
        </p:txBody>
      </p:sp>
    </p:spTree>
    <p:extLst>
      <p:ext uri="{BB962C8B-B14F-4D97-AF65-F5344CB8AC3E}">
        <p14:creationId xmlns:p14="http://schemas.microsoft.com/office/powerpoint/2010/main" val="190078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lstStyle/>
          <a:p>
            <a:r>
              <a:rPr lang="it-IT" dirty="0" smtClean="0"/>
              <a:t>Spesso, per evitare ridondanze nel codice, si usa create una </a:t>
            </a:r>
            <a:r>
              <a:rPr lang="it-IT" i="1" dirty="0" smtClean="0"/>
              <a:t>catena</a:t>
            </a:r>
            <a:r>
              <a:rPr lang="it-IT" dirty="0" smtClean="0"/>
              <a:t> di invocazioni tra i costruttori, con il più generico che man mano chiama il più specifico, in modo che alla fine l’esecuzione passi in ogni caso per il costruttore più specifico dove si possono centralizzare delle istruzioni comuni</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19</a:t>
            </a:fld>
            <a:endParaRPr lang="it-IT"/>
          </a:p>
        </p:txBody>
      </p:sp>
      <p:sp>
        <p:nvSpPr>
          <p:cNvPr id="4" name="Titolo 3"/>
          <p:cNvSpPr>
            <a:spLocks noGrp="1"/>
          </p:cNvSpPr>
          <p:nvPr>
            <p:ph type="title"/>
          </p:nvPr>
        </p:nvSpPr>
        <p:spPr/>
        <p:txBody>
          <a:bodyPr>
            <a:normAutofit fontScale="90000"/>
          </a:bodyPr>
          <a:lstStyle/>
          <a:p>
            <a:r>
              <a:rPr lang="it-IT" dirty="0"/>
              <a:t>Chiamate tra costruttori</a:t>
            </a:r>
            <a:br>
              <a:rPr lang="it-IT" dirty="0"/>
            </a:br>
            <a:r>
              <a:rPr lang="it-IT" i="1" dirty="0" err="1"/>
              <a:t>Constructor</a:t>
            </a:r>
            <a:r>
              <a:rPr lang="it-IT" i="1" dirty="0"/>
              <a:t> </a:t>
            </a:r>
            <a:r>
              <a:rPr lang="it-IT" i="1" dirty="0" err="1"/>
              <a:t>chaining</a:t>
            </a:r>
            <a:r>
              <a:rPr lang="it-IT" i="1" dirty="0"/>
              <a:t> </a:t>
            </a:r>
            <a:r>
              <a:rPr lang="it-IT" dirty="0" smtClean="0"/>
              <a:t>(2/2</a:t>
            </a:r>
            <a:r>
              <a:rPr lang="it-IT" dirty="0"/>
              <a:t>)</a:t>
            </a:r>
          </a:p>
        </p:txBody>
      </p:sp>
    </p:spTree>
    <p:extLst>
      <p:ext uri="{BB962C8B-B14F-4D97-AF65-F5344CB8AC3E}">
        <p14:creationId xmlns:p14="http://schemas.microsoft.com/office/powerpoint/2010/main" val="1884546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a:bodyPr>
          <a:lstStyle/>
          <a:p>
            <a:r>
              <a:rPr lang="it-IT" dirty="0" smtClean="0"/>
              <a:t>In una classe si può inizializzare il valore degli attributi contestualmente alla loro dichiarazione:</a:t>
            </a:r>
          </a:p>
          <a:p>
            <a:pPr marL="301943" lvl="1" indent="0">
              <a:buNone/>
            </a:pPr>
            <a:r>
              <a:rPr lang="it-IT" sz="1800" i="1" dirty="0"/>
              <a:t>private </a:t>
            </a:r>
            <a:r>
              <a:rPr lang="it-IT" sz="1800" i="1" dirty="0" err="1"/>
              <a:t>String</a:t>
            </a:r>
            <a:r>
              <a:rPr lang="it-IT" sz="1800" i="1" dirty="0"/>
              <a:t> docente = "</a:t>
            </a:r>
            <a:r>
              <a:rPr lang="it-IT" sz="1800" i="1" dirty="0" err="1"/>
              <a:t>DocenteA</a:t>
            </a:r>
            <a:r>
              <a:rPr lang="it-IT" sz="1800" i="1" dirty="0"/>
              <a:t>";</a:t>
            </a:r>
          </a:p>
          <a:p>
            <a:endParaRPr lang="it-IT" dirty="0" smtClean="0"/>
          </a:p>
          <a:p>
            <a:r>
              <a:rPr lang="it-IT" dirty="0" smtClean="0"/>
              <a:t>inoltre si possono creare dei blocchi espliciti di inizializzazione, ovvero blocchi di codice compresi tra le parentesi graffe ed esterni a qualsiasi metodo:</a:t>
            </a:r>
          </a:p>
          <a:p>
            <a:pPr marL="301943" lvl="1" indent="0">
              <a:buNone/>
            </a:pPr>
            <a:r>
              <a:rPr lang="it-IT" sz="1800" i="1" dirty="0"/>
              <a:t>{</a:t>
            </a:r>
          </a:p>
          <a:p>
            <a:pPr marL="301943" lvl="1" indent="0">
              <a:buNone/>
            </a:pPr>
            <a:r>
              <a:rPr lang="it-IT" sz="1800" i="1" dirty="0" smtClean="0"/>
              <a:t>	crediti </a:t>
            </a:r>
            <a:r>
              <a:rPr lang="it-IT" sz="1800" i="1" dirty="0"/>
              <a:t>= 15;</a:t>
            </a:r>
          </a:p>
          <a:p>
            <a:pPr marL="301943" lvl="1" indent="0">
              <a:buNone/>
            </a:pPr>
            <a:r>
              <a:rPr lang="it-IT" sz="1800" i="1" dirty="0" smtClean="0"/>
              <a:t>	</a:t>
            </a:r>
            <a:r>
              <a:rPr lang="it-IT" sz="1800" i="1" dirty="0" err="1" smtClean="0"/>
              <a:t>variabileDaInizializzareInOgniCaso</a:t>
            </a:r>
            <a:r>
              <a:rPr lang="it-IT" sz="1800" i="1" dirty="0" smtClean="0"/>
              <a:t> </a:t>
            </a:r>
            <a:r>
              <a:rPr lang="it-IT" sz="1800" i="1" dirty="0"/>
              <a:t>= "Valore di partenza";</a:t>
            </a:r>
          </a:p>
          <a:p>
            <a:pPr marL="301943" lvl="1" indent="0">
              <a:buNone/>
            </a:pPr>
            <a:r>
              <a:rPr lang="it-IT" sz="1800" i="1" dirty="0"/>
              <a:t>}</a:t>
            </a:r>
            <a:endParaRPr lang="it-IT" sz="1800" i="1" dirty="0" smtClean="0"/>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20</a:t>
            </a:fld>
            <a:endParaRPr lang="it-IT"/>
          </a:p>
        </p:txBody>
      </p:sp>
      <p:sp>
        <p:nvSpPr>
          <p:cNvPr id="4" name="Titolo 3"/>
          <p:cNvSpPr>
            <a:spLocks noGrp="1"/>
          </p:cNvSpPr>
          <p:nvPr>
            <p:ph type="title"/>
          </p:nvPr>
        </p:nvSpPr>
        <p:spPr/>
        <p:txBody>
          <a:bodyPr>
            <a:normAutofit fontScale="90000"/>
          </a:bodyPr>
          <a:lstStyle/>
          <a:p>
            <a:r>
              <a:rPr lang="it-IT" dirty="0" smtClean="0"/>
              <a:t>Inizializzazione di attributi e</a:t>
            </a:r>
            <a:br>
              <a:rPr lang="it-IT" dirty="0" smtClean="0"/>
            </a:br>
            <a:r>
              <a:rPr lang="it-IT" dirty="0" smtClean="0"/>
              <a:t>blocchi di inizializzazione (1/2) </a:t>
            </a:r>
            <a:endParaRPr lang="it-IT" dirty="0"/>
          </a:p>
        </p:txBody>
      </p:sp>
    </p:spTree>
    <p:extLst>
      <p:ext uri="{BB962C8B-B14F-4D97-AF65-F5344CB8AC3E}">
        <p14:creationId xmlns:p14="http://schemas.microsoft.com/office/powerpoint/2010/main" val="690542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lstStyle/>
          <a:p>
            <a:r>
              <a:rPr lang="it-IT" dirty="0" smtClean="0"/>
              <a:t>Se esistono inizializzazioni di attributi e blocchi di inizializzazione, l’ordine con cui Java istanzia un oggetto è:</a:t>
            </a:r>
          </a:p>
          <a:p>
            <a:pPr marL="759143" lvl="1" indent="-457200">
              <a:buFont typeface="+mj-lt"/>
              <a:buAutoNum type="arabicPeriod"/>
            </a:pPr>
            <a:r>
              <a:rPr lang="it-IT" dirty="0" smtClean="0"/>
              <a:t>inizializzazioni attributi e blocchi di inizializzazioni, nell’ordine in cui sono scritti partendo dall’alto</a:t>
            </a:r>
          </a:p>
          <a:p>
            <a:pPr marL="759143" lvl="1" indent="-457200">
              <a:buFont typeface="+mj-lt"/>
              <a:buAutoNum type="arabicPeriod"/>
            </a:pPr>
            <a:r>
              <a:rPr lang="it-IT" dirty="0" smtClean="0"/>
              <a:t>costruttore</a:t>
            </a:r>
          </a:p>
          <a:p>
            <a:pPr marL="759143" lvl="1" indent="-457200">
              <a:buFont typeface="+mj-lt"/>
              <a:buAutoNum type="arabicPeriod"/>
            </a:pPr>
            <a:endParaRPr lang="it-IT" dirty="0" smtClean="0"/>
          </a:p>
          <a:p>
            <a:pPr marL="759143" lvl="1" indent="-457200">
              <a:buFont typeface="+mj-lt"/>
              <a:buAutoNum type="arabicPeriod"/>
            </a:pP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21</a:t>
            </a:fld>
            <a:endParaRPr lang="it-IT"/>
          </a:p>
        </p:txBody>
      </p:sp>
      <p:sp>
        <p:nvSpPr>
          <p:cNvPr id="4" name="Titolo 3"/>
          <p:cNvSpPr>
            <a:spLocks noGrp="1"/>
          </p:cNvSpPr>
          <p:nvPr>
            <p:ph type="title"/>
          </p:nvPr>
        </p:nvSpPr>
        <p:spPr/>
        <p:txBody>
          <a:bodyPr>
            <a:normAutofit fontScale="90000"/>
          </a:bodyPr>
          <a:lstStyle/>
          <a:p>
            <a:r>
              <a:rPr lang="it-IT" dirty="0"/>
              <a:t>Inizializzazione di attributi e</a:t>
            </a:r>
            <a:br>
              <a:rPr lang="it-IT" dirty="0"/>
            </a:br>
            <a:r>
              <a:rPr lang="it-IT" dirty="0"/>
              <a:t>blocchi di inizializzazione </a:t>
            </a:r>
            <a:r>
              <a:rPr lang="it-IT" dirty="0" smtClean="0"/>
              <a:t>(2/2</a:t>
            </a:r>
            <a:r>
              <a:rPr lang="it-IT" dirty="0"/>
              <a:t>)</a:t>
            </a:r>
          </a:p>
        </p:txBody>
      </p:sp>
    </p:spTree>
    <p:extLst>
      <p:ext uri="{BB962C8B-B14F-4D97-AF65-F5344CB8AC3E}">
        <p14:creationId xmlns:p14="http://schemas.microsoft.com/office/powerpoint/2010/main" val="1670197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060848"/>
            <a:ext cx="7408333" cy="4065315"/>
          </a:xfrm>
        </p:spPr>
        <p:txBody>
          <a:bodyPr/>
          <a:lstStyle/>
          <a:p>
            <a:r>
              <a:rPr lang="it-IT" sz="2600" dirty="0"/>
              <a:t>Dopo che un oggetto è </a:t>
            </a:r>
            <a:r>
              <a:rPr lang="it-IT" sz="2600" dirty="0" smtClean="0"/>
              <a:t>stato dichiarato ed </a:t>
            </a:r>
            <a:r>
              <a:rPr lang="it-IT" sz="2600" dirty="0"/>
              <a:t>istanziato è possibile iniziare ad </a:t>
            </a:r>
            <a:r>
              <a:rPr lang="it-IT" sz="2600" dirty="0" smtClean="0"/>
              <a:t>utilizzarlo</a:t>
            </a:r>
            <a:endParaRPr lang="it-IT" sz="3400" dirty="0"/>
          </a:p>
          <a:p>
            <a:r>
              <a:rPr lang="it-IT" sz="2600" dirty="0"/>
              <a:t>Si può quindi accedere (se i qualificatori di accesso lo consentono) ed operare sugli attributi e/o sui metodi </a:t>
            </a:r>
            <a:r>
              <a:rPr lang="it-IT" sz="2600" dirty="0" smtClean="0"/>
              <a:t>dell’oggetto</a:t>
            </a:r>
            <a:endParaRPr lang="it-IT" sz="3400" dirty="0"/>
          </a:p>
          <a:p>
            <a:r>
              <a:rPr lang="it-IT" dirty="0"/>
              <a:t>Per accedere ai membri (attributi e metodi) di un oggetto si usa la cosiddetta </a:t>
            </a:r>
            <a:r>
              <a:rPr lang="it-IT" dirty="0" err="1"/>
              <a:t>dotted</a:t>
            </a:r>
            <a:r>
              <a:rPr lang="it-IT" dirty="0"/>
              <a:t> </a:t>
            </a:r>
            <a:r>
              <a:rPr lang="it-IT" dirty="0" err="1"/>
              <a:t>notation</a:t>
            </a:r>
            <a:r>
              <a:rPr lang="it-IT" dirty="0"/>
              <a:t> (notazione con punto), ovvero il nome dell’oggetto seguito dal carattere . (punto) e quindi dal nome del </a:t>
            </a:r>
            <a:r>
              <a:rPr lang="it-IT" dirty="0" smtClean="0"/>
              <a:t>membro</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22</a:t>
            </a:fld>
            <a:endParaRPr lang="it-IT"/>
          </a:p>
        </p:txBody>
      </p:sp>
      <p:sp>
        <p:nvSpPr>
          <p:cNvPr id="4" name="Titolo 3"/>
          <p:cNvSpPr>
            <a:spLocks noGrp="1"/>
          </p:cNvSpPr>
          <p:nvPr>
            <p:ph type="title"/>
          </p:nvPr>
        </p:nvSpPr>
        <p:spPr/>
        <p:txBody>
          <a:bodyPr>
            <a:normAutofit fontScale="90000"/>
          </a:bodyPr>
          <a:lstStyle/>
          <a:p>
            <a:r>
              <a:rPr lang="it-IT" dirty="0" smtClean="0"/>
              <a:t>Utilizzo di oggetti</a:t>
            </a:r>
            <a:br>
              <a:rPr lang="it-IT" dirty="0" smtClean="0"/>
            </a:br>
            <a:r>
              <a:rPr lang="it-IT" dirty="0" err="1" smtClean="0"/>
              <a:t>Dotted</a:t>
            </a:r>
            <a:r>
              <a:rPr lang="it-IT" dirty="0" smtClean="0"/>
              <a:t> </a:t>
            </a:r>
            <a:r>
              <a:rPr lang="it-IT" dirty="0" err="1" smtClean="0"/>
              <a:t>notation</a:t>
            </a:r>
            <a:endParaRPr lang="it-IT" dirty="0"/>
          </a:p>
        </p:txBody>
      </p:sp>
    </p:spTree>
    <p:extLst>
      <p:ext uri="{BB962C8B-B14F-4D97-AF65-F5344CB8AC3E}">
        <p14:creationId xmlns:p14="http://schemas.microsoft.com/office/powerpoint/2010/main" val="3212877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700808"/>
            <a:ext cx="7408333" cy="4425355"/>
          </a:xfrm>
        </p:spPr>
        <p:txBody>
          <a:bodyPr>
            <a:normAutofit fontScale="92500" lnSpcReduction="20000"/>
          </a:bodyPr>
          <a:lstStyle/>
          <a:p>
            <a:r>
              <a:rPr lang="it-IT" dirty="0" smtClean="0"/>
              <a:t>Supponendo di avere la classe </a:t>
            </a:r>
            <a:r>
              <a:rPr lang="it-IT" i="1" dirty="0" smtClean="0"/>
              <a:t>Corso </a:t>
            </a:r>
            <a:r>
              <a:rPr lang="it-IT" dirty="0" smtClean="0"/>
              <a:t>così fatta:</a:t>
            </a:r>
          </a:p>
          <a:p>
            <a:pPr marL="0" indent="0">
              <a:buNone/>
            </a:pPr>
            <a:r>
              <a:rPr lang="it-IT" dirty="0" smtClean="0"/>
              <a:t>     </a:t>
            </a:r>
            <a:r>
              <a:rPr lang="it-IT" sz="1800" i="1" dirty="0" smtClean="0"/>
              <a:t>public </a:t>
            </a:r>
            <a:r>
              <a:rPr lang="it-IT" sz="1800" i="1" dirty="0" err="1" smtClean="0"/>
              <a:t>class</a:t>
            </a:r>
            <a:r>
              <a:rPr lang="it-IT" sz="1800" i="1" dirty="0" smtClean="0"/>
              <a:t> Corso {</a:t>
            </a:r>
          </a:p>
          <a:p>
            <a:pPr marL="0" indent="0">
              <a:buNone/>
            </a:pPr>
            <a:r>
              <a:rPr lang="it-IT" sz="1800" i="1" dirty="0"/>
              <a:t>	</a:t>
            </a:r>
            <a:r>
              <a:rPr lang="it-IT" sz="1800" i="1" dirty="0" smtClean="0"/>
              <a:t>private </a:t>
            </a:r>
            <a:r>
              <a:rPr lang="it-IT" sz="1800" i="1" dirty="0" err="1" smtClean="0"/>
              <a:t>String</a:t>
            </a:r>
            <a:r>
              <a:rPr lang="it-IT" sz="1800" i="1" dirty="0" smtClean="0"/>
              <a:t> docente;</a:t>
            </a:r>
          </a:p>
          <a:p>
            <a:pPr marL="0" indent="0">
              <a:buNone/>
            </a:pPr>
            <a:r>
              <a:rPr lang="it-IT" sz="1800" i="1" dirty="0"/>
              <a:t>	</a:t>
            </a:r>
            <a:r>
              <a:rPr lang="it-IT" sz="1800" i="1" dirty="0" smtClean="0"/>
              <a:t>public Corso(){</a:t>
            </a:r>
          </a:p>
          <a:p>
            <a:pPr marL="0" indent="0">
              <a:buNone/>
            </a:pPr>
            <a:r>
              <a:rPr lang="it-IT" sz="1800" i="1" dirty="0"/>
              <a:t>	</a:t>
            </a:r>
            <a:r>
              <a:rPr lang="it-IT" sz="1800" i="1" dirty="0" smtClean="0"/>
              <a:t>	docente </a:t>
            </a:r>
            <a:r>
              <a:rPr lang="it-IT" sz="1800" i="1" dirty="0"/>
              <a:t>= "Carlo</a:t>
            </a:r>
            <a:r>
              <a:rPr lang="it-IT" sz="1800" i="1" dirty="0" smtClean="0"/>
              <a:t>";</a:t>
            </a:r>
          </a:p>
          <a:p>
            <a:pPr marL="0" indent="0">
              <a:buNone/>
            </a:pPr>
            <a:r>
              <a:rPr lang="it-IT" sz="1800" i="1" dirty="0"/>
              <a:t>	</a:t>
            </a:r>
            <a:r>
              <a:rPr lang="it-IT" sz="1800" i="1" dirty="0" smtClean="0"/>
              <a:t>}</a:t>
            </a:r>
          </a:p>
          <a:p>
            <a:pPr marL="0" indent="0">
              <a:buNone/>
            </a:pPr>
            <a:r>
              <a:rPr lang="it-IT" sz="1800" i="1" dirty="0"/>
              <a:t>	</a:t>
            </a:r>
            <a:r>
              <a:rPr lang="it-IT" sz="1800" i="1" dirty="0" smtClean="0"/>
              <a:t>public Corso(</a:t>
            </a:r>
            <a:r>
              <a:rPr lang="it-IT" sz="1800" i="1" dirty="0" err="1" smtClean="0"/>
              <a:t>String</a:t>
            </a:r>
            <a:r>
              <a:rPr lang="it-IT" sz="1800" i="1" dirty="0" smtClean="0"/>
              <a:t> docente){</a:t>
            </a:r>
          </a:p>
          <a:p>
            <a:pPr marL="0" indent="0">
              <a:buNone/>
            </a:pPr>
            <a:r>
              <a:rPr lang="it-IT" sz="1800" i="1" dirty="0"/>
              <a:t>	</a:t>
            </a:r>
            <a:r>
              <a:rPr lang="it-IT" sz="1800" i="1" dirty="0" smtClean="0"/>
              <a:t>	</a:t>
            </a:r>
            <a:r>
              <a:rPr lang="it-IT" sz="1800" i="1" dirty="0" err="1" smtClean="0"/>
              <a:t>this.docente</a:t>
            </a:r>
            <a:r>
              <a:rPr lang="it-IT" sz="1800" i="1" dirty="0" smtClean="0"/>
              <a:t> = docente;</a:t>
            </a:r>
          </a:p>
          <a:p>
            <a:pPr marL="0" indent="0">
              <a:buNone/>
            </a:pPr>
            <a:r>
              <a:rPr lang="it-IT" sz="1800" i="1" dirty="0"/>
              <a:t>	</a:t>
            </a:r>
            <a:r>
              <a:rPr lang="it-IT" sz="1800" i="1" dirty="0" smtClean="0"/>
              <a:t>}</a:t>
            </a:r>
          </a:p>
          <a:p>
            <a:pPr marL="0" indent="0">
              <a:buNone/>
            </a:pPr>
            <a:r>
              <a:rPr lang="it-IT" sz="1800" i="1" dirty="0"/>
              <a:t>	</a:t>
            </a:r>
            <a:r>
              <a:rPr lang="it-IT" sz="1800" i="1" dirty="0" smtClean="0"/>
              <a:t>public </a:t>
            </a:r>
            <a:r>
              <a:rPr lang="it-IT" sz="1800" i="1" dirty="0" err="1" smtClean="0"/>
              <a:t>String</a:t>
            </a:r>
            <a:r>
              <a:rPr lang="it-IT" sz="1800" i="1" dirty="0" smtClean="0"/>
              <a:t> </a:t>
            </a:r>
            <a:r>
              <a:rPr lang="it-IT" sz="1800" i="1" dirty="0" err="1" smtClean="0"/>
              <a:t>getDocente</a:t>
            </a:r>
            <a:r>
              <a:rPr lang="it-IT" sz="1800" i="1" dirty="0" smtClean="0"/>
              <a:t>(){</a:t>
            </a:r>
          </a:p>
          <a:p>
            <a:pPr marL="0" indent="0">
              <a:buNone/>
            </a:pPr>
            <a:r>
              <a:rPr lang="it-IT" sz="1800" i="1" dirty="0"/>
              <a:t>	</a:t>
            </a:r>
            <a:r>
              <a:rPr lang="it-IT" sz="1800" i="1" dirty="0" smtClean="0"/>
              <a:t>	</a:t>
            </a:r>
            <a:r>
              <a:rPr lang="it-IT" sz="1800" i="1" dirty="0" err="1" smtClean="0"/>
              <a:t>return</a:t>
            </a:r>
            <a:r>
              <a:rPr lang="it-IT" sz="1800" i="1" dirty="0" smtClean="0"/>
              <a:t> docente;</a:t>
            </a:r>
          </a:p>
          <a:p>
            <a:pPr marL="0" indent="0">
              <a:buNone/>
            </a:pPr>
            <a:r>
              <a:rPr lang="it-IT" sz="1800" i="1" dirty="0" smtClean="0"/>
              <a:t>	}</a:t>
            </a:r>
          </a:p>
          <a:p>
            <a:pPr marL="0" indent="0">
              <a:buNone/>
            </a:pPr>
            <a:r>
              <a:rPr lang="it-IT" sz="1800" i="1" dirty="0"/>
              <a:t>	</a:t>
            </a:r>
            <a:r>
              <a:rPr lang="it-IT" sz="1800" i="1" dirty="0" smtClean="0"/>
              <a:t>public </a:t>
            </a:r>
            <a:r>
              <a:rPr lang="it-IT" sz="1800" i="1" dirty="0" err="1" smtClean="0"/>
              <a:t>void</a:t>
            </a:r>
            <a:r>
              <a:rPr lang="it-IT" sz="1800" i="1" dirty="0" smtClean="0"/>
              <a:t> </a:t>
            </a:r>
            <a:r>
              <a:rPr lang="it-IT" sz="1800" i="1" dirty="0" err="1" smtClean="0"/>
              <a:t>setDocente</a:t>
            </a:r>
            <a:r>
              <a:rPr lang="it-IT" sz="1800" i="1" dirty="0" smtClean="0"/>
              <a:t>(</a:t>
            </a:r>
            <a:r>
              <a:rPr lang="it-IT" sz="1800" i="1" dirty="0" err="1" smtClean="0"/>
              <a:t>String</a:t>
            </a:r>
            <a:r>
              <a:rPr lang="it-IT" sz="1800" i="1" dirty="0" smtClean="0"/>
              <a:t> docente) {</a:t>
            </a:r>
          </a:p>
          <a:p>
            <a:pPr marL="0" indent="0">
              <a:buNone/>
            </a:pPr>
            <a:r>
              <a:rPr lang="it-IT" sz="1800" i="1" dirty="0"/>
              <a:t>	</a:t>
            </a:r>
            <a:r>
              <a:rPr lang="it-IT" sz="1800" i="1" dirty="0" smtClean="0"/>
              <a:t>	</a:t>
            </a:r>
            <a:r>
              <a:rPr lang="it-IT" sz="1800" i="1" dirty="0" err="1" smtClean="0"/>
              <a:t>this.docente</a:t>
            </a:r>
            <a:r>
              <a:rPr lang="it-IT" sz="1800" i="1" dirty="0" smtClean="0"/>
              <a:t> = docente;</a:t>
            </a:r>
          </a:p>
          <a:p>
            <a:pPr marL="0" indent="0">
              <a:buNone/>
            </a:pPr>
            <a:r>
              <a:rPr lang="it-IT" sz="1800" i="1" dirty="0"/>
              <a:t>	</a:t>
            </a:r>
            <a:r>
              <a:rPr lang="it-IT" sz="1800" i="1" dirty="0" smtClean="0"/>
              <a:t>}</a:t>
            </a:r>
          </a:p>
          <a:p>
            <a:pPr marL="0" indent="0">
              <a:buNone/>
            </a:pPr>
            <a:r>
              <a:rPr lang="it-IT" sz="1800" i="1" dirty="0"/>
              <a:t> </a:t>
            </a:r>
            <a:r>
              <a:rPr lang="it-IT" sz="1800" i="1" dirty="0" smtClean="0"/>
              <a:t>   }</a:t>
            </a:r>
          </a:p>
        </p:txBody>
      </p:sp>
      <p:sp>
        <p:nvSpPr>
          <p:cNvPr id="3" name="Segnaposto numero diapositiva 2"/>
          <p:cNvSpPr>
            <a:spLocks noGrp="1"/>
          </p:cNvSpPr>
          <p:nvPr>
            <p:ph type="sldNum" sz="quarter" idx="12"/>
          </p:nvPr>
        </p:nvSpPr>
        <p:spPr/>
        <p:txBody>
          <a:bodyPr/>
          <a:lstStyle/>
          <a:p>
            <a:fld id="{E7A41E1B-4F70-4964-A407-84C68BE8251C}" type="slidenum">
              <a:rPr lang="it-IT" smtClean="0"/>
              <a:t>23</a:t>
            </a:fld>
            <a:endParaRPr lang="it-IT"/>
          </a:p>
        </p:txBody>
      </p:sp>
      <p:sp>
        <p:nvSpPr>
          <p:cNvPr id="4" name="Titolo 3"/>
          <p:cNvSpPr>
            <a:spLocks noGrp="1"/>
          </p:cNvSpPr>
          <p:nvPr>
            <p:ph type="title"/>
          </p:nvPr>
        </p:nvSpPr>
        <p:spPr/>
        <p:txBody>
          <a:bodyPr/>
          <a:lstStyle/>
          <a:p>
            <a:r>
              <a:rPr lang="it-IT" dirty="0" smtClean="0"/>
              <a:t>Esempio di uso di oggetti (1/3)</a:t>
            </a:r>
            <a:endParaRPr lang="it-IT" dirty="0"/>
          </a:p>
        </p:txBody>
      </p:sp>
    </p:spTree>
    <p:extLst>
      <p:ext uri="{BB962C8B-B14F-4D97-AF65-F5344CB8AC3E}">
        <p14:creationId xmlns:p14="http://schemas.microsoft.com/office/powerpoint/2010/main" val="2243848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fontScale="92500" lnSpcReduction="10000"/>
          </a:bodyPr>
          <a:lstStyle/>
          <a:p>
            <a:r>
              <a:rPr lang="it-IT" dirty="0" smtClean="0"/>
              <a:t>in un qualche altra classe del nostro progetto (</a:t>
            </a:r>
            <a:r>
              <a:rPr lang="it-IT" dirty="0"/>
              <a:t>codice </a:t>
            </a:r>
            <a:r>
              <a:rPr lang="it-IT" dirty="0" smtClean="0"/>
              <a:t>chiamante) potremmo creare oggetti di classe «Corso» nel seguente modo:</a:t>
            </a:r>
          </a:p>
          <a:p>
            <a:pPr marL="325120" lvl="2" indent="0">
              <a:buNone/>
            </a:pPr>
            <a:r>
              <a:rPr lang="it-IT" i="1" dirty="0" smtClean="0"/>
              <a:t>Corso </a:t>
            </a:r>
            <a:r>
              <a:rPr lang="it-IT" i="1" dirty="0" err="1"/>
              <a:t>oggettoCorso</a:t>
            </a:r>
            <a:r>
              <a:rPr lang="it-IT" i="1" dirty="0"/>
              <a:t> = new Corso</a:t>
            </a:r>
            <a:r>
              <a:rPr lang="it-IT" i="1" dirty="0" smtClean="0"/>
              <a:t>();</a:t>
            </a:r>
          </a:p>
          <a:p>
            <a:pPr marL="86677" indent="-342900"/>
            <a:r>
              <a:rPr lang="it-IT" dirty="0" smtClean="0"/>
              <a:t>in questo momento «</a:t>
            </a:r>
            <a:r>
              <a:rPr lang="it-IT" dirty="0" err="1" smtClean="0"/>
              <a:t>oggettoCorso</a:t>
            </a:r>
            <a:r>
              <a:rPr lang="it-IT" dirty="0" smtClean="0"/>
              <a:t>» ha l’attributo «docente» valorizzato con «Carlo»</a:t>
            </a:r>
          </a:p>
          <a:p>
            <a:pPr marL="86677" indent="-342900"/>
            <a:r>
              <a:rPr lang="it-IT" dirty="0" smtClean="0"/>
              <a:t>successivamente potremmo usare «</a:t>
            </a:r>
            <a:r>
              <a:rPr lang="it-IT" dirty="0" err="1" smtClean="0"/>
              <a:t>oggettoCorso</a:t>
            </a:r>
            <a:r>
              <a:rPr lang="it-IT" dirty="0" smtClean="0"/>
              <a:t>»:</a:t>
            </a:r>
          </a:p>
          <a:p>
            <a:pPr marL="279400" lvl="2" indent="0">
              <a:buNone/>
            </a:pPr>
            <a:r>
              <a:rPr lang="it-IT" i="1" dirty="0" err="1"/>
              <a:t>oggettoCorso.setDocente</a:t>
            </a:r>
            <a:r>
              <a:rPr lang="it-IT" i="1" dirty="0"/>
              <a:t>(“Paolo Gialli”); </a:t>
            </a:r>
            <a:endParaRPr lang="it-IT" i="1" dirty="0" smtClean="0"/>
          </a:p>
          <a:p>
            <a:pPr marL="40957" indent="-342900"/>
            <a:r>
              <a:rPr lang="it-IT" dirty="0" smtClean="0"/>
              <a:t>in questo momento «</a:t>
            </a:r>
            <a:r>
              <a:rPr lang="it-IT" dirty="0" err="1" smtClean="0"/>
              <a:t>oggettoCorso</a:t>
            </a:r>
            <a:r>
              <a:rPr lang="it-IT" dirty="0" smtClean="0"/>
              <a:t>» ha l’attributo «docente» valorizzato con «Paolo Gialli»</a:t>
            </a:r>
          </a:p>
          <a:p>
            <a:pPr marL="279400" lvl="2" indent="0">
              <a:buNone/>
            </a:pPr>
            <a:r>
              <a:rPr lang="it-IT" i="1" dirty="0" err="1" smtClean="0"/>
              <a:t>String</a:t>
            </a:r>
            <a:r>
              <a:rPr lang="it-IT" i="1" dirty="0" smtClean="0"/>
              <a:t> </a:t>
            </a:r>
            <a:r>
              <a:rPr lang="it-IT" i="1" dirty="0"/>
              <a:t>s = </a:t>
            </a:r>
            <a:r>
              <a:rPr lang="it-IT" i="1" dirty="0" err="1"/>
              <a:t>oggettoCorso.getDocente</a:t>
            </a:r>
            <a:r>
              <a:rPr lang="it-IT" i="1" dirty="0" smtClean="0"/>
              <a:t>();</a:t>
            </a:r>
          </a:p>
          <a:p>
            <a:r>
              <a:rPr lang="it-IT" dirty="0" smtClean="0"/>
              <a:t>a questo punto la stringa «s» sarà uguale a «Paolo Gialli»</a:t>
            </a:r>
            <a:endParaRPr lang="it-IT" dirty="0"/>
          </a:p>
          <a:p>
            <a:pPr marL="40957" indent="-342900"/>
            <a:endParaRPr lang="it-IT" dirty="0" smtClean="0"/>
          </a:p>
          <a:p>
            <a:pPr marL="457200" lvl="1" indent="-457200"/>
            <a:endParaRPr lang="it-IT" sz="3200" b="1" dirty="0"/>
          </a:p>
          <a:p>
            <a:pPr marL="86677" indent="-342900"/>
            <a:endParaRPr lang="it-IT" dirty="0" smtClean="0"/>
          </a:p>
          <a:p>
            <a:pPr marL="388620" lvl="1" indent="-342900"/>
            <a:endParaRPr lang="it-IT" sz="2400" dirty="0"/>
          </a:p>
          <a:p>
            <a:endParaRPr lang="it-IT" dirty="0" smtClean="0"/>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24</a:t>
            </a:fld>
            <a:endParaRPr lang="it-IT"/>
          </a:p>
        </p:txBody>
      </p:sp>
      <p:sp>
        <p:nvSpPr>
          <p:cNvPr id="4" name="Titolo 3"/>
          <p:cNvSpPr>
            <a:spLocks noGrp="1"/>
          </p:cNvSpPr>
          <p:nvPr>
            <p:ph type="title"/>
          </p:nvPr>
        </p:nvSpPr>
        <p:spPr/>
        <p:txBody>
          <a:bodyPr/>
          <a:lstStyle/>
          <a:p>
            <a:r>
              <a:rPr lang="it-IT" dirty="0"/>
              <a:t>Esempio di uso di oggetti </a:t>
            </a:r>
            <a:r>
              <a:rPr lang="it-IT" dirty="0" smtClean="0"/>
              <a:t>(2/3</a:t>
            </a:r>
            <a:r>
              <a:rPr lang="it-IT" dirty="0"/>
              <a:t>)</a:t>
            </a:r>
          </a:p>
        </p:txBody>
      </p:sp>
    </p:spTree>
    <p:extLst>
      <p:ext uri="{BB962C8B-B14F-4D97-AF65-F5344CB8AC3E}">
        <p14:creationId xmlns:p14="http://schemas.microsoft.com/office/powerpoint/2010/main" val="3633117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lstStyle/>
          <a:p>
            <a:r>
              <a:rPr lang="it-IT" dirty="0" smtClean="0"/>
              <a:t>Con la «</a:t>
            </a:r>
            <a:r>
              <a:rPr lang="it-IT" dirty="0" err="1" smtClean="0"/>
              <a:t>dotted</a:t>
            </a:r>
            <a:r>
              <a:rPr lang="it-IT" dirty="0" smtClean="0"/>
              <a:t>» </a:t>
            </a:r>
            <a:r>
              <a:rPr lang="it-IT" dirty="0" err="1" smtClean="0"/>
              <a:t>notation</a:t>
            </a:r>
            <a:r>
              <a:rPr lang="it-IT" dirty="0" smtClean="0"/>
              <a:t> potremmo anche accedere agli attributi della classe «Corso» se fossero public. Es.: </a:t>
            </a:r>
          </a:p>
          <a:p>
            <a:pPr marL="301943" lvl="1" indent="0">
              <a:buNone/>
            </a:pPr>
            <a:r>
              <a:rPr lang="it-IT" i="1" dirty="0" err="1" smtClean="0"/>
              <a:t>oggettoCorso.docente</a:t>
            </a:r>
            <a:r>
              <a:rPr lang="it-IT" i="1" dirty="0" smtClean="0"/>
              <a:t> </a:t>
            </a:r>
            <a:r>
              <a:rPr lang="it-IT" i="1" dirty="0"/>
              <a:t>= "Gianni Bianchi";</a:t>
            </a:r>
            <a:endParaRPr lang="it-IT" i="1" dirty="0" smtClean="0"/>
          </a:p>
          <a:p>
            <a:r>
              <a:rPr lang="it-IT" dirty="0" smtClean="0"/>
              <a:t>nel caso specifico dell’esempio visto prima, l’istruzione precedente darebbe errore di compilazione perché l’attributo «docente» è private</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25</a:t>
            </a:fld>
            <a:endParaRPr lang="it-IT"/>
          </a:p>
        </p:txBody>
      </p:sp>
      <p:sp>
        <p:nvSpPr>
          <p:cNvPr id="4" name="Titolo 3"/>
          <p:cNvSpPr>
            <a:spLocks noGrp="1"/>
          </p:cNvSpPr>
          <p:nvPr>
            <p:ph type="title"/>
          </p:nvPr>
        </p:nvSpPr>
        <p:spPr/>
        <p:txBody>
          <a:bodyPr/>
          <a:lstStyle/>
          <a:p>
            <a:r>
              <a:rPr lang="it-IT" dirty="0"/>
              <a:t>Esempio di uso di oggetti </a:t>
            </a:r>
            <a:r>
              <a:rPr lang="it-IT" dirty="0" smtClean="0"/>
              <a:t>(3/3</a:t>
            </a:r>
            <a:r>
              <a:rPr lang="it-IT" dirty="0"/>
              <a:t>)</a:t>
            </a:r>
          </a:p>
        </p:txBody>
      </p:sp>
    </p:spTree>
    <p:extLst>
      <p:ext uri="{BB962C8B-B14F-4D97-AF65-F5344CB8AC3E}">
        <p14:creationId xmlns:p14="http://schemas.microsoft.com/office/powerpoint/2010/main" val="921066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060848"/>
            <a:ext cx="7408333" cy="4065315"/>
          </a:xfrm>
        </p:spPr>
        <p:txBody>
          <a:bodyPr>
            <a:normAutofit fontScale="92500" lnSpcReduction="10000"/>
          </a:bodyPr>
          <a:lstStyle/>
          <a:p>
            <a:r>
              <a:rPr lang="it-IT" dirty="0" smtClean="0"/>
              <a:t>In tutti i linguaggi di programmazione, i parametri di input di un metodo/funzione possono essere passati (dal chiamante) per valore e/o per riferimento:</a:t>
            </a:r>
          </a:p>
          <a:p>
            <a:pPr lvl="1"/>
            <a:r>
              <a:rPr lang="it-IT" dirty="0" smtClean="0"/>
              <a:t>per valore: viene fatta una copia dei parametri, </a:t>
            </a:r>
            <a:r>
              <a:rPr lang="it-IT" i="1" dirty="0"/>
              <a:t>locale</a:t>
            </a:r>
            <a:r>
              <a:rPr lang="it-IT" dirty="0" smtClean="0"/>
              <a:t> al metodo -&gt; </a:t>
            </a:r>
            <a:r>
              <a:rPr lang="it-IT" b="1" dirty="0" smtClean="0"/>
              <a:t>eventuali modifiche </a:t>
            </a:r>
            <a:r>
              <a:rPr lang="it-IT" dirty="0" smtClean="0"/>
              <a:t>ai parametri effettuate all’interno del metodo </a:t>
            </a:r>
            <a:r>
              <a:rPr lang="it-IT" b="1" dirty="0" smtClean="0"/>
              <a:t>vengono perse </a:t>
            </a:r>
            <a:r>
              <a:rPr lang="it-IT" dirty="0" smtClean="0"/>
              <a:t>quando termina il codice del metodo e quindi non hanno effetto nel codice chiamante al di fuori del metodo</a:t>
            </a:r>
          </a:p>
          <a:p>
            <a:pPr lvl="1"/>
            <a:r>
              <a:rPr lang="it-IT" dirty="0" smtClean="0"/>
              <a:t>per riferimento: viene passato, dal chiamante al metodo, il riferimento alla locazione di memoria contenente la variabile di input -&gt; </a:t>
            </a:r>
            <a:r>
              <a:rPr lang="it-IT" b="1" dirty="0" smtClean="0"/>
              <a:t>eventuali modifiche </a:t>
            </a:r>
            <a:r>
              <a:rPr lang="it-IT" dirty="0" smtClean="0"/>
              <a:t>ai parametri effettuate all’interno del metodo </a:t>
            </a:r>
            <a:r>
              <a:rPr lang="it-IT" b="1" dirty="0" smtClean="0"/>
              <a:t>non vengono perse </a:t>
            </a:r>
            <a:r>
              <a:rPr lang="it-IT" dirty="0" smtClean="0"/>
              <a:t>anche dopo il termine del codice del metodo</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26</a:t>
            </a:fld>
            <a:endParaRPr lang="it-IT"/>
          </a:p>
        </p:txBody>
      </p:sp>
      <p:sp>
        <p:nvSpPr>
          <p:cNvPr id="4" name="Titolo 3"/>
          <p:cNvSpPr>
            <a:spLocks noGrp="1"/>
          </p:cNvSpPr>
          <p:nvPr>
            <p:ph type="title"/>
          </p:nvPr>
        </p:nvSpPr>
        <p:spPr/>
        <p:txBody>
          <a:bodyPr>
            <a:noAutofit/>
          </a:bodyPr>
          <a:lstStyle/>
          <a:p>
            <a:r>
              <a:rPr lang="it-IT" sz="3400" dirty="0" smtClean="0"/>
              <a:t>Metodi/funzioni:</a:t>
            </a:r>
            <a:br>
              <a:rPr lang="it-IT" sz="3400" dirty="0" smtClean="0"/>
            </a:br>
            <a:r>
              <a:rPr lang="it-IT" sz="3400" dirty="0" smtClean="0"/>
              <a:t>passaggio dei parametri di input </a:t>
            </a:r>
            <a:br>
              <a:rPr lang="it-IT" sz="3400" dirty="0" smtClean="0"/>
            </a:br>
            <a:r>
              <a:rPr lang="it-IT" sz="3400" dirty="0" smtClean="0"/>
              <a:t>per valore o per riferimento</a:t>
            </a:r>
            <a:endParaRPr lang="it-IT" sz="3400" dirty="0"/>
          </a:p>
        </p:txBody>
      </p:sp>
    </p:spTree>
    <p:extLst>
      <p:ext uri="{BB962C8B-B14F-4D97-AF65-F5344CB8AC3E}">
        <p14:creationId xmlns:p14="http://schemas.microsoft.com/office/powerpoint/2010/main" val="988873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lstStyle/>
          <a:p>
            <a:r>
              <a:rPr lang="it-IT" b="1" dirty="0" smtClean="0"/>
              <a:t>Attenzione</a:t>
            </a:r>
            <a:r>
              <a:rPr lang="it-IT" dirty="0" smtClean="0"/>
              <a:t>: nel caso di parametri di input di tipo </a:t>
            </a:r>
            <a:r>
              <a:rPr lang="it-IT" i="1" dirty="0" smtClean="0"/>
              <a:t>classe</a:t>
            </a:r>
            <a:r>
              <a:rPr lang="it-IT" dirty="0" smtClean="0"/>
              <a:t> viene copiato il valore della </a:t>
            </a:r>
            <a:r>
              <a:rPr lang="it-IT" i="1" dirty="0" err="1" smtClean="0"/>
              <a:t>reference</a:t>
            </a:r>
            <a:r>
              <a:rPr lang="it-IT" dirty="0" smtClean="0"/>
              <a:t>, ovvero del puntatore all’area di memoria contenente l’oggetto -&gt; eventuali modifiche, ad esempio agli attributi dell’oggetto, </a:t>
            </a:r>
            <a:r>
              <a:rPr lang="it-IT" b="1" dirty="0" smtClean="0"/>
              <a:t>non vengono perse</a:t>
            </a:r>
            <a:r>
              <a:rPr lang="it-IT" b="1" i="1" dirty="0" smtClean="0"/>
              <a:t> </a:t>
            </a:r>
            <a:r>
              <a:rPr lang="it-IT" dirty="0" smtClean="0"/>
              <a:t>quando il metodo </a:t>
            </a:r>
            <a:r>
              <a:rPr lang="it-IT" smtClean="0"/>
              <a:t>termina l’esecuzione</a:t>
            </a:r>
            <a:endParaRPr lang="it-IT" dirty="0" smtClean="0"/>
          </a:p>
        </p:txBody>
      </p:sp>
      <p:sp>
        <p:nvSpPr>
          <p:cNvPr id="3" name="Segnaposto numero diapositiva 2"/>
          <p:cNvSpPr>
            <a:spLocks noGrp="1"/>
          </p:cNvSpPr>
          <p:nvPr>
            <p:ph type="sldNum" sz="quarter" idx="12"/>
          </p:nvPr>
        </p:nvSpPr>
        <p:spPr/>
        <p:txBody>
          <a:bodyPr/>
          <a:lstStyle/>
          <a:p>
            <a:fld id="{E7A41E1B-4F70-4964-A407-84C68BE8251C}" type="slidenum">
              <a:rPr lang="it-IT" smtClean="0"/>
              <a:t>27</a:t>
            </a:fld>
            <a:endParaRPr lang="it-IT"/>
          </a:p>
        </p:txBody>
      </p:sp>
      <p:sp>
        <p:nvSpPr>
          <p:cNvPr id="4" name="Titolo 3"/>
          <p:cNvSpPr>
            <a:spLocks noGrp="1"/>
          </p:cNvSpPr>
          <p:nvPr>
            <p:ph type="title"/>
          </p:nvPr>
        </p:nvSpPr>
        <p:spPr/>
        <p:txBody>
          <a:bodyPr>
            <a:normAutofit/>
          </a:bodyPr>
          <a:lstStyle/>
          <a:p>
            <a:r>
              <a:rPr lang="it-IT" sz="3400" dirty="0" smtClean="0"/>
              <a:t>Metodi in Java: </a:t>
            </a:r>
            <a:br>
              <a:rPr lang="it-IT" sz="3400" dirty="0" smtClean="0"/>
            </a:br>
            <a:r>
              <a:rPr lang="it-IT" sz="3400" dirty="0" smtClean="0"/>
              <a:t>parametri di input sempre passati per valore</a:t>
            </a:r>
            <a:endParaRPr lang="it-IT" sz="3400" dirty="0"/>
          </a:p>
        </p:txBody>
      </p:sp>
    </p:spTree>
    <p:extLst>
      <p:ext uri="{BB962C8B-B14F-4D97-AF65-F5344CB8AC3E}">
        <p14:creationId xmlns:p14="http://schemas.microsoft.com/office/powerpoint/2010/main" val="2669567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fontScale="92500" lnSpcReduction="20000"/>
          </a:bodyPr>
          <a:lstStyle/>
          <a:p>
            <a:r>
              <a:rPr lang="it-IT" sz="2600" dirty="0"/>
              <a:t>La parola chiave </a:t>
            </a:r>
            <a:r>
              <a:rPr lang="it-IT" sz="2600" b="1" dirty="0" err="1"/>
              <a:t>final</a:t>
            </a:r>
            <a:r>
              <a:rPr lang="it-IT" sz="2600" b="1" dirty="0"/>
              <a:t> </a:t>
            </a:r>
            <a:r>
              <a:rPr lang="it-IT" sz="2600" dirty="0"/>
              <a:t>può essere utilizzata nella definizione di attributi, metodi e classi</a:t>
            </a:r>
          </a:p>
          <a:p>
            <a:pPr lvl="1"/>
            <a:r>
              <a:rPr lang="it-IT" sz="2400" dirty="0"/>
              <a:t>applicata ad un attributo: indica che l’attributo, dopo essere stato inizializzato, non è più </a:t>
            </a:r>
            <a:r>
              <a:rPr lang="it-IT" sz="2400" dirty="0" smtClean="0"/>
              <a:t>modificabile, ovvero è una </a:t>
            </a:r>
            <a:r>
              <a:rPr lang="it-IT" sz="2400" b="1" dirty="0" smtClean="0"/>
              <a:t>costante. </a:t>
            </a:r>
            <a:r>
              <a:rPr lang="it-IT" sz="2400" dirty="0" smtClean="0"/>
              <a:t>Generalmente</a:t>
            </a:r>
            <a:r>
              <a:rPr lang="it-IT" sz="2400" dirty="0"/>
              <a:t>, come convenzione, in Java nella definizione delle costanti si usano solo lettere </a:t>
            </a:r>
            <a:r>
              <a:rPr lang="it-IT" sz="2400" dirty="0" smtClean="0"/>
              <a:t>maiuscole. Es.: </a:t>
            </a:r>
          </a:p>
          <a:p>
            <a:pPr marL="627063" lvl="2" indent="0">
              <a:buNone/>
            </a:pPr>
            <a:r>
              <a:rPr lang="it-IT" sz="2400" i="1" dirty="0" smtClean="0"/>
              <a:t>public </a:t>
            </a:r>
            <a:r>
              <a:rPr lang="it-IT" sz="2400" i="1" dirty="0" err="1" smtClean="0"/>
              <a:t>final</a:t>
            </a:r>
            <a:r>
              <a:rPr lang="it-IT" sz="2400" i="1" dirty="0" smtClean="0"/>
              <a:t> </a:t>
            </a:r>
            <a:r>
              <a:rPr lang="it-IT" sz="2400" i="1" dirty="0" err="1" smtClean="0"/>
              <a:t>String</a:t>
            </a:r>
            <a:r>
              <a:rPr lang="it-IT" sz="2400" i="1" dirty="0" smtClean="0"/>
              <a:t> STRINGA_COSTANTE=«ciao»;</a:t>
            </a:r>
          </a:p>
          <a:p>
            <a:pPr lvl="1"/>
            <a:r>
              <a:rPr lang="it-IT" sz="2400" dirty="0"/>
              <a:t>applicata ad un metodo</a:t>
            </a:r>
            <a:r>
              <a:rPr lang="it-IT" sz="2400" dirty="0" smtClean="0"/>
              <a:t>: indica che il metodo non può essere modificato dalle classi figlie (lo vedremo più avanti parlando di ereditarietà)</a:t>
            </a:r>
          </a:p>
          <a:p>
            <a:pPr lvl="1"/>
            <a:r>
              <a:rPr lang="it-IT" sz="2400" dirty="0" smtClean="0"/>
              <a:t>applicata ad una classe: indica che la classe non può essere ereditata (anche questo </a:t>
            </a:r>
            <a:r>
              <a:rPr lang="it-IT" sz="2400" dirty="0"/>
              <a:t>lo vedremo più avanti parlando di ereditarietà)</a:t>
            </a:r>
            <a:endParaRPr lang="it-IT" sz="2400" dirty="0" smtClean="0"/>
          </a:p>
        </p:txBody>
      </p:sp>
      <p:sp>
        <p:nvSpPr>
          <p:cNvPr id="3" name="Segnaposto numero diapositiva 2"/>
          <p:cNvSpPr>
            <a:spLocks noGrp="1"/>
          </p:cNvSpPr>
          <p:nvPr>
            <p:ph type="sldNum" sz="quarter" idx="12"/>
          </p:nvPr>
        </p:nvSpPr>
        <p:spPr/>
        <p:txBody>
          <a:bodyPr/>
          <a:lstStyle/>
          <a:p>
            <a:fld id="{E7A41E1B-4F70-4964-A407-84C68BE8251C}" type="slidenum">
              <a:rPr lang="it-IT" smtClean="0"/>
              <a:t>28</a:t>
            </a:fld>
            <a:endParaRPr lang="it-IT"/>
          </a:p>
        </p:txBody>
      </p:sp>
      <p:sp>
        <p:nvSpPr>
          <p:cNvPr id="4" name="Titolo 3"/>
          <p:cNvSpPr>
            <a:spLocks noGrp="1"/>
          </p:cNvSpPr>
          <p:nvPr>
            <p:ph type="title"/>
          </p:nvPr>
        </p:nvSpPr>
        <p:spPr/>
        <p:txBody>
          <a:bodyPr>
            <a:normAutofit/>
          </a:bodyPr>
          <a:lstStyle/>
          <a:p>
            <a:r>
              <a:rPr lang="it-IT" dirty="0" smtClean="0"/>
              <a:t>Parola chiave </a:t>
            </a:r>
            <a:r>
              <a:rPr lang="it-IT" dirty="0" err="1" smtClean="0"/>
              <a:t>final</a:t>
            </a:r>
            <a:endParaRPr lang="it-IT" dirty="0"/>
          </a:p>
        </p:txBody>
      </p:sp>
    </p:spTree>
    <p:extLst>
      <p:ext uri="{BB962C8B-B14F-4D97-AF65-F5344CB8AC3E}">
        <p14:creationId xmlns:p14="http://schemas.microsoft.com/office/powerpoint/2010/main" val="2277834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16832"/>
            <a:ext cx="7408333" cy="4209331"/>
          </a:xfrm>
        </p:spPr>
        <p:txBody>
          <a:bodyPr>
            <a:normAutofit/>
          </a:bodyPr>
          <a:lstStyle/>
          <a:p>
            <a:r>
              <a:rPr lang="it-IT" dirty="0"/>
              <a:t>La parola chiave </a:t>
            </a:r>
            <a:r>
              <a:rPr lang="it-IT" b="1" dirty="0" err="1"/>
              <a:t>static</a:t>
            </a:r>
            <a:r>
              <a:rPr lang="it-IT" dirty="0"/>
              <a:t> è applicabile nella definizione di un </a:t>
            </a:r>
            <a:r>
              <a:rPr lang="it-IT" dirty="0" smtClean="0"/>
              <a:t>attributo o </a:t>
            </a:r>
            <a:r>
              <a:rPr lang="it-IT" dirty="0"/>
              <a:t>di un metodo </a:t>
            </a:r>
            <a:endParaRPr lang="it-IT" dirty="0" smtClean="0"/>
          </a:p>
          <a:p>
            <a:r>
              <a:rPr lang="it-IT" b="1" dirty="0" smtClean="0"/>
              <a:t>applicata </a:t>
            </a:r>
            <a:r>
              <a:rPr lang="it-IT" b="1" dirty="0"/>
              <a:t>ad un attributo</a:t>
            </a:r>
            <a:r>
              <a:rPr lang="it-IT" dirty="0"/>
              <a:t>: quando si definisce una classe </a:t>
            </a:r>
            <a:r>
              <a:rPr lang="it-IT" i="1" dirty="0"/>
              <a:t>A</a:t>
            </a:r>
            <a:r>
              <a:rPr lang="it-IT" dirty="0"/>
              <a:t>, tutti gli oggetti di classe </a:t>
            </a:r>
            <a:r>
              <a:rPr lang="it-IT" i="1" dirty="0"/>
              <a:t>A</a:t>
            </a:r>
            <a:r>
              <a:rPr lang="it-IT" dirty="0"/>
              <a:t> che andremo ad istanziare nel nostro codice hanno una propria copia degli attributi e dei metodi della classe </a:t>
            </a:r>
            <a:r>
              <a:rPr lang="it-IT" i="1" dirty="0"/>
              <a:t>A</a:t>
            </a:r>
            <a:r>
              <a:rPr lang="it-IT" dirty="0"/>
              <a:t>. Viceversa, se definiamo un attributo come </a:t>
            </a:r>
            <a:r>
              <a:rPr lang="it-IT" i="1" dirty="0" err="1"/>
              <a:t>static</a:t>
            </a:r>
            <a:r>
              <a:rPr lang="it-IT" dirty="0"/>
              <a:t>, stiamo dicendo che il valore di quest’attributo è condiviso tra tutti gli oggetti che andremo a creare di classe </a:t>
            </a:r>
            <a:r>
              <a:rPr lang="it-IT" i="1" dirty="0"/>
              <a:t>A</a:t>
            </a:r>
            <a:r>
              <a:rPr lang="it-IT" dirty="0"/>
              <a:t>. Il modo di accedere ad un attributo </a:t>
            </a:r>
            <a:r>
              <a:rPr lang="it-IT" i="1" dirty="0" err="1"/>
              <a:t>static</a:t>
            </a:r>
            <a:r>
              <a:rPr lang="it-IT" dirty="0"/>
              <a:t> è differente rispetto ad un attributo non dichiarato </a:t>
            </a:r>
            <a:r>
              <a:rPr lang="it-IT" i="1" dirty="0" err="1" smtClean="0"/>
              <a:t>static</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29</a:t>
            </a:fld>
            <a:endParaRPr lang="it-IT"/>
          </a:p>
        </p:txBody>
      </p:sp>
      <p:sp>
        <p:nvSpPr>
          <p:cNvPr id="4" name="Titolo 3"/>
          <p:cNvSpPr>
            <a:spLocks noGrp="1"/>
          </p:cNvSpPr>
          <p:nvPr>
            <p:ph type="title"/>
          </p:nvPr>
        </p:nvSpPr>
        <p:spPr/>
        <p:txBody>
          <a:bodyPr>
            <a:normAutofit/>
          </a:bodyPr>
          <a:lstStyle/>
          <a:p>
            <a:r>
              <a:rPr lang="it-IT" sz="3600" dirty="0" smtClean="0"/>
              <a:t>Parola chiave </a:t>
            </a:r>
            <a:r>
              <a:rPr lang="it-IT" sz="3600" dirty="0" err="1" smtClean="0"/>
              <a:t>static</a:t>
            </a:r>
            <a:r>
              <a:rPr lang="it-IT" sz="3600" dirty="0"/>
              <a:t> </a:t>
            </a:r>
            <a:r>
              <a:rPr lang="it-IT" sz="3600" dirty="0" smtClean="0"/>
              <a:t/>
            </a:r>
            <a:br>
              <a:rPr lang="it-IT" sz="3600" dirty="0" smtClean="0"/>
            </a:br>
            <a:r>
              <a:rPr lang="it-IT" sz="3600" dirty="0" smtClean="0"/>
              <a:t>attributi </a:t>
            </a:r>
            <a:r>
              <a:rPr lang="it-IT" sz="3600" dirty="0" err="1" smtClean="0"/>
              <a:t>static</a:t>
            </a:r>
            <a:r>
              <a:rPr lang="it-IT" sz="3600" dirty="0" smtClean="0"/>
              <a:t> (1/3)</a:t>
            </a:r>
            <a:endParaRPr lang="it-IT" sz="3600" dirty="0"/>
          </a:p>
        </p:txBody>
      </p:sp>
    </p:spTree>
    <p:extLst>
      <p:ext uri="{BB962C8B-B14F-4D97-AF65-F5344CB8AC3E}">
        <p14:creationId xmlns:p14="http://schemas.microsoft.com/office/powerpoint/2010/main" val="3882471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lnSpcReduction="10000"/>
          </a:bodyPr>
          <a:lstStyle/>
          <a:p>
            <a:r>
              <a:rPr lang="it-IT" dirty="0"/>
              <a:t>Come abbiamo già visto, per accedere ad un attributo non statico della classe </a:t>
            </a:r>
            <a:r>
              <a:rPr lang="it-IT" i="1" dirty="0"/>
              <a:t>A</a:t>
            </a:r>
            <a:r>
              <a:rPr lang="it-IT" dirty="0"/>
              <a:t>, dobbiamo prima istanziare un oggetto di classe </a:t>
            </a:r>
            <a:r>
              <a:rPr lang="it-IT" i="1" dirty="0"/>
              <a:t>A</a:t>
            </a:r>
            <a:r>
              <a:rPr lang="it-IT" dirty="0"/>
              <a:t> (tramite l’istruzione </a:t>
            </a:r>
            <a:r>
              <a:rPr lang="it-IT" i="1" dirty="0"/>
              <a:t>new</a:t>
            </a:r>
            <a:r>
              <a:rPr lang="it-IT" dirty="0"/>
              <a:t>) e successivamente accedere (se i modificatori di accesso ce lo consentono, quindi se l’attributo è </a:t>
            </a:r>
            <a:r>
              <a:rPr lang="it-IT" i="1" dirty="0"/>
              <a:t>public</a:t>
            </a:r>
            <a:r>
              <a:rPr lang="it-IT" dirty="0"/>
              <a:t>) tramite </a:t>
            </a:r>
            <a:r>
              <a:rPr lang="it-IT" dirty="0" err="1"/>
              <a:t>dotted-notation</a:t>
            </a:r>
            <a:r>
              <a:rPr lang="it-IT" dirty="0"/>
              <a:t> con la sintassi </a:t>
            </a:r>
            <a:r>
              <a:rPr lang="it-IT" dirty="0" err="1"/>
              <a:t>oggetto.nomeAttributo</a:t>
            </a:r>
            <a:r>
              <a:rPr lang="it-IT" dirty="0"/>
              <a:t>. Invece, per accedere ad un attributo </a:t>
            </a:r>
            <a:r>
              <a:rPr lang="it-IT" i="1" dirty="0" err="1"/>
              <a:t>static</a:t>
            </a:r>
            <a:r>
              <a:rPr lang="it-IT" dirty="0"/>
              <a:t> della classe </a:t>
            </a:r>
            <a:r>
              <a:rPr lang="it-IT" i="1" dirty="0"/>
              <a:t>A</a:t>
            </a:r>
            <a:r>
              <a:rPr lang="it-IT" dirty="0"/>
              <a:t> non avremo bisogno di usare un oggetto (proprio perché tutti gli oggetti della classe </a:t>
            </a:r>
            <a:r>
              <a:rPr lang="it-IT" i="1" dirty="0"/>
              <a:t>A</a:t>
            </a:r>
            <a:r>
              <a:rPr lang="it-IT" dirty="0"/>
              <a:t> condividono la stessa copia dell’attributo) ma useremo la sintassi </a:t>
            </a:r>
            <a:r>
              <a:rPr lang="it-IT" b="1" dirty="0" err="1"/>
              <a:t>nomeClasse.nomeAttributo</a:t>
            </a:r>
            <a:r>
              <a:rPr lang="it-IT" dirty="0"/>
              <a:t>, ovvero </a:t>
            </a:r>
            <a:r>
              <a:rPr lang="it-IT" i="1" dirty="0" err="1"/>
              <a:t>A.nomeAttributo</a:t>
            </a:r>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30</a:t>
            </a:fld>
            <a:endParaRPr lang="it-IT"/>
          </a:p>
        </p:txBody>
      </p:sp>
      <p:sp>
        <p:nvSpPr>
          <p:cNvPr id="4" name="Titolo 3"/>
          <p:cNvSpPr>
            <a:spLocks noGrp="1"/>
          </p:cNvSpPr>
          <p:nvPr>
            <p:ph type="title"/>
          </p:nvPr>
        </p:nvSpPr>
        <p:spPr/>
        <p:txBody>
          <a:bodyPr>
            <a:normAutofit fontScale="90000"/>
          </a:bodyPr>
          <a:lstStyle/>
          <a:p>
            <a:r>
              <a:rPr lang="it-IT" dirty="0"/>
              <a:t>Parola chiave </a:t>
            </a:r>
            <a:r>
              <a:rPr lang="it-IT" dirty="0" err="1"/>
              <a:t>static</a:t>
            </a:r>
            <a:r>
              <a:rPr lang="it-IT" dirty="0"/>
              <a:t> </a:t>
            </a:r>
            <a:br>
              <a:rPr lang="it-IT" dirty="0"/>
            </a:br>
            <a:r>
              <a:rPr lang="it-IT" dirty="0"/>
              <a:t>attributi </a:t>
            </a:r>
            <a:r>
              <a:rPr lang="it-IT" dirty="0" err="1"/>
              <a:t>static</a:t>
            </a:r>
            <a:r>
              <a:rPr lang="it-IT" dirty="0"/>
              <a:t> </a:t>
            </a:r>
            <a:r>
              <a:rPr lang="it-IT" dirty="0" smtClean="0"/>
              <a:t>(2/3</a:t>
            </a:r>
            <a:r>
              <a:rPr lang="it-IT" dirty="0"/>
              <a:t>)</a:t>
            </a:r>
          </a:p>
        </p:txBody>
      </p:sp>
    </p:spTree>
    <p:extLst>
      <p:ext uri="{BB962C8B-B14F-4D97-AF65-F5344CB8AC3E}">
        <p14:creationId xmlns:p14="http://schemas.microsoft.com/office/powerpoint/2010/main" val="4193211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844824"/>
            <a:ext cx="7408333" cy="4281339"/>
          </a:xfrm>
        </p:spPr>
        <p:txBody>
          <a:bodyPr>
            <a:normAutofit/>
          </a:bodyPr>
          <a:lstStyle/>
          <a:p>
            <a:r>
              <a:rPr lang="it-IT" dirty="0" smtClean="0"/>
              <a:t>Esempio di classe con attributo </a:t>
            </a:r>
            <a:r>
              <a:rPr lang="it-IT" dirty="0" err="1" smtClean="0"/>
              <a:t>static</a:t>
            </a:r>
            <a:r>
              <a:rPr lang="it-IT" dirty="0" smtClean="0"/>
              <a:t>:</a:t>
            </a:r>
          </a:p>
          <a:p>
            <a:pPr marL="0" indent="0">
              <a:buNone/>
            </a:pPr>
            <a:r>
              <a:rPr lang="it-IT" sz="1800" i="1" dirty="0" smtClean="0"/>
              <a:t>package </a:t>
            </a:r>
            <a:r>
              <a:rPr lang="it-IT" sz="1800" i="1" dirty="0" err="1" smtClean="0"/>
              <a:t>com.azienda.progetto.model</a:t>
            </a:r>
            <a:r>
              <a:rPr lang="it-IT" sz="1800" i="1" dirty="0" smtClean="0"/>
              <a:t>;</a:t>
            </a:r>
            <a:endParaRPr lang="it-IT" sz="1800" i="1" dirty="0"/>
          </a:p>
          <a:p>
            <a:pPr marL="0" indent="0">
              <a:buNone/>
            </a:pPr>
            <a:r>
              <a:rPr lang="en-US" sz="1800" i="1" dirty="0" smtClean="0"/>
              <a:t>public </a:t>
            </a:r>
            <a:r>
              <a:rPr lang="en-US" sz="1800" i="1" dirty="0"/>
              <a:t>class </a:t>
            </a:r>
            <a:r>
              <a:rPr lang="en-US" sz="1800" i="1" dirty="0" err="1"/>
              <a:t>StaticExample</a:t>
            </a:r>
            <a:r>
              <a:rPr lang="en-US" sz="1800" i="1" dirty="0"/>
              <a:t> {</a:t>
            </a:r>
            <a:endParaRPr lang="it-IT" sz="1800" i="1" dirty="0"/>
          </a:p>
          <a:p>
            <a:pPr marL="0" indent="0">
              <a:buNone/>
            </a:pPr>
            <a:r>
              <a:rPr lang="en-US" sz="1800" i="1" dirty="0"/>
              <a:t>	public static </a:t>
            </a:r>
            <a:r>
              <a:rPr lang="en-US" sz="1800" i="1" dirty="0" err="1"/>
              <a:t>int</a:t>
            </a:r>
            <a:r>
              <a:rPr lang="en-US" sz="1800" i="1" dirty="0"/>
              <a:t> </a:t>
            </a:r>
            <a:r>
              <a:rPr lang="en-US" sz="1800" i="1" dirty="0" err="1"/>
              <a:t>numeroStatico</a:t>
            </a:r>
            <a:r>
              <a:rPr lang="en-US" sz="1800" i="1" dirty="0"/>
              <a:t> = 0;</a:t>
            </a:r>
            <a:endParaRPr lang="it-IT" sz="1800" i="1" dirty="0"/>
          </a:p>
          <a:p>
            <a:pPr marL="0" indent="0">
              <a:buNone/>
            </a:pPr>
            <a:r>
              <a:rPr lang="en-US" sz="1800" i="1" dirty="0"/>
              <a:t>	</a:t>
            </a:r>
            <a:r>
              <a:rPr lang="it-IT" sz="1800" i="1" dirty="0"/>
              <a:t>public </a:t>
            </a:r>
            <a:r>
              <a:rPr lang="it-IT" sz="1800" i="1" dirty="0" err="1"/>
              <a:t>int</a:t>
            </a:r>
            <a:r>
              <a:rPr lang="it-IT" sz="1800" i="1" dirty="0"/>
              <a:t> numero = 0;</a:t>
            </a:r>
          </a:p>
          <a:p>
            <a:pPr marL="0" indent="0">
              <a:buNone/>
            </a:pPr>
            <a:r>
              <a:rPr lang="it-IT" sz="1800" i="1" dirty="0" smtClean="0"/>
              <a:t>}</a:t>
            </a:r>
          </a:p>
          <a:p>
            <a:r>
              <a:rPr lang="it-IT" dirty="0" smtClean="0"/>
              <a:t>Esempio d’uso della classe con attributo </a:t>
            </a:r>
            <a:r>
              <a:rPr lang="it-IT" dirty="0" err="1" smtClean="0"/>
              <a:t>static</a:t>
            </a:r>
            <a:r>
              <a:rPr lang="it-IT" dirty="0" smtClean="0"/>
              <a:t>:</a:t>
            </a:r>
          </a:p>
          <a:p>
            <a:pPr marL="0" indent="0">
              <a:buNone/>
            </a:pPr>
            <a:r>
              <a:rPr lang="en-US" sz="1800" dirty="0" smtClean="0"/>
              <a:t>      </a:t>
            </a:r>
            <a:r>
              <a:rPr lang="en-US" sz="1800" i="1" dirty="0" err="1" smtClean="0"/>
              <a:t>StaticExample</a:t>
            </a:r>
            <a:r>
              <a:rPr lang="en-US" sz="1800" i="1" dirty="0" smtClean="0"/>
              <a:t> </a:t>
            </a:r>
            <a:r>
              <a:rPr lang="en-US" sz="1800" i="1" dirty="0"/>
              <a:t>oggetto1 = </a:t>
            </a:r>
            <a:r>
              <a:rPr lang="en-US" sz="1800" b="1" i="1" dirty="0"/>
              <a:t>new</a:t>
            </a:r>
            <a:r>
              <a:rPr lang="en-US" sz="1800" i="1" dirty="0"/>
              <a:t> </a:t>
            </a:r>
            <a:r>
              <a:rPr lang="en-US" sz="1800" i="1" dirty="0" err="1"/>
              <a:t>StaticExample</a:t>
            </a:r>
            <a:r>
              <a:rPr lang="en-US" sz="1800" i="1" dirty="0"/>
              <a:t>();</a:t>
            </a:r>
            <a:endParaRPr lang="it-IT" sz="1800" i="1" dirty="0"/>
          </a:p>
          <a:p>
            <a:pPr marL="0" indent="0">
              <a:buNone/>
            </a:pPr>
            <a:r>
              <a:rPr lang="en-US" sz="1800" i="1" dirty="0" smtClean="0"/>
              <a:t>      </a:t>
            </a:r>
            <a:r>
              <a:rPr lang="en-US" sz="1800" i="1" dirty="0" err="1" smtClean="0"/>
              <a:t>StaticExample</a:t>
            </a:r>
            <a:r>
              <a:rPr lang="en-US" sz="1800" i="1" dirty="0" smtClean="0"/>
              <a:t> </a:t>
            </a:r>
            <a:r>
              <a:rPr lang="en-US" sz="1800" i="1" dirty="0"/>
              <a:t>oggetto2 = </a:t>
            </a:r>
            <a:r>
              <a:rPr lang="en-US" sz="1800" b="1" i="1" dirty="0"/>
              <a:t>new</a:t>
            </a:r>
            <a:r>
              <a:rPr lang="en-US" sz="1800" i="1" dirty="0"/>
              <a:t> </a:t>
            </a:r>
            <a:r>
              <a:rPr lang="en-US" sz="1800" i="1" dirty="0" err="1"/>
              <a:t>StaticExample</a:t>
            </a:r>
            <a:r>
              <a:rPr lang="en-US" sz="1800" i="1" dirty="0"/>
              <a:t>();</a:t>
            </a:r>
            <a:endParaRPr lang="it-IT" sz="1800" i="1" dirty="0"/>
          </a:p>
          <a:p>
            <a:pPr marL="0" indent="0">
              <a:buNone/>
            </a:pPr>
            <a:r>
              <a:rPr lang="it-IT" sz="1800" i="1" dirty="0" smtClean="0"/>
              <a:t>      oggetto1.numero </a:t>
            </a:r>
            <a:r>
              <a:rPr lang="it-IT" sz="1800" i="1" dirty="0"/>
              <a:t>= 10;</a:t>
            </a:r>
          </a:p>
          <a:p>
            <a:pPr marL="0" indent="0">
              <a:buNone/>
            </a:pPr>
            <a:r>
              <a:rPr lang="it-IT" sz="1800" i="1" dirty="0" smtClean="0"/>
              <a:t>      oggetto2.numero </a:t>
            </a:r>
            <a:r>
              <a:rPr lang="it-IT" sz="1800" i="1" dirty="0"/>
              <a:t>= 20</a:t>
            </a:r>
            <a:r>
              <a:rPr lang="it-IT" sz="1800" i="1" dirty="0" smtClean="0"/>
              <a:t>;</a:t>
            </a:r>
          </a:p>
          <a:p>
            <a:pPr marL="0" indent="0">
              <a:buNone/>
            </a:pPr>
            <a:r>
              <a:rPr lang="it-IT" sz="1800" i="1" dirty="0" smtClean="0"/>
              <a:t>      </a:t>
            </a:r>
            <a:r>
              <a:rPr lang="en-US" sz="1800" i="1" dirty="0" err="1" smtClean="0"/>
              <a:t>StaticExample.numeroStatico</a:t>
            </a:r>
            <a:r>
              <a:rPr lang="en-US" sz="1800" i="1" dirty="0" smtClean="0"/>
              <a:t> = 30;</a:t>
            </a:r>
            <a:r>
              <a:rPr lang="it-IT" sz="1800" dirty="0"/>
              <a:t>	</a:t>
            </a:r>
          </a:p>
          <a:p>
            <a:endParaRPr lang="it-IT" dirty="0"/>
          </a:p>
          <a:p>
            <a:pPr marL="0" indent="0">
              <a:buNone/>
            </a:pPr>
            <a:endParaRPr lang="it-IT" sz="1800" i="1" dirty="0"/>
          </a:p>
          <a:p>
            <a:endParaRPr lang="it-IT"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31</a:t>
            </a:fld>
            <a:endParaRPr lang="it-IT"/>
          </a:p>
        </p:txBody>
      </p:sp>
      <p:sp>
        <p:nvSpPr>
          <p:cNvPr id="4" name="Titolo 3"/>
          <p:cNvSpPr>
            <a:spLocks noGrp="1"/>
          </p:cNvSpPr>
          <p:nvPr>
            <p:ph type="title"/>
          </p:nvPr>
        </p:nvSpPr>
        <p:spPr/>
        <p:txBody>
          <a:bodyPr>
            <a:normAutofit fontScale="90000"/>
          </a:bodyPr>
          <a:lstStyle/>
          <a:p>
            <a:r>
              <a:rPr lang="it-IT" dirty="0"/>
              <a:t>Parola chiave </a:t>
            </a:r>
            <a:r>
              <a:rPr lang="it-IT" dirty="0" err="1"/>
              <a:t>static</a:t>
            </a:r>
            <a:r>
              <a:rPr lang="it-IT" dirty="0"/>
              <a:t> </a:t>
            </a:r>
            <a:br>
              <a:rPr lang="it-IT" dirty="0"/>
            </a:br>
            <a:r>
              <a:rPr lang="it-IT" dirty="0"/>
              <a:t>attributi </a:t>
            </a:r>
            <a:r>
              <a:rPr lang="it-IT" dirty="0" err="1"/>
              <a:t>static</a:t>
            </a:r>
            <a:r>
              <a:rPr lang="it-IT" dirty="0"/>
              <a:t> </a:t>
            </a:r>
            <a:r>
              <a:rPr lang="it-IT" dirty="0" smtClean="0"/>
              <a:t>(3/3</a:t>
            </a:r>
            <a:r>
              <a:rPr lang="it-IT" dirty="0"/>
              <a:t>)</a:t>
            </a:r>
          </a:p>
        </p:txBody>
      </p:sp>
    </p:spTree>
    <p:extLst>
      <p:ext uri="{BB962C8B-B14F-4D97-AF65-F5344CB8AC3E}">
        <p14:creationId xmlns:p14="http://schemas.microsoft.com/office/powerpoint/2010/main" val="41083671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2492896"/>
            <a:ext cx="7408333" cy="3633267"/>
          </a:xfrm>
        </p:spPr>
        <p:txBody>
          <a:bodyPr>
            <a:normAutofit/>
          </a:bodyPr>
          <a:lstStyle/>
          <a:p>
            <a:r>
              <a:rPr lang="it-IT" dirty="0"/>
              <a:t>l’interpretazione della parola chiave </a:t>
            </a:r>
            <a:r>
              <a:rPr lang="it-IT" i="1" dirty="0" err="1"/>
              <a:t>static</a:t>
            </a:r>
            <a:r>
              <a:rPr lang="it-IT" dirty="0"/>
              <a:t> applicata ad un metodo indica che il metodo è condiviso tra tutte le istanze della classe e pertanto, come per l’attributo </a:t>
            </a:r>
            <a:r>
              <a:rPr lang="it-IT" i="1" dirty="0" err="1"/>
              <a:t>static</a:t>
            </a:r>
            <a:r>
              <a:rPr lang="it-IT" dirty="0"/>
              <a:t>, è accessibile utilizzando direttamente il nome della classe e non necessita di un oggetto istanziato. La sintassi sarà quindi </a:t>
            </a:r>
            <a:r>
              <a:rPr lang="it-IT" b="1" dirty="0" err="1" smtClean="0"/>
              <a:t>nomeClasse.nomeMetodo</a:t>
            </a:r>
            <a:endParaRPr lang="it-IT" b="1" dirty="0" smtClean="0"/>
          </a:p>
          <a:p>
            <a:r>
              <a:rPr lang="it-IT" dirty="0" smtClean="0"/>
              <a:t>Un metodo </a:t>
            </a:r>
            <a:r>
              <a:rPr lang="it-IT" dirty="0" err="1" smtClean="0"/>
              <a:t>static</a:t>
            </a:r>
            <a:r>
              <a:rPr lang="it-IT" dirty="0" smtClean="0"/>
              <a:t> può usare solo attributi  e metodi </a:t>
            </a:r>
            <a:r>
              <a:rPr lang="it-IT" dirty="0" err="1" smtClean="0"/>
              <a:t>static</a:t>
            </a:r>
            <a:r>
              <a:rPr lang="it-IT" dirty="0" smtClean="0"/>
              <a:t> della classe a cui appartiene</a:t>
            </a:r>
          </a:p>
        </p:txBody>
      </p:sp>
      <p:sp>
        <p:nvSpPr>
          <p:cNvPr id="3" name="Segnaposto numero diapositiva 2"/>
          <p:cNvSpPr>
            <a:spLocks noGrp="1"/>
          </p:cNvSpPr>
          <p:nvPr>
            <p:ph type="sldNum" sz="quarter" idx="12"/>
          </p:nvPr>
        </p:nvSpPr>
        <p:spPr/>
        <p:txBody>
          <a:bodyPr/>
          <a:lstStyle/>
          <a:p>
            <a:fld id="{E7A41E1B-4F70-4964-A407-84C68BE8251C}" type="slidenum">
              <a:rPr lang="it-IT" smtClean="0"/>
              <a:t>32</a:t>
            </a:fld>
            <a:endParaRPr lang="it-IT"/>
          </a:p>
        </p:txBody>
      </p:sp>
      <p:sp>
        <p:nvSpPr>
          <p:cNvPr id="4" name="Titolo 3"/>
          <p:cNvSpPr>
            <a:spLocks noGrp="1"/>
          </p:cNvSpPr>
          <p:nvPr>
            <p:ph type="title"/>
          </p:nvPr>
        </p:nvSpPr>
        <p:spPr/>
        <p:txBody>
          <a:bodyPr>
            <a:normAutofit fontScale="90000"/>
          </a:bodyPr>
          <a:lstStyle/>
          <a:p>
            <a:r>
              <a:rPr lang="it-IT" dirty="0"/>
              <a:t>Parola chiave </a:t>
            </a:r>
            <a:r>
              <a:rPr lang="it-IT" dirty="0" err="1"/>
              <a:t>static</a:t>
            </a:r>
            <a:r>
              <a:rPr lang="it-IT" dirty="0"/>
              <a:t> </a:t>
            </a:r>
            <a:br>
              <a:rPr lang="it-IT" dirty="0"/>
            </a:br>
            <a:r>
              <a:rPr lang="it-IT" dirty="0" smtClean="0"/>
              <a:t>metodi </a:t>
            </a:r>
            <a:r>
              <a:rPr lang="it-IT" dirty="0" err="1" smtClean="0"/>
              <a:t>static</a:t>
            </a:r>
            <a:endParaRPr lang="it-IT" dirty="0"/>
          </a:p>
        </p:txBody>
      </p:sp>
    </p:spTree>
    <p:extLst>
      <p:ext uri="{BB962C8B-B14F-4D97-AF65-F5344CB8AC3E}">
        <p14:creationId xmlns:p14="http://schemas.microsoft.com/office/powerpoint/2010/main" val="29143543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988840"/>
            <a:ext cx="7408333" cy="4137323"/>
          </a:xfrm>
        </p:spPr>
        <p:txBody>
          <a:bodyPr>
            <a:normAutofit fontScale="92500"/>
          </a:bodyPr>
          <a:lstStyle/>
          <a:p>
            <a:r>
              <a:rPr lang="it-IT" dirty="0" smtClean="0"/>
              <a:t>Anche gli attributi </a:t>
            </a:r>
            <a:r>
              <a:rPr lang="it-IT" i="1" dirty="0" err="1" smtClean="0"/>
              <a:t>static</a:t>
            </a:r>
            <a:r>
              <a:rPr lang="it-IT" dirty="0" smtClean="0"/>
              <a:t> possono essere inizializzati contestualmente alla loro dichiarazione:</a:t>
            </a:r>
          </a:p>
          <a:p>
            <a:pPr marL="301943" lvl="1" indent="0">
              <a:buNone/>
            </a:pPr>
            <a:r>
              <a:rPr lang="it-IT" sz="1800" i="1" dirty="0" smtClean="0"/>
              <a:t>	private </a:t>
            </a:r>
            <a:r>
              <a:rPr lang="it-IT" sz="1800" i="1" dirty="0" err="1" smtClean="0"/>
              <a:t>static</a:t>
            </a:r>
            <a:r>
              <a:rPr lang="it-IT" sz="1800" i="1" dirty="0" smtClean="0"/>
              <a:t> </a:t>
            </a:r>
            <a:r>
              <a:rPr lang="it-IT" sz="1800" i="1" dirty="0" err="1" smtClean="0"/>
              <a:t>Integer</a:t>
            </a:r>
            <a:r>
              <a:rPr lang="it-IT" sz="1800" i="1" dirty="0"/>
              <a:t> </a:t>
            </a:r>
            <a:r>
              <a:rPr lang="it-IT" sz="1800" i="1" dirty="0" err="1"/>
              <a:t>numeroStaticoPrivato</a:t>
            </a:r>
            <a:r>
              <a:rPr lang="it-IT" sz="1800" i="1" dirty="0"/>
              <a:t> = 1;</a:t>
            </a:r>
          </a:p>
          <a:p>
            <a:r>
              <a:rPr lang="it-IT" dirty="0" smtClean="0"/>
              <a:t>si possono creare blocchi di istruzioni </a:t>
            </a:r>
            <a:r>
              <a:rPr lang="it-IT" i="1" dirty="0" err="1" smtClean="0"/>
              <a:t>static</a:t>
            </a:r>
            <a:r>
              <a:rPr lang="it-IT" dirty="0" smtClean="0"/>
              <a:t>, delimitati dalla parola chiave </a:t>
            </a:r>
            <a:r>
              <a:rPr lang="it-IT" i="1" dirty="0" err="1" smtClean="0"/>
              <a:t>static</a:t>
            </a:r>
            <a:r>
              <a:rPr lang="it-IT" dirty="0" smtClean="0"/>
              <a:t> e dalle parentesi graffe. Le istruzioni all’interno dei blocchi </a:t>
            </a:r>
            <a:r>
              <a:rPr lang="it-IT" i="1" dirty="0" err="1" smtClean="0"/>
              <a:t>static</a:t>
            </a:r>
            <a:r>
              <a:rPr lang="it-IT" i="1" dirty="0" smtClean="0"/>
              <a:t> </a:t>
            </a:r>
            <a:r>
              <a:rPr lang="it-IT" dirty="0" smtClean="0"/>
              <a:t>possono accedere esclusivamente agli attributi ed ai metodi </a:t>
            </a:r>
            <a:r>
              <a:rPr lang="it-IT" i="1" dirty="0" err="1" smtClean="0"/>
              <a:t>static</a:t>
            </a:r>
            <a:endParaRPr lang="it-IT" i="1" dirty="0" smtClean="0"/>
          </a:p>
          <a:p>
            <a:pPr marL="301943" lvl="1" indent="0">
              <a:buNone/>
            </a:pPr>
            <a:r>
              <a:rPr lang="it-IT" sz="1800" i="1" dirty="0" smtClean="0"/>
              <a:t>	</a:t>
            </a:r>
            <a:r>
              <a:rPr lang="it-IT" sz="1800" i="1" dirty="0" err="1" smtClean="0"/>
              <a:t>static</a:t>
            </a:r>
            <a:r>
              <a:rPr lang="it-IT" sz="1800" i="1" dirty="0" smtClean="0"/>
              <a:t> </a:t>
            </a:r>
            <a:r>
              <a:rPr lang="it-IT" sz="1800" i="1" dirty="0"/>
              <a:t>{</a:t>
            </a:r>
          </a:p>
          <a:p>
            <a:pPr marL="301943" lvl="1" indent="0">
              <a:buNone/>
            </a:pPr>
            <a:r>
              <a:rPr lang="it-IT" sz="1800" i="1" dirty="0" smtClean="0"/>
              <a:t>		COSTANTE_CITTA </a:t>
            </a:r>
            <a:r>
              <a:rPr lang="it-IT" sz="1800" i="1" dirty="0"/>
              <a:t>= "ROMA";</a:t>
            </a:r>
          </a:p>
          <a:p>
            <a:pPr marL="301943" lvl="1" indent="0">
              <a:buNone/>
            </a:pPr>
            <a:r>
              <a:rPr lang="it-IT" sz="1800" i="1" dirty="0" smtClean="0"/>
              <a:t>		</a:t>
            </a:r>
            <a:r>
              <a:rPr lang="it-IT" sz="1800" i="1" dirty="0" err="1" smtClean="0"/>
              <a:t>numeroStaticoPrivato</a:t>
            </a:r>
            <a:r>
              <a:rPr lang="it-IT" sz="1800" i="1" dirty="0" smtClean="0"/>
              <a:t> </a:t>
            </a:r>
            <a:r>
              <a:rPr lang="it-IT" sz="1800" i="1" dirty="0"/>
              <a:t>= 0</a:t>
            </a:r>
            <a:r>
              <a:rPr lang="it-IT" sz="1800" i="1" dirty="0" smtClean="0"/>
              <a:t>;</a:t>
            </a:r>
          </a:p>
          <a:p>
            <a:pPr marL="301943" lvl="1" indent="0">
              <a:buNone/>
            </a:pPr>
            <a:r>
              <a:rPr lang="it-IT" sz="1800" i="1" dirty="0"/>
              <a:t>	</a:t>
            </a:r>
            <a:r>
              <a:rPr lang="it-IT" sz="1800" i="1" dirty="0" smtClean="0"/>
              <a:t>	 </a:t>
            </a:r>
            <a:r>
              <a:rPr lang="it-IT" sz="1800" i="1" dirty="0" err="1"/>
              <a:t>setNumeroStaticoPrivato</a:t>
            </a:r>
            <a:r>
              <a:rPr lang="it-IT" sz="1800" i="1" dirty="0"/>
              <a:t>(3);</a:t>
            </a:r>
          </a:p>
          <a:p>
            <a:pPr marL="301943" lvl="1" indent="0">
              <a:buNone/>
            </a:pPr>
            <a:r>
              <a:rPr lang="it-IT" sz="1800" i="1" dirty="0" smtClean="0"/>
              <a:t>	}</a:t>
            </a:r>
            <a:endParaRPr lang="it-IT" sz="1800" i="1" dirty="0"/>
          </a:p>
        </p:txBody>
      </p:sp>
      <p:sp>
        <p:nvSpPr>
          <p:cNvPr id="3" name="Segnaposto numero diapositiva 2"/>
          <p:cNvSpPr>
            <a:spLocks noGrp="1"/>
          </p:cNvSpPr>
          <p:nvPr>
            <p:ph type="sldNum" sz="quarter" idx="12"/>
          </p:nvPr>
        </p:nvSpPr>
        <p:spPr/>
        <p:txBody>
          <a:bodyPr/>
          <a:lstStyle/>
          <a:p>
            <a:fld id="{E7A41E1B-4F70-4964-A407-84C68BE8251C}" type="slidenum">
              <a:rPr lang="it-IT" smtClean="0"/>
              <a:t>33</a:t>
            </a:fld>
            <a:endParaRPr lang="it-IT"/>
          </a:p>
        </p:txBody>
      </p:sp>
      <p:sp>
        <p:nvSpPr>
          <p:cNvPr id="4" name="Titolo 3"/>
          <p:cNvSpPr>
            <a:spLocks noGrp="1"/>
          </p:cNvSpPr>
          <p:nvPr>
            <p:ph type="title"/>
          </p:nvPr>
        </p:nvSpPr>
        <p:spPr/>
        <p:txBody>
          <a:bodyPr>
            <a:normAutofit fontScale="90000"/>
          </a:bodyPr>
          <a:lstStyle/>
          <a:p>
            <a:r>
              <a:rPr lang="it-IT" dirty="0" smtClean="0"/>
              <a:t>Inizializzazione di attributi </a:t>
            </a:r>
            <a:r>
              <a:rPr lang="it-IT" i="1" dirty="0" err="1" smtClean="0"/>
              <a:t>static</a:t>
            </a:r>
            <a:r>
              <a:rPr lang="it-IT" dirty="0" smtClean="0"/>
              <a:t> e blocchi di inizializzazione </a:t>
            </a:r>
            <a:r>
              <a:rPr lang="it-IT" i="1" dirty="0" err="1" smtClean="0"/>
              <a:t>static</a:t>
            </a:r>
            <a:endParaRPr lang="it-IT" dirty="0"/>
          </a:p>
        </p:txBody>
      </p:sp>
    </p:spTree>
    <p:extLst>
      <p:ext uri="{BB962C8B-B14F-4D97-AF65-F5344CB8AC3E}">
        <p14:creationId xmlns:p14="http://schemas.microsoft.com/office/powerpoint/2010/main" val="102170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contenuto 1"/>
          <p:cNvSpPr>
            <a:spLocks noGrp="1"/>
          </p:cNvSpPr>
          <p:nvPr>
            <p:ph idx="1"/>
          </p:nvPr>
        </p:nvSpPr>
        <p:spPr>
          <a:xfrm>
            <a:off x="872067" y="1772816"/>
            <a:ext cx="7408333" cy="4353347"/>
          </a:xfrm>
        </p:spPr>
        <p:txBody>
          <a:bodyPr>
            <a:normAutofit/>
          </a:bodyPr>
          <a:lstStyle/>
          <a:p>
            <a:r>
              <a:rPr lang="it-IT" dirty="0" smtClean="0"/>
              <a:t>Se in una classe sono presenti inizializzazioni di attributi </a:t>
            </a:r>
            <a:r>
              <a:rPr lang="it-IT" i="1" dirty="0" err="1" smtClean="0"/>
              <a:t>static</a:t>
            </a:r>
            <a:r>
              <a:rPr lang="it-IT" dirty="0" smtClean="0"/>
              <a:t> e </a:t>
            </a:r>
            <a:r>
              <a:rPr lang="it-IT" i="1" dirty="0" smtClean="0"/>
              <a:t>non-</a:t>
            </a:r>
            <a:r>
              <a:rPr lang="it-IT" i="1" dirty="0" err="1" smtClean="0"/>
              <a:t>static</a:t>
            </a:r>
            <a:r>
              <a:rPr lang="it-IT" dirty="0" smtClean="0"/>
              <a:t>, blocchi di inizializzazioni </a:t>
            </a:r>
            <a:r>
              <a:rPr lang="it-IT" i="1" dirty="0" err="1" smtClean="0"/>
              <a:t>static</a:t>
            </a:r>
            <a:r>
              <a:rPr lang="it-IT" dirty="0" smtClean="0"/>
              <a:t> e </a:t>
            </a:r>
            <a:r>
              <a:rPr lang="it-IT" i="1" dirty="0" smtClean="0"/>
              <a:t>non </a:t>
            </a:r>
            <a:r>
              <a:rPr lang="it-IT" i="1" dirty="0" err="1" smtClean="0"/>
              <a:t>static</a:t>
            </a:r>
            <a:r>
              <a:rPr lang="it-IT" dirty="0" smtClean="0"/>
              <a:t>, l’ordine di invocazione è:</a:t>
            </a:r>
          </a:p>
          <a:p>
            <a:pPr marL="759143" lvl="1" indent="-457200">
              <a:buFont typeface="+mj-lt"/>
              <a:buAutoNum type="arabicPeriod"/>
            </a:pPr>
            <a:r>
              <a:rPr lang="it-IT" dirty="0" smtClean="0"/>
              <a:t>inizializzazione degli attributi </a:t>
            </a:r>
            <a:r>
              <a:rPr lang="it-IT" i="1" dirty="0" err="1" smtClean="0"/>
              <a:t>static</a:t>
            </a:r>
            <a:r>
              <a:rPr lang="it-IT" i="1" dirty="0" smtClean="0"/>
              <a:t> </a:t>
            </a:r>
            <a:r>
              <a:rPr lang="it-IT" dirty="0" smtClean="0"/>
              <a:t>e blocchi </a:t>
            </a:r>
            <a:r>
              <a:rPr lang="it-IT" i="1" dirty="0" err="1" smtClean="0"/>
              <a:t>static</a:t>
            </a:r>
            <a:r>
              <a:rPr lang="it-IT" i="1" dirty="0" smtClean="0"/>
              <a:t> </a:t>
            </a:r>
            <a:r>
              <a:rPr lang="it-IT" dirty="0" smtClean="0"/>
              <a:t>nell’ordine in cui sono scritti, al primo accesso alla classe</a:t>
            </a:r>
          </a:p>
          <a:p>
            <a:pPr marL="759143" lvl="1" indent="-457200">
              <a:buFont typeface="+mj-lt"/>
              <a:buAutoNum type="arabicPeriod"/>
            </a:pPr>
            <a:r>
              <a:rPr lang="it-IT" dirty="0" smtClean="0"/>
              <a:t>inizializzazione degli attributi di istanza e dei blocchi di istanza, nell’ordine in cui sono scritti, alla prima </a:t>
            </a:r>
            <a:r>
              <a:rPr lang="it-IT" dirty="0" err="1" smtClean="0"/>
              <a:t>istanziazione</a:t>
            </a:r>
            <a:r>
              <a:rPr lang="it-IT" dirty="0" smtClean="0"/>
              <a:t> di un oggetto</a:t>
            </a:r>
          </a:p>
          <a:p>
            <a:pPr marL="759143" lvl="1" indent="-457200">
              <a:buFont typeface="+mj-lt"/>
              <a:buAutoNum type="arabicPeriod"/>
            </a:pPr>
            <a:r>
              <a:rPr lang="it-IT" dirty="0" smtClean="0"/>
              <a:t>invocazione del </a:t>
            </a:r>
            <a:r>
              <a:rPr lang="it-IT" dirty="0" smtClean="0"/>
              <a:t>costruttore</a:t>
            </a:r>
            <a:endParaRPr lang="it-IT" dirty="0" smtClean="0"/>
          </a:p>
        </p:txBody>
      </p:sp>
      <p:sp>
        <p:nvSpPr>
          <p:cNvPr id="3" name="Segnaposto numero diapositiva 2"/>
          <p:cNvSpPr>
            <a:spLocks noGrp="1"/>
          </p:cNvSpPr>
          <p:nvPr>
            <p:ph type="sldNum" sz="quarter" idx="12"/>
          </p:nvPr>
        </p:nvSpPr>
        <p:spPr/>
        <p:txBody>
          <a:bodyPr/>
          <a:lstStyle/>
          <a:p>
            <a:fld id="{E7A41E1B-4F70-4964-A407-84C68BE8251C}" type="slidenum">
              <a:rPr lang="it-IT" smtClean="0"/>
              <a:t>34</a:t>
            </a:fld>
            <a:endParaRPr lang="it-IT"/>
          </a:p>
        </p:txBody>
      </p:sp>
      <p:sp>
        <p:nvSpPr>
          <p:cNvPr id="4" name="Titolo 3"/>
          <p:cNvSpPr>
            <a:spLocks noGrp="1"/>
          </p:cNvSpPr>
          <p:nvPr>
            <p:ph type="title"/>
          </p:nvPr>
        </p:nvSpPr>
        <p:spPr/>
        <p:txBody>
          <a:bodyPr>
            <a:normAutofit fontScale="90000"/>
          </a:bodyPr>
          <a:lstStyle/>
          <a:p>
            <a:r>
              <a:rPr lang="it-IT" dirty="0" smtClean="0"/>
              <a:t>Ordine di inizializzazione</a:t>
            </a:r>
            <a:br>
              <a:rPr lang="it-IT" dirty="0" smtClean="0"/>
            </a:br>
            <a:r>
              <a:rPr lang="it-IT" dirty="0" smtClean="0"/>
              <a:t>di una classe</a:t>
            </a:r>
            <a:endParaRPr lang="it-IT" dirty="0"/>
          </a:p>
        </p:txBody>
      </p:sp>
    </p:spTree>
    <p:extLst>
      <p:ext uri="{BB962C8B-B14F-4D97-AF65-F5344CB8AC3E}">
        <p14:creationId xmlns:p14="http://schemas.microsoft.com/office/powerpoint/2010/main" val="30181141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nde">
  <a:themeElements>
    <a:clrScheme name="Onde">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nde">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nde">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2488</TotalTime>
  <Words>2147</Words>
  <Application>Microsoft Office PowerPoint</Application>
  <PresentationFormat>Presentazione su schermo (4:3)</PresentationFormat>
  <Paragraphs>242</Paragraphs>
  <Slides>34</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34</vt:i4>
      </vt:variant>
    </vt:vector>
  </HeadingPairs>
  <TitlesOfParts>
    <vt:vector size="38" baseType="lpstr">
      <vt:lpstr>Calibri</vt:lpstr>
      <vt:lpstr>Candara</vt:lpstr>
      <vt:lpstr>Symbol</vt:lpstr>
      <vt:lpstr>Onde</vt:lpstr>
      <vt:lpstr>Classi e oggetti (parte B)</vt:lpstr>
      <vt:lpstr>Oggetti</vt:lpstr>
      <vt:lpstr>Dichiarazione di oggetto</vt:lpstr>
      <vt:lpstr>Istanziazone di un oggetto</vt:lpstr>
      <vt:lpstr>Oggetti, puntatori e aree di memoria (1/3)</vt:lpstr>
      <vt:lpstr>Oggetti, puntatori e aree di memoria (2/3)</vt:lpstr>
      <vt:lpstr>Oggetti, puntatori e aree di memoria (3/3)</vt:lpstr>
      <vt:lpstr>Null e this</vt:lpstr>
      <vt:lpstr>Costruttore di default</vt:lpstr>
      <vt:lpstr>Inizializzazioni di default di Java</vt:lpstr>
      <vt:lpstr>Override del costruttore di default</vt:lpstr>
      <vt:lpstr>Sintassi del costruttore</vt:lpstr>
      <vt:lpstr>Significato del costruttore (1/2)</vt:lpstr>
      <vt:lpstr>Significato del costruttore (2/2)</vt:lpstr>
      <vt:lpstr>Costruttori parametrici</vt:lpstr>
      <vt:lpstr>Costruttori parametrici ed  eliminazione del costruttore di default</vt:lpstr>
      <vt:lpstr>Overloading dei costruttori</vt:lpstr>
      <vt:lpstr>Chiamate tra costruttori Constructor chaining (1/2)</vt:lpstr>
      <vt:lpstr>Chiamate tra costruttori Constructor chaining (2/2)</vt:lpstr>
      <vt:lpstr>Inizializzazione di attributi e blocchi di inizializzazione (1/2) </vt:lpstr>
      <vt:lpstr>Inizializzazione di attributi e blocchi di inizializzazione (2/2)</vt:lpstr>
      <vt:lpstr>Utilizzo di oggetti Dotted notation</vt:lpstr>
      <vt:lpstr>Esempio di uso di oggetti (1/3)</vt:lpstr>
      <vt:lpstr>Esempio di uso di oggetti (2/3)</vt:lpstr>
      <vt:lpstr>Esempio di uso di oggetti (3/3)</vt:lpstr>
      <vt:lpstr>Metodi/funzioni: passaggio dei parametri di input  per valore o per riferimento</vt:lpstr>
      <vt:lpstr>Metodi in Java:  parametri di input sempre passati per valore</vt:lpstr>
      <vt:lpstr>Parola chiave final</vt:lpstr>
      <vt:lpstr>Parola chiave static  attributi static (1/3)</vt:lpstr>
      <vt:lpstr>Parola chiave static  attributi static (2/3)</vt:lpstr>
      <vt:lpstr>Parola chiave static  attributi static (3/3)</vt:lpstr>
      <vt:lpstr>Parola chiave static  metodi static</vt:lpstr>
      <vt:lpstr>Inizializzazione di attributi static e blocchi di inizializzazione static</vt:lpstr>
      <vt:lpstr>Ordine di inizializzazione di una classe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 e oggetti (parte I)</dc:title>
  <dc:creator>Roberto Santoro</dc:creator>
  <cp:lastModifiedBy>Roberto Santoro</cp:lastModifiedBy>
  <cp:revision>123</cp:revision>
  <dcterms:created xsi:type="dcterms:W3CDTF">2020-03-06T14:39:45Z</dcterms:created>
  <dcterms:modified xsi:type="dcterms:W3CDTF">2025-10-03T07:05:55Z</dcterms:modified>
</cp:coreProperties>
</file>