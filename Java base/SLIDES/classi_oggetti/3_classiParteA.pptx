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9144000"/>
  <p:notesSz cx="6858000" cy="9144000"/>
  <p:embeddedFontLst>
    <p:embeddedFont>
      <p:font typeface="Candara"/>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4" roundtripDataSignature="AMtx7mgufrJlwY6sWzhDfd0oYjWv9IdO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andara-regular.fntdata"/><Relationship Id="rId20" Type="http://schemas.openxmlformats.org/officeDocument/2006/relationships/slide" Target="slides/slide15.xml"/><Relationship Id="rId42" Type="http://schemas.openxmlformats.org/officeDocument/2006/relationships/font" Target="fonts/Candara-italic.fntdata"/><Relationship Id="rId41" Type="http://schemas.openxmlformats.org/officeDocument/2006/relationships/font" Target="fonts/Candara-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Candara-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type="title">
  <p:cSld name="TITLE">
    <p:spTree>
      <p:nvGrpSpPr>
        <p:cNvPr id="22" name="Shape 22"/>
        <p:cNvGrpSpPr/>
        <p:nvPr/>
      </p:nvGrpSpPr>
      <p:grpSpPr>
        <a:xfrm>
          <a:off x="0" y="0"/>
          <a:ext cx="0" cy="0"/>
          <a:chOff x="0" y="0"/>
          <a:chExt cx="0" cy="0"/>
        </a:xfrm>
      </p:grpSpPr>
      <p:sp>
        <p:nvSpPr>
          <p:cNvPr id="23" name="Google Shape;23;p36"/>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24" name="Google Shape;24;p36"/>
          <p:cNvGrpSpPr/>
          <p:nvPr/>
        </p:nvGrpSpPr>
        <p:grpSpPr>
          <a:xfrm>
            <a:off x="211665" y="5353963"/>
            <a:ext cx="8723376" cy="1331580"/>
            <a:chOff x="-3905250" y="4294188"/>
            <a:chExt cx="13011150" cy="1892300"/>
          </a:xfrm>
        </p:grpSpPr>
        <p:sp>
          <p:nvSpPr>
            <p:cNvPr id="25" name="Google Shape;25;p36"/>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6" name="Google Shape;26;p36"/>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7" name="Google Shape;27;p36"/>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8" name="Google Shape;28;p36"/>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9" name="Google Shape;29;p36"/>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30" name="Google Shape;30;p36"/>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FFFFFF"/>
              </a:buClr>
              <a:buSzPts val="4400"/>
              <a:buFont typeface="Candara"/>
              <a:buNone/>
              <a:defRPr sz="4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6"/>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SzPts val="2000"/>
              <a:buNone/>
              <a:defRPr sz="2000">
                <a:solidFill>
                  <a:srgbClr val="FFFFFF"/>
                </a:solidFill>
              </a:defRPr>
            </a:lvl1pPr>
            <a:lvl2pPr lvl="1" algn="ctr">
              <a:spcBef>
                <a:spcPts val="440"/>
              </a:spcBef>
              <a:spcAft>
                <a:spcPts val="0"/>
              </a:spcAft>
              <a:buSzPts val="22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20"/>
              </a:spcBef>
              <a:spcAft>
                <a:spcPts val="0"/>
              </a:spcAft>
              <a:buSzPts val="1600"/>
              <a:buNone/>
              <a:defRPr>
                <a:solidFill>
                  <a:srgbClr val="888888"/>
                </a:solidFill>
              </a:defRPr>
            </a:lvl5pPr>
            <a:lvl6pPr lvl="5" algn="ctr">
              <a:spcBef>
                <a:spcPts val="384"/>
              </a:spcBef>
              <a:spcAft>
                <a:spcPts val="0"/>
              </a:spcAft>
              <a:buSzPts val="1400"/>
              <a:buNone/>
              <a:defRPr>
                <a:solidFill>
                  <a:srgbClr val="888888"/>
                </a:solidFill>
              </a:defRPr>
            </a:lvl6pPr>
            <a:lvl7pPr lvl="6" algn="ctr">
              <a:spcBef>
                <a:spcPts val="384"/>
              </a:spcBef>
              <a:spcAft>
                <a:spcPts val="0"/>
              </a:spcAft>
              <a:buSzPts val="1400"/>
              <a:buNone/>
              <a:defRPr>
                <a:solidFill>
                  <a:srgbClr val="888888"/>
                </a:solidFill>
              </a:defRPr>
            </a:lvl7pPr>
            <a:lvl8pPr lvl="7" algn="ctr">
              <a:spcBef>
                <a:spcPts val="384"/>
              </a:spcBef>
              <a:spcAft>
                <a:spcPts val="0"/>
              </a:spcAft>
              <a:buSzPts val="1400"/>
              <a:buNone/>
              <a:defRPr>
                <a:solidFill>
                  <a:srgbClr val="888888"/>
                </a:solidFill>
              </a:defRPr>
            </a:lvl8pPr>
            <a:lvl9pPr lvl="8" algn="ctr">
              <a:spcBef>
                <a:spcPts val="384"/>
              </a:spcBef>
              <a:spcAft>
                <a:spcPts val="0"/>
              </a:spcAft>
              <a:buSzPts val="1400"/>
              <a:buNone/>
              <a:defRPr>
                <a:solidFill>
                  <a:srgbClr val="888888"/>
                </a:solidFill>
              </a:defRPr>
            </a:lvl9pPr>
          </a:lstStyle>
          <a:p/>
        </p:txBody>
      </p:sp>
      <p:sp>
        <p:nvSpPr>
          <p:cNvPr id="32" name="Google Shape;32;p36"/>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6"/>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35" name="Shape 35"/>
        <p:cNvGrpSpPr/>
        <p:nvPr/>
      </p:nvGrpSpPr>
      <p:grpSpPr>
        <a:xfrm>
          <a:off x="0" y="0"/>
          <a:ext cx="0" cy="0"/>
          <a:chOff x="0" y="0"/>
          <a:chExt cx="0" cy="0"/>
        </a:xfrm>
      </p:grpSpPr>
      <p:sp>
        <p:nvSpPr>
          <p:cNvPr id="36" name="Google Shape;36;p37"/>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37" name="Google Shape;37;p37"/>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7"/>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40" name="Google Shape;40;p3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showMasterSp="0" type="secHead">
  <p:cSld name="SECTION_HEADER">
    <p:spTree>
      <p:nvGrpSpPr>
        <p:cNvPr id="41" name="Shape 41"/>
        <p:cNvGrpSpPr/>
        <p:nvPr/>
      </p:nvGrpSpPr>
      <p:grpSpPr>
        <a:xfrm>
          <a:off x="0" y="0"/>
          <a:ext cx="0" cy="0"/>
          <a:chOff x="0" y="0"/>
          <a:chExt cx="0" cy="0"/>
        </a:xfrm>
      </p:grpSpPr>
      <p:sp>
        <p:nvSpPr>
          <p:cNvPr id="42" name="Google Shape;42;p38"/>
          <p:cNvSpPr/>
          <p:nvPr/>
        </p:nvSpPr>
        <p:spPr>
          <a:xfrm>
            <a:off x="228600" y="228600"/>
            <a:ext cx="8695944" cy="4736592"/>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43" name="Google Shape;43;p38"/>
          <p:cNvSpPr/>
          <p:nvPr/>
        </p:nvSpPr>
        <p:spPr>
          <a:xfrm>
            <a:off x="6047438" y="4203592"/>
            <a:ext cx="2876429" cy="714026"/>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4" name="Google Shape;44;p38"/>
          <p:cNvSpPr/>
          <p:nvPr/>
        </p:nvSpPr>
        <p:spPr>
          <a:xfrm>
            <a:off x="2619320" y="4075290"/>
            <a:ext cx="5544515" cy="850138"/>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5" name="Google Shape;45;p38"/>
          <p:cNvSpPr/>
          <p:nvPr/>
        </p:nvSpPr>
        <p:spPr>
          <a:xfrm>
            <a:off x="2828728" y="4087562"/>
            <a:ext cx="5467980" cy="774272"/>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6" name="Google Shape;46;p38"/>
          <p:cNvSpPr/>
          <p:nvPr/>
        </p:nvSpPr>
        <p:spPr>
          <a:xfrm>
            <a:off x="5609489" y="4074174"/>
            <a:ext cx="3308000" cy="651549"/>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7" name="Google Shape;47;p38"/>
          <p:cNvSpPr/>
          <p:nvPr/>
        </p:nvSpPr>
        <p:spPr>
          <a:xfrm>
            <a:off x="211665" y="4058555"/>
            <a:ext cx="8723376" cy="1329874"/>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8" name="Google Shape;48;p38"/>
          <p:cNvSpPr txBox="1"/>
          <p:nvPr>
            <p:ph type="title"/>
          </p:nvPr>
        </p:nvSpPr>
        <p:spPr>
          <a:xfrm>
            <a:off x="690032" y="2463560"/>
            <a:ext cx="7772400" cy="1524000"/>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FFFFFF"/>
              </a:buClr>
              <a:buSzPts val="4400"/>
              <a:buFont typeface="Candara"/>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8"/>
          <p:cNvSpPr txBox="1"/>
          <p:nvPr>
            <p:ph idx="1" type="body"/>
          </p:nvPr>
        </p:nvSpPr>
        <p:spPr>
          <a:xfrm>
            <a:off x="1367365" y="1437448"/>
            <a:ext cx="6417734" cy="939801"/>
          </a:xfrm>
          <a:prstGeom prst="rect">
            <a:avLst/>
          </a:prstGeom>
          <a:noFill/>
          <a:ln>
            <a:noFill/>
          </a:ln>
        </p:spPr>
        <p:txBody>
          <a:bodyPr anchorCtr="0" anchor="b" bIns="45700" lIns="91425" spcFirstLastPara="1" rIns="91425" wrap="square" tIns="45700">
            <a:normAutofit/>
          </a:bodyPr>
          <a:lstStyle>
            <a:lvl1pPr indent="-228600" lvl="0" marL="457200" algn="ctr">
              <a:spcBef>
                <a:spcPts val="400"/>
              </a:spcBef>
              <a:spcAft>
                <a:spcPts val="0"/>
              </a:spcAft>
              <a:buSzPts val="2000"/>
              <a:buNone/>
              <a:defRPr sz="2000">
                <a:solidFill>
                  <a:srgbClr val="FFFFFF"/>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384"/>
              </a:spcBef>
              <a:spcAft>
                <a:spcPts val="0"/>
              </a:spcAft>
              <a:buSzPts val="1400"/>
              <a:buNone/>
              <a:defRPr sz="1400">
                <a:solidFill>
                  <a:srgbClr val="888888"/>
                </a:solidFill>
              </a:defRPr>
            </a:lvl6pPr>
            <a:lvl7pPr indent="-228600" lvl="6" marL="3200400" algn="l">
              <a:spcBef>
                <a:spcPts val="384"/>
              </a:spcBef>
              <a:spcAft>
                <a:spcPts val="0"/>
              </a:spcAft>
              <a:buSzPts val="1400"/>
              <a:buNone/>
              <a:defRPr sz="1400">
                <a:solidFill>
                  <a:srgbClr val="888888"/>
                </a:solidFill>
              </a:defRPr>
            </a:lvl7pPr>
            <a:lvl8pPr indent="-228600" lvl="7" marL="3657600" algn="l">
              <a:spcBef>
                <a:spcPts val="384"/>
              </a:spcBef>
              <a:spcAft>
                <a:spcPts val="0"/>
              </a:spcAft>
              <a:buSzPts val="1400"/>
              <a:buNone/>
              <a:defRPr sz="1400">
                <a:solidFill>
                  <a:srgbClr val="888888"/>
                </a:solidFill>
              </a:defRPr>
            </a:lvl8pPr>
            <a:lvl9pPr indent="-228600" lvl="8" marL="4114800" algn="l">
              <a:spcBef>
                <a:spcPts val="384"/>
              </a:spcBef>
              <a:spcAft>
                <a:spcPts val="0"/>
              </a:spcAft>
              <a:buSzPts val="1400"/>
              <a:buNone/>
              <a:defRPr sz="1400">
                <a:solidFill>
                  <a:srgbClr val="888888"/>
                </a:solidFill>
              </a:defRPr>
            </a:lvl9pPr>
          </a:lstStyle>
          <a:p/>
        </p:txBody>
      </p:sp>
      <p:sp>
        <p:nvSpPr>
          <p:cNvPr id="50" name="Google Shape;50;p38"/>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8"/>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53" name="Shape 53"/>
        <p:cNvGrpSpPr/>
        <p:nvPr/>
      </p:nvGrpSpPr>
      <p:grpSpPr>
        <a:xfrm>
          <a:off x="0" y="0"/>
          <a:ext cx="0" cy="0"/>
          <a:chOff x="0" y="0"/>
          <a:chExt cx="0" cy="0"/>
        </a:xfrm>
      </p:grpSpPr>
      <p:sp>
        <p:nvSpPr>
          <p:cNvPr id="54" name="Google Shape;54;p3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9"/>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9"/>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58" name="Google Shape;58;p39"/>
          <p:cNvSpPr txBox="1"/>
          <p:nvPr>
            <p:ph idx="1" type="body"/>
          </p:nvPr>
        </p:nvSpPr>
        <p:spPr>
          <a:xfrm>
            <a:off x="676655"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59" name="Google Shape;59;p39"/>
          <p:cNvSpPr txBox="1"/>
          <p:nvPr>
            <p:ph idx="2" type="body"/>
          </p:nvPr>
        </p:nvSpPr>
        <p:spPr>
          <a:xfrm>
            <a:off x="4645152"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60" name="Shape 60"/>
        <p:cNvGrpSpPr/>
        <p:nvPr/>
      </p:nvGrpSpPr>
      <p:grpSpPr>
        <a:xfrm>
          <a:off x="0" y="0"/>
          <a:ext cx="0" cy="0"/>
          <a:chOff x="0" y="0"/>
          <a:chExt cx="0" cy="0"/>
        </a:xfrm>
      </p:grpSpPr>
      <p:sp>
        <p:nvSpPr>
          <p:cNvPr id="61" name="Google Shape;61;p4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4400"/>
              <a:buFont typeface="Candar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0"/>
          <p:cNvSpPr txBox="1"/>
          <p:nvPr>
            <p:ph idx="1" type="body"/>
          </p:nvPr>
        </p:nvSpPr>
        <p:spPr>
          <a:xfrm>
            <a:off x="676656" y="2678114"/>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3" name="Google Shape;63;p40"/>
          <p:cNvSpPr txBox="1"/>
          <p:nvPr>
            <p:ph idx="2" type="body"/>
          </p:nvPr>
        </p:nvSpPr>
        <p:spPr>
          <a:xfrm>
            <a:off x="677332" y="3429000"/>
            <a:ext cx="3820055"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4" name="Google Shape;64;p40"/>
          <p:cNvSpPr txBox="1"/>
          <p:nvPr>
            <p:ph idx="3" type="body"/>
          </p:nvPr>
        </p:nvSpPr>
        <p:spPr>
          <a:xfrm>
            <a:off x="4648200" y="2678113"/>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i="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5" name="Google Shape;65;p40"/>
          <p:cNvSpPr txBox="1"/>
          <p:nvPr>
            <p:ph idx="4" type="body"/>
          </p:nvPr>
        </p:nvSpPr>
        <p:spPr>
          <a:xfrm>
            <a:off x="4645025" y="3429000"/>
            <a:ext cx="3822192"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6" name="Google Shape;66;p40"/>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69" name="Shape 69"/>
        <p:cNvGrpSpPr/>
        <p:nvPr/>
      </p:nvGrpSpPr>
      <p:grpSpPr>
        <a:xfrm>
          <a:off x="0" y="0"/>
          <a:ext cx="0" cy="0"/>
          <a:chOff x="0" y="0"/>
          <a:chExt cx="0" cy="0"/>
        </a:xfrm>
      </p:grpSpPr>
      <p:sp>
        <p:nvSpPr>
          <p:cNvPr id="70" name="Google Shape;70;p4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1"/>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1"/>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showMasterSp="0" type="blank">
  <p:cSld name="BLANK">
    <p:spTree>
      <p:nvGrpSpPr>
        <p:cNvPr id="74" name="Shape 74"/>
        <p:cNvGrpSpPr/>
        <p:nvPr/>
      </p:nvGrpSpPr>
      <p:grpSpPr>
        <a:xfrm>
          <a:off x="0" y="0"/>
          <a:ext cx="0" cy="0"/>
          <a:chOff x="0" y="0"/>
          <a:chExt cx="0" cy="0"/>
        </a:xfrm>
      </p:grpSpPr>
      <p:sp>
        <p:nvSpPr>
          <p:cNvPr id="75" name="Google Shape;75;p42"/>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76" name="Google Shape;76;p42"/>
          <p:cNvGrpSpPr/>
          <p:nvPr/>
        </p:nvGrpSpPr>
        <p:grpSpPr>
          <a:xfrm>
            <a:off x="211665" y="714191"/>
            <a:ext cx="8723376" cy="1329874"/>
            <a:chOff x="-3905251" y="4294188"/>
            <a:chExt cx="13027839" cy="1892300"/>
          </a:xfrm>
        </p:grpSpPr>
        <p:sp>
          <p:nvSpPr>
            <p:cNvPr id="77" name="Google Shape;77;p42"/>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8" name="Google Shape;78;p42"/>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9" name="Google Shape;79;p42"/>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0" name="Google Shape;80;p42"/>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1" name="Google Shape;81;p42"/>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82" name="Google Shape;82;p42"/>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2"/>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showMasterSp="0" type="objTx">
  <p:cSld name="OBJECT_WITH_CAPTION_TEXT">
    <p:spTree>
      <p:nvGrpSpPr>
        <p:cNvPr id="85" name="Shape 85"/>
        <p:cNvGrpSpPr/>
        <p:nvPr/>
      </p:nvGrpSpPr>
      <p:grpSpPr>
        <a:xfrm>
          <a:off x="0" y="0"/>
          <a:ext cx="0" cy="0"/>
          <a:chOff x="0" y="0"/>
          <a:chExt cx="0" cy="0"/>
        </a:xfrm>
      </p:grpSpPr>
      <p:sp>
        <p:nvSpPr>
          <p:cNvPr id="86" name="Google Shape;86;p43"/>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87" name="Google Shape;87;p43"/>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3"/>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90" name="Google Shape;90;p43"/>
          <p:cNvSpPr txBox="1"/>
          <p:nvPr>
            <p:ph idx="1" type="body"/>
          </p:nvPr>
        </p:nvSpPr>
        <p:spPr>
          <a:xfrm>
            <a:off x="914400" y="3581400"/>
            <a:ext cx="3352800" cy="1905001"/>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800">
                <a:solidFill>
                  <a:schemeClr val="dk2"/>
                </a:solidFill>
              </a:defRPr>
            </a:lvl1pPr>
            <a:lvl2pPr indent="-228600" lvl="1" marL="914400" algn="l">
              <a:spcBef>
                <a:spcPts val="60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grpSp>
        <p:nvGrpSpPr>
          <p:cNvPr id="91" name="Google Shape;91;p43"/>
          <p:cNvGrpSpPr/>
          <p:nvPr/>
        </p:nvGrpSpPr>
        <p:grpSpPr>
          <a:xfrm>
            <a:off x="211665" y="714191"/>
            <a:ext cx="8723376" cy="1331580"/>
            <a:chOff x="-3905250" y="4294188"/>
            <a:chExt cx="13011150" cy="1892300"/>
          </a:xfrm>
        </p:grpSpPr>
        <p:sp>
          <p:nvSpPr>
            <p:cNvPr id="92" name="Google Shape;92;p43"/>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3" name="Google Shape;93;p43"/>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4" name="Google Shape;94;p43"/>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5" name="Google Shape;95;p43"/>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6" name="Google Shape;96;p43"/>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97" name="Google Shape;97;p43"/>
          <p:cNvSpPr txBox="1"/>
          <p:nvPr>
            <p:ph type="title"/>
          </p:nvPr>
        </p:nvSpPr>
        <p:spPr>
          <a:xfrm>
            <a:off x="914400" y="2286000"/>
            <a:ext cx="3352800" cy="125272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3200"/>
              <a:buFont typeface="Candara"/>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3"/>
          <p:cNvSpPr txBox="1"/>
          <p:nvPr>
            <p:ph idx="2" type="body"/>
          </p:nvPr>
        </p:nvSpPr>
        <p:spPr>
          <a:xfrm>
            <a:off x="4651962" y="1828800"/>
            <a:ext cx="3904076" cy="3810000"/>
          </a:xfrm>
          <a:prstGeom prst="rect">
            <a:avLst/>
          </a:prstGeom>
          <a:noFill/>
          <a:ln>
            <a:noFill/>
          </a:ln>
        </p:spPr>
        <p:txBody>
          <a:bodyPr anchorCtr="0" anchor="ctr" bIns="45700" lIns="91425" spcFirstLastPara="1" rIns="91425" wrap="square" tIns="45700">
            <a:normAutofit/>
          </a:bodyPr>
          <a:lstStyle>
            <a:lvl1pPr indent="-368300" lvl="0" marL="457200" algn="l">
              <a:spcBef>
                <a:spcPts val="440"/>
              </a:spcBef>
              <a:spcAft>
                <a:spcPts val="0"/>
              </a:spcAft>
              <a:buClr>
                <a:schemeClr val="lt1"/>
              </a:buClr>
              <a:buSzPts val="2200"/>
              <a:buChar char="*"/>
              <a:defRPr sz="2200">
                <a:solidFill>
                  <a:schemeClr val="dk2"/>
                </a:solidFill>
              </a:defRPr>
            </a:lvl1pPr>
            <a:lvl2pPr indent="-355600" lvl="1" marL="914400" algn="l">
              <a:spcBef>
                <a:spcPts val="400"/>
              </a:spcBef>
              <a:spcAft>
                <a:spcPts val="0"/>
              </a:spcAft>
              <a:buClr>
                <a:schemeClr val="lt1"/>
              </a:buClr>
              <a:buSzPts val="2000"/>
              <a:buChar char="*"/>
              <a:defRPr sz="2000">
                <a:solidFill>
                  <a:schemeClr val="dk2"/>
                </a:solidFill>
              </a:defRPr>
            </a:lvl2pPr>
            <a:lvl3pPr indent="-342900" lvl="2" marL="1371600" algn="l">
              <a:spcBef>
                <a:spcPts val="360"/>
              </a:spcBef>
              <a:spcAft>
                <a:spcPts val="0"/>
              </a:spcAft>
              <a:buClr>
                <a:schemeClr val="lt1"/>
              </a:buClr>
              <a:buSzPts val="1800"/>
              <a:buChar char="*"/>
              <a:defRPr sz="1800">
                <a:solidFill>
                  <a:schemeClr val="dk2"/>
                </a:solidFill>
              </a:defRPr>
            </a:lvl3pPr>
            <a:lvl4pPr indent="-330200" lvl="3" marL="1828800" algn="l">
              <a:spcBef>
                <a:spcPts val="320"/>
              </a:spcBef>
              <a:spcAft>
                <a:spcPts val="0"/>
              </a:spcAft>
              <a:buClr>
                <a:schemeClr val="lt1"/>
              </a:buClr>
              <a:buSzPts val="1600"/>
              <a:buChar char="*"/>
              <a:defRPr sz="1600">
                <a:solidFill>
                  <a:schemeClr val="dk2"/>
                </a:solidFill>
              </a:defRPr>
            </a:lvl4pPr>
            <a:lvl5pPr indent="-330200" lvl="4" marL="2286000" algn="l">
              <a:spcBef>
                <a:spcPts val="320"/>
              </a:spcBef>
              <a:spcAft>
                <a:spcPts val="0"/>
              </a:spcAft>
              <a:buClr>
                <a:schemeClr val="lt1"/>
              </a:buClr>
              <a:buSzPts val="1600"/>
              <a:buChar char="*"/>
              <a:defRPr sz="1600">
                <a:solidFill>
                  <a:schemeClr val="dk2"/>
                </a:solidFill>
              </a:defRPr>
            </a:lvl5pPr>
            <a:lvl6pPr indent="-355600" lvl="5" marL="2743200" algn="l">
              <a:spcBef>
                <a:spcPts val="384"/>
              </a:spcBef>
              <a:spcAft>
                <a:spcPts val="0"/>
              </a:spcAft>
              <a:buSzPts val="2000"/>
              <a:buChar char="●"/>
              <a:defRPr sz="2000"/>
            </a:lvl6pPr>
            <a:lvl7pPr indent="-355600" lvl="6" marL="3200400" algn="l">
              <a:spcBef>
                <a:spcPts val="384"/>
              </a:spcBef>
              <a:spcAft>
                <a:spcPts val="0"/>
              </a:spcAft>
              <a:buSzPts val="2000"/>
              <a:buChar char="●"/>
              <a:defRPr sz="2000"/>
            </a:lvl7pPr>
            <a:lvl8pPr indent="-355600" lvl="7" marL="3657600" algn="l">
              <a:spcBef>
                <a:spcPts val="384"/>
              </a:spcBef>
              <a:spcAft>
                <a:spcPts val="0"/>
              </a:spcAft>
              <a:buSzPts val="2000"/>
              <a:buChar char="●"/>
              <a:defRPr sz="2000"/>
            </a:lvl8pPr>
            <a:lvl9pPr indent="-355600" lvl="8" marL="4114800" algn="l">
              <a:spcBef>
                <a:spcPts val="384"/>
              </a:spcBef>
              <a:spcAft>
                <a:spcPts val="0"/>
              </a:spcAft>
              <a:buSzPts val="2000"/>
              <a:buChar char="●"/>
              <a:defRPr sz="2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showMasterSp="0" type="picTx">
  <p:cSld name="PICTURE_WITH_CAPTION_TEXT">
    <p:spTree>
      <p:nvGrpSpPr>
        <p:cNvPr id="99" name="Shape 99"/>
        <p:cNvGrpSpPr/>
        <p:nvPr/>
      </p:nvGrpSpPr>
      <p:grpSpPr>
        <a:xfrm>
          <a:off x="0" y="0"/>
          <a:ext cx="0" cy="0"/>
          <a:chOff x="0" y="0"/>
          <a:chExt cx="0" cy="0"/>
        </a:xfrm>
      </p:grpSpPr>
      <p:sp>
        <p:nvSpPr>
          <p:cNvPr id="100" name="Google Shape;100;p44"/>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101" name="Google Shape;101;p44"/>
          <p:cNvGrpSpPr/>
          <p:nvPr/>
        </p:nvGrpSpPr>
        <p:grpSpPr>
          <a:xfrm>
            <a:off x="211665" y="5353963"/>
            <a:ext cx="8723376" cy="1331580"/>
            <a:chOff x="-3905250" y="4294188"/>
            <a:chExt cx="13011150" cy="1892300"/>
          </a:xfrm>
        </p:grpSpPr>
        <p:sp>
          <p:nvSpPr>
            <p:cNvPr id="102" name="Google Shape;102;p44"/>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3" name="Google Shape;103;p44"/>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4" name="Google Shape;104;p44"/>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5" name="Google Shape;105;p44"/>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6" name="Google Shape;106;p44"/>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07" name="Google Shape;107;p44"/>
          <p:cNvSpPr txBox="1"/>
          <p:nvPr>
            <p:ph type="title"/>
          </p:nvPr>
        </p:nvSpPr>
        <p:spPr>
          <a:xfrm>
            <a:off x="4874155" y="338667"/>
            <a:ext cx="3812645" cy="242993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FFFF"/>
              </a:buClr>
              <a:buSzPts val="2800"/>
              <a:buFont typeface="Candara"/>
              <a:buNone/>
              <a:defRPr b="0" sz="28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4"/>
          <p:cNvSpPr txBox="1"/>
          <p:nvPr>
            <p:ph idx="1" type="body"/>
          </p:nvPr>
        </p:nvSpPr>
        <p:spPr>
          <a:xfrm>
            <a:off x="4868333" y="2785533"/>
            <a:ext cx="3818467" cy="2421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rgbClr val="FFFFFF"/>
                </a:solidFill>
              </a:defRPr>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sp>
        <p:nvSpPr>
          <p:cNvPr id="109" name="Google Shape;109;p44"/>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44"/>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4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112" name="Google Shape;112;p44"/>
          <p:cNvSpPr/>
          <p:nvPr>
            <p:ph idx="2" type="pic"/>
          </p:nvPr>
        </p:nvSpPr>
        <p:spPr>
          <a:xfrm>
            <a:off x="838200" y="1371600"/>
            <a:ext cx="3566160" cy="2926080"/>
          </a:xfrm>
          <a:prstGeom prst="roundRect">
            <a:avLst>
              <a:gd fmla="val 3924" name="adj"/>
            </a:avLst>
          </a:prstGeom>
          <a:solidFill>
            <a:schemeClr val="accent1"/>
          </a:solidFill>
          <a:ln>
            <a:noFill/>
          </a:ln>
          <a:effectLst>
            <a:reflection blurRad="0" dir="5400000" dist="5000" endA="0" endPos="30000" kx="0" rotWithShape="0" algn="bl" stA="30000" stPos="0" sy="-100000" ky="0"/>
          </a:effectLst>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113" name="Shape 113"/>
        <p:cNvGrpSpPr/>
        <p:nvPr/>
      </p:nvGrpSpPr>
      <p:grpSpPr>
        <a:xfrm>
          <a:off x="0" y="0"/>
          <a:ext cx="0" cy="0"/>
          <a:chOff x="0" y="0"/>
          <a:chExt cx="0" cy="0"/>
        </a:xfrm>
      </p:grpSpPr>
      <p:sp>
        <p:nvSpPr>
          <p:cNvPr id="114" name="Google Shape;114;p4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45"/>
          <p:cNvSpPr txBox="1"/>
          <p:nvPr>
            <p:ph idx="1" type="body"/>
          </p:nvPr>
        </p:nvSpPr>
        <p:spPr>
          <a:xfrm rot="5400000">
            <a:off x="2850886" y="696648"/>
            <a:ext cx="3450696" cy="7408333"/>
          </a:xfrm>
          <a:prstGeom prst="rect">
            <a:avLst/>
          </a:prstGeom>
          <a:noFill/>
          <a:ln>
            <a:noFill/>
          </a:ln>
        </p:spPr>
        <p:txBody>
          <a:bodyPr anchorCtr="0" anchor="ctr" bIns="45700" lIns="91425" spcFirstLastPara="1" rIns="91425" wrap="square" tIns="45700">
            <a:normAutofit/>
          </a:bodyPr>
          <a:lstStyle>
            <a:lvl1pPr indent="-381000" lvl="0" marL="457200" algn="l">
              <a:spcBef>
                <a:spcPts val="480"/>
              </a:spcBef>
              <a:spcAft>
                <a:spcPts val="0"/>
              </a:spcAft>
              <a:buSzPts val="2400"/>
              <a:buChar char="*"/>
              <a:defRPr/>
            </a:lvl1pPr>
            <a:lvl2pPr indent="-368300" lvl="1" marL="914400" algn="l">
              <a:spcBef>
                <a:spcPts val="440"/>
              </a:spcBef>
              <a:spcAft>
                <a:spcPts val="0"/>
              </a:spcAft>
              <a:buSzPts val="2200"/>
              <a:buChar char="*"/>
              <a:defRPr/>
            </a:lvl2pPr>
            <a:lvl3pPr indent="-355600" lvl="2" marL="1371600" algn="l">
              <a:spcBef>
                <a:spcPts val="400"/>
              </a:spcBef>
              <a:spcAft>
                <a:spcPts val="0"/>
              </a:spcAft>
              <a:buSzPts val="2000"/>
              <a:buChar char="*"/>
              <a:defRPr/>
            </a:lvl3pPr>
            <a:lvl4pPr indent="-342900" lvl="3" marL="1828800" algn="l">
              <a:spcBef>
                <a:spcPts val="360"/>
              </a:spcBef>
              <a:spcAft>
                <a:spcPts val="0"/>
              </a:spcAft>
              <a:buSzPts val="1800"/>
              <a:buChar char="*"/>
              <a:defRPr/>
            </a:lvl4pPr>
            <a:lvl5pPr indent="-330200" lvl="4" marL="2286000" algn="l">
              <a:spcBef>
                <a:spcPts val="320"/>
              </a:spcBef>
              <a:spcAft>
                <a:spcPts val="0"/>
              </a:spcAft>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116" name="Google Shape;116;p45"/>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5"/>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4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showMasterSp="0" type="vertTitleAndTx">
  <p:cSld name="VERTICAL_TITLE_AND_VERTICAL_TEXT">
    <p:spTree>
      <p:nvGrpSpPr>
        <p:cNvPr id="119" name="Shape 119"/>
        <p:cNvGrpSpPr/>
        <p:nvPr/>
      </p:nvGrpSpPr>
      <p:grpSpPr>
        <a:xfrm>
          <a:off x="0" y="0"/>
          <a:ext cx="0" cy="0"/>
          <a:chOff x="0" y="0"/>
          <a:chExt cx="0" cy="0"/>
        </a:xfrm>
      </p:grpSpPr>
      <p:sp>
        <p:nvSpPr>
          <p:cNvPr id="120" name="Google Shape;120;p46"/>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121" name="Google Shape;121;p46"/>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46"/>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grpSp>
        <p:nvGrpSpPr>
          <p:cNvPr id="124" name="Google Shape;124;p46"/>
          <p:cNvGrpSpPr/>
          <p:nvPr/>
        </p:nvGrpSpPr>
        <p:grpSpPr>
          <a:xfrm>
            <a:off x="211665" y="714191"/>
            <a:ext cx="8723376" cy="1331580"/>
            <a:chOff x="-3905250" y="4294188"/>
            <a:chExt cx="13011150" cy="1892300"/>
          </a:xfrm>
        </p:grpSpPr>
        <p:sp>
          <p:nvSpPr>
            <p:cNvPr id="125" name="Google Shape;125;p46"/>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6" name="Google Shape;126;p46"/>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7" name="Google Shape;127;p46"/>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8" name="Google Shape;128;p46"/>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9" name="Google Shape;129;p46"/>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30" name="Google Shape;130;p46"/>
          <p:cNvSpPr txBox="1"/>
          <p:nvPr>
            <p:ph type="title"/>
          </p:nvPr>
        </p:nvSpPr>
        <p:spPr>
          <a:xfrm rot="5400000">
            <a:off x="5414434" y="2662767"/>
            <a:ext cx="4487333"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Candara"/>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46"/>
          <p:cNvSpPr txBox="1"/>
          <p:nvPr>
            <p:ph idx="1" type="body"/>
          </p:nvPr>
        </p:nvSpPr>
        <p:spPr>
          <a:xfrm rot="5400000">
            <a:off x="1223433" y="681567"/>
            <a:ext cx="4487334" cy="6019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accent1"/>
              </a:buClr>
              <a:buSzPts val="2400"/>
              <a:buChar char="*"/>
              <a:defRPr/>
            </a:lvl1pPr>
            <a:lvl2pPr indent="-368300" lvl="1" marL="914400" algn="l">
              <a:spcBef>
                <a:spcPts val="440"/>
              </a:spcBef>
              <a:spcAft>
                <a:spcPts val="0"/>
              </a:spcAft>
              <a:buClr>
                <a:schemeClr val="accent1"/>
              </a:buClr>
              <a:buSzPts val="2200"/>
              <a:buChar char="*"/>
              <a:defRPr/>
            </a:lvl2pPr>
            <a:lvl3pPr indent="-355600" lvl="2" marL="1371600" algn="l">
              <a:spcBef>
                <a:spcPts val="400"/>
              </a:spcBef>
              <a:spcAft>
                <a:spcPts val="0"/>
              </a:spcAft>
              <a:buClr>
                <a:schemeClr val="accent1"/>
              </a:buClr>
              <a:buSzPts val="2000"/>
              <a:buChar char="*"/>
              <a:defRPr/>
            </a:lvl3pPr>
            <a:lvl4pPr indent="-342900" lvl="3" marL="1828800" algn="l">
              <a:spcBef>
                <a:spcPts val="360"/>
              </a:spcBef>
              <a:spcAft>
                <a:spcPts val="0"/>
              </a:spcAft>
              <a:buClr>
                <a:schemeClr val="accent1"/>
              </a:buClr>
              <a:buSzPts val="1800"/>
              <a:buChar char="*"/>
              <a:defRPr/>
            </a:lvl4pPr>
            <a:lvl5pPr indent="-330200" lvl="4" marL="2286000" algn="l">
              <a:spcBef>
                <a:spcPts val="320"/>
              </a:spcBef>
              <a:spcAft>
                <a:spcPts val="0"/>
              </a:spcAft>
              <a:buClr>
                <a:schemeClr val="accent1"/>
              </a:buClr>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p:nvPr/>
        </p:nvSpPr>
        <p:spPr>
          <a:xfrm>
            <a:off x="228600" y="228600"/>
            <a:ext cx="8695944" cy="2468880"/>
          </a:xfrm>
          <a:prstGeom prst="roundRect">
            <a:avLst>
              <a:gd fmla="val 3362"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grpSp>
        <p:nvGrpSpPr>
          <p:cNvPr id="11" name="Google Shape;11;p35"/>
          <p:cNvGrpSpPr/>
          <p:nvPr/>
        </p:nvGrpSpPr>
        <p:grpSpPr>
          <a:xfrm>
            <a:off x="211665" y="1679429"/>
            <a:ext cx="8723376" cy="1329874"/>
            <a:chOff x="-3905251" y="4294188"/>
            <a:chExt cx="13027839" cy="1892300"/>
          </a:xfrm>
        </p:grpSpPr>
        <p:sp>
          <p:nvSpPr>
            <p:cNvPr id="12" name="Google Shape;12;p35"/>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3" name="Google Shape;13;p35"/>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4" name="Google Shape;14;p35"/>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5" name="Google Shape;15;p35"/>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6" name="Google Shape;16;p35"/>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7" name="Google Shape;17;p3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FFFFFF"/>
              </a:buClr>
              <a:buSzPts val="4400"/>
              <a:buFont typeface="Candara"/>
              <a:buNone/>
              <a:defRPr b="0" i="0" sz="4400" u="none" cap="none" strike="noStrike">
                <a:solidFill>
                  <a:srgbClr val="FFFFFF"/>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35"/>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19" name="Google Shape;19;p35"/>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20" name="Google Shape;20;p3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sz="1000" u="none">
                <a:solidFill>
                  <a:schemeClr val="dk2"/>
                </a:solidFill>
                <a:latin typeface="Candara"/>
                <a:ea typeface="Candara"/>
                <a:cs typeface="Candara"/>
                <a:sym typeface="Candara"/>
              </a:defRPr>
            </a:lvl1pPr>
            <a:lvl2pPr indent="0" lvl="1" marL="0" marR="0" rtl="0" algn="ctr">
              <a:spcBef>
                <a:spcPts val="0"/>
              </a:spcBef>
              <a:buNone/>
              <a:defRPr b="0" sz="1000" u="none">
                <a:solidFill>
                  <a:schemeClr val="dk2"/>
                </a:solidFill>
                <a:latin typeface="Candara"/>
                <a:ea typeface="Candara"/>
                <a:cs typeface="Candara"/>
                <a:sym typeface="Candara"/>
              </a:defRPr>
            </a:lvl2pPr>
            <a:lvl3pPr indent="0" lvl="2" marL="0" marR="0" rtl="0" algn="ctr">
              <a:spcBef>
                <a:spcPts val="0"/>
              </a:spcBef>
              <a:buNone/>
              <a:defRPr b="0" sz="1000" u="none">
                <a:solidFill>
                  <a:schemeClr val="dk2"/>
                </a:solidFill>
                <a:latin typeface="Candara"/>
                <a:ea typeface="Candara"/>
                <a:cs typeface="Candara"/>
                <a:sym typeface="Candara"/>
              </a:defRPr>
            </a:lvl3pPr>
            <a:lvl4pPr indent="0" lvl="3" marL="0" marR="0" rtl="0" algn="ctr">
              <a:spcBef>
                <a:spcPts val="0"/>
              </a:spcBef>
              <a:buNone/>
              <a:defRPr b="0" sz="1000" u="none">
                <a:solidFill>
                  <a:schemeClr val="dk2"/>
                </a:solidFill>
                <a:latin typeface="Candara"/>
                <a:ea typeface="Candara"/>
                <a:cs typeface="Candara"/>
                <a:sym typeface="Candara"/>
              </a:defRPr>
            </a:lvl4pPr>
            <a:lvl5pPr indent="0" lvl="4" marL="0" marR="0" rtl="0" algn="ctr">
              <a:spcBef>
                <a:spcPts val="0"/>
              </a:spcBef>
              <a:buNone/>
              <a:defRPr b="0" sz="1000" u="none">
                <a:solidFill>
                  <a:schemeClr val="dk2"/>
                </a:solidFill>
                <a:latin typeface="Candara"/>
                <a:ea typeface="Candara"/>
                <a:cs typeface="Candara"/>
                <a:sym typeface="Candara"/>
              </a:defRPr>
            </a:lvl5pPr>
            <a:lvl6pPr indent="0" lvl="5" marL="0" marR="0" rtl="0" algn="ctr">
              <a:spcBef>
                <a:spcPts val="0"/>
              </a:spcBef>
              <a:buNone/>
              <a:defRPr b="0" sz="1000" u="none">
                <a:solidFill>
                  <a:schemeClr val="dk2"/>
                </a:solidFill>
                <a:latin typeface="Candara"/>
                <a:ea typeface="Candara"/>
                <a:cs typeface="Candara"/>
                <a:sym typeface="Candara"/>
              </a:defRPr>
            </a:lvl6pPr>
            <a:lvl7pPr indent="0" lvl="6" marL="0" marR="0" rtl="0" algn="ctr">
              <a:spcBef>
                <a:spcPts val="0"/>
              </a:spcBef>
              <a:buNone/>
              <a:defRPr b="0" sz="1000" u="none">
                <a:solidFill>
                  <a:schemeClr val="dk2"/>
                </a:solidFill>
                <a:latin typeface="Candara"/>
                <a:ea typeface="Candara"/>
                <a:cs typeface="Candara"/>
                <a:sym typeface="Candara"/>
              </a:defRPr>
            </a:lvl7pPr>
            <a:lvl8pPr indent="0" lvl="7" marL="0" marR="0" rtl="0" algn="ctr">
              <a:spcBef>
                <a:spcPts val="0"/>
              </a:spcBef>
              <a:buNone/>
              <a:defRPr b="0" sz="1000" u="none">
                <a:solidFill>
                  <a:schemeClr val="dk2"/>
                </a:solidFill>
                <a:latin typeface="Candara"/>
                <a:ea typeface="Candara"/>
                <a:cs typeface="Candara"/>
                <a:sym typeface="Candara"/>
              </a:defRPr>
            </a:lvl8pPr>
            <a:lvl9pPr indent="0" lvl="8" marL="0" marR="0" rtl="0" algn="ctr">
              <a:spcBef>
                <a:spcPts val="0"/>
              </a:spcBef>
              <a:buNone/>
              <a:defRPr b="0" sz="1000" u="none">
                <a:solidFill>
                  <a:schemeClr val="dk2"/>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it-IT"/>
              <a:t>‹#›</a:t>
            </a:fld>
            <a:endParaRPr/>
          </a:p>
        </p:txBody>
      </p:sp>
      <p:sp>
        <p:nvSpPr>
          <p:cNvPr id="21" name="Google Shape;21;p35"/>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Candara"/>
                <a:ea typeface="Candara"/>
                <a:cs typeface="Candara"/>
                <a:sym typeface="Candara"/>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Candara"/>
                <a:ea typeface="Candara"/>
                <a:cs typeface="Candara"/>
                <a:sym typeface="Candara"/>
              </a:defRPr>
            </a:lvl2pPr>
            <a:lvl3pPr indent="-355600" lvl="2" marL="13716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Candara"/>
                <a:ea typeface="Candara"/>
                <a:cs typeface="Candara"/>
                <a:sym typeface="Candara"/>
              </a:defRPr>
            </a:lvl3pPr>
            <a:lvl4pPr indent="-342900" lvl="3" marL="1828800" marR="0" rtl="0" algn="l">
              <a:spcBef>
                <a:spcPts val="360"/>
              </a:spcBef>
              <a:spcAft>
                <a:spcPts val="0"/>
              </a:spcAft>
              <a:buClr>
                <a:schemeClr val="accent1"/>
              </a:buClr>
              <a:buSzPts val="1800"/>
              <a:buFont typeface="Noto Sans Symbols"/>
              <a:buChar char="*"/>
              <a:defRPr b="0" i="0" sz="1800" u="none" cap="none" strike="noStrike">
                <a:solidFill>
                  <a:schemeClr val="dk2"/>
                </a:solidFill>
                <a:latin typeface="Candara"/>
                <a:ea typeface="Candara"/>
                <a:cs typeface="Candara"/>
                <a:sym typeface="Candara"/>
              </a:defRPr>
            </a:lvl4pPr>
            <a:lvl5pPr indent="-330200" lvl="4" marL="2286000" marR="0" rtl="0" algn="l">
              <a:spcBef>
                <a:spcPts val="320"/>
              </a:spcBef>
              <a:spcAft>
                <a:spcPts val="0"/>
              </a:spcAft>
              <a:buClr>
                <a:schemeClr val="accent1"/>
              </a:buClr>
              <a:buSzPts val="1600"/>
              <a:buFont typeface="Noto Sans Symbols"/>
              <a:buChar char="*"/>
              <a:defRPr b="0" i="0" sz="1600" u="none" cap="none" strike="noStrike">
                <a:solidFill>
                  <a:schemeClr val="dk2"/>
                </a:solidFill>
                <a:latin typeface="Candara"/>
                <a:ea typeface="Candara"/>
                <a:cs typeface="Candara"/>
                <a:sym typeface="Candara"/>
              </a:defRPr>
            </a:lvl5pPr>
            <a:lvl6pPr indent="-317500" lvl="5" marL="27432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6pPr>
            <a:lvl7pPr indent="-317500" lvl="6" marL="32004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7pPr>
            <a:lvl8pPr indent="-317500" lvl="7" marL="36576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8pPr>
            <a:lvl9pPr indent="-317500" lvl="8" marL="41148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Classi e oggetti</a:t>
            </a:r>
            <a:br>
              <a:rPr lang="it-IT"/>
            </a:br>
            <a:r>
              <a:rPr lang="it-IT"/>
              <a:t>(parte A)</a:t>
            </a:r>
            <a:endParaRPr/>
          </a:p>
        </p:txBody>
      </p:sp>
      <p:sp>
        <p:nvSpPr>
          <p:cNvPr id="137" name="Google Shape;137;p1"/>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100000"/>
              <a:buChar char="*"/>
            </a:pPr>
            <a:r>
              <a:rPr lang="it-IT"/>
              <a:t>Java è un linguaggio object oriented, ovvero orientato agli oggetti. Già da questa definizione si capisce quindi l’importanza che hanno in Java i concetti di </a:t>
            </a:r>
            <a:r>
              <a:rPr b="1" lang="it-IT"/>
              <a:t>classi </a:t>
            </a:r>
            <a:r>
              <a:rPr lang="it-IT"/>
              <a:t>ed</a:t>
            </a:r>
            <a:r>
              <a:rPr b="1" lang="it-IT"/>
              <a:t> oggetti</a:t>
            </a:r>
            <a:endParaRPr/>
          </a:p>
          <a:p>
            <a:pPr indent="-274320" lvl="0" marL="274320" rtl="0" algn="l">
              <a:spcBef>
                <a:spcPts val="444"/>
              </a:spcBef>
              <a:spcAft>
                <a:spcPts val="0"/>
              </a:spcAft>
              <a:buSzPct val="100000"/>
              <a:buChar char="*"/>
            </a:pPr>
            <a:r>
              <a:rPr lang="it-IT"/>
              <a:t>In Java si lavora sempre e solo con oggetti e classi, eccezion fatta per i tipi primitivi</a:t>
            </a:r>
            <a:endParaRPr/>
          </a:p>
          <a:p>
            <a:pPr indent="-274320" lvl="0" marL="274320" rtl="0" algn="l">
              <a:spcBef>
                <a:spcPts val="444"/>
              </a:spcBef>
              <a:spcAft>
                <a:spcPts val="0"/>
              </a:spcAft>
              <a:buSzPct val="100000"/>
              <a:buChar char="*"/>
            </a:pPr>
            <a:r>
              <a:rPr lang="it-IT"/>
              <a:t>in termini discorsivi si usano spesso le parole </a:t>
            </a:r>
            <a:r>
              <a:rPr i="1" lang="it-IT"/>
              <a:t>oggetto</a:t>
            </a:r>
            <a:r>
              <a:rPr lang="it-IT"/>
              <a:t> e </a:t>
            </a:r>
            <a:r>
              <a:rPr i="1" lang="it-IT"/>
              <a:t>classe</a:t>
            </a:r>
            <a:r>
              <a:rPr lang="it-IT"/>
              <a:t> in modo intercambiabile</a:t>
            </a:r>
            <a:endParaRPr/>
          </a:p>
          <a:p>
            <a:pPr indent="-274320" lvl="0" marL="274320" rtl="0" algn="l">
              <a:spcBef>
                <a:spcPts val="444"/>
              </a:spcBef>
              <a:spcAft>
                <a:spcPts val="0"/>
              </a:spcAft>
              <a:buSzPct val="100000"/>
              <a:buChar char="*"/>
            </a:pPr>
            <a:r>
              <a:rPr lang="it-IT"/>
              <a:t>in termini tecnici le due cose sono distinte: </a:t>
            </a:r>
            <a:endParaRPr/>
          </a:p>
          <a:p>
            <a:pPr indent="-274319" lvl="1" marL="576263" rtl="0" algn="l">
              <a:spcBef>
                <a:spcPts val="407"/>
              </a:spcBef>
              <a:spcAft>
                <a:spcPts val="0"/>
              </a:spcAft>
              <a:buSzPct val="100000"/>
              <a:buChar char="*"/>
            </a:pPr>
            <a:r>
              <a:rPr lang="it-IT"/>
              <a:t>la classe è il tipo di dato</a:t>
            </a:r>
            <a:endParaRPr/>
          </a:p>
          <a:p>
            <a:pPr indent="-274319" lvl="1" marL="576263" rtl="0" algn="l">
              <a:spcBef>
                <a:spcPts val="407"/>
              </a:spcBef>
              <a:spcAft>
                <a:spcPts val="0"/>
              </a:spcAft>
              <a:buSzPct val="100000"/>
              <a:buChar char="*"/>
            </a:pPr>
            <a:r>
              <a:rPr lang="it-IT"/>
              <a:t>l’oggetto è una variabile di quel tipo di classe, inizializzata o istanziata (in termini tecnici si parla in modo intercambiabile di oggetto o istanza)</a:t>
            </a:r>
            <a:endParaRPr/>
          </a:p>
        </p:txBody>
      </p:sp>
      <p:sp>
        <p:nvSpPr>
          <p:cNvPr id="143" name="Google Shape;143;p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Definizioni di classi ed oggetti</a:t>
            </a:r>
            <a:endParaRPr/>
          </a:p>
        </p:txBody>
      </p:sp>
      <p:sp>
        <p:nvSpPr>
          <p:cNvPr id="144" name="Google Shape;144;p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
          <p:cNvSpPr txBox="1"/>
          <p:nvPr>
            <p:ph idx="1" type="body"/>
          </p:nvPr>
        </p:nvSpPr>
        <p:spPr>
          <a:xfrm>
            <a:off x="872067" y="1556792"/>
            <a:ext cx="7408333" cy="4569371"/>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00"/>
              <a:buChar char="*"/>
            </a:pPr>
            <a:r>
              <a:rPr lang="it-IT" sz="2200"/>
              <a:t>La programmazione object oriented è prima di tutto un </a:t>
            </a:r>
            <a:r>
              <a:rPr b="1" lang="it-IT" sz="2200"/>
              <a:t>modello concettuale. </a:t>
            </a:r>
            <a:r>
              <a:rPr lang="it-IT" sz="2200"/>
              <a:t>Non si tratta quindi di un concetto legato al linguaggio Java. Esistono diversi linguaggi orientati agli oggetti. La rappresentazione di un sistema attraverso il suo modello ad oggetti è un concetto indipendente dal linguaggio di programmazione che si adotterà per implementare il sistema. In ambito lavorativo esistono diverse figure professionali che operano nel mondo dell’IT (Information Technology) il cui ruolo è quello di analizzare un sistema e definire il suo modello ad oggetti. Queste figure professionali, in teoria, potrebbero anche non avere conoscenze specifiche del linguaggio di programmazione che verrà poi adottato per sviluppare il sistema</a:t>
            </a:r>
            <a:endParaRPr sz="2200"/>
          </a:p>
        </p:txBody>
      </p:sp>
      <p:sp>
        <p:nvSpPr>
          <p:cNvPr id="150" name="Google Shape;150;p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51" name="Google Shape;151;p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Programmazione O.O.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La fase di analisi iniziale porta alla modellazione del sistema che si intende sviluppare, individuando le classi fondamentali che fanno parte del modello del sistema</a:t>
            </a:r>
            <a:endParaRPr/>
          </a:p>
          <a:p>
            <a:pPr indent="-274320" lvl="0" marL="274320" rtl="0" algn="l">
              <a:spcBef>
                <a:spcPts val="480"/>
              </a:spcBef>
              <a:spcAft>
                <a:spcPts val="0"/>
              </a:spcAft>
              <a:buSzPts val="2400"/>
              <a:buChar char="*"/>
            </a:pPr>
            <a:r>
              <a:rPr lang="it-IT"/>
              <a:t>Ciascuna classe rappresenterà un attore fondamentale facente parte del dominio della applicazione che si intenderà realizzare</a:t>
            </a:r>
            <a:endParaRPr/>
          </a:p>
          <a:p>
            <a:pPr indent="-274320" lvl="0" marL="274320" rtl="0" algn="l">
              <a:spcBef>
                <a:spcPts val="480"/>
              </a:spcBef>
              <a:spcAft>
                <a:spcPts val="0"/>
              </a:spcAft>
              <a:buSzPts val="2400"/>
              <a:buChar char="*"/>
            </a:pPr>
            <a:r>
              <a:rPr lang="it-IT"/>
              <a:t>Successivamente si passerà alla progettazione anche delle altre classi che interverranno all’interno del sistema</a:t>
            </a:r>
            <a:endParaRPr/>
          </a:p>
        </p:txBody>
      </p:sp>
      <p:sp>
        <p:nvSpPr>
          <p:cNvPr id="157" name="Google Shape;157;p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58" name="Google Shape;158;p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br>
              <a:rPr lang="it-IT"/>
            </a:br>
            <a:r>
              <a:rPr lang="it-IT"/>
              <a:t>Modellazione del sistema</a:t>
            </a:r>
            <a:br>
              <a:rPr lang="it-IT"/>
            </a:br>
            <a:r>
              <a:rPr lang="it-IT"/>
              <a:t>Individuazioni delle classi</a:t>
            </a:r>
            <a:br>
              <a:rPr lang="it-IT"/>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Ogni classe individuata verrà descritta in termini delle informazioni fondamentali necessaria a descriverla ed in termini delle operazioni che la classe dovrà compiere</a:t>
            </a:r>
            <a:endParaRPr/>
          </a:p>
          <a:p>
            <a:pPr indent="-274320" lvl="0" marL="274320" rtl="0" algn="l">
              <a:spcBef>
                <a:spcPts val="480"/>
              </a:spcBef>
              <a:spcAft>
                <a:spcPts val="0"/>
              </a:spcAft>
              <a:buSzPts val="2400"/>
              <a:buChar char="*"/>
            </a:pPr>
            <a:r>
              <a:rPr lang="it-IT"/>
              <a:t>Le informazioni necessarie a descrivere ciascuna classe sono gli attributi della classe</a:t>
            </a:r>
            <a:endParaRPr/>
          </a:p>
          <a:p>
            <a:pPr indent="-274320" lvl="0" marL="274320" rtl="0" algn="l">
              <a:spcBef>
                <a:spcPts val="480"/>
              </a:spcBef>
              <a:spcAft>
                <a:spcPts val="0"/>
              </a:spcAft>
              <a:buSzPts val="2400"/>
              <a:buChar char="*"/>
            </a:pPr>
            <a:r>
              <a:rPr lang="it-IT"/>
              <a:t>Le operazioni che la classe potrà compiere sono i metodi della classe</a:t>
            </a:r>
            <a:endParaRPr/>
          </a:p>
          <a:p>
            <a:pPr indent="-121920" lvl="0" marL="274320" rtl="0" algn="l">
              <a:spcBef>
                <a:spcPts val="480"/>
              </a:spcBef>
              <a:spcAft>
                <a:spcPts val="0"/>
              </a:spcAft>
              <a:buSzPts val="2400"/>
              <a:buNone/>
            </a:pPr>
            <a:r>
              <a:t/>
            </a:r>
            <a:endParaRPr/>
          </a:p>
        </p:txBody>
      </p:sp>
      <p:sp>
        <p:nvSpPr>
          <p:cNvPr id="164" name="Google Shape;164;p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65" name="Google Shape;165;p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Modellazione del sistema</a:t>
            </a:r>
            <a:br>
              <a:rPr lang="it-IT"/>
            </a:br>
            <a:r>
              <a:rPr lang="it-IT"/>
              <a:t>Attributi e metodi delle classi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Se ad esempio stiamo progettando un sistema software che debba gestire dei corsi didattici, certamente andremo ad identificare come classi del dominio quantomeno le classi: Corso, Studente, Docente, Materia, Aula etc.</a:t>
            </a:r>
            <a:endParaRPr/>
          </a:p>
          <a:p>
            <a:pPr indent="-274320" lvl="0" marL="274320" rtl="0" algn="l">
              <a:spcBef>
                <a:spcPts val="480"/>
              </a:spcBef>
              <a:spcAft>
                <a:spcPts val="0"/>
              </a:spcAft>
              <a:buSzPts val="2400"/>
              <a:buChar char="*"/>
            </a:pPr>
            <a:r>
              <a:rPr lang="it-IT"/>
              <a:t>In primissima battuta ci si potrebbe soffermare anche solo sulla definizione della prima classe fondamentale del sistema, la classe Corso, utilizzando per le altre entità fondamentali del nostro sistema, le classi già disponibili all’interno del Jdk (es. la String per definire il docente, la materia, etc.)</a:t>
            </a:r>
            <a:endParaRPr/>
          </a:p>
        </p:txBody>
      </p:sp>
      <p:sp>
        <p:nvSpPr>
          <p:cNvPr id="171" name="Google Shape;171;p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2" name="Google Shape;172;p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Modellazione del sistema</a:t>
            </a:r>
            <a:br>
              <a:rPr lang="it-IT"/>
            </a:br>
            <a:r>
              <a:rPr lang="it-IT"/>
              <a:t>Esempio – classe Corso (1/4)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7"/>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Si potrebbe quindi iniziare a definire una classe Corso, in base ai suoi attributi nel seguente modo:</a:t>
            </a:r>
            <a:endParaRPr/>
          </a:p>
          <a:p>
            <a:pPr indent="0" lvl="0" marL="0" rtl="0" algn="l">
              <a:spcBef>
                <a:spcPts val="480"/>
              </a:spcBef>
              <a:spcAft>
                <a:spcPts val="0"/>
              </a:spcAft>
              <a:buSzPts val="2400"/>
              <a:buNone/>
            </a:pPr>
            <a:r>
              <a:rPr i="1" lang="it-IT"/>
              <a:t>	public class Corso {</a:t>
            </a:r>
            <a:endParaRPr i="1"/>
          </a:p>
          <a:p>
            <a:pPr indent="0" lvl="0" marL="0" rtl="0" algn="l">
              <a:spcBef>
                <a:spcPts val="480"/>
              </a:spcBef>
              <a:spcAft>
                <a:spcPts val="0"/>
              </a:spcAft>
              <a:buSzPts val="2400"/>
              <a:buNone/>
            </a:pPr>
            <a:r>
              <a:rPr i="1" lang="it-IT"/>
              <a:t>		String docente;</a:t>
            </a:r>
            <a:endParaRPr i="1"/>
          </a:p>
          <a:p>
            <a:pPr indent="0" lvl="0" marL="0" rtl="0" algn="l">
              <a:spcBef>
                <a:spcPts val="480"/>
              </a:spcBef>
              <a:spcAft>
                <a:spcPts val="0"/>
              </a:spcAft>
              <a:buSzPts val="2400"/>
              <a:buNone/>
            </a:pPr>
            <a:r>
              <a:rPr i="1" lang="it-IT"/>
              <a:t>		String materia;</a:t>
            </a:r>
            <a:endParaRPr i="1"/>
          </a:p>
          <a:p>
            <a:pPr indent="0" lvl="0" marL="0" rtl="0" algn="l">
              <a:spcBef>
                <a:spcPts val="480"/>
              </a:spcBef>
              <a:spcAft>
                <a:spcPts val="0"/>
              </a:spcAft>
              <a:buSzPts val="2400"/>
              <a:buNone/>
            </a:pPr>
            <a:r>
              <a:rPr i="1" lang="it-IT"/>
              <a:t>		String aula;</a:t>
            </a:r>
            <a:endParaRPr i="1"/>
          </a:p>
          <a:p>
            <a:pPr indent="0" lvl="0" marL="0" rtl="0" algn="l">
              <a:spcBef>
                <a:spcPts val="480"/>
              </a:spcBef>
              <a:spcAft>
                <a:spcPts val="0"/>
              </a:spcAft>
              <a:buSzPts val="2400"/>
              <a:buNone/>
            </a:pPr>
            <a:r>
              <a:rPr i="1" lang="it-IT"/>
              <a:t>	}	</a:t>
            </a:r>
            <a:endParaRPr i="1"/>
          </a:p>
        </p:txBody>
      </p:sp>
      <p:sp>
        <p:nvSpPr>
          <p:cNvPr id="178" name="Google Shape;178;p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9" name="Google Shape;179;p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Modellazione del sistema</a:t>
            </a:r>
            <a:br>
              <a:rPr lang="it-IT"/>
            </a:br>
            <a:r>
              <a:rPr lang="it-IT"/>
              <a:t>Esempio – classe Corso (2/4)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Successivamente si potrebbe pensare di aggiungere dei metodi che descrivano delle azioni da poter compiere sulla classe Corso</a:t>
            </a:r>
            <a:endParaRPr/>
          </a:p>
          <a:p>
            <a:pPr indent="-274320" lvl="0" marL="274320" rtl="0" algn="l">
              <a:spcBef>
                <a:spcPts val="480"/>
              </a:spcBef>
              <a:spcAft>
                <a:spcPts val="0"/>
              </a:spcAft>
              <a:buSzPts val="2400"/>
              <a:buChar char="*"/>
            </a:pPr>
            <a:r>
              <a:rPr lang="it-IT"/>
              <a:t>Ad esempio si potrebbe aggiungere un metodo che consenta di conoscere il nome del docente (per i dettagli vedremo dopo):</a:t>
            </a:r>
            <a:endParaRPr/>
          </a:p>
          <a:p>
            <a:pPr indent="0" lvl="1" marL="301943" rtl="0" algn="l">
              <a:spcBef>
                <a:spcPts val="360"/>
              </a:spcBef>
              <a:spcAft>
                <a:spcPts val="0"/>
              </a:spcAft>
              <a:buSzPts val="1800"/>
              <a:buNone/>
            </a:pPr>
            <a:r>
              <a:rPr i="1" lang="it-IT" sz="1800"/>
              <a:t>public String getDocente() {</a:t>
            </a:r>
            <a:endParaRPr/>
          </a:p>
          <a:p>
            <a:pPr indent="0" lvl="3" marL="914400" rtl="0" algn="l">
              <a:spcBef>
                <a:spcPts val="360"/>
              </a:spcBef>
              <a:spcAft>
                <a:spcPts val="0"/>
              </a:spcAft>
              <a:buSzPts val="1800"/>
              <a:buNone/>
            </a:pPr>
            <a:r>
              <a:rPr i="1" lang="it-IT"/>
              <a:t>return docente;</a:t>
            </a:r>
            <a:endParaRPr/>
          </a:p>
          <a:p>
            <a:pPr indent="0" lvl="2" marL="627063" rtl="0" algn="l">
              <a:spcBef>
                <a:spcPts val="400"/>
              </a:spcBef>
              <a:spcAft>
                <a:spcPts val="0"/>
              </a:spcAft>
              <a:buSzPts val="1800"/>
              <a:buNone/>
            </a:pPr>
            <a:r>
              <a:rPr i="1" lang="it-IT" sz="1800"/>
              <a:t>}</a:t>
            </a:r>
            <a:r>
              <a:rPr i="1" lang="it-IT"/>
              <a:t> </a:t>
            </a:r>
            <a:endParaRPr i="1"/>
          </a:p>
        </p:txBody>
      </p:sp>
      <p:sp>
        <p:nvSpPr>
          <p:cNvPr id="185" name="Google Shape;185;p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86" name="Google Shape;186;p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Modellazione del sistema</a:t>
            </a:r>
            <a:br>
              <a:rPr lang="it-IT"/>
            </a:br>
            <a:r>
              <a:rPr lang="it-IT"/>
              <a:t>Esempio – classe Corso (3/4)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100000"/>
              <a:buChar char="*"/>
            </a:pPr>
            <a:r>
              <a:rPr lang="it-IT"/>
              <a:t>Aggiungendo anche i metodi alla definizione della classe Corso, avremo qualcosa del genere:</a:t>
            </a:r>
            <a:endParaRPr/>
          </a:p>
          <a:p>
            <a:pPr indent="0" lvl="0" marL="0" rtl="0" algn="l">
              <a:spcBef>
                <a:spcPts val="408"/>
              </a:spcBef>
              <a:spcAft>
                <a:spcPts val="0"/>
              </a:spcAft>
              <a:buSzPct val="100000"/>
              <a:buNone/>
            </a:pPr>
            <a:r>
              <a:rPr i="1" lang="it-IT"/>
              <a:t>	public class Corso {</a:t>
            </a:r>
            <a:endParaRPr i="1"/>
          </a:p>
          <a:p>
            <a:pPr indent="0" lvl="0" marL="0" rtl="0" algn="l">
              <a:spcBef>
                <a:spcPts val="408"/>
              </a:spcBef>
              <a:spcAft>
                <a:spcPts val="0"/>
              </a:spcAft>
              <a:buSzPct val="100000"/>
              <a:buNone/>
            </a:pPr>
            <a:r>
              <a:rPr i="1" lang="it-IT"/>
              <a:t>		String docente;</a:t>
            </a:r>
            <a:endParaRPr i="1"/>
          </a:p>
          <a:p>
            <a:pPr indent="0" lvl="0" marL="0" rtl="0" algn="l">
              <a:spcBef>
                <a:spcPts val="408"/>
              </a:spcBef>
              <a:spcAft>
                <a:spcPts val="0"/>
              </a:spcAft>
              <a:buSzPct val="100000"/>
              <a:buNone/>
            </a:pPr>
            <a:r>
              <a:rPr i="1" lang="it-IT"/>
              <a:t>		String materia;</a:t>
            </a:r>
            <a:endParaRPr i="1"/>
          </a:p>
          <a:p>
            <a:pPr indent="0" lvl="0" marL="0" rtl="0" algn="l">
              <a:spcBef>
                <a:spcPts val="408"/>
              </a:spcBef>
              <a:spcAft>
                <a:spcPts val="0"/>
              </a:spcAft>
              <a:buSzPct val="100000"/>
              <a:buNone/>
            </a:pPr>
            <a:r>
              <a:rPr i="1" lang="it-IT"/>
              <a:t>		String aula;</a:t>
            </a:r>
            <a:endParaRPr/>
          </a:p>
          <a:p>
            <a:pPr indent="0" lvl="0" marL="0" rtl="0" algn="l">
              <a:spcBef>
                <a:spcPts val="408"/>
              </a:spcBef>
              <a:spcAft>
                <a:spcPts val="0"/>
              </a:spcAft>
              <a:buSzPct val="100000"/>
              <a:buNone/>
            </a:pPr>
            <a:r>
              <a:t/>
            </a:r>
            <a:endParaRPr i="1"/>
          </a:p>
          <a:p>
            <a:pPr indent="0" lvl="1" marL="0" rtl="0" algn="l">
              <a:spcBef>
                <a:spcPts val="374"/>
              </a:spcBef>
              <a:spcAft>
                <a:spcPts val="0"/>
              </a:spcAft>
              <a:buSzPct val="100000"/>
              <a:buNone/>
            </a:pPr>
            <a:r>
              <a:rPr i="1" lang="it-IT"/>
              <a:t>		public String getDocente(){</a:t>
            </a:r>
            <a:endParaRPr/>
          </a:p>
          <a:p>
            <a:pPr indent="0" lvl="1" marL="0" rtl="0" algn="l">
              <a:spcBef>
                <a:spcPts val="374"/>
              </a:spcBef>
              <a:spcAft>
                <a:spcPts val="0"/>
              </a:spcAft>
              <a:buSzPct val="100000"/>
              <a:buNone/>
            </a:pPr>
            <a:r>
              <a:rPr i="1" lang="it-IT"/>
              <a:t>			return docente;</a:t>
            </a:r>
            <a:endParaRPr/>
          </a:p>
          <a:p>
            <a:pPr indent="0" lvl="1" marL="0" rtl="0" algn="l">
              <a:spcBef>
                <a:spcPts val="374"/>
              </a:spcBef>
              <a:spcAft>
                <a:spcPts val="0"/>
              </a:spcAft>
              <a:buSzPct val="100000"/>
              <a:buNone/>
            </a:pPr>
            <a:r>
              <a:rPr i="1" lang="it-IT"/>
              <a:t>		} </a:t>
            </a:r>
            <a:endParaRPr/>
          </a:p>
          <a:p>
            <a:pPr indent="0" lvl="0" marL="0" rtl="0" algn="l">
              <a:spcBef>
                <a:spcPts val="408"/>
              </a:spcBef>
              <a:spcAft>
                <a:spcPts val="0"/>
              </a:spcAft>
              <a:buSzPct val="100000"/>
              <a:buNone/>
            </a:pPr>
            <a:r>
              <a:rPr i="1" lang="it-IT"/>
              <a:t>	}</a:t>
            </a:r>
            <a:endParaRPr/>
          </a:p>
          <a:p>
            <a:pPr indent="-274320" lvl="0" marL="274320" rtl="0" algn="l">
              <a:spcBef>
                <a:spcPts val="408"/>
              </a:spcBef>
              <a:spcAft>
                <a:spcPts val="0"/>
              </a:spcAft>
              <a:buSzPct val="100000"/>
              <a:buChar char="*"/>
            </a:pPr>
            <a:r>
              <a:rPr lang="it-IT"/>
              <a:t>La classe Corso così definita andrà salvata in un file di nome Corso.java</a:t>
            </a:r>
            <a:endParaRPr/>
          </a:p>
        </p:txBody>
      </p:sp>
      <p:sp>
        <p:nvSpPr>
          <p:cNvPr id="192" name="Google Shape;192;p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93" name="Google Shape;193;p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Modellazione del sistema</a:t>
            </a:r>
            <a:br>
              <a:rPr lang="it-IT"/>
            </a:br>
            <a:r>
              <a:rPr lang="it-IT"/>
              <a:t>Esempio – classe Corso (4/4)</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idx="1" type="body"/>
          </p:nvPr>
        </p:nvSpPr>
        <p:spPr>
          <a:xfrm>
            <a:off x="899592" y="2276872"/>
            <a:ext cx="7408333" cy="4209331"/>
          </a:xfrm>
          <a:prstGeom prst="rect">
            <a:avLst/>
          </a:prstGeom>
          <a:noFill/>
          <a:ln>
            <a:noFill/>
          </a:ln>
        </p:spPr>
        <p:txBody>
          <a:bodyPr anchorCtr="0" anchor="t" bIns="45700" lIns="91425" spcFirstLastPara="1" rIns="91425" wrap="square" tIns="45700">
            <a:normAutofit fontScale="77500" lnSpcReduction="20000"/>
          </a:bodyPr>
          <a:lstStyle/>
          <a:p>
            <a:pPr indent="-274320" lvl="0" marL="274320" rtl="0" algn="l">
              <a:spcBef>
                <a:spcPts val="0"/>
              </a:spcBef>
              <a:spcAft>
                <a:spcPts val="0"/>
              </a:spcAft>
              <a:buSzPct val="100000"/>
              <a:buChar char="*"/>
            </a:pPr>
            <a:r>
              <a:rPr lang="it-IT" sz="2600"/>
              <a:t>Successivamente si passerà a definire anche le altre classi che faranno parte del nostro sistema. Alcune rappresenteranno l’entità fondamentali del dominio (es. Corso, Docente, Materia), altre rappresenteranno delle entità che consentiranno al sistema di funzionare (es. classi per l’accesso al database, o per la gestione delle richieste web, oppure classi di utilità etc.)</a:t>
            </a:r>
            <a:endParaRPr/>
          </a:p>
          <a:p>
            <a:pPr indent="-274320" lvl="0" marL="274320" rtl="0" algn="l">
              <a:spcBef>
                <a:spcPts val="403"/>
              </a:spcBef>
              <a:spcAft>
                <a:spcPts val="0"/>
              </a:spcAft>
              <a:buSzPct val="100000"/>
              <a:buChar char="*"/>
            </a:pPr>
            <a:r>
              <a:rPr lang="it-IT" sz="2600"/>
              <a:t>La suddetta suddivisione delle classi in base alla funzione che assumono nel nostro sistema porta alla necessità di posizionare le stesse classi in package/folder distinti</a:t>
            </a:r>
            <a:endParaRPr/>
          </a:p>
          <a:p>
            <a:pPr indent="-274320" lvl="0" marL="274320" rtl="0" algn="l">
              <a:spcBef>
                <a:spcPts val="403"/>
              </a:spcBef>
              <a:spcAft>
                <a:spcPts val="0"/>
              </a:spcAft>
              <a:buSzPct val="100000"/>
              <a:buChar char="*"/>
            </a:pPr>
            <a:r>
              <a:rPr lang="it-IT" sz="2600"/>
              <a:t>Un progetto Java presenterà una serie di directory/package distinti, organizzati in una struttura ad albero:</a:t>
            </a:r>
            <a:endParaRPr/>
          </a:p>
          <a:p>
            <a:pPr indent="-274319" lvl="1" marL="576263" rtl="0" algn="l">
              <a:spcBef>
                <a:spcPts val="403"/>
              </a:spcBef>
              <a:spcAft>
                <a:spcPts val="0"/>
              </a:spcAft>
              <a:buSzPct val="100000"/>
              <a:buChar char="*"/>
            </a:pPr>
            <a:r>
              <a:rPr lang="it-IT" sz="2600"/>
              <a:t>esiste una corrispondenza biunivoca tra package Java e directory del sistema operativo</a:t>
            </a:r>
            <a:endParaRPr sz="2600"/>
          </a:p>
        </p:txBody>
      </p:sp>
      <p:sp>
        <p:nvSpPr>
          <p:cNvPr id="199" name="Google Shape;199;p1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00" name="Google Shape;200;p1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Modellazione del sistema</a:t>
            </a:r>
            <a:br>
              <a:rPr lang="it-IT"/>
            </a:br>
            <a:r>
              <a:rPr lang="it-IT"/>
              <a:t>Individuazioni dei package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Un tipico esempio di struttura di folder di sistema operativo di un progetto Java:</a:t>
            </a:r>
            <a:endParaRPr/>
          </a:p>
          <a:p>
            <a:pPr indent="-274319" lvl="1" marL="576263" rtl="0" algn="l">
              <a:spcBef>
                <a:spcPts val="400"/>
              </a:spcBef>
              <a:spcAft>
                <a:spcPts val="0"/>
              </a:spcAft>
              <a:buSzPts val="2000"/>
              <a:buChar char="*"/>
            </a:pPr>
            <a:r>
              <a:rPr lang="it-IT" sz="2000"/>
              <a:t>com</a:t>
            </a:r>
            <a:endParaRPr sz="2000"/>
          </a:p>
          <a:p>
            <a:pPr indent="-228600" lvl="2" marL="855663" rtl="0" algn="l">
              <a:spcBef>
                <a:spcPts val="400"/>
              </a:spcBef>
              <a:spcAft>
                <a:spcPts val="0"/>
              </a:spcAft>
              <a:buSzPts val="2000"/>
              <a:buChar char="*"/>
            </a:pPr>
            <a:r>
              <a:rPr lang="it-IT"/>
              <a:t>azienda</a:t>
            </a:r>
            <a:endParaRPr/>
          </a:p>
          <a:p>
            <a:pPr indent="-228600" lvl="3" marL="1143000" rtl="0" algn="l">
              <a:spcBef>
                <a:spcPts val="400"/>
              </a:spcBef>
              <a:spcAft>
                <a:spcPts val="0"/>
              </a:spcAft>
              <a:buSzPts val="2000"/>
              <a:buChar char="*"/>
            </a:pPr>
            <a:r>
              <a:rPr lang="it-IT" sz="2000"/>
              <a:t>progetto</a:t>
            </a:r>
            <a:endParaRPr/>
          </a:p>
          <a:p>
            <a:pPr indent="-228600" lvl="4" marL="1463040" rtl="0" algn="l">
              <a:spcBef>
                <a:spcPts val="400"/>
              </a:spcBef>
              <a:spcAft>
                <a:spcPts val="0"/>
              </a:spcAft>
              <a:buSzPts val="2000"/>
              <a:buChar char="*"/>
            </a:pPr>
            <a:r>
              <a:rPr lang="it-IT" sz="2000"/>
              <a:t>model</a:t>
            </a:r>
            <a:endParaRPr/>
          </a:p>
          <a:p>
            <a:pPr indent="-228600" lvl="4" marL="1463040" rtl="0" algn="l">
              <a:spcBef>
                <a:spcPts val="400"/>
              </a:spcBef>
              <a:spcAft>
                <a:spcPts val="0"/>
              </a:spcAft>
              <a:buSzPts val="2000"/>
              <a:buChar char="*"/>
            </a:pPr>
            <a:r>
              <a:rPr lang="it-IT" sz="2000"/>
              <a:t>dao</a:t>
            </a:r>
            <a:endParaRPr sz="2000"/>
          </a:p>
          <a:p>
            <a:pPr indent="-228600" lvl="4" marL="1463040" rtl="0" algn="l">
              <a:spcBef>
                <a:spcPts val="400"/>
              </a:spcBef>
              <a:spcAft>
                <a:spcPts val="0"/>
              </a:spcAft>
              <a:buSzPts val="2000"/>
              <a:buChar char="*"/>
            </a:pPr>
            <a:r>
              <a:rPr lang="it-IT" sz="2000"/>
              <a:t>businessLogic</a:t>
            </a:r>
            <a:endParaRPr sz="2000"/>
          </a:p>
          <a:p>
            <a:pPr indent="-228600" lvl="4" marL="1463040" rtl="0" algn="l">
              <a:spcBef>
                <a:spcPts val="400"/>
              </a:spcBef>
              <a:spcAft>
                <a:spcPts val="0"/>
              </a:spcAft>
              <a:buSzPts val="2000"/>
              <a:buChar char="*"/>
            </a:pPr>
            <a:r>
              <a:rPr lang="it-IT" sz="2000"/>
              <a:t>userInterface</a:t>
            </a:r>
            <a:endParaRPr sz="2000"/>
          </a:p>
        </p:txBody>
      </p:sp>
      <p:sp>
        <p:nvSpPr>
          <p:cNvPr id="206" name="Google Shape;206;p1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07" name="Google Shape;207;p1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3200"/>
              <a:buFont typeface="Candara"/>
              <a:buNone/>
            </a:pPr>
            <a:r>
              <a:rPr lang="it-IT" sz="3200"/>
              <a:t>Modellazione del sistema</a:t>
            </a:r>
            <a:br>
              <a:rPr lang="it-IT" sz="3200"/>
            </a:br>
            <a:r>
              <a:rPr lang="it-IT" sz="3200"/>
              <a:t>Struttura di directory </a:t>
            </a:r>
            <a:br>
              <a:rPr lang="it-IT" sz="3200"/>
            </a:br>
            <a:r>
              <a:rPr lang="it-IT" sz="3200"/>
              <a:t>di un progetto Java</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La struttura di directory/folder mostrata nella slide precedente corrisponde ai seguenti package Java:</a:t>
            </a:r>
            <a:endParaRPr/>
          </a:p>
          <a:p>
            <a:pPr indent="-274319" lvl="1" marL="576263" rtl="0" algn="l">
              <a:spcBef>
                <a:spcPts val="440"/>
              </a:spcBef>
              <a:spcAft>
                <a:spcPts val="0"/>
              </a:spcAft>
              <a:buSzPts val="2200"/>
              <a:buChar char="*"/>
            </a:pPr>
            <a:r>
              <a:rPr lang="it-IT"/>
              <a:t>com.azienda.progetto.model</a:t>
            </a:r>
            <a:endParaRPr/>
          </a:p>
          <a:p>
            <a:pPr indent="-274319" lvl="1" marL="576263" rtl="0" algn="l">
              <a:spcBef>
                <a:spcPts val="440"/>
              </a:spcBef>
              <a:spcAft>
                <a:spcPts val="0"/>
              </a:spcAft>
              <a:buSzPts val="2200"/>
              <a:buChar char="*"/>
            </a:pPr>
            <a:r>
              <a:rPr lang="it-IT"/>
              <a:t>com.azienda.progetto.dao</a:t>
            </a:r>
            <a:endParaRPr/>
          </a:p>
          <a:p>
            <a:pPr indent="-274319" lvl="1" marL="576263" rtl="0" algn="l">
              <a:spcBef>
                <a:spcPts val="440"/>
              </a:spcBef>
              <a:spcAft>
                <a:spcPts val="0"/>
              </a:spcAft>
              <a:buSzPts val="2200"/>
              <a:buChar char="*"/>
            </a:pPr>
            <a:r>
              <a:rPr lang="it-IT"/>
              <a:t>com.azienda.progetto.businessLogic</a:t>
            </a:r>
            <a:endParaRPr/>
          </a:p>
          <a:p>
            <a:pPr indent="-274319" lvl="1" marL="576263" rtl="0" algn="l">
              <a:spcBef>
                <a:spcPts val="440"/>
              </a:spcBef>
              <a:spcAft>
                <a:spcPts val="0"/>
              </a:spcAft>
              <a:buSzPts val="2200"/>
              <a:buChar char="*"/>
            </a:pPr>
            <a:r>
              <a:rPr lang="it-IT"/>
              <a:t>com.azienda.progetto.userInterface</a:t>
            </a:r>
            <a:endParaRPr/>
          </a:p>
          <a:p>
            <a:pPr indent="-134619" lvl="1" marL="576263" rtl="0" algn="l">
              <a:spcBef>
                <a:spcPts val="440"/>
              </a:spcBef>
              <a:spcAft>
                <a:spcPts val="0"/>
              </a:spcAft>
              <a:buSzPts val="2200"/>
              <a:buNone/>
            </a:pPr>
            <a:r>
              <a:t/>
            </a:r>
            <a:endParaRPr/>
          </a:p>
        </p:txBody>
      </p:sp>
      <p:sp>
        <p:nvSpPr>
          <p:cNvPr id="213" name="Google Shape;213;p1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14" name="Google Shape;214;p1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sz="3200"/>
              <a:t>Modellazione del sistema</a:t>
            </a:r>
            <a:br>
              <a:rPr lang="it-IT" sz="3200"/>
            </a:br>
            <a:r>
              <a:rPr lang="it-IT" sz="3200"/>
              <a:t>Struttura di package</a:t>
            </a:r>
            <a:br>
              <a:rPr lang="it-IT" sz="3200"/>
            </a:br>
            <a:r>
              <a:rPr lang="it-IT" sz="3200"/>
              <a:t>di un progetto Java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La classe Corso andrà posizionata nel package com.azienda.progetto.model. Sul file system avremo un file di nome Corso.java all’interno della directory com/azienda/progetto/model</a:t>
            </a:r>
            <a:endParaRPr/>
          </a:p>
          <a:p>
            <a:pPr indent="-274320" lvl="0" marL="274320" rtl="0" algn="l">
              <a:spcBef>
                <a:spcPts val="480"/>
              </a:spcBef>
              <a:spcAft>
                <a:spcPts val="0"/>
              </a:spcAft>
              <a:buSzPts val="2400"/>
              <a:buChar char="*"/>
            </a:pPr>
            <a:r>
              <a:rPr lang="it-IT"/>
              <a:t>Il nome Corso rappresenta il «simple name» della classe</a:t>
            </a:r>
            <a:endParaRPr/>
          </a:p>
          <a:p>
            <a:pPr indent="-274320" lvl="0" marL="274320" rtl="0" algn="l">
              <a:spcBef>
                <a:spcPts val="480"/>
              </a:spcBef>
              <a:spcAft>
                <a:spcPts val="0"/>
              </a:spcAft>
              <a:buSzPts val="2400"/>
              <a:buChar char="*"/>
            </a:pPr>
            <a:r>
              <a:rPr lang="it-IT"/>
              <a:t>Il nome com.azienda.progetto.model.Corso è il nome «fully qualified» della classe</a:t>
            </a:r>
            <a:endParaRPr/>
          </a:p>
          <a:p>
            <a:pPr indent="-274320" lvl="0" marL="274320" rtl="0" algn="l">
              <a:spcBef>
                <a:spcPts val="480"/>
              </a:spcBef>
              <a:spcAft>
                <a:spcPts val="0"/>
              </a:spcAft>
              <a:buSzPts val="2400"/>
              <a:buChar char="*"/>
            </a:pPr>
            <a:r>
              <a:rPr lang="it-IT"/>
              <a:t>I nomi «fully qualified» consentono di distinguere classi con lo stesso «simple name» presenti all’interno di package distinti</a:t>
            </a:r>
            <a:endParaRPr/>
          </a:p>
        </p:txBody>
      </p:sp>
      <p:sp>
        <p:nvSpPr>
          <p:cNvPr id="220" name="Google Shape;220;p1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21" name="Google Shape;221;p1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Esempio – package per Corso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4"/>
          <p:cNvSpPr txBox="1"/>
          <p:nvPr>
            <p:ph idx="1" type="body"/>
          </p:nvPr>
        </p:nvSpPr>
        <p:spPr>
          <a:xfrm>
            <a:off x="872067" y="1628800"/>
            <a:ext cx="7408333" cy="449736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it-IT" sz="1600"/>
              <a:t>package</a:t>
            </a:r>
            <a:r>
              <a:rPr lang="it-IT" sz="1600"/>
              <a:t> com.azienda.progetto.model; // </a:t>
            </a:r>
            <a:r>
              <a:rPr lang="it-IT" sz="1600" u="sng"/>
              <a:t>package in cui si trova la classe</a:t>
            </a:r>
            <a:endParaRPr sz="1600"/>
          </a:p>
          <a:p>
            <a:pPr indent="0" lvl="0" marL="0" rtl="0" algn="l">
              <a:spcBef>
                <a:spcPts val="320"/>
              </a:spcBef>
              <a:spcAft>
                <a:spcPts val="0"/>
              </a:spcAft>
              <a:buSzPts val="1600"/>
              <a:buNone/>
            </a:pPr>
            <a:r>
              <a:t/>
            </a:r>
            <a:endParaRPr sz="1600"/>
          </a:p>
          <a:p>
            <a:pPr indent="0" lvl="0" marL="0" rtl="0" algn="l">
              <a:spcBef>
                <a:spcPts val="320"/>
              </a:spcBef>
              <a:spcAft>
                <a:spcPts val="0"/>
              </a:spcAft>
              <a:buSzPts val="1600"/>
              <a:buNone/>
            </a:pPr>
            <a:r>
              <a:rPr b="1" lang="it-IT" sz="1600"/>
              <a:t>public</a:t>
            </a:r>
            <a:r>
              <a:rPr lang="it-IT" sz="1600"/>
              <a:t> </a:t>
            </a:r>
            <a:r>
              <a:rPr b="1" lang="it-IT" sz="1600"/>
              <a:t>class</a:t>
            </a:r>
            <a:r>
              <a:rPr lang="it-IT" sz="1600"/>
              <a:t> Corso {	</a:t>
            </a:r>
            <a:endParaRPr/>
          </a:p>
          <a:p>
            <a:pPr indent="0" lvl="0" marL="0" rtl="0" algn="l">
              <a:spcBef>
                <a:spcPts val="320"/>
              </a:spcBef>
              <a:spcAft>
                <a:spcPts val="0"/>
              </a:spcAft>
              <a:buSzPts val="1600"/>
              <a:buNone/>
            </a:pPr>
            <a:r>
              <a:rPr lang="it-IT" sz="1600"/>
              <a:t>	// INIZIO DICHIARAZIONI ATTRIBUTI</a:t>
            </a:r>
            <a:endParaRPr/>
          </a:p>
          <a:p>
            <a:pPr indent="0" lvl="0" marL="0" rtl="0" algn="l">
              <a:spcBef>
                <a:spcPts val="320"/>
              </a:spcBef>
              <a:spcAft>
                <a:spcPts val="0"/>
              </a:spcAft>
              <a:buSzPts val="1600"/>
              <a:buNone/>
            </a:pPr>
            <a:r>
              <a:rPr lang="it-IT" sz="1600"/>
              <a:t>	</a:t>
            </a:r>
            <a:r>
              <a:rPr b="1" lang="it-IT" sz="1600"/>
              <a:t>private</a:t>
            </a:r>
            <a:r>
              <a:rPr lang="it-IT" sz="1600"/>
              <a:t> String docente;</a:t>
            </a:r>
            <a:endParaRPr sz="1600"/>
          </a:p>
          <a:p>
            <a:pPr indent="0" lvl="0" marL="0" rtl="0" algn="l">
              <a:spcBef>
                <a:spcPts val="320"/>
              </a:spcBef>
              <a:spcAft>
                <a:spcPts val="0"/>
              </a:spcAft>
              <a:buSzPts val="1600"/>
              <a:buNone/>
            </a:pPr>
            <a:r>
              <a:rPr lang="it-IT" sz="1600"/>
              <a:t>	</a:t>
            </a:r>
            <a:r>
              <a:rPr b="1" lang="it-IT" sz="1600"/>
              <a:t>private</a:t>
            </a:r>
            <a:r>
              <a:rPr lang="it-IT" sz="1600"/>
              <a:t> String materia;</a:t>
            </a:r>
            <a:endParaRPr sz="1600"/>
          </a:p>
          <a:p>
            <a:pPr indent="0" lvl="0" marL="0" rtl="0" algn="l">
              <a:spcBef>
                <a:spcPts val="320"/>
              </a:spcBef>
              <a:spcAft>
                <a:spcPts val="0"/>
              </a:spcAft>
              <a:buSzPts val="1600"/>
              <a:buNone/>
            </a:pPr>
            <a:r>
              <a:rPr lang="it-IT" sz="1600"/>
              <a:t>	// FINE DICHIARAZIONI ATTRIBUTI</a:t>
            </a:r>
            <a:endParaRPr/>
          </a:p>
          <a:p>
            <a:pPr indent="0" lvl="0" marL="0" rtl="0" algn="l">
              <a:spcBef>
                <a:spcPts val="320"/>
              </a:spcBef>
              <a:spcAft>
                <a:spcPts val="0"/>
              </a:spcAft>
              <a:buSzPts val="1600"/>
              <a:buNone/>
            </a:pPr>
            <a:r>
              <a:rPr lang="it-IT" sz="1600"/>
              <a:t>	</a:t>
            </a:r>
            <a:endParaRPr/>
          </a:p>
          <a:p>
            <a:pPr indent="0" lvl="0" marL="0" rtl="0" algn="l">
              <a:spcBef>
                <a:spcPts val="320"/>
              </a:spcBef>
              <a:spcAft>
                <a:spcPts val="0"/>
              </a:spcAft>
              <a:buSzPts val="1600"/>
              <a:buNone/>
            </a:pPr>
            <a:r>
              <a:rPr lang="it-IT" sz="1600"/>
              <a:t>	// INIZIO DICHIARAZIONI METODI</a:t>
            </a:r>
            <a:endParaRPr/>
          </a:p>
          <a:p>
            <a:pPr indent="0" lvl="0" marL="0" rtl="0" algn="l">
              <a:spcBef>
                <a:spcPts val="320"/>
              </a:spcBef>
              <a:spcAft>
                <a:spcPts val="0"/>
              </a:spcAft>
              <a:buSzPts val="1600"/>
              <a:buNone/>
            </a:pPr>
            <a:r>
              <a:rPr lang="it-IT" sz="1600"/>
              <a:t>	</a:t>
            </a:r>
            <a:r>
              <a:rPr b="1" lang="it-IT" sz="1600"/>
              <a:t>public</a:t>
            </a:r>
            <a:r>
              <a:rPr lang="it-IT" sz="1600"/>
              <a:t> String getDocente() {</a:t>
            </a:r>
            <a:endParaRPr/>
          </a:p>
          <a:p>
            <a:pPr indent="0" lvl="0" marL="0" rtl="0" algn="l">
              <a:spcBef>
                <a:spcPts val="320"/>
              </a:spcBef>
              <a:spcAft>
                <a:spcPts val="0"/>
              </a:spcAft>
              <a:buSzPts val="1600"/>
              <a:buNone/>
            </a:pPr>
            <a:r>
              <a:rPr lang="it-IT" sz="1600"/>
              <a:t>		</a:t>
            </a:r>
            <a:r>
              <a:rPr b="1" lang="it-IT" sz="1600"/>
              <a:t>return</a:t>
            </a:r>
            <a:r>
              <a:rPr lang="it-IT" sz="1600"/>
              <a:t> docente;</a:t>
            </a:r>
            <a:endParaRPr sz="1600"/>
          </a:p>
          <a:p>
            <a:pPr indent="0" lvl="0" marL="0" rtl="0" algn="l">
              <a:spcBef>
                <a:spcPts val="320"/>
              </a:spcBef>
              <a:spcAft>
                <a:spcPts val="0"/>
              </a:spcAft>
              <a:buSzPts val="1600"/>
              <a:buNone/>
            </a:pPr>
            <a:r>
              <a:rPr lang="it-IT" sz="1600"/>
              <a:t>	}</a:t>
            </a:r>
            <a:endParaRPr sz="1600"/>
          </a:p>
          <a:p>
            <a:pPr indent="0" lvl="0" marL="0" rtl="0" algn="l">
              <a:spcBef>
                <a:spcPts val="320"/>
              </a:spcBef>
              <a:spcAft>
                <a:spcPts val="0"/>
              </a:spcAft>
              <a:buSzPts val="1600"/>
              <a:buNone/>
            </a:pPr>
            <a:r>
              <a:rPr lang="it-IT" sz="1600"/>
              <a:t>	</a:t>
            </a:r>
            <a:r>
              <a:rPr b="1" lang="it-IT" sz="1600"/>
              <a:t>public</a:t>
            </a:r>
            <a:r>
              <a:rPr lang="it-IT" sz="1600"/>
              <a:t> String getMateria() {</a:t>
            </a:r>
            <a:endParaRPr sz="1600"/>
          </a:p>
          <a:p>
            <a:pPr indent="0" lvl="0" marL="0" rtl="0" algn="l">
              <a:spcBef>
                <a:spcPts val="320"/>
              </a:spcBef>
              <a:spcAft>
                <a:spcPts val="0"/>
              </a:spcAft>
              <a:buSzPts val="1600"/>
              <a:buNone/>
            </a:pPr>
            <a:r>
              <a:rPr lang="it-IT" sz="1600"/>
              <a:t>		</a:t>
            </a:r>
            <a:r>
              <a:rPr b="1" lang="it-IT" sz="1600"/>
              <a:t>return</a:t>
            </a:r>
            <a:r>
              <a:rPr lang="it-IT" sz="1600"/>
              <a:t> materia;</a:t>
            </a:r>
            <a:endParaRPr sz="1600"/>
          </a:p>
          <a:p>
            <a:pPr indent="0" lvl="0" marL="0" rtl="0" algn="l">
              <a:spcBef>
                <a:spcPts val="320"/>
              </a:spcBef>
              <a:spcAft>
                <a:spcPts val="0"/>
              </a:spcAft>
              <a:buSzPts val="1600"/>
              <a:buNone/>
            </a:pPr>
            <a:r>
              <a:rPr lang="it-IT" sz="1600"/>
              <a:t>	}</a:t>
            </a:r>
            <a:endParaRPr sz="1600"/>
          </a:p>
          <a:p>
            <a:pPr indent="0" lvl="0" marL="0" rtl="0" algn="l">
              <a:spcBef>
                <a:spcPts val="320"/>
              </a:spcBef>
              <a:spcAft>
                <a:spcPts val="0"/>
              </a:spcAft>
              <a:buSzPts val="1600"/>
              <a:buNone/>
            </a:pPr>
            <a:r>
              <a:rPr lang="it-IT" sz="1600"/>
              <a:t>	// FINE DICHIARAZIONI METODI</a:t>
            </a:r>
            <a:endParaRPr/>
          </a:p>
          <a:p>
            <a:pPr indent="0" lvl="0" marL="0" rtl="0" algn="l">
              <a:spcBef>
                <a:spcPts val="320"/>
              </a:spcBef>
              <a:spcAft>
                <a:spcPts val="0"/>
              </a:spcAft>
              <a:buSzPts val="1600"/>
              <a:buNone/>
            </a:pPr>
            <a:r>
              <a:rPr lang="it-IT" sz="1600"/>
              <a:t>}</a:t>
            </a:r>
            <a:endParaRPr sz="1600"/>
          </a:p>
        </p:txBody>
      </p:sp>
      <p:sp>
        <p:nvSpPr>
          <p:cNvPr id="227" name="Google Shape;227;p1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28" name="Google Shape;228;p1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3200"/>
              <a:buFont typeface="Candara"/>
              <a:buNone/>
            </a:pPr>
            <a:r>
              <a:rPr lang="it-IT" sz="3200"/>
              <a:t>Dichiarazione di una classe</a:t>
            </a:r>
            <a:br>
              <a:rPr lang="it-IT" sz="3200"/>
            </a:br>
            <a:r>
              <a:rPr lang="it-IT" sz="3200"/>
              <a:t>esempio di sintassi</a:t>
            </a:r>
            <a:endParaRPr sz="3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5"/>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La sintassi per la dichiarazione di una classe prevede le seguenti sezioni:</a:t>
            </a:r>
            <a:endParaRPr/>
          </a:p>
          <a:p>
            <a:pPr indent="-274319" lvl="1" marL="576263" rtl="0" algn="l">
              <a:spcBef>
                <a:spcPts val="440"/>
              </a:spcBef>
              <a:spcAft>
                <a:spcPts val="0"/>
              </a:spcAft>
              <a:buSzPts val="2200"/>
              <a:buChar char="*"/>
            </a:pPr>
            <a:r>
              <a:rPr lang="it-IT"/>
              <a:t>definizione del package</a:t>
            </a:r>
            <a:endParaRPr/>
          </a:p>
          <a:p>
            <a:pPr indent="-274319" lvl="1" marL="576263" rtl="0" algn="l">
              <a:spcBef>
                <a:spcPts val="440"/>
              </a:spcBef>
              <a:spcAft>
                <a:spcPts val="0"/>
              </a:spcAft>
              <a:buSzPts val="2200"/>
              <a:buChar char="*"/>
            </a:pPr>
            <a:r>
              <a:rPr lang="it-IT"/>
              <a:t>import di altri package e classi </a:t>
            </a:r>
            <a:endParaRPr/>
          </a:p>
          <a:p>
            <a:pPr indent="-274319" lvl="1" marL="576263" rtl="0" algn="l">
              <a:spcBef>
                <a:spcPts val="440"/>
              </a:spcBef>
              <a:spcAft>
                <a:spcPts val="0"/>
              </a:spcAft>
              <a:buSzPts val="2200"/>
              <a:buChar char="*"/>
            </a:pPr>
            <a:r>
              <a:rPr lang="it-IT"/>
              <a:t>dichiarazione del nome e del qualificatore di accesso (tipicamente </a:t>
            </a:r>
            <a:r>
              <a:rPr i="1" lang="it-IT"/>
              <a:t>public</a:t>
            </a:r>
            <a:r>
              <a:rPr lang="it-IT"/>
              <a:t>, vedi slide seguente) della classe</a:t>
            </a:r>
            <a:endParaRPr/>
          </a:p>
          <a:p>
            <a:pPr indent="-274319" lvl="1" marL="576263" rtl="0" algn="l">
              <a:spcBef>
                <a:spcPts val="440"/>
              </a:spcBef>
              <a:spcAft>
                <a:spcPts val="0"/>
              </a:spcAft>
              <a:buSzPts val="2200"/>
              <a:buChar char="*"/>
            </a:pPr>
            <a:r>
              <a:rPr lang="it-IT"/>
              <a:t>dichiarazione (e inizializzazione) degli attributi</a:t>
            </a:r>
            <a:endParaRPr/>
          </a:p>
          <a:p>
            <a:pPr indent="-274319" lvl="1" marL="576263" rtl="0" algn="l">
              <a:spcBef>
                <a:spcPts val="440"/>
              </a:spcBef>
              <a:spcAft>
                <a:spcPts val="0"/>
              </a:spcAft>
              <a:buSzPts val="2200"/>
              <a:buChar char="*"/>
            </a:pPr>
            <a:r>
              <a:rPr lang="it-IT"/>
              <a:t>dichiarazione ed implementazione dei metodi</a:t>
            </a:r>
            <a:endParaRPr/>
          </a:p>
        </p:txBody>
      </p:sp>
      <p:sp>
        <p:nvSpPr>
          <p:cNvPr id="234" name="Google Shape;234;p1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35" name="Google Shape;235;p1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sintassi: sezioni principali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92500" lnSpcReduction="20000"/>
          </a:bodyPr>
          <a:lstStyle/>
          <a:p>
            <a:pPr indent="-133350" lvl="2" marL="274320" rtl="0" algn="l">
              <a:spcBef>
                <a:spcPts val="0"/>
              </a:spcBef>
              <a:spcAft>
                <a:spcPts val="0"/>
              </a:spcAft>
              <a:buSzPct val="100000"/>
              <a:buNone/>
            </a:pPr>
            <a:r>
              <a:t/>
            </a:r>
            <a:endParaRPr sz="2400"/>
          </a:p>
          <a:p>
            <a:pPr indent="-274320" lvl="2" marL="274320" rtl="0" algn="l">
              <a:spcBef>
                <a:spcPts val="444"/>
              </a:spcBef>
              <a:spcAft>
                <a:spcPts val="0"/>
              </a:spcAft>
              <a:buSzPct val="100000"/>
              <a:buChar char="*"/>
            </a:pPr>
            <a:r>
              <a:rPr lang="it-IT" sz="2400"/>
              <a:t>all’interno di un file Java, possiamo creare più di una classe e possiamo persino creare classi che contengono altre classi (</a:t>
            </a:r>
            <a:r>
              <a:rPr i="1" lang="it-IT" sz="2400"/>
              <a:t>inner-classes</a:t>
            </a:r>
            <a:r>
              <a:rPr lang="it-IT" sz="2400"/>
              <a:t>)</a:t>
            </a:r>
            <a:endParaRPr/>
          </a:p>
          <a:p>
            <a:pPr indent="-274320" lvl="2" marL="274320" rtl="0" algn="l">
              <a:spcBef>
                <a:spcPts val="444"/>
              </a:spcBef>
              <a:spcAft>
                <a:spcPts val="0"/>
              </a:spcAft>
              <a:buSzPct val="100000"/>
              <a:buChar char="*"/>
            </a:pPr>
            <a:r>
              <a:rPr lang="it-IT" sz="2400"/>
              <a:t>una classe (che non sia </a:t>
            </a:r>
            <a:r>
              <a:rPr i="1" lang="it-IT" sz="2400"/>
              <a:t>inner</a:t>
            </a:r>
            <a:r>
              <a:rPr lang="it-IT" sz="2400"/>
              <a:t>) può avere o qualificatore </a:t>
            </a:r>
            <a:r>
              <a:rPr i="1" lang="it-IT" sz="2400"/>
              <a:t>public</a:t>
            </a:r>
            <a:r>
              <a:rPr lang="it-IT" sz="2400"/>
              <a:t> (al massimo una per file) o non averlo proprio (</a:t>
            </a:r>
            <a:r>
              <a:rPr i="1" lang="it-IT" sz="2400"/>
              <a:t>default</a:t>
            </a:r>
            <a:r>
              <a:rPr lang="it-IT" sz="2400"/>
              <a:t>). Solo le </a:t>
            </a:r>
            <a:r>
              <a:rPr i="1" lang="it-IT" sz="2400"/>
              <a:t>inner-classes</a:t>
            </a:r>
            <a:r>
              <a:rPr lang="it-IT" sz="2400"/>
              <a:t> possono avere anche qualificatore </a:t>
            </a:r>
            <a:r>
              <a:rPr i="1" lang="it-IT" sz="2400"/>
              <a:t>private</a:t>
            </a:r>
            <a:r>
              <a:rPr lang="it-IT" sz="2400"/>
              <a:t> e </a:t>
            </a:r>
            <a:r>
              <a:rPr i="1" lang="it-IT" sz="2400"/>
              <a:t>protected</a:t>
            </a:r>
            <a:endParaRPr i="1" sz="2400"/>
          </a:p>
          <a:p>
            <a:pPr indent="-274320" lvl="2" marL="274320" rtl="0" algn="l">
              <a:spcBef>
                <a:spcPts val="444"/>
              </a:spcBef>
              <a:spcAft>
                <a:spcPts val="0"/>
              </a:spcAft>
              <a:buSzPct val="100000"/>
              <a:buChar char="*"/>
            </a:pPr>
            <a:r>
              <a:rPr lang="it-IT" sz="2400"/>
              <a:t>pertanto in un unico file posso avere più classi senza qualificatore (</a:t>
            </a:r>
            <a:r>
              <a:rPr i="1" lang="it-IT" sz="2400"/>
              <a:t>default</a:t>
            </a:r>
            <a:r>
              <a:rPr lang="it-IT" sz="2400"/>
              <a:t>) </a:t>
            </a:r>
            <a:r>
              <a:rPr b="1" lang="it-IT" sz="2400"/>
              <a:t>e, in ogni caso, al massimo una sola classe può essere public (senza contare però le </a:t>
            </a:r>
            <a:r>
              <a:rPr b="1" i="1" lang="it-IT" sz="2400"/>
              <a:t>inner</a:t>
            </a:r>
            <a:r>
              <a:rPr b="1" lang="it-IT" sz="2400"/>
              <a:t>)</a:t>
            </a:r>
            <a:endParaRPr/>
          </a:p>
          <a:p>
            <a:pPr indent="-274320" lvl="2" marL="274320" rtl="0" algn="l">
              <a:spcBef>
                <a:spcPts val="444"/>
              </a:spcBef>
              <a:spcAft>
                <a:spcPts val="0"/>
              </a:spcAft>
              <a:buSzPct val="100000"/>
              <a:buChar char="*"/>
            </a:pPr>
            <a:r>
              <a:rPr lang="it-IT" sz="2400"/>
              <a:t>l’unica classe </a:t>
            </a:r>
            <a:r>
              <a:rPr i="1" lang="it-IT" sz="2400"/>
              <a:t>public </a:t>
            </a:r>
            <a:r>
              <a:rPr lang="it-IT" sz="2400"/>
              <a:t>(se esiste) deve avere il nome del file .java (in modo </a:t>
            </a:r>
            <a:r>
              <a:rPr i="1" lang="it-IT" sz="2400"/>
              <a:t>case sensitive</a:t>
            </a:r>
            <a:r>
              <a:rPr lang="it-IT" sz="2400"/>
              <a:t>) </a:t>
            </a:r>
            <a:endParaRPr i="1" sz="2400"/>
          </a:p>
        </p:txBody>
      </p:sp>
      <p:sp>
        <p:nvSpPr>
          <p:cNvPr id="241" name="Google Shape;241;p1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42" name="Google Shape;242;p1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 </a:t>
            </a:r>
            <a:br>
              <a:rPr lang="it-IT"/>
            </a:br>
            <a:r>
              <a:rPr lang="it-IT"/>
              <a:t>casi particolari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E’ sempre la prima istruzione del codice sorgente della classe. La scelta dei nomi dei package è arbitraria, anche se consigliamo di attenersi alla convenzione che abbiamo descritto nella sessione precedente (dominio web-nomeAzienda-nomeProgetto) per la radice di tutti i package e di qui in poi usare nomi di sotto-package che siano quanto più possibile auto-esplicativi</a:t>
            </a:r>
            <a:endParaRPr/>
          </a:p>
          <a:p>
            <a:pPr indent="-274320" lvl="0" marL="274320" rtl="0" algn="l">
              <a:spcBef>
                <a:spcPts val="444"/>
              </a:spcBef>
              <a:spcAft>
                <a:spcPts val="0"/>
              </a:spcAft>
              <a:buSzPct val="100000"/>
              <a:buChar char="*"/>
            </a:pPr>
            <a:r>
              <a:rPr lang="it-IT"/>
              <a:t>Il nome del package insieme al nome della classe compone il nome </a:t>
            </a:r>
            <a:r>
              <a:rPr b="1" lang="it-IT"/>
              <a:t>fully-qualified</a:t>
            </a:r>
            <a:r>
              <a:rPr lang="it-IT"/>
              <a:t> (o nome completo, pienamente qualificato) della classe. Dal punto di vista della JVM (Java Virtual Machine) il vero nome della nostra classe d’esempio non è soltanto </a:t>
            </a:r>
            <a:r>
              <a:rPr i="1" lang="it-IT"/>
              <a:t>Corso</a:t>
            </a:r>
            <a:r>
              <a:rPr lang="it-IT"/>
              <a:t> (che prende il nome di </a:t>
            </a:r>
            <a:r>
              <a:rPr b="1" lang="it-IT"/>
              <a:t>simple-name</a:t>
            </a:r>
            <a:r>
              <a:rPr lang="it-IT"/>
              <a:t>) ma </a:t>
            </a:r>
            <a:r>
              <a:rPr i="1" lang="it-IT"/>
              <a:t>com.azienda.progetto.model.Corso</a:t>
            </a:r>
            <a:endParaRPr/>
          </a:p>
        </p:txBody>
      </p:sp>
      <p:sp>
        <p:nvSpPr>
          <p:cNvPr id="248" name="Google Shape;248;p1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49" name="Google Shape;249;p1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sezione «package»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8"/>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000"/>
              <a:buChar char="*"/>
            </a:pPr>
            <a:r>
              <a:rPr lang="it-IT" sz="2000"/>
              <a:t>La nostra classe può fare riferimento ad altre classi (fornite dal JDK o create da noi). In tal caso le classi usate vanno importate nella nostra classe usando la clausola «import» seguita dal nome fully-qualified della classe usata o in alternativa va usato sempre il nome fully-qualified della classe</a:t>
            </a:r>
            <a:endParaRPr/>
          </a:p>
          <a:p>
            <a:pPr indent="-274320" lvl="0" marL="274320" rtl="0" algn="l">
              <a:spcBef>
                <a:spcPts val="400"/>
              </a:spcBef>
              <a:spcAft>
                <a:spcPts val="0"/>
              </a:spcAft>
              <a:buSzPts val="2000"/>
              <a:buChar char="*"/>
            </a:pPr>
            <a:r>
              <a:rPr lang="it-IT" sz="2000"/>
              <a:t>Nel nostro esempio per usare l’attributo </a:t>
            </a:r>
            <a:r>
              <a:rPr i="1" lang="it-IT" sz="2000"/>
              <a:t>String docente</a:t>
            </a:r>
            <a:r>
              <a:rPr lang="it-IT" sz="2000"/>
              <a:t>, poiché </a:t>
            </a:r>
            <a:r>
              <a:rPr i="1" lang="it-IT" sz="2000"/>
              <a:t>String</a:t>
            </a:r>
            <a:r>
              <a:rPr lang="it-IT" sz="2000"/>
              <a:t> è la una classe del Jdk presente nel package </a:t>
            </a:r>
            <a:r>
              <a:rPr i="1" lang="it-IT" sz="2000"/>
              <a:t>java.lang</a:t>
            </a:r>
            <a:r>
              <a:rPr lang="it-IT" sz="2000"/>
              <a:t>, dovremmo scrivere </a:t>
            </a:r>
            <a:r>
              <a:rPr i="1" lang="it-IT" sz="2000"/>
              <a:t>java.lang.String docente</a:t>
            </a:r>
            <a:r>
              <a:rPr lang="it-IT" sz="2000"/>
              <a:t> o in alternativa mettere nella dichiarazione della classe, subito dopo il «package», la clausola «import java.lang.String»</a:t>
            </a:r>
            <a:endParaRPr sz="2000"/>
          </a:p>
          <a:p>
            <a:pPr indent="-274320" lvl="0" marL="274320" rtl="0" algn="l">
              <a:spcBef>
                <a:spcPts val="400"/>
              </a:spcBef>
              <a:spcAft>
                <a:spcPts val="0"/>
              </a:spcAft>
              <a:buSzPts val="2000"/>
              <a:buChar char="*"/>
            </a:pPr>
            <a:r>
              <a:rPr lang="it-IT" sz="2000"/>
              <a:t>L’unica eccezione a questa regola sono proprio le classi del Jdk contenute nel package java.lang (e ovviamente le eventuali altre classi nostre presenti nello stesso package), in quanto queste vengono importate in automatico da Java</a:t>
            </a:r>
            <a:endParaRPr/>
          </a:p>
        </p:txBody>
      </p:sp>
      <p:sp>
        <p:nvSpPr>
          <p:cNvPr id="255" name="Google Shape;255;p1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56" name="Google Shape;256;p1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sezione «import» (1/6)</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sz="2200"/>
              <a:t>Se però volessimo aggiungere alla nostra classe </a:t>
            </a:r>
            <a:r>
              <a:rPr i="1" lang="it-IT" sz="2200"/>
              <a:t>Corso </a:t>
            </a:r>
            <a:r>
              <a:rPr lang="it-IT" sz="2200"/>
              <a:t>un attributo che rappresenti la data di inizio del corso usando la classe del JDK </a:t>
            </a:r>
            <a:r>
              <a:rPr i="1" lang="it-IT" sz="2200"/>
              <a:t>java.util.Date </a:t>
            </a:r>
            <a:r>
              <a:rPr lang="it-IT" sz="2200"/>
              <a:t>saremmo costretti o a mettere la clausola «import» all’inizio o ad usare sempre il nome fully-qualified </a:t>
            </a:r>
            <a:r>
              <a:rPr i="1" lang="it-IT" sz="2200"/>
              <a:t>java.lang.Date</a:t>
            </a:r>
            <a:r>
              <a:rPr lang="it-IT" sz="1800"/>
              <a:t> </a:t>
            </a:r>
            <a:endParaRPr sz="1800"/>
          </a:p>
          <a:p>
            <a:pPr indent="-274319" lvl="1" marL="576263" rtl="0" algn="l">
              <a:spcBef>
                <a:spcPts val="333"/>
              </a:spcBef>
              <a:spcAft>
                <a:spcPts val="0"/>
              </a:spcAft>
              <a:buSzPct val="100000"/>
              <a:buChar char="*"/>
            </a:pPr>
            <a:r>
              <a:rPr lang="it-IT" sz="1800"/>
              <a:t>prima opzione:</a:t>
            </a:r>
            <a:endParaRPr/>
          </a:p>
          <a:p>
            <a:pPr indent="0" lvl="0" marL="0" rtl="0" algn="l">
              <a:spcBef>
                <a:spcPts val="333"/>
              </a:spcBef>
              <a:spcAft>
                <a:spcPts val="0"/>
              </a:spcAft>
              <a:buSzPct val="100000"/>
              <a:buNone/>
            </a:pPr>
            <a:r>
              <a:rPr i="1" lang="it-IT" sz="1800"/>
              <a:t>	package com.azienda.progetto.model; </a:t>
            </a:r>
            <a:endParaRPr i="1" sz="1800"/>
          </a:p>
          <a:p>
            <a:pPr indent="0" lvl="0" marL="0" rtl="0" algn="l">
              <a:spcBef>
                <a:spcPts val="333"/>
              </a:spcBef>
              <a:spcAft>
                <a:spcPts val="0"/>
              </a:spcAft>
              <a:buSzPct val="100000"/>
              <a:buNone/>
            </a:pPr>
            <a:r>
              <a:rPr i="1" lang="it-IT" sz="1800"/>
              <a:t>	import java.util.Date;</a:t>
            </a:r>
            <a:endParaRPr/>
          </a:p>
          <a:p>
            <a:pPr indent="0" lvl="0" marL="0" rtl="0" algn="l">
              <a:spcBef>
                <a:spcPts val="333"/>
              </a:spcBef>
              <a:spcAft>
                <a:spcPts val="0"/>
              </a:spcAft>
              <a:buSzPct val="100000"/>
              <a:buNone/>
            </a:pPr>
            <a:r>
              <a:rPr i="1" lang="it-IT" sz="1800"/>
              <a:t>	public class Corso {	</a:t>
            </a:r>
            <a:endParaRPr/>
          </a:p>
          <a:p>
            <a:pPr indent="0" lvl="0" marL="0" rtl="0" algn="l">
              <a:spcBef>
                <a:spcPts val="333"/>
              </a:spcBef>
              <a:spcAft>
                <a:spcPts val="0"/>
              </a:spcAft>
              <a:buSzPct val="100000"/>
              <a:buNone/>
            </a:pPr>
            <a:r>
              <a:rPr i="1" lang="it-IT" sz="1800"/>
              <a:t>		private Date dataInizioCorso = null;</a:t>
            </a:r>
            <a:endParaRPr/>
          </a:p>
          <a:p>
            <a:pPr indent="-274319" lvl="1" marL="576263" rtl="0" algn="l">
              <a:spcBef>
                <a:spcPts val="333"/>
              </a:spcBef>
              <a:spcAft>
                <a:spcPts val="0"/>
              </a:spcAft>
              <a:buSzPct val="100000"/>
              <a:buChar char="*"/>
            </a:pPr>
            <a:r>
              <a:rPr lang="it-IT" sz="1800"/>
              <a:t>seconda opzione:</a:t>
            </a:r>
            <a:endParaRPr/>
          </a:p>
          <a:p>
            <a:pPr indent="0" lvl="1" marL="301943" rtl="0" algn="l">
              <a:spcBef>
                <a:spcPts val="333"/>
              </a:spcBef>
              <a:spcAft>
                <a:spcPts val="0"/>
              </a:spcAft>
              <a:buSzPct val="100000"/>
              <a:buNone/>
            </a:pPr>
            <a:r>
              <a:rPr i="1" lang="it-IT" sz="1800"/>
              <a:t>	package com.azienda.progetto.model;</a:t>
            </a:r>
            <a:endParaRPr/>
          </a:p>
          <a:p>
            <a:pPr indent="0" lvl="1" marL="301943" rtl="0" algn="l">
              <a:spcBef>
                <a:spcPts val="333"/>
              </a:spcBef>
              <a:spcAft>
                <a:spcPts val="0"/>
              </a:spcAft>
              <a:buSzPct val="100000"/>
              <a:buNone/>
            </a:pPr>
            <a:r>
              <a:rPr i="1" lang="it-IT" sz="1800"/>
              <a:t>	public class Corso {</a:t>
            </a:r>
            <a:endParaRPr sz="1800"/>
          </a:p>
          <a:p>
            <a:pPr indent="0" lvl="1" marL="301943" rtl="0" algn="l">
              <a:spcBef>
                <a:spcPts val="333"/>
              </a:spcBef>
              <a:spcAft>
                <a:spcPts val="0"/>
              </a:spcAft>
              <a:buSzPct val="100000"/>
              <a:buNone/>
            </a:pPr>
            <a:r>
              <a:rPr i="1" lang="it-IT" sz="1800"/>
              <a:t>		private java.util.Date dataInizioCorso = null;</a:t>
            </a:r>
            <a:endParaRPr sz="1800"/>
          </a:p>
          <a:p>
            <a:pPr indent="-133350" lvl="0" marL="274320" rtl="0" algn="l">
              <a:spcBef>
                <a:spcPts val="444"/>
              </a:spcBef>
              <a:spcAft>
                <a:spcPts val="0"/>
              </a:spcAft>
              <a:buSzPct val="100000"/>
              <a:buNone/>
            </a:pPr>
            <a:r>
              <a:t/>
            </a:r>
            <a:endParaRPr/>
          </a:p>
        </p:txBody>
      </p:sp>
      <p:sp>
        <p:nvSpPr>
          <p:cNvPr id="262" name="Google Shape;262;p1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63" name="Google Shape;263;p1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sezione «import» (2/6)</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E’ anche possibile, ma sconsigliato, usare:</a:t>
            </a:r>
            <a:endParaRPr/>
          </a:p>
          <a:p>
            <a:pPr indent="0" lvl="2" marL="581343" rtl="0" algn="l">
              <a:spcBef>
                <a:spcPts val="400"/>
              </a:spcBef>
              <a:spcAft>
                <a:spcPts val="0"/>
              </a:spcAft>
              <a:buSzPts val="2000"/>
              <a:buNone/>
            </a:pPr>
            <a:r>
              <a:rPr i="1" lang="it-IT"/>
              <a:t>import java.util.*;</a:t>
            </a:r>
            <a:endParaRPr/>
          </a:p>
          <a:p>
            <a:pPr indent="-274320" lvl="0" marL="274320" rtl="0" algn="l">
              <a:spcBef>
                <a:spcPts val="480"/>
              </a:spcBef>
              <a:spcAft>
                <a:spcPts val="0"/>
              </a:spcAft>
              <a:buSzPts val="2400"/>
              <a:buChar char="*"/>
            </a:pPr>
            <a:r>
              <a:rPr lang="it-IT"/>
              <a:t>è sconsigliato solo per motivi di leggibilità del codice (è più chiaro per un lettore capire subito quale classe ci serve se evitiamo la </a:t>
            </a:r>
            <a:r>
              <a:rPr i="1" lang="it-IT"/>
              <a:t>wildcard *</a:t>
            </a:r>
            <a:r>
              <a:rPr lang="it-IT"/>
              <a:t>), ma comunque il compilatore NON importa tutte le classi del package java.util (il compilatore riesce a capire quali sono quelle che effettivamente ci servono)</a:t>
            </a:r>
            <a:endParaRPr/>
          </a:p>
          <a:p>
            <a:pPr indent="-274320" lvl="0" marL="274320" rtl="0" algn="l">
              <a:spcBef>
                <a:spcPts val="480"/>
              </a:spcBef>
              <a:spcAft>
                <a:spcPts val="0"/>
              </a:spcAft>
              <a:buSzPts val="2400"/>
              <a:buChar char="*"/>
            </a:pPr>
            <a:r>
              <a:rPr lang="it-IT"/>
              <a:t>la </a:t>
            </a:r>
            <a:r>
              <a:rPr i="1" lang="it-IT"/>
              <a:t>wildcard</a:t>
            </a:r>
            <a:r>
              <a:rPr lang="it-IT"/>
              <a:t> </a:t>
            </a:r>
            <a:r>
              <a:rPr i="1" lang="it-IT"/>
              <a:t>*</a:t>
            </a:r>
            <a:r>
              <a:rPr lang="it-IT"/>
              <a:t> mette tutte le classi del package </a:t>
            </a:r>
            <a:r>
              <a:rPr i="1" lang="it-IT"/>
              <a:t>java.util</a:t>
            </a:r>
            <a:r>
              <a:rPr lang="it-IT"/>
              <a:t> </a:t>
            </a:r>
            <a:r>
              <a:rPr i="1" lang="it-IT"/>
              <a:t>a disposizione </a:t>
            </a:r>
            <a:r>
              <a:rPr lang="it-IT"/>
              <a:t>della nostra classe (ma non le importa fisicamente tutte)</a:t>
            </a:r>
            <a:endParaRPr i="1"/>
          </a:p>
          <a:p>
            <a:pPr indent="-121920" lvl="0" marL="274320" rtl="0" algn="l">
              <a:spcBef>
                <a:spcPts val="480"/>
              </a:spcBef>
              <a:spcAft>
                <a:spcPts val="0"/>
              </a:spcAft>
              <a:buSzPts val="2400"/>
              <a:buNone/>
            </a:pPr>
            <a:r>
              <a:t/>
            </a:r>
            <a:endParaRPr/>
          </a:p>
        </p:txBody>
      </p:sp>
      <p:sp>
        <p:nvSpPr>
          <p:cNvPr id="269" name="Google Shape;269;p2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70" name="Google Shape;270;p2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sezione «import» (3/6)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1"/>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100000"/>
              <a:buChar char="*"/>
            </a:pPr>
            <a:r>
              <a:rPr lang="it-IT"/>
              <a:t>Attenzione all’uso delle </a:t>
            </a:r>
            <a:r>
              <a:rPr i="1" lang="it-IT"/>
              <a:t>wildcard</a:t>
            </a:r>
            <a:r>
              <a:rPr lang="it-IT"/>
              <a:t>:</a:t>
            </a:r>
            <a:endParaRPr/>
          </a:p>
          <a:p>
            <a:pPr indent="-274319" lvl="1" marL="576263" rtl="0" algn="l">
              <a:spcBef>
                <a:spcPts val="407"/>
              </a:spcBef>
              <a:spcAft>
                <a:spcPts val="0"/>
              </a:spcAft>
              <a:buSzPct val="100000"/>
              <a:buChar char="*"/>
            </a:pPr>
            <a:r>
              <a:rPr lang="it-IT"/>
              <a:t>se importiamo tramite </a:t>
            </a:r>
            <a:r>
              <a:rPr i="1" lang="it-IT"/>
              <a:t>wildcard</a:t>
            </a:r>
            <a:r>
              <a:rPr lang="it-IT"/>
              <a:t> da due package che contengono una classe omonima e proviamo a usare la classe omonima con il </a:t>
            </a:r>
            <a:r>
              <a:rPr i="1" lang="it-IT"/>
              <a:t>simple name, </a:t>
            </a:r>
            <a:r>
              <a:rPr lang="it-IT"/>
              <a:t>il compilatore segnala un errore. Ad esempio la classe </a:t>
            </a:r>
            <a:r>
              <a:rPr i="1" lang="it-IT"/>
              <a:t>Date</a:t>
            </a:r>
            <a:r>
              <a:rPr lang="it-IT"/>
              <a:t> è presente sia in </a:t>
            </a:r>
            <a:r>
              <a:rPr i="1" lang="it-IT"/>
              <a:t>java.util</a:t>
            </a:r>
            <a:r>
              <a:rPr lang="it-IT"/>
              <a:t> che in </a:t>
            </a:r>
            <a:r>
              <a:rPr i="1" lang="it-IT"/>
              <a:t>java.sql</a:t>
            </a:r>
            <a:r>
              <a:rPr lang="it-IT"/>
              <a:t> per cui scrivere:</a:t>
            </a:r>
            <a:endParaRPr/>
          </a:p>
          <a:p>
            <a:pPr indent="-228600" lvl="2" marL="855663" rtl="0" algn="l">
              <a:spcBef>
                <a:spcPts val="333"/>
              </a:spcBef>
              <a:spcAft>
                <a:spcPts val="0"/>
              </a:spcAft>
              <a:buSzPct val="100000"/>
              <a:buChar char="*"/>
            </a:pPr>
            <a:r>
              <a:rPr i="1" lang="it-IT" sz="1800"/>
              <a:t>import java.util.*;</a:t>
            </a:r>
            <a:endParaRPr/>
          </a:p>
          <a:p>
            <a:pPr indent="-228600" lvl="2" marL="855663" rtl="0" algn="l">
              <a:spcBef>
                <a:spcPts val="333"/>
              </a:spcBef>
              <a:spcAft>
                <a:spcPts val="0"/>
              </a:spcAft>
              <a:buSzPct val="100000"/>
              <a:buChar char="*"/>
            </a:pPr>
            <a:r>
              <a:rPr i="1" lang="it-IT" sz="1800"/>
              <a:t>import java.sql.*</a:t>
            </a:r>
            <a:endParaRPr/>
          </a:p>
          <a:p>
            <a:pPr indent="-228600" lvl="2" marL="855663" rtl="0" algn="l">
              <a:spcBef>
                <a:spcPts val="333"/>
              </a:spcBef>
              <a:spcAft>
                <a:spcPts val="0"/>
              </a:spcAft>
              <a:buSzPct val="100000"/>
              <a:buChar char="*"/>
            </a:pPr>
            <a:r>
              <a:rPr i="1" lang="it-IT" sz="1800"/>
              <a:t>….</a:t>
            </a:r>
            <a:endParaRPr/>
          </a:p>
          <a:p>
            <a:pPr indent="-228600" lvl="2" marL="855663" rtl="0" algn="l">
              <a:spcBef>
                <a:spcPts val="333"/>
              </a:spcBef>
              <a:spcAft>
                <a:spcPts val="0"/>
              </a:spcAft>
              <a:buSzPct val="100000"/>
              <a:buChar char="*"/>
            </a:pPr>
            <a:r>
              <a:rPr i="1" lang="it-IT" sz="1800"/>
              <a:t>private Date d; // -&gt; ambiguo!</a:t>
            </a:r>
            <a:endParaRPr/>
          </a:p>
          <a:p>
            <a:pPr indent="-274319" lvl="1" marL="576263" rtl="0" algn="l">
              <a:spcBef>
                <a:spcPts val="407"/>
              </a:spcBef>
              <a:spcAft>
                <a:spcPts val="0"/>
              </a:spcAft>
              <a:buSzPct val="100000"/>
              <a:buChar char="*"/>
            </a:pPr>
            <a:r>
              <a:rPr lang="it-IT"/>
              <a:t>genererebbe un errore di compilazione. Andrebbe quindi specificato il nome </a:t>
            </a:r>
            <a:r>
              <a:rPr i="1" lang="it-IT"/>
              <a:t>fully-qualified</a:t>
            </a:r>
            <a:r>
              <a:rPr lang="it-IT"/>
              <a:t> della classe </a:t>
            </a:r>
            <a:r>
              <a:rPr i="1" lang="it-IT"/>
              <a:t>Date </a:t>
            </a:r>
            <a:r>
              <a:rPr lang="it-IT"/>
              <a:t>che vogliamo usare. Ad esempio -&gt; </a:t>
            </a:r>
            <a:r>
              <a:rPr i="1" lang="it-IT"/>
              <a:t>private java.util.Date d</a:t>
            </a:r>
            <a:endParaRPr/>
          </a:p>
        </p:txBody>
      </p:sp>
      <p:sp>
        <p:nvSpPr>
          <p:cNvPr id="276" name="Google Shape;276;p2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77" name="Google Shape;277;p2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sezione «import» (4/6)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2"/>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Se abbiamo bisogno di usare entrambe le </a:t>
            </a:r>
            <a:r>
              <a:rPr i="1" lang="it-IT"/>
              <a:t>Date, </a:t>
            </a:r>
            <a:r>
              <a:rPr lang="it-IT"/>
              <a:t> non possiamo usare gli import precisi per entrambi:</a:t>
            </a:r>
            <a:endParaRPr/>
          </a:p>
          <a:p>
            <a:pPr indent="-274319" lvl="1" marL="576263" rtl="0" algn="l">
              <a:spcBef>
                <a:spcPts val="360"/>
              </a:spcBef>
              <a:spcAft>
                <a:spcPts val="0"/>
              </a:spcAft>
              <a:buSzPts val="1800"/>
              <a:buChar char="*"/>
            </a:pPr>
            <a:r>
              <a:rPr i="1" lang="it-IT" sz="1800"/>
              <a:t>import java.util.Date;</a:t>
            </a:r>
            <a:endParaRPr/>
          </a:p>
          <a:p>
            <a:pPr indent="-274319" lvl="1" marL="576263" rtl="0" algn="l">
              <a:spcBef>
                <a:spcPts val="360"/>
              </a:spcBef>
              <a:spcAft>
                <a:spcPts val="0"/>
              </a:spcAft>
              <a:buSzPts val="1800"/>
              <a:buChar char="*"/>
            </a:pPr>
            <a:r>
              <a:rPr i="1" lang="it-IT" sz="1800"/>
              <a:t>import java.sql.Date; // -&gt; errore</a:t>
            </a:r>
            <a:endParaRPr i="1" sz="1800"/>
          </a:p>
          <a:p>
            <a:pPr indent="-274320" lvl="0" marL="274320" rtl="0" algn="l">
              <a:spcBef>
                <a:spcPts val="480"/>
              </a:spcBef>
              <a:spcAft>
                <a:spcPts val="0"/>
              </a:spcAft>
              <a:buSzPts val="2400"/>
              <a:buChar char="*"/>
            </a:pPr>
            <a:r>
              <a:rPr lang="it-IT"/>
              <a:t>potremo o usare per entrambe i nomi </a:t>
            </a:r>
            <a:r>
              <a:rPr i="1" lang="it-IT"/>
              <a:t>fully-qualified </a:t>
            </a:r>
            <a:r>
              <a:rPr lang="it-IT"/>
              <a:t>(e non ci servirebbero nemmeno più gli import):</a:t>
            </a:r>
            <a:endParaRPr/>
          </a:p>
          <a:p>
            <a:pPr indent="-274319" lvl="1" marL="576263" rtl="0" algn="l">
              <a:spcBef>
                <a:spcPts val="360"/>
              </a:spcBef>
              <a:spcAft>
                <a:spcPts val="0"/>
              </a:spcAft>
              <a:buSzPts val="1800"/>
              <a:buChar char="*"/>
            </a:pPr>
            <a:r>
              <a:rPr i="1" lang="it-IT" sz="1800"/>
              <a:t>private java.sql.Date d1;</a:t>
            </a:r>
            <a:endParaRPr/>
          </a:p>
          <a:p>
            <a:pPr indent="-274319" lvl="1" marL="576263" rtl="0" algn="l">
              <a:spcBef>
                <a:spcPts val="440"/>
              </a:spcBef>
              <a:spcAft>
                <a:spcPts val="0"/>
              </a:spcAft>
              <a:buSzPts val="1800"/>
              <a:buChar char="*"/>
            </a:pPr>
            <a:r>
              <a:rPr i="1" lang="it-IT" sz="1800"/>
              <a:t>private java.util.Date d2</a:t>
            </a:r>
            <a:r>
              <a:rPr i="1" lang="it-IT"/>
              <a:t>;</a:t>
            </a:r>
            <a:endParaRPr/>
          </a:p>
        </p:txBody>
      </p:sp>
      <p:sp>
        <p:nvSpPr>
          <p:cNvPr id="283" name="Google Shape;283;p2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84" name="Google Shape;284;p2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sezione «import» (5/6)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3"/>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oppure per una usare l’import preciso e referenziarla attraverso il </a:t>
            </a:r>
            <a:r>
              <a:rPr i="1" lang="it-IT"/>
              <a:t>simple name </a:t>
            </a:r>
            <a:r>
              <a:rPr lang="it-IT"/>
              <a:t>e l’altra referenziarla attraverso il nome </a:t>
            </a:r>
            <a:r>
              <a:rPr i="1" lang="it-IT"/>
              <a:t>fully-qualified:</a:t>
            </a:r>
            <a:endParaRPr/>
          </a:p>
          <a:p>
            <a:pPr indent="-274319" lvl="1" marL="576263" rtl="0" algn="l">
              <a:spcBef>
                <a:spcPts val="360"/>
              </a:spcBef>
              <a:spcAft>
                <a:spcPts val="0"/>
              </a:spcAft>
              <a:buSzPts val="1800"/>
              <a:buChar char="*"/>
            </a:pPr>
            <a:r>
              <a:rPr i="1" lang="it-IT" sz="1800"/>
              <a:t>import java.util.Date;</a:t>
            </a:r>
            <a:endParaRPr/>
          </a:p>
          <a:p>
            <a:pPr indent="-274319" lvl="1" marL="576263" rtl="0" algn="l">
              <a:spcBef>
                <a:spcPts val="360"/>
              </a:spcBef>
              <a:spcAft>
                <a:spcPts val="0"/>
              </a:spcAft>
              <a:buSzPts val="1800"/>
              <a:buChar char="*"/>
            </a:pPr>
            <a:r>
              <a:rPr i="1" lang="it-IT" sz="1800"/>
              <a:t>….</a:t>
            </a:r>
            <a:endParaRPr i="1" sz="1800"/>
          </a:p>
          <a:p>
            <a:pPr indent="-274319" lvl="1" marL="576263" rtl="0" algn="l">
              <a:spcBef>
                <a:spcPts val="360"/>
              </a:spcBef>
              <a:spcAft>
                <a:spcPts val="0"/>
              </a:spcAft>
              <a:buSzPts val="1800"/>
              <a:buChar char="*"/>
            </a:pPr>
            <a:r>
              <a:rPr i="1" lang="it-IT" sz="1800"/>
              <a:t>private Date d1;</a:t>
            </a:r>
            <a:endParaRPr/>
          </a:p>
          <a:p>
            <a:pPr indent="-274319" lvl="1" marL="576263" rtl="0" algn="l">
              <a:spcBef>
                <a:spcPts val="360"/>
              </a:spcBef>
              <a:spcAft>
                <a:spcPts val="0"/>
              </a:spcAft>
              <a:buSzPts val="1800"/>
              <a:buChar char="*"/>
            </a:pPr>
            <a:r>
              <a:rPr i="1" lang="it-IT" sz="1800"/>
              <a:t>private java.sql.Date d2;</a:t>
            </a:r>
            <a:endParaRPr i="1" sz="1800"/>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Attenzione anche al fatto che la </a:t>
            </a:r>
            <a:r>
              <a:rPr i="1" lang="it-IT"/>
              <a:t>wildcard</a:t>
            </a:r>
            <a:r>
              <a:rPr lang="it-IT"/>
              <a:t> rende disponibili solo le classi del package</a:t>
            </a:r>
            <a:r>
              <a:rPr i="1" lang="it-IT"/>
              <a:t> </a:t>
            </a:r>
            <a:r>
              <a:rPr lang="it-IT"/>
              <a:t>a cui si riferisce, non anche le classi di eventuali sotto-package</a:t>
            </a:r>
            <a:endParaRPr/>
          </a:p>
          <a:p>
            <a:pPr indent="-121920" lvl="0" marL="274320" rtl="0" algn="l">
              <a:spcBef>
                <a:spcPts val="480"/>
              </a:spcBef>
              <a:spcAft>
                <a:spcPts val="0"/>
              </a:spcAft>
              <a:buSzPts val="2400"/>
              <a:buNone/>
            </a:pPr>
            <a:r>
              <a:t/>
            </a:r>
            <a:endParaRPr/>
          </a:p>
        </p:txBody>
      </p:sp>
      <p:sp>
        <p:nvSpPr>
          <p:cNvPr id="290" name="Google Shape;290;p2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91" name="Google Shape;291;p2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sezione «import» (6/6)</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4"/>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I qualificatori di accesso determinano i privilegi di accesso ad una variabile/oggetto/metodo</a:t>
            </a:r>
            <a:endParaRPr/>
          </a:p>
          <a:p>
            <a:pPr indent="-274320" lvl="0" marL="274320" rtl="0" algn="l">
              <a:spcBef>
                <a:spcPts val="480"/>
              </a:spcBef>
              <a:spcAft>
                <a:spcPts val="0"/>
              </a:spcAft>
              <a:buSzPts val="2400"/>
              <a:buChar char="*"/>
            </a:pPr>
            <a:r>
              <a:rPr lang="it-IT"/>
              <a:t>Determinano quindi quali parti di codice possono accedere alla variabile/oggetto/metodo a cui si riferiscono</a:t>
            </a:r>
            <a:endParaRPr/>
          </a:p>
          <a:p>
            <a:pPr indent="-274320" lvl="0" marL="274320" rtl="0" algn="l">
              <a:spcBef>
                <a:spcPts val="480"/>
              </a:spcBef>
              <a:spcAft>
                <a:spcPts val="0"/>
              </a:spcAft>
              <a:buSzPts val="2400"/>
              <a:buChar char="*"/>
            </a:pPr>
            <a:r>
              <a:rPr lang="it-IT"/>
              <a:t>Per comprenderli appieno occorrono altri elementi del linguaggio Java che verranno introdotti successivamente (come l’</a:t>
            </a:r>
            <a:r>
              <a:rPr b="1" lang="it-IT"/>
              <a:t>eredirarietà</a:t>
            </a:r>
            <a:r>
              <a:rPr lang="it-IT"/>
              <a:t>)</a:t>
            </a:r>
            <a:endParaRPr/>
          </a:p>
        </p:txBody>
      </p:sp>
      <p:sp>
        <p:nvSpPr>
          <p:cNvPr id="297" name="Google Shape;297;p2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98" name="Google Shape;298;p2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qualificatori di accesso (1/2)</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5"/>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100000"/>
              <a:buChar char="*"/>
            </a:pPr>
            <a:r>
              <a:rPr lang="it-IT"/>
              <a:t>Il significato preciso dei qualificatoti dipende da una moltitudine di fattori (tra cui anche l’elemento a cui vengono applicati, se classe, attributo, metodo etc.) </a:t>
            </a:r>
            <a:endParaRPr/>
          </a:p>
          <a:p>
            <a:pPr indent="-274320" lvl="0" marL="274320" rtl="0" algn="l">
              <a:spcBef>
                <a:spcPts val="408"/>
              </a:spcBef>
              <a:spcAft>
                <a:spcPts val="0"/>
              </a:spcAft>
              <a:buSzPct val="100000"/>
              <a:buChar char="*"/>
            </a:pPr>
            <a:r>
              <a:rPr lang="it-IT"/>
              <a:t>Al livello introduttivo possiamo iniziare a dire che i qualificatori sono:</a:t>
            </a:r>
            <a:endParaRPr/>
          </a:p>
          <a:p>
            <a:pPr indent="-274320" lvl="1" marL="576263" rtl="0" algn="l">
              <a:spcBef>
                <a:spcPts val="374"/>
              </a:spcBef>
              <a:spcAft>
                <a:spcPts val="0"/>
              </a:spcAft>
              <a:buSzPct val="100000"/>
              <a:buChar char="*"/>
            </a:pPr>
            <a:r>
              <a:rPr b="1" lang="it-IT"/>
              <a:t>public: </a:t>
            </a:r>
            <a:r>
              <a:rPr lang="it-IT"/>
              <a:t>accessibilità completa</a:t>
            </a:r>
            <a:endParaRPr/>
          </a:p>
          <a:p>
            <a:pPr indent="-274320" lvl="1" marL="576263" rtl="0" algn="l">
              <a:spcBef>
                <a:spcPts val="374"/>
              </a:spcBef>
              <a:spcAft>
                <a:spcPts val="0"/>
              </a:spcAft>
              <a:buSzPct val="100000"/>
              <a:buChar char="*"/>
            </a:pPr>
            <a:r>
              <a:rPr b="1" lang="it-IT"/>
              <a:t>private: </a:t>
            </a:r>
            <a:r>
              <a:rPr lang="it-IT"/>
              <a:t>accessibilità ristretta solo ai membri (attributi o metodi) della stessa classe</a:t>
            </a:r>
            <a:endParaRPr/>
          </a:p>
          <a:p>
            <a:pPr indent="-274320" lvl="1" marL="576263" rtl="0" algn="l">
              <a:spcBef>
                <a:spcPts val="374"/>
              </a:spcBef>
              <a:spcAft>
                <a:spcPts val="0"/>
              </a:spcAft>
              <a:buSzPct val="100000"/>
              <a:buChar char="*"/>
            </a:pPr>
            <a:r>
              <a:rPr b="1" lang="it-IT"/>
              <a:t>vuoto, ovvero omesso (default): </a:t>
            </a:r>
            <a:r>
              <a:rPr lang="it-IT"/>
              <a:t>quando il qualificatore viene omesso, la JVM utilizza il default che permette l’accesso solo all’interno delle classi dello stesso package della classe in cui è definito il qualificatore</a:t>
            </a:r>
            <a:endParaRPr/>
          </a:p>
          <a:p>
            <a:pPr indent="-274320" lvl="1" marL="576263" rtl="0" algn="l">
              <a:spcBef>
                <a:spcPts val="374"/>
              </a:spcBef>
              <a:spcAft>
                <a:spcPts val="0"/>
              </a:spcAft>
              <a:buSzPct val="100000"/>
              <a:buChar char="*"/>
            </a:pPr>
            <a:r>
              <a:rPr b="1" lang="it-IT"/>
              <a:t>protected:</a:t>
            </a:r>
            <a:r>
              <a:rPr lang="it-IT"/>
              <a:t> come il </a:t>
            </a:r>
            <a:r>
              <a:rPr i="1" lang="it-IT"/>
              <a:t>default </a:t>
            </a:r>
            <a:r>
              <a:rPr lang="it-IT"/>
              <a:t>con in</a:t>
            </a:r>
            <a:r>
              <a:rPr i="1" lang="it-IT"/>
              <a:t> </a:t>
            </a:r>
            <a:r>
              <a:rPr lang="it-IT"/>
              <a:t>più anche l’accessibilità ristretta ai membri della classe e delle classi derivate (concetto che vedremo più avanti)</a:t>
            </a:r>
            <a:endParaRPr/>
          </a:p>
          <a:p>
            <a:pPr indent="-155575" lvl="1" marL="576263" rtl="0" algn="l">
              <a:spcBef>
                <a:spcPts val="374"/>
              </a:spcBef>
              <a:spcAft>
                <a:spcPts val="0"/>
              </a:spcAft>
              <a:buSzPct val="100000"/>
              <a:buNone/>
            </a:pPr>
            <a:r>
              <a:t/>
            </a:r>
            <a:endParaRPr/>
          </a:p>
        </p:txBody>
      </p:sp>
      <p:sp>
        <p:nvSpPr>
          <p:cNvPr id="304" name="Google Shape;304;p2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05" name="Google Shape;305;p2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qualificatori di accesso (2/2)</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6"/>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La sintassi del nome di una classe presenta 3 elementi:</a:t>
            </a:r>
            <a:endParaRPr/>
          </a:p>
          <a:p>
            <a:pPr indent="-274319" lvl="1" marL="576263" rtl="0" algn="l">
              <a:spcBef>
                <a:spcPts val="440"/>
              </a:spcBef>
              <a:spcAft>
                <a:spcPts val="0"/>
              </a:spcAft>
              <a:buSzPts val="2200"/>
              <a:buChar char="*"/>
            </a:pPr>
            <a:r>
              <a:rPr lang="it-IT"/>
              <a:t>qualificatore di accesso </a:t>
            </a:r>
            <a:endParaRPr/>
          </a:p>
          <a:p>
            <a:pPr indent="-274319" lvl="1" marL="576263" rtl="0" algn="l">
              <a:spcBef>
                <a:spcPts val="440"/>
              </a:spcBef>
              <a:spcAft>
                <a:spcPts val="0"/>
              </a:spcAft>
              <a:buSzPts val="2200"/>
              <a:buChar char="*"/>
            </a:pPr>
            <a:r>
              <a:rPr lang="it-IT"/>
              <a:t>parola chiave class</a:t>
            </a:r>
            <a:endParaRPr sz="1800"/>
          </a:p>
          <a:p>
            <a:pPr indent="-274319" lvl="1" marL="576263" rtl="0" algn="l">
              <a:spcBef>
                <a:spcPts val="440"/>
              </a:spcBef>
              <a:spcAft>
                <a:spcPts val="0"/>
              </a:spcAft>
              <a:buSzPts val="2200"/>
              <a:buChar char="*"/>
            </a:pPr>
            <a:r>
              <a:rPr lang="it-IT"/>
              <a:t>nome della classe</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Es.: </a:t>
            </a:r>
            <a:r>
              <a:rPr i="1" lang="it-IT"/>
              <a:t>public class Corso</a:t>
            </a:r>
            <a:endParaRPr/>
          </a:p>
        </p:txBody>
      </p:sp>
      <p:sp>
        <p:nvSpPr>
          <p:cNvPr id="311" name="Google Shape;311;p2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12" name="Google Shape;312;p2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sintassi per il nome della classe (1/2)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7"/>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Il qualificatore </a:t>
            </a:r>
            <a:r>
              <a:rPr b="1" lang="it-IT"/>
              <a:t>public</a:t>
            </a:r>
            <a:r>
              <a:rPr lang="it-IT"/>
              <a:t>, nel caso di una classe, indica che quest’ultima è utilizzabile nel codice di qualunque altra classe</a:t>
            </a:r>
            <a:endParaRPr/>
          </a:p>
          <a:p>
            <a:pPr indent="-274320" lvl="0" marL="274320" rtl="0" algn="l">
              <a:spcBef>
                <a:spcPts val="480"/>
              </a:spcBef>
              <a:spcAft>
                <a:spcPts val="0"/>
              </a:spcAft>
              <a:buSzPts val="2400"/>
              <a:buChar char="*"/>
            </a:pPr>
            <a:r>
              <a:rPr i="1" lang="it-IT"/>
              <a:t>public </a:t>
            </a:r>
            <a:r>
              <a:rPr lang="it-IT"/>
              <a:t>rappresenta la quasi totalità dei casi nelle dichiarazioni di una classe. Tuttavia è possibile anche che una classe sia dichiarata senza specificatore di accesso (default)</a:t>
            </a:r>
            <a:r>
              <a:rPr b="1" lang="it-IT"/>
              <a:t>  </a:t>
            </a:r>
            <a:r>
              <a:rPr lang="it-IT"/>
              <a:t>(mentre eventuali </a:t>
            </a:r>
            <a:r>
              <a:rPr i="1" lang="it-IT"/>
              <a:t>inner-classes</a:t>
            </a:r>
            <a:r>
              <a:rPr lang="it-IT"/>
              <a:t> potrebbero essere dichiarate anche </a:t>
            </a:r>
            <a:r>
              <a:rPr i="1" lang="it-IT"/>
              <a:t>private</a:t>
            </a:r>
            <a:r>
              <a:rPr lang="it-IT"/>
              <a:t> o </a:t>
            </a:r>
            <a:r>
              <a:rPr i="1" lang="it-IT"/>
              <a:t>protected</a:t>
            </a:r>
            <a:r>
              <a:rPr lang="it-IT"/>
              <a:t>)</a:t>
            </a:r>
            <a:endParaRPr/>
          </a:p>
        </p:txBody>
      </p:sp>
      <p:sp>
        <p:nvSpPr>
          <p:cNvPr id="318" name="Google Shape;318;p2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19" name="Google Shape;319;p2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	</a:t>
            </a:r>
            <a:br>
              <a:rPr lang="it-IT"/>
            </a:br>
            <a:r>
              <a:rPr lang="it-IT"/>
              <a:t>sintassi per il nome della classe (2/2)</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8"/>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La dichiarazione di un attributo prevede</a:t>
            </a:r>
            <a:endParaRPr/>
          </a:p>
          <a:p>
            <a:pPr indent="-274319" lvl="1" marL="576263" rtl="0" algn="l">
              <a:spcBef>
                <a:spcPts val="440"/>
              </a:spcBef>
              <a:spcAft>
                <a:spcPts val="0"/>
              </a:spcAft>
              <a:buSzPts val="2200"/>
              <a:buChar char="*"/>
            </a:pPr>
            <a:r>
              <a:rPr lang="it-IT"/>
              <a:t>qualificatore di accesso</a:t>
            </a:r>
            <a:endParaRPr/>
          </a:p>
          <a:p>
            <a:pPr indent="-274319" lvl="1" marL="576263" rtl="0" algn="l">
              <a:spcBef>
                <a:spcPts val="440"/>
              </a:spcBef>
              <a:spcAft>
                <a:spcPts val="0"/>
              </a:spcAft>
              <a:buSzPts val="2200"/>
              <a:buChar char="*"/>
            </a:pPr>
            <a:r>
              <a:rPr lang="it-IT"/>
              <a:t>tipo</a:t>
            </a:r>
            <a:endParaRPr/>
          </a:p>
          <a:p>
            <a:pPr indent="-274319" lvl="1" marL="576263" rtl="0" algn="l">
              <a:spcBef>
                <a:spcPts val="440"/>
              </a:spcBef>
              <a:spcAft>
                <a:spcPts val="0"/>
              </a:spcAft>
              <a:buSzPts val="2200"/>
              <a:buChar char="*"/>
            </a:pPr>
            <a:r>
              <a:rPr lang="it-IT"/>
              <a:t>nome</a:t>
            </a:r>
            <a:endParaRPr/>
          </a:p>
          <a:p>
            <a:pPr indent="-274320" lvl="0" marL="274320" rtl="0" algn="l">
              <a:spcBef>
                <a:spcPts val="480"/>
              </a:spcBef>
              <a:spcAft>
                <a:spcPts val="0"/>
              </a:spcAft>
              <a:buSzPts val="2400"/>
              <a:buChar char="*"/>
            </a:pPr>
            <a:r>
              <a:rPr lang="it-IT"/>
              <a:t>Es.: </a:t>
            </a:r>
            <a:r>
              <a:rPr i="1" lang="it-IT"/>
              <a:t>private String docente;</a:t>
            </a:r>
            <a:endParaRPr/>
          </a:p>
          <a:p>
            <a:pPr indent="-274320" lvl="0" marL="274320" rtl="0" algn="l">
              <a:spcBef>
                <a:spcPts val="480"/>
              </a:spcBef>
              <a:spcAft>
                <a:spcPts val="0"/>
              </a:spcAft>
              <a:buSzPts val="2400"/>
              <a:buChar char="*"/>
            </a:pPr>
            <a:r>
              <a:rPr lang="it-IT"/>
              <a:t>Come per le variabili anche per gli attributi è possibile prevedere un’inizializzazione, ovvero assegnazione di un valore iniziale, direttamente in fase di dichiarazione:</a:t>
            </a:r>
            <a:endParaRPr/>
          </a:p>
          <a:p>
            <a:pPr indent="-274320" lvl="0" marL="274320" rtl="0" algn="l">
              <a:spcBef>
                <a:spcPts val="480"/>
              </a:spcBef>
              <a:spcAft>
                <a:spcPts val="0"/>
              </a:spcAft>
              <a:buSzPts val="2400"/>
              <a:buChar char="*"/>
            </a:pPr>
            <a:r>
              <a:rPr i="1" lang="it-IT"/>
              <a:t>private String docente = "xyz";</a:t>
            </a:r>
            <a:endParaRPr/>
          </a:p>
        </p:txBody>
      </p:sp>
      <p:sp>
        <p:nvSpPr>
          <p:cNvPr id="325" name="Google Shape;325;p2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26" name="Google Shape;326;p2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dichiarazione degli attributi (1/2)</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9"/>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Il qualificatore di accesso va interpretato per gli attributi della classe, a grandi linee, nel seguente modo:</a:t>
            </a:r>
            <a:endParaRPr/>
          </a:p>
          <a:p>
            <a:pPr indent="-274319" lvl="1" marL="576263" rtl="0" algn="l">
              <a:spcBef>
                <a:spcPts val="440"/>
              </a:spcBef>
              <a:spcAft>
                <a:spcPts val="0"/>
              </a:spcAft>
              <a:buSzPts val="2200"/>
              <a:buChar char="*"/>
            </a:pPr>
            <a:r>
              <a:rPr lang="it-IT"/>
              <a:t>public: l’attributo è accessibile in qualunque blocco di codice anche esterno alla classe in cui è dichiarato</a:t>
            </a:r>
            <a:endParaRPr/>
          </a:p>
          <a:p>
            <a:pPr indent="-274319" lvl="1" marL="576263" rtl="0" algn="l">
              <a:spcBef>
                <a:spcPts val="440"/>
              </a:spcBef>
              <a:spcAft>
                <a:spcPts val="0"/>
              </a:spcAft>
              <a:buSzPts val="2200"/>
              <a:buChar char="*"/>
            </a:pPr>
            <a:r>
              <a:rPr lang="it-IT"/>
              <a:t>private: l’attributo è accessibile soltanto all’interno della classe in cui è dichiarato</a:t>
            </a:r>
            <a:endParaRPr/>
          </a:p>
          <a:p>
            <a:pPr indent="-274319" lvl="1" marL="576263" rtl="0" algn="l">
              <a:spcBef>
                <a:spcPts val="440"/>
              </a:spcBef>
              <a:spcAft>
                <a:spcPts val="0"/>
              </a:spcAft>
              <a:buSzPts val="2200"/>
              <a:buChar char="*"/>
            </a:pPr>
            <a:r>
              <a:rPr lang="it-IT"/>
              <a:t>nessun valore (default): l’attributo è accessibile solo all’interno della classe in cui è dichiarato ed all’interno delle altre classi che fanno parte dello stesso package</a:t>
            </a:r>
            <a:endParaRPr/>
          </a:p>
          <a:p>
            <a:pPr indent="-274319" lvl="1" marL="576263" rtl="0" algn="l">
              <a:spcBef>
                <a:spcPts val="440"/>
              </a:spcBef>
              <a:spcAft>
                <a:spcPts val="0"/>
              </a:spcAft>
              <a:buSzPts val="2200"/>
              <a:buChar char="*"/>
            </a:pPr>
            <a:r>
              <a:rPr lang="it-IT"/>
              <a:t>protected: come </a:t>
            </a:r>
            <a:r>
              <a:rPr i="1" lang="it-IT"/>
              <a:t>default </a:t>
            </a:r>
            <a:r>
              <a:rPr lang="it-IT"/>
              <a:t>con in più anche l’accesso all’interno delle sue classi figlie (vedremo in seguito)</a:t>
            </a:r>
            <a:endParaRPr/>
          </a:p>
        </p:txBody>
      </p:sp>
      <p:sp>
        <p:nvSpPr>
          <p:cNvPr id="332" name="Google Shape;332;p2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33" name="Google Shape;333;p2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dichiarazione degli attributi (2/2)</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0"/>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lnSpcReduction="10000"/>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Ogni metodo prevede una dichiarazione o firma ed un’implementazione che inizia con la parentesi graffa aperta e termina con la parentesi graffa chiusa</a:t>
            </a:r>
            <a:endParaRPr/>
          </a:p>
          <a:p>
            <a:pPr indent="-274320" lvl="0" marL="274320" rtl="0" algn="l">
              <a:spcBef>
                <a:spcPts val="480"/>
              </a:spcBef>
              <a:spcAft>
                <a:spcPts val="0"/>
              </a:spcAft>
              <a:buSzPts val="2400"/>
              <a:buChar char="*"/>
            </a:pPr>
            <a:r>
              <a:rPr lang="it-IT"/>
              <a:t>La firma di un metodo ha la seguente struttura:</a:t>
            </a:r>
            <a:endParaRPr/>
          </a:p>
          <a:p>
            <a:pPr indent="-274319" lvl="1" marL="576263" rtl="0" algn="l">
              <a:spcBef>
                <a:spcPts val="360"/>
              </a:spcBef>
              <a:spcAft>
                <a:spcPts val="0"/>
              </a:spcAft>
              <a:buSzPts val="1800"/>
              <a:buChar char="*"/>
            </a:pPr>
            <a:r>
              <a:rPr i="1" lang="it-IT" sz="1800"/>
              <a:t>qualificatoreAccesso tipoRitorno nomeMetodo(parametri metodo)</a:t>
            </a:r>
            <a:endParaRPr/>
          </a:p>
          <a:p>
            <a:pPr indent="-274320" lvl="0" marL="274320" rtl="0" algn="l">
              <a:spcBef>
                <a:spcPts val="400"/>
              </a:spcBef>
              <a:spcAft>
                <a:spcPts val="0"/>
              </a:spcAft>
              <a:buSzPts val="2000"/>
              <a:buChar char="*"/>
            </a:pPr>
            <a:r>
              <a:rPr lang="it-IT" sz="2000"/>
              <a:t>Esempio: </a:t>
            </a:r>
            <a:r>
              <a:rPr i="1" lang="it-IT" sz="1800"/>
              <a:t>public String getDocente() </a:t>
            </a:r>
            <a:endParaRPr/>
          </a:p>
          <a:p>
            <a:pPr indent="-274319" lvl="1" marL="576263" rtl="0" algn="l">
              <a:spcBef>
                <a:spcPts val="360"/>
              </a:spcBef>
              <a:spcAft>
                <a:spcPts val="0"/>
              </a:spcAft>
              <a:buSzPts val="1800"/>
              <a:buChar char="*"/>
            </a:pPr>
            <a:r>
              <a:rPr lang="it-IT" sz="1800"/>
              <a:t>qualificatore d’accesso: public</a:t>
            </a:r>
            <a:endParaRPr/>
          </a:p>
          <a:p>
            <a:pPr indent="-274319" lvl="1" marL="576263" rtl="0" algn="l">
              <a:spcBef>
                <a:spcPts val="360"/>
              </a:spcBef>
              <a:spcAft>
                <a:spcPts val="0"/>
              </a:spcAft>
              <a:buSzPts val="1800"/>
              <a:buChar char="*"/>
            </a:pPr>
            <a:r>
              <a:rPr lang="it-IT" sz="1800"/>
              <a:t>tipo di ritorno (tipo del dato ritornato come parametro di uscita del metodo): </a:t>
            </a:r>
            <a:r>
              <a:rPr i="1" lang="it-IT" sz="1800"/>
              <a:t>String</a:t>
            </a:r>
            <a:endParaRPr sz="1800"/>
          </a:p>
          <a:p>
            <a:pPr indent="-274319" lvl="1" marL="576263" rtl="0" algn="l">
              <a:spcBef>
                <a:spcPts val="360"/>
              </a:spcBef>
              <a:spcAft>
                <a:spcPts val="0"/>
              </a:spcAft>
              <a:buSzPts val="1800"/>
              <a:buChar char="*"/>
            </a:pPr>
            <a:r>
              <a:rPr lang="it-IT" sz="1800"/>
              <a:t>nome del metodo: </a:t>
            </a:r>
            <a:r>
              <a:rPr i="1" lang="it-IT" sz="1800"/>
              <a:t>getDocente</a:t>
            </a:r>
            <a:endParaRPr sz="1800"/>
          </a:p>
          <a:p>
            <a:pPr indent="-274319" lvl="1" marL="576263" rtl="0" algn="l">
              <a:spcBef>
                <a:spcPts val="360"/>
              </a:spcBef>
              <a:spcAft>
                <a:spcPts val="0"/>
              </a:spcAft>
              <a:buSzPts val="1800"/>
              <a:buChar char="*"/>
            </a:pPr>
            <a:r>
              <a:rPr lang="it-IT" sz="1800"/>
              <a:t>parametri di ingresso del metodo: nessuno, (parentesi tonda vuota())</a:t>
            </a:r>
            <a:endParaRPr sz="1800"/>
          </a:p>
        </p:txBody>
      </p:sp>
      <p:sp>
        <p:nvSpPr>
          <p:cNvPr id="339" name="Google Shape;339;p3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40" name="Google Shape;340;p3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dichiarazione dei metodi (1/3)</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1"/>
          <p:cNvSpPr txBox="1"/>
          <p:nvPr>
            <p:ph idx="1" type="body"/>
          </p:nvPr>
        </p:nvSpPr>
        <p:spPr>
          <a:xfrm>
            <a:off x="872067" y="2060848"/>
            <a:ext cx="7408333" cy="406531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Altro esempio: </a:t>
            </a:r>
            <a:r>
              <a:rPr i="1" lang="it-IT" sz="2200"/>
              <a:t>public void setDocente(String docente)</a:t>
            </a:r>
            <a:endParaRPr/>
          </a:p>
          <a:p>
            <a:pPr indent="-274319" lvl="1" marL="576263" rtl="0" algn="l">
              <a:spcBef>
                <a:spcPts val="400"/>
              </a:spcBef>
              <a:spcAft>
                <a:spcPts val="0"/>
              </a:spcAft>
              <a:buSzPts val="2000"/>
              <a:buChar char="*"/>
            </a:pPr>
            <a:r>
              <a:rPr lang="it-IT" sz="2000"/>
              <a:t>qualificatore d’accesso: public</a:t>
            </a:r>
            <a:endParaRPr/>
          </a:p>
          <a:p>
            <a:pPr indent="-274319" lvl="1" marL="576263" rtl="0" algn="l">
              <a:spcBef>
                <a:spcPts val="400"/>
              </a:spcBef>
              <a:spcAft>
                <a:spcPts val="0"/>
              </a:spcAft>
              <a:buSzPts val="2000"/>
              <a:buChar char="*"/>
            </a:pPr>
            <a:r>
              <a:rPr lang="it-IT" sz="2000"/>
              <a:t>tipo di ritorno: «void» ovvero nessuno, il metodo non ha parametri di uscita, ovvero non restituisce valori</a:t>
            </a:r>
            <a:endParaRPr/>
          </a:p>
          <a:p>
            <a:pPr indent="-274319" lvl="1" marL="576263" rtl="0" algn="l">
              <a:spcBef>
                <a:spcPts val="400"/>
              </a:spcBef>
              <a:spcAft>
                <a:spcPts val="0"/>
              </a:spcAft>
              <a:buSzPts val="2000"/>
              <a:buChar char="*"/>
            </a:pPr>
            <a:r>
              <a:rPr lang="it-IT" sz="2000"/>
              <a:t>parametri di ingresso: </a:t>
            </a:r>
            <a:r>
              <a:rPr i="1" lang="it-IT" sz="2000"/>
              <a:t>String docente</a:t>
            </a:r>
            <a:endParaRPr/>
          </a:p>
          <a:p>
            <a:pPr indent="-228600" lvl="2" marL="855663" rtl="0" algn="l">
              <a:spcBef>
                <a:spcPts val="360"/>
              </a:spcBef>
              <a:spcAft>
                <a:spcPts val="0"/>
              </a:spcAft>
              <a:buSzPts val="1800"/>
              <a:buChar char="*"/>
            </a:pPr>
            <a:r>
              <a:rPr lang="it-IT" sz="1800"/>
              <a:t>il metodo riceve in ingresso un solo parametro di tipo String</a:t>
            </a:r>
            <a:endParaRPr sz="1800"/>
          </a:p>
          <a:p>
            <a:pPr indent="-228600" lvl="2" marL="855663" rtl="0" algn="l">
              <a:spcBef>
                <a:spcPts val="360"/>
              </a:spcBef>
              <a:spcAft>
                <a:spcPts val="0"/>
              </a:spcAft>
              <a:buSzPts val="1800"/>
              <a:buChar char="*"/>
            </a:pPr>
            <a:r>
              <a:rPr lang="it-IT" sz="1800"/>
              <a:t>ogni parametro di ingresso va dichiarato all’interno delle parentesi tonde indicando il tipo ed il nome del parametro</a:t>
            </a:r>
            <a:endParaRPr/>
          </a:p>
          <a:p>
            <a:pPr indent="-228600" lvl="2" marL="855663" rtl="0" algn="l">
              <a:spcBef>
                <a:spcPts val="360"/>
              </a:spcBef>
              <a:spcAft>
                <a:spcPts val="0"/>
              </a:spcAft>
              <a:buSzPts val="1800"/>
              <a:buChar char="*"/>
            </a:pPr>
            <a:r>
              <a:rPr lang="it-IT" sz="1800"/>
              <a:t>se avesse avuto più parametri di ingresso, questi sarebbero stati separati dalla virgola. Es. </a:t>
            </a:r>
            <a:r>
              <a:rPr i="1" lang="it-IT" sz="1800"/>
              <a:t>public void metodo(String parametro1, int parametro2)</a:t>
            </a:r>
            <a:endParaRPr sz="1800"/>
          </a:p>
        </p:txBody>
      </p:sp>
      <p:sp>
        <p:nvSpPr>
          <p:cNvPr id="346" name="Google Shape;346;p3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47" name="Google Shape;347;p3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dichiarazione dei metodi (2/3)</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2"/>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Dopo la firma segue il corpo, ovvero l’implementazione del metodo, racchiusa tra parentesi graffe</a:t>
            </a:r>
            <a:endParaRPr/>
          </a:p>
          <a:p>
            <a:pPr indent="-274320" lvl="0" marL="274320" rtl="0" algn="l">
              <a:spcBef>
                <a:spcPts val="444"/>
              </a:spcBef>
              <a:spcAft>
                <a:spcPts val="0"/>
              </a:spcAft>
              <a:buSzPct val="100000"/>
              <a:buChar char="*"/>
            </a:pPr>
            <a:r>
              <a:rPr lang="it-IT"/>
              <a:t>Se la firma del metodo non è void, il corpo del metodo deve terminare con l’istruzione </a:t>
            </a:r>
            <a:r>
              <a:rPr i="1" lang="it-IT"/>
              <a:t>return </a:t>
            </a:r>
            <a:r>
              <a:rPr lang="it-IT"/>
              <a:t>seguita da una variabile dello stesso tipo del tipo di ritorno del metodo.  Es.: </a:t>
            </a:r>
            <a:endParaRPr/>
          </a:p>
          <a:p>
            <a:pPr indent="0" lvl="0" marL="0" rtl="0" algn="l">
              <a:spcBef>
                <a:spcPts val="351"/>
              </a:spcBef>
              <a:spcAft>
                <a:spcPts val="0"/>
              </a:spcAft>
              <a:buSzPct val="100000"/>
              <a:buNone/>
            </a:pPr>
            <a:r>
              <a:rPr i="1" lang="it-IT" sz="1900"/>
              <a:t>	public String metodoX() {</a:t>
            </a:r>
            <a:endParaRPr/>
          </a:p>
          <a:p>
            <a:pPr indent="0" lvl="1" marL="301943" rtl="0" algn="l">
              <a:spcBef>
                <a:spcPts val="351"/>
              </a:spcBef>
              <a:spcAft>
                <a:spcPts val="0"/>
              </a:spcAft>
              <a:buSzPct val="100000"/>
              <a:buNone/>
            </a:pPr>
            <a:r>
              <a:rPr i="1" lang="it-IT" sz="1900"/>
              <a:t>		String s = «ciao»;</a:t>
            </a:r>
            <a:endParaRPr/>
          </a:p>
          <a:p>
            <a:pPr indent="0" lvl="1" marL="301943" rtl="0" algn="l">
              <a:spcBef>
                <a:spcPts val="351"/>
              </a:spcBef>
              <a:spcAft>
                <a:spcPts val="0"/>
              </a:spcAft>
              <a:buSzPct val="100000"/>
              <a:buNone/>
            </a:pPr>
            <a:r>
              <a:rPr i="1" lang="it-IT" sz="1900"/>
              <a:t>		…// istruzioni varie</a:t>
            </a:r>
            <a:endParaRPr/>
          </a:p>
          <a:p>
            <a:pPr indent="0" lvl="1" marL="301943" rtl="0" algn="l">
              <a:spcBef>
                <a:spcPts val="351"/>
              </a:spcBef>
              <a:spcAft>
                <a:spcPts val="0"/>
              </a:spcAft>
              <a:buSzPct val="100000"/>
              <a:buNone/>
            </a:pPr>
            <a:r>
              <a:rPr i="1" lang="it-IT" sz="1900"/>
              <a:t>		return s;</a:t>
            </a:r>
            <a:endParaRPr/>
          </a:p>
          <a:p>
            <a:pPr indent="0" lvl="1" marL="301943" rtl="0" algn="l">
              <a:spcBef>
                <a:spcPts val="351"/>
              </a:spcBef>
              <a:spcAft>
                <a:spcPts val="0"/>
              </a:spcAft>
              <a:buSzPct val="100000"/>
              <a:buNone/>
            </a:pPr>
            <a:r>
              <a:rPr i="1" lang="it-IT" sz="1900"/>
              <a:t>	}</a:t>
            </a:r>
            <a:endParaRPr/>
          </a:p>
          <a:p>
            <a:pPr indent="-274320" lvl="0" marL="274320" rtl="0" algn="l">
              <a:spcBef>
                <a:spcPts val="444"/>
              </a:spcBef>
              <a:spcAft>
                <a:spcPts val="0"/>
              </a:spcAft>
              <a:buSzPct val="100000"/>
              <a:buChar char="*"/>
            </a:pPr>
            <a:r>
              <a:rPr lang="it-IT"/>
              <a:t>Se la firma del metodo è void, il metodo non deve avere la clausola return</a:t>
            </a:r>
            <a:endParaRPr/>
          </a:p>
          <a:p>
            <a:pPr indent="0" lvl="1" marL="301943" rtl="0" algn="l">
              <a:spcBef>
                <a:spcPts val="351"/>
              </a:spcBef>
              <a:spcAft>
                <a:spcPts val="0"/>
              </a:spcAft>
              <a:buSzPct val="100000"/>
              <a:buNone/>
            </a:pPr>
            <a:r>
              <a:t/>
            </a:r>
            <a:endParaRPr sz="1900"/>
          </a:p>
        </p:txBody>
      </p:sp>
      <p:sp>
        <p:nvSpPr>
          <p:cNvPr id="353" name="Google Shape;353;p3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54" name="Google Shape;354;p3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dichiarazione dei metodi (3/3)</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A prescindere dal qualificatore di accesso di un attributo di una classe (quindi anche se </a:t>
            </a:r>
            <a:r>
              <a:rPr i="1" lang="it-IT"/>
              <a:t>private</a:t>
            </a:r>
            <a:r>
              <a:rPr lang="it-IT"/>
              <a:t>) un metodo ha sempre accesso a tutti gli attributi all’interno della stessa classe</a:t>
            </a:r>
            <a:endParaRPr/>
          </a:p>
          <a:p>
            <a:pPr indent="-274320" lvl="0" marL="274320" rtl="0" algn="l">
              <a:spcBef>
                <a:spcPts val="480"/>
              </a:spcBef>
              <a:spcAft>
                <a:spcPts val="0"/>
              </a:spcAft>
              <a:buSzPts val="2400"/>
              <a:buChar char="*"/>
            </a:pPr>
            <a:r>
              <a:rPr lang="it-IT"/>
              <a:t>Un metodo può sempre invocare un altro metodo all’interno della stessa classe:</a:t>
            </a:r>
            <a:endParaRPr/>
          </a:p>
          <a:p>
            <a:pPr indent="0" lvl="1" marL="301943" rtl="0" algn="l">
              <a:spcBef>
                <a:spcPts val="360"/>
              </a:spcBef>
              <a:spcAft>
                <a:spcPts val="0"/>
              </a:spcAft>
              <a:buSzPts val="1800"/>
              <a:buNone/>
            </a:pPr>
            <a:r>
              <a:rPr i="1" lang="it-IT" sz="1800"/>
              <a:t>public void stampaCorso() {</a:t>
            </a:r>
            <a:endParaRPr/>
          </a:p>
          <a:p>
            <a:pPr indent="0" lvl="1" marL="301943" rtl="0" algn="l">
              <a:spcBef>
                <a:spcPts val="360"/>
              </a:spcBef>
              <a:spcAft>
                <a:spcPts val="0"/>
              </a:spcAft>
              <a:buSzPts val="1800"/>
              <a:buNone/>
            </a:pPr>
            <a:r>
              <a:rPr i="1" lang="it-IT" sz="1800"/>
              <a:t>	System.out.println("Corso: " + getNome() + " - Docente: " + 	getNomeDocente() + " - Materia: " + 	getMateria().getNomeMateria());</a:t>
            </a:r>
            <a:endParaRPr/>
          </a:p>
          <a:p>
            <a:pPr indent="0" lvl="1" marL="301943" rtl="0" algn="l">
              <a:spcBef>
                <a:spcPts val="360"/>
              </a:spcBef>
              <a:spcAft>
                <a:spcPts val="0"/>
              </a:spcAft>
              <a:buSzPts val="1800"/>
              <a:buNone/>
            </a:pPr>
            <a:r>
              <a:rPr i="1" lang="it-IT" sz="1800"/>
              <a:t>}</a:t>
            </a:r>
            <a:endParaRPr/>
          </a:p>
        </p:txBody>
      </p:sp>
      <p:sp>
        <p:nvSpPr>
          <p:cNvPr id="360" name="Google Shape;360;p3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61" name="Google Shape;361;p3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Metodi: accesso agli attributi e agli altri metodi interni alla stessa classe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Per concludere, la dichiarazione di una classe introduce un nuovo tipo di dato disponibile per il nostro programma</a:t>
            </a:r>
            <a:endParaRPr/>
          </a:p>
          <a:p>
            <a:pPr indent="-274320" lvl="0" marL="274320" rtl="0" algn="l">
              <a:spcBef>
                <a:spcPts val="480"/>
              </a:spcBef>
              <a:spcAft>
                <a:spcPts val="0"/>
              </a:spcAft>
              <a:buSzPts val="2400"/>
              <a:buChar char="*"/>
            </a:pPr>
            <a:r>
              <a:rPr lang="it-IT"/>
              <a:t>Dichiarare una classe in un certo senso equivale ad ampliare il linguaggio a disposizione del nostro programma</a:t>
            </a:r>
            <a:endParaRPr/>
          </a:p>
          <a:p>
            <a:pPr indent="-274320" lvl="0" marL="274320" rtl="0" algn="l">
              <a:spcBef>
                <a:spcPts val="480"/>
              </a:spcBef>
              <a:spcAft>
                <a:spcPts val="0"/>
              </a:spcAft>
              <a:buSzPts val="2400"/>
              <a:buChar char="*"/>
            </a:pPr>
            <a:r>
              <a:rPr lang="it-IT"/>
              <a:t>Il passo successivo è utilizzare la classe dichiarata, ovvero dichiarare oggetti della nostra classe e successivamente usare gli stessi oggetti</a:t>
            </a:r>
            <a:endParaRPr/>
          </a:p>
        </p:txBody>
      </p:sp>
      <p:sp>
        <p:nvSpPr>
          <p:cNvPr id="367" name="Google Shape;367;p3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68" name="Google Shape;368;p3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Dichiarazione di una classe</a:t>
            </a:r>
            <a:br>
              <a:rPr lang="it-IT"/>
            </a:br>
            <a:r>
              <a:rPr lang="it-IT"/>
              <a:t>Conclusioni</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nde">
  <a:themeElements>
    <a:clrScheme name="Onde">
      <a:dk1>
        <a:srgbClr val="000000"/>
      </a:dk1>
      <a:lt1>
        <a:srgbClr val="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2020-03-06T14:39:45Z</dcterms:created>
  <dc:creator>Roberto Santoro</dc:creator>
</cp:coreProperties>
</file>