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2"/>
  </p:notesMasterIdLst>
  <p:sldIdLst>
    <p:sldId id="323" r:id="rId2"/>
    <p:sldId id="295" r:id="rId3"/>
    <p:sldId id="296" r:id="rId4"/>
    <p:sldId id="297" r:id="rId5"/>
    <p:sldId id="322" r:id="rId6"/>
    <p:sldId id="299" r:id="rId7"/>
    <p:sldId id="300" r:id="rId8"/>
    <p:sldId id="301" r:id="rId9"/>
    <p:sldId id="302" r:id="rId10"/>
    <p:sldId id="303" r:id="rId11"/>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autoAdjust="0"/>
    <p:restoredTop sz="94681" autoAdjust="0"/>
  </p:normalViewPr>
  <p:slideViewPr>
    <p:cSldViewPr>
      <p:cViewPr varScale="1">
        <p:scale>
          <a:sx n="83" d="100"/>
          <a:sy n="83" d="100"/>
        </p:scale>
        <p:origin x="1450" y="67"/>
      </p:cViewPr>
      <p:guideLst>
        <p:guide orient="horz" pos="2160"/>
        <p:guide pos="2880"/>
      </p:guideLst>
    </p:cSldViewPr>
  </p:slideViewPr>
  <p:outlineViewPr>
    <p:cViewPr>
      <p:scale>
        <a:sx n="33" d="100"/>
        <a:sy n="33" d="100"/>
      </p:scale>
      <p:origin x="40" y="1567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D70AA1-E622-47CB-86EB-1B14FCE7E646}" type="datetimeFigureOut">
              <a:rPr lang="it-IT" smtClean="0"/>
              <a:t>26/04/2023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5FF30F-A231-417B-99B7-615F441DE74F}" type="slidenum">
              <a:rPr lang="it-IT" smtClean="0"/>
              <a:t>‹N›</a:t>
            </a:fld>
            <a:endParaRPr lang="it-IT"/>
          </a:p>
        </p:txBody>
      </p:sp>
    </p:spTree>
    <p:extLst>
      <p:ext uri="{BB962C8B-B14F-4D97-AF65-F5344CB8AC3E}">
        <p14:creationId xmlns:p14="http://schemas.microsoft.com/office/powerpoint/2010/main" val="1626197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it-IT" smtClean="0"/>
              <a:t>Fare clic per modificare lo stile del titolo</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40BE3A84-63F3-431A-9C55-B9482AE4950D}" type="datetime1">
              <a:rPr lang="it-IT" smtClean="0"/>
              <a:t>26/04/2023</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Date Placeholder 3"/>
          <p:cNvSpPr>
            <a:spLocks noGrp="1"/>
          </p:cNvSpPr>
          <p:nvPr>
            <p:ph type="dt" sz="half" idx="10"/>
          </p:nvPr>
        </p:nvSpPr>
        <p:spPr/>
        <p:txBody>
          <a:bodyPr/>
          <a:lstStyle/>
          <a:p>
            <a:fld id="{4809EDA3-CA39-466A-8BC1-80F99B899EAA}" type="datetime1">
              <a:rPr lang="it-IT" smtClean="0"/>
              <a:t>26/04/2023</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
        <p:nvSpPr>
          <p:cNvPr id="7" name="Title 6"/>
          <p:cNvSpPr>
            <a:spLocks noGrp="1"/>
          </p:cNvSpPr>
          <p:nvPr>
            <p:ph type="title"/>
          </p:nvPr>
        </p:nvSpPr>
        <p:spPr/>
        <p:txBody>
          <a:bodyPr/>
          <a:lstStyle/>
          <a:p>
            <a:r>
              <a:rPr lang="it-IT" smtClean="0"/>
              <a:t>Fare clic per modificare lo stile del titolo</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Date Placeholder 3"/>
          <p:cNvSpPr>
            <a:spLocks noGrp="1"/>
          </p:cNvSpPr>
          <p:nvPr>
            <p:ph type="dt" sz="half" idx="10"/>
          </p:nvPr>
        </p:nvSpPr>
        <p:spPr/>
        <p:txBody>
          <a:bodyPr/>
          <a:lstStyle/>
          <a:p>
            <a:fld id="{EC2B853C-53F5-4E13-9A26-B7BE6493032F}" type="datetime1">
              <a:rPr lang="it-IT" smtClean="0"/>
              <a:t>26/04/2023</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5" name="Date Placeholder 4"/>
          <p:cNvSpPr>
            <a:spLocks noGrp="1"/>
          </p:cNvSpPr>
          <p:nvPr>
            <p:ph type="dt" sz="half" idx="10"/>
          </p:nvPr>
        </p:nvSpPr>
        <p:spPr/>
        <p:txBody>
          <a:bodyPr/>
          <a:lstStyle/>
          <a:p>
            <a:fld id="{70D98693-BCDE-486C-9B19-1C8B09BB904E}" type="datetime1">
              <a:rPr lang="it-IT" smtClean="0"/>
              <a:t>26/04/2023</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9" name="Content Placeholder 8"/>
          <p:cNvSpPr>
            <a:spLocks noGrp="1"/>
          </p:cNvSpPr>
          <p:nvPr>
            <p:ph sz="quarter" idx="13"/>
          </p:nvPr>
        </p:nvSpPr>
        <p:spPr>
          <a:xfrm>
            <a:off x="676655" y="2679192"/>
            <a:ext cx="3822192" cy="34472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smtClean="0"/>
              <a:t>Fare clic per modificare lo stile del titolo</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7" name="Date Placeholder 6"/>
          <p:cNvSpPr>
            <a:spLocks noGrp="1"/>
          </p:cNvSpPr>
          <p:nvPr>
            <p:ph type="dt" sz="half" idx="10"/>
          </p:nvPr>
        </p:nvSpPr>
        <p:spPr/>
        <p:txBody>
          <a:bodyPr/>
          <a:lstStyle/>
          <a:p>
            <a:fld id="{F450E496-CA3D-4FA9-8C5C-1ABE7C43A574}" type="datetime1">
              <a:rPr lang="it-IT" smtClean="0"/>
              <a:t>26/04/2023</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Date Placeholder 2"/>
          <p:cNvSpPr>
            <a:spLocks noGrp="1"/>
          </p:cNvSpPr>
          <p:nvPr>
            <p:ph type="dt" sz="half" idx="10"/>
          </p:nvPr>
        </p:nvSpPr>
        <p:spPr/>
        <p:txBody>
          <a:bodyPr/>
          <a:lstStyle/>
          <a:p>
            <a:fld id="{88EC399D-A346-4758-9EB9-B99E020AFCB4}" type="datetime1">
              <a:rPr lang="it-IT" smtClean="0"/>
              <a:t>26/04/2023</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5D73DEB4-9992-4046-983A-62DEC2CE24C8}" type="datetime1">
              <a:rPr lang="it-IT" smtClean="0"/>
              <a:t>26/04/2023</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9BAC840-B7FD-4E00-B7FF-25DDB572D975}" type="datetime1">
              <a:rPr lang="it-IT" smtClean="0"/>
              <a:t>26/04/2023</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it-IT" smtClean="0"/>
              <a:t>Fare clic per modificare lo stile del titolo</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it-IT" smtClean="0"/>
              <a:t>Fare clic per modificare lo stile del titolo</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Date Placeholder 4"/>
          <p:cNvSpPr>
            <a:spLocks noGrp="1"/>
          </p:cNvSpPr>
          <p:nvPr>
            <p:ph type="dt" sz="half" idx="10"/>
          </p:nvPr>
        </p:nvSpPr>
        <p:spPr/>
        <p:txBody>
          <a:bodyPr/>
          <a:lstStyle/>
          <a:p>
            <a:fld id="{53DF7A21-59E5-466D-96D8-ADB3CE81AA87}" type="datetime1">
              <a:rPr lang="it-IT" smtClean="0"/>
              <a:t>26/04/2023</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Fare clic sull'icona per inserire un'immagine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Date Placeholder 3"/>
          <p:cNvSpPr>
            <a:spLocks noGrp="1"/>
          </p:cNvSpPr>
          <p:nvPr>
            <p:ph type="dt" sz="half" idx="10"/>
          </p:nvPr>
        </p:nvSpPr>
        <p:spPr/>
        <p:txBody>
          <a:bodyPr/>
          <a:lstStyle/>
          <a:p>
            <a:fld id="{2AA485A5-26CA-4AAB-B84A-2EF0F8868C96}" type="datetime1">
              <a:rPr lang="it-IT" smtClean="0"/>
              <a:t>26/04/2023</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1_Titolo e testo verticale">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53F66A4-1B2D-45C8-B7FB-524CFB06BC33}" type="datetime1">
              <a:rPr lang="it-IT" smtClean="0"/>
              <a:t>26/04/2023</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it-IT" smtClean="0"/>
              <a:t>Fare clic per modificare lo stile del titolo</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917FF0C-4F33-421E-BA59-0A84CC4EB502}" type="datetime1">
              <a:rPr lang="it-IT" smtClean="0"/>
              <a:t>26/04/2023</a:t>
            </a:fld>
            <a:endParaRPr lang="it-IT"/>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it-IT"/>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E7A41E1B-4F70-4964-A407-84C68BE8251C}" type="slidenum">
              <a:rPr lang="it-IT" smtClean="0"/>
              <a:t>‹N›</a:t>
            </a:fld>
            <a:endParaRPr lang="it-IT"/>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ctrTitle"/>
          </p:nvPr>
        </p:nvSpPr>
        <p:spPr/>
        <p:txBody>
          <a:bodyPr/>
          <a:lstStyle/>
          <a:p>
            <a:r>
              <a:rPr lang="it-IT" dirty="0" smtClean="0"/>
              <a:t>Classi Astratte</a:t>
            </a:r>
            <a:endParaRPr lang="it-IT" dirty="0"/>
          </a:p>
        </p:txBody>
      </p:sp>
      <p:sp>
        <p:nvSpPr>
          <p:cNvPr id="6" name="Sottotitolo 5"/>
          <p:cNvSpPr>
            <a:spLocks noGrp="1"/>
          </p:cNvSpPr>
          <p:nvPr>
            <p:ph type="subTitle" idx="1"/>
          </p:nvPr>
        </p:nvSpPr>
        <p:spPr/>
        <p:txBody>
          <a:bodyPr/>
          <a:lstStyle/>
          <a:p>
            <a:endParaRPr lang="it-IT"/>
          </a:p>
        </p:txBody>
      </p:sp>
    </p:spTree>
    <p:extLst>
      <p:ext uri="{BB962C8B-B14F-4D97-AF65-F5344CB8AC3E}">
        <p14:creationId xmlns:p14="http://schemas.microsoft.com/office/powerpoint/2010/main" val="3177291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lstStyle/>
          <a:p>
            <a:r>
              <a:rPr lang="it-IT" dirty="0"/>
              <a:t>Un altro concetto estremamente importante in Java è quello di classe </a:t>
            </a:r>
            <a:r>
              <a:rPr lang="it-IT" b="1" dirty="0"/>
              <a:t>astratta</a:t>
            </a:r>
            <a:r>
              <a:rPr lang="it-IT" dirty="0"/>
              <a:t>, ovvero una classe </a:t>
            </a:r>
            <a:r>
              <a:rPr lang="it-IT" dirty="0" smtClean="0"/>
              <a:t>che può avere sia metodi completi </a:t>
            </a:r>
            <a:r>
              <a:rPr lang="it-IT" dirty="0"/>
              <a:t>di implementazione (o corpo), </a:t>
            </a:r>
            <a:r>
              <a:rPr lang="it-IT" dirty="0" smtClean="0"/>
              <a:t>che metodi soltanto </a:t>
            </a:r>
            <a:r>
              <a:rPr lang="it-IT" dirty="0"/>
              <a:t>definiti attraverso la loro firma, </a:t>
            </a:r>
            <a:r>
              <a:rPr lang="it-IT" dirty="0" smtClean="0"/>
              <a:t>ovvero privi </a:t>
            </a:r>
            <a:r>
              <a:rPr lang="it-IT" dirty="0"/>
              <a:t>di implementazione. Questi ultimi metodi sono definiti </a:t>
            </a:r>
            <a:r>
              <a:rPr lang="it-IT" dirty="0" smtClean="0"/>
              <a:t>astratti</a:t>
            </a:r>
          </a:p>
          <a:p>
            <a:r>
              <a:rPr lang="it-IT" dirty="0"/>
              <a:t>Possiamo quindi vedere una classe astratta come una via di mezzo tra una classe standard </a:t>
            </a:r>
            <a:r>
              <a:rPr lang="it-IT" dirty="0" smtClean="0"/>
              <a:t>(classe </a:t>
            </a:r>
            <a:r>
              <a:rPr lang="it-IT" dirty="0"/>
              <a:t>concreta) ed un’interfaccia</a:t>
            </a:r>
          </a:p>
        </p:txBody>
      </p:sp>
      <p:sp>
        <p:nvSpPr>
          <p:cNvPr id="3" name="Segnaposto numero diapositiva 2"/>
          <p:cNvSpPr>
            <a:spLocks noGrp="1"/>
          </p:cNvSpPr>
          <p:nvPr>
            <p:ph type="sldNum" sz="quarter" idx="12"/>
          </p:nvPr>
        </p:nvSpPr>
        <p:spPr/>
        <p:txBody>
          <a:bodyPr/>
          <a:lstStyle/>
          <a:p>
            <a:fld id="{E7A41E1B-4F70-4964-A407-84C68BE8251C}" type="slidenum">
              <a:rPr lang="it-IT" smtClean="0"/>
              <a:t>2</a:t>
            </a:fld>
            <a:endParaRPr lang="it-IT"/>
          </a:p>
        </p:txBody>
      </p:sp>
      <p:sp>
        <p:nvSpPr>
          <p:cNvPr id="4" name="Titolo 3"/>
          <p:cNvSpPr>
            <a:spLocks noGrp="1"/>
          </p:cNvSpPr>
          <p:nvPr>
            <p:ph type="title"/>
          </p:nvPr>
        </p:nvSpPr>
        <p:spPr/>
        <p:txBody>
          <a:bodyPr/>
          <a:lstStyle/>
          <a:p>
            <a:r>
              <a:rPr lang="it-IT" dirty="0" smtClean="0"/>
              <a:t>Classi Astratte (1/3)</a:t>
            </a:r>
            <a:endParaRPr lang="it-IT" dirty="0"/>
          </a:p>
        </p:txBody>
      </p:sp>
    </p:spTree>
    <p:extLst>
      <p:ext uri="{BB962C8B-B14F-4D97-AF65-F5344CB8AC3E}">
        <p14:creationId xmlns:p14="http://schemas.microsoft.com/office/powerpoint/2010/main" val="3256433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lstStyle/>
          <a:p>
            <a:r>
              <a:rPr lang="it-IT" dirty="0"/>
              <a:t>Le classi astratte sono molto utili in tutte quelle situazioni in cui sappiamo come implementare una serie di metodi ma per altri metodi vogliamo deliberatamente lasciare l’implementazione ad altre classi (quelle che estendono la classe astratta</a:t>
            </a:r>
            <a:r>
              <a:rPr lang="it-IT" dirty="0" smtClean="0"/>
              <a:t>)</a:t>
            </a:r>
            <a:endParaRPr lang="it-IT" dirty="0"/>
          </a:p>
          <a:p>
            <a:r>
              <a:rPr lang="it-IT" dirty="0"/>
              <a:t>In Java una classe si dichiara astratta attraverso la parola chiave </a:t>
            </a:r>
            <a:r>
              <a:rPr lang="it-IT" b="1" dirty="0" err="1"/>
              <a:t>abstract</a:t>
            </a:r>
            <a:r>
              <a:rPr lang="it-IT" b="1" dirty="0"/>
              <a:t>:</a:t>
            </a:r>
            <a:endParaRPr lang="it-IT" dirty="0"/>
          </a:p>
          <a:p>
            <a:pPr marL="301943" lvl="1" indent="0">
              <a:buNone/>
            </a:pPr>
            <a:r>
              <a:rPr lang="it-IT" i="1" dirty="0"/>
              <a:t>public </a:t>
            </a:r>
            <a:r>
              <a:rPr lang="it-IT" i="1" dirty="0" err="1"/>
              <a:t>abstract</a:t>
            </a:r>
            <a:r>
              <a:rPr lang="it-IT" i="1" dirty="0"/>
              <a:t> </a:t>
            </a:r>
            <a:r>
              <a:rPr lang="it-IT" i="1" dirty="0" err="1"/>
              <a:t>class</a:t>
            </a:r>
            <a:r>
              <a:rPr lang="it-IT" i="1" dirty="0"/>
              <a:t> Astratta {</a:t>
            </a:r>
            <a:endParaRPr lang="it-IT" dirty="0"/>
          </a:p>
          <a:p>
            <a:pPr marL="301943" lvl="1" indent="0">
              <a:buNone/>
            </a:pPr>
            <a:r>
              <a:rPr lang="it-IT" i="1" dirty="0"/>
              <a:t>…..</a:t>
            </a:r>
            <a:endParaRPr lang="it-IT" dirty="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3</a:t>
            </a:fld>
            <a:endParaRPr lang="it-IT"/>
          </a:p>
        </p:txBody>
      </p:sp>
      <p:sp>
        <p:nvSpPr>
          <p:cNvPr id="4" name="Titolo 3"/>
          <p:cNvSpPr>
            <a:spLocks noGrp="1"/>
          </p:cNvSpPr>
          <p:nvPr>
            <p:ph type="title"/>
          </p:nvPr>
        </p:nvSpPr>
        <p:spPr/>
        <p:txBody>
          <a:bodyPr/>
          <a:lstStyle/>
          <a:p>
            <a:r>
              <a:rPr lang="it-IT" dirty="0"/>
              <a:t>Classi Astratte </a:t>
            </a:r>
            <a:r>
              <a:rPr lang="it-IT" dirty="0" smtClean="0"/>
              <a:t>(2/3</a:t>
            </a:r>
            <a:r>
              <a:rPr lang="it-IT" dirty="0"/>
              <a:t>)</a:t>
            </a:r>
          </a:p>
        </p:txBody>
      </p:sp>
    </p:spTree>
    <p:extLst>
      <p:ext uri="{BB962C8B-B14F-4D97-AF65-F5344CB8AC3E}">
        <p14:creationId xmlns:p14="http://schemas.microsoft.com/office/powerpoint/2010/main" val="3068629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Autofit/>
          </a:bodyPr>
          <a:lstStyle/>
          <a:p>
            <a:r>
              <a:rPr lang="it-IT" sz="2200" dirty="0"/>
              <a:t>Anche tutti i metodi astratti devono essere dichiarati tramite la parola chiave </a:t>
            </a:r>
            <a:r>
              <a:rPr lang="it-IT" sz="2200" b="1" dirty="0" err="1"/>
              <a:t>abstract</a:t>
            </a:r>
            <a:r>
              <a:rPr lang="it-IT" sz="2200" dirty="0"/>
              <a:t>:</a:t>
            </a:r>
          </a:p>
          <a:p>
            <a:pPr marL="301943" lvl="1" indent="0">
              <a:buNone/>
            </a:pPr>
            <a:r>
              <a:rPr lang="en-US" sz="2000" i="1" dirty="0" smtClean="0"/>
              <a:t>public </a:t>
            </a:r>
            <a:r>
              <a:rPr lang="en-US" sz="2000" i="1" dirty="0"/>
              <a:t>abstract </a:t>
            </a:r>
            <a:r>
              <a:rPr lang="en-US" sz="2000" i="1" dirty="0" err="1"/>
              <a:t>int</a:t>
            </a:r>
            <a:r>
              <a:rPr lang="en-US" sz="2000" i="1" dirty="0"/>
              <a:t> operate(</a:t>
            </a:r>
            <a:r>
              <a:rPr lang="en-US" sz="2000" i="1" dirty="0" err="1"/>
              <a:t>int</a:t>
            </a:r>
            <a:r>
              <a:rPr lang="en-US" sz="2000" i="1" dirty="0"/>
              <a:t> </a:t>
            </a:r>
            <a:r>
              <a:rPr lang="en-US" sz="2000" i="1" dirty="0" err="1"/>
              <a:t>x,inty</a:t>
            </a:r>
            <a:r>
              <a:rPr lang="en-US" sz="2000" i="1" dirty="0" smtClean="0"/>
              <a:t>);</a:t>
            </a:r>
          </a:p>
          <a:p>
            <a:r>
              <a:rPr lang="it-IT" sz="2200" dirty="0"/>
              <a:t>Una classe concreta dichiara </a:t>
            </a:r>
            <a:r>
              <a:rPr lang="it-IT" sz="2200" dirty="0" smtClean="0"/>
              <a:t>tramite </a:t>
            </a:r>
            <a:r>
              <a:rPr lang="it-IT" sz="2200" dirty="0"/>
              <a:t>l’uso della parola chiave </a:t>
            </a:r>
            <a:r>
              <a:rPr lang="it-IT" sz="2200" b="1" dirty="0" err="1"/>
              <a:t>extends</a:t>
            </a:r>
            <a:r>
              <a:rPr lang="it-IT" sz="2200" b="1" i="1" dirty="0"/>
              <a:t> </a:t>
            </a:r>
            <a:r>
              <a:rPr lang="it-IT" sz="2200" b="1" dirty="0" smtClean="0"/>
              <a:t>di implementare </a:t>
            </a:r>
            <a:r>
              <a:rPr lang="it-IT" sz="2200" b="1" dirty="0"/>
              <a:t>tutti i metodi astratti</a:t>
            </a:r>
            <a:r>
              <a:rPr lang="it-IT" sz="2200" dirty="0"/>
              <a:t> della classe </a:t>
            </a:r>
            <a:r>
              <a:rPr lang="it-IT" sz="2200" dirty="0" smtClean="0"/>
              <a:t>astratta</a:t>
            </a:r>
            <a:endParaRPr lang="it-IT" sz="2200" dirty="0"/>
          </a:p>
          <a:p>
            <a:r>
              <a:rPr lang="it-IT" sz="2200" dirty="0"/>
              <a:t>Le due condizioni appena dette devono verificarsi contemporaneamente, ovvero potremmo avere una classe che estende la classe astratta ed implementa solo un sottoinsieme dei suoi metodi astratti lasciandone alcuni ancora non implementati. In tal caso anche questa seconda classe è astratta e </a:t>
            </a:r>
            <a:r>
              <a:rPr lang="it-IT" sz="2200" b="1" dirty="0"/>
              <a:t>deve</a:t>
            </a:r>
            <a:r>
              <a:rPr lang="it-IT" sz="2200" dirty="0"/>
              <a:t> essere definita come </a:t>
            </a:r>
            <a:r>
              <a:rPr lang="it-IT" sz="2200" b="1" dirty="0" err="1" smtClean="0"/>
              <a:t>abstract</a:t>
            </a:r>
            <a:endParaRPr lang="it-IT" sz="2200"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4</a:t>
            </a:fld>
            <a:endParaRPr lang="it-IT"/>
          </a:p>
        </p:txBody>
      </p:sp>
      <p:sp>
        <p:nvSpPr>
          <p:cNvPr id="4" name="Titolo 3"/>
          <p:cNvSpPr>
            <a:spLocks noGrp="1"/>
          </p:cNvSpPr>
          <p:nvPr>
            <p:ph type="title"/>
          </p:nvPr>
        </p:nvSpPr>
        <p:spPr/>
        <p:txBody>
          <a:bodyPr/>
          <a:lstStyle/>
          <a:p>
            <a:r>
              <a:rPr lang="it-IT" dirty="0"/>
              <a:t>Classi Astratte </a:t>
            </a:r>
            <a:r>
              <a:rPr lang="it-IT" dirty="0" smtClean="0"/>
              <a:t>(3/3</a:t>
            </a:r>
            <a:r>
              <a:rPr lang="it-IT" dirty="0"/>
              <a:t>)</a:t>
            </a:r>
          </a:p>
        </p:txBody>
      </p:sp>
    </p:spTree>
    <p:extLst>
      <p:ext uri="{BB962C8B-B14F-4D97-AF65-F5344CB8AC3E}">
        <p14:creationId xmlns:p14="http://schemas.microsoft.com/office/powerpoint/2010/main" val="2130772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700808"/>
            <a:ext cx="7408333" cy="4425355"/>
          </a:xfrm>
        </p:spPr>
        <p:txBody>
          <a:bodyPr>
            <a:normAutofit fontScale="92500"/>
          </a:bodyPr>
          <a:lstStyle/>
          <a:p>
            <a:r>
              <a:rPr lang="it-IT" dirty="0" smtClean="0"/>
              <a:t>Una classe astratta non può essere </a:t>
            </a:r>
            <a:r>
              <a:rPr lang="it-IT" i="1" dirty="0" err="1" smtClean="0"/>
              <a:t>final</a:t>
            </a:r>
            <a:r>
              <a:rPr lang="it-IT" i="1" dirty="0" smtClean="0"/>
              <a:t> </a:t>
            </a:r>
            <a:r>
              <a:rPr lang="it-IT" dirty="0" smtClean="0"/>
              <a:t>(così come un’interfaccia)</a:t>
            </a:r>
          </a:p>
          <a:p>
            <a:r>
              <a:rPr lang="it-IT" dirty="0" smtClean="0"/>
              <a:t>I metodi </a:t>
            </a:r>
            <a:r>
              <a:rPr lang="it-IT" i="1" dirty="0" err="1" smtClean="0"/>
              <a:t>abstract</a:t>
            </a:r>
            <a:r>
              <a:rPr lang="it-IT" i="1" dirty="0" smtClean="0"/>
              <a:t> </a:t>
            </a:r>
            <a:r>
              <a:rPr lang="it-IT" dirty="0" smtClean="0"/>
              <a:t>di una classe astratta non possono essere né </a:t>
            </a:r>
            <a:r>
              <a:rPr lang="it-IT" i="1" dirty="0" err="1" smtClean="0"/>
              <a:t>final</a:t>
            </a:r>
            <a:r>
              <a:rPr lang="it-IT" dirty="0" smtClean="0"/>
              <a:t> né </a:t>
            </a:r>
            <a:r>
              <a:rPr lang="it-IT" i="1" dirty="0" smtClean="0"/>
              <a:t>private</a:t>
            </a:r>
          </a:p>
          <a:p>
            <a:r>
              <a:rPr lang="it-IT" dirty="0" smtClean="0"/>
              <a:t>Una classe astratta può essere figlia di un’altra classe astratta ed implementare una o </a:t>
            </a:r>
            <a:r>
              <a:rPr lang="it-IT" i="1" dirty="0" smtClean="0"/>
              <a:t>n </a:t>
            </a:r>
            <a:r>
              <a:rPr lang="it-IT" dirty="0" smtClean="0"/>
              <a:t>interfacce ed essendo astratta non ha nessun vincolo su quali e quanti metodi debba implementare</a:t>
            </a:r>
          </a:p>
          <a:p>
            <a:r>
              <a:rPr lang="it-IT" dirty="0" smtClean="0"/>
              <a:t>In fase di </a:t>
            </a:r>
            <a:r>
              <a:rPr lang="it-IT" dirty="0" err="1" smtClean="0"/>
              <a:t>istanziazione</a:t>
            </a:r>
            <a:r>
              <a:rPr lang="it-IT" dirty="0" smtClean="0"/>
              <a:t> di un oggetto la clausola </a:t>
            </a:r>
            <a:r>
              <a:rPr lang="it-IT" i="1" dirty="0" smtClean="0"/>
              <a:t>new</a:t>
            </a:r>
            <a:r>
              <a:rPr lang="it-IT" dirty="0" smtClean="0"/>
              <a:t> non può essere seguita dal nome di una classe astratta (così come di un’interfaccia), ma deve necessariamente essere sempre seguita dal nome di una classe concreta</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5</a:t>
            </a:fld>
            <a:endParaRPr lang="it-IT"/>
          </a:p>
        </p:txBody>
      </p:sp>
      <p:sp>
        <p:nvSpPr>
          <p:cNvPr id="4" name="Titolo 3"/>
          <p:cNvSpPr>
            <a:spLocks noGrp="1"/>
          </p:cNvSpPr>
          <p:nvPr>
            <p:ph type="title"/>
          </p:nvPr>
        </p:nvSpPr>
        <p:spPr/>
        <p:txBody>
          <a:bodyPr/>
          <a:lstStyle/>
          <a:p>
            <a:r>
              <a:rPr lang="it-IT" dirty="0" smtClean="0"/>
              <a:t>Classi astratte: regole sintattiche</a:t>
            </a:r>
            <a:endParaRPr lang="it-IT" dirty="0"/>
          </a:p>
        </p:txBody>
      </p:sp>
    </p:spTree>
    <p:extLst>
      <p:ext uri="{BB962C8B-B14F-4D97-AF65-F5344CB8AC3E}">
        <p14:creationId xmlns:p14="http://schemas.microsoft.com/office/powerpoint/2010/main" val="1380304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pPr marL="0" indent="0">
              <a:buNone/>
            </a:pPr>
            <a:r>
              <a:rPr lang="it-IT" sz="2000" i="1" dirty="0"/>
              <a:t>package </a:t>
            </a:r>
            <a:r>
              <a:rPr lang="it-IT" sz="2000" i="1" dirty="0" err="1" smtClean="0"/>
              <a:t>com.azienda.progetto.astratte</a:t>
            </a:r>
            <a:r>
              <a:rPr lang="it-IT" sz="2000" i="1" dirty="0"/>
              <a:t>;</a:t>
            </a:r>
          </a:p>
          <a:p>
            <a:pPr marL="0" indent="0">
              <a:buNone/>
            </a:pPr>
            <a:r>
              <a:rPr lang="it-IT" sz="2000" i="1" dirty="0"/>
              <a:t> </a:t>
            </a:r>
          </a:p>
          <a:p>
            <a:pPr marL="0" indent="0">
              <a:buNone/>
            </a:pPr>
            <a:r>
              <a:rPr lang="en-US" sz="2000" i="1" dirty="0"/>
              <a:t>public abstract class </a:t>
            </a:r>
            <a:r>
              <a:rPr lang="en-US" sz="2000" i="1" dirty="0" err="1"/>
              <a:t>Astratta</a:t>
            </a:r>
            <a:r>
              <a:rPr lang="en-US" sz="2000" i="1" dirty="0"/>
              <a:t> {</a:t>
            </a:r>
            <a:endParaRPr lang="it-IT" sz="2000" i="1" dirty="0"/>
          </a:p>
          <a:p>
            <a:pPr marL="0" indent="0">
              <a:buNone/>
            </a:pPr>
            <a:r>
              <a:rPr lang="en-US" sz="2000" i="1" dirty="0"/>
              <a:t>	</a:t>
            </a:r>
            <a:endParaRPr lang="it-IT" sz="2000" i="1" dirty="0"/>
          </a:p>
          <a:p>
            <a:pPr marL="0" indent="0">
              <a:buNone/>
            </a:pPr>
            <a:r>
              <a:rPr lang="en-US" sz="2000" i="1" dirty="0"/>
              <a:t>	public void </a:t>
            </a:r>
            <a:r>
              <a:rPr lang="en-US" sz="2000" i="1" dirty="0" err="1" smtClean="0"/>
              <a:t>metodoConcreto</a:t>
            </a:r>
            <a:r>
              <a:rPr lang="en-US" sz="2000" i="1" dirty="0" smtClean="0"/>
              <a:t>(String </a:t>
            </a:r>
            <a:r>
              <a:rPr lang="en-US" sz="2000" i="1" dirty="0" err="1"/>
              <a:t>stringaDaStampare</a:t>
            </a:r>
            <a:r>
              <a:rPr lang="en-US" sz="2000" i="1" dirty="0" smtClean="0"/>
              <a:t>) </a:t>
            </a:r>
            <a:r>
              <a:rPr lang="it-IT" sz="2000" i="1" dirty="0" smtClean="0"/>
              <a:t>{</a:t>
            </a:r>
            <a:endParaRPr lang="it-IT" sz="2000" i="1" dirty="0"/>
          </a:p>
          <a:p>
            <a:pPr marL="0" indent="0">
              <a:buNone/>
            </a:pPr>
            <a:r>
              <a:rPr lang="it-IT" sz="2000" i="1" dirty="0"/>
              <a:t>		</a:t>
            </a:r>
            <a:r>
              <a:rPr lang="it-IT" sz="2000" i="1" dirty="0" err="1"/>
              <a:t>System.out.println</a:t>
            </a:r>
            <a:r>
              <a:rPr lang="it-IT" sz="2000" i="1" dirty="0"/>
              <a:t>("La stringa è: " + </a:t>
            </a:r>
            <a:r>
              <a:rPr lang="it-IT" sz="2000" i="1" dirty="0" smtClean="0"/>
              <a:t>						</a:t>
            </a:r>
            <a:r>
              <a:rPr lang="it-IT" sz="2000" i="1" dirty="0" err="1" smtClean="0"/>
              <a:t>stringaDaStampare</a:t>
            </a:r>
            <a:r>
              <a:rPr lang="it-IT" sz="2000" i="1" dirty="0"/>
              <a:t>);</a:t>
            </a:r>
          </a:p>
          <a:p>
            <a:pPr marL="0" indent="0">
              <a:buNone/>
            </a:pPr>
            <a:r>
              <a:rPr lang="it-IT" sz="2000" i="1" dirty="0"/>
              <a:t>	</a:t>
            </a:r>
            <a:r>
              <a:rPr lang="en-US" sz="2000" i="1" dirty="0"/>
              <a:t>}</a:t>
            </a:r>
            <a:endParaRPr lang="it-IT" sz="2000" i="1" dirty="0"/>
          </a:p>
          <a:p>
            <a:pPr marL="0" indent="0">
              <a:buNone/>
            </a:pPr>
            <a:r>
              <a:rPr lang="en-US" sz="2000" i="1" dirty="0"/>
              <a:t>	</a:t>
            </a:r>
            <a:endParaRPr lang="it-IT" sz="2000" i="1" dirty="0"/>
          </a:p>
          <a:p>
            <a:pPr marL="0" indent="0">
              <a:buNone/>
            </a:pPr>
            <a:r>
              <a:rPr lang="en-US" sz="2000" i="1" dirty="0"/>
              <a:t>	public abstract </a:t>
            </a:r>
            <a:r>
              <a:rPr lang="en-US" sz="2000" i="1" dirty="0" smtClean="0"/>
              <a:t>void </a:t>
            </a:r>
            <a:r>
              <a:rPr lang="en-US" sz="2000" i="1" dirty="0" err="1" smtClean="0"/>
              <a:t>metodoAstratto</a:t>
            </a:r>
            <a:r>
              <a:rPr lang="en-US" sz="2000" i="1" dirty="0" smtClean="0"/>
              <a:t>(String s);</a:t>
            </a:r>
            <a:endParaRPr lang="it-IT" sz="2000" i="1" dirty="0"/>
          </a:p>
          <a:p>
            <a:pPr marL="0" indent="0">
              <a:buNone/>
            </a:pPr>
            <a:r>
              <a:rPr lang="en-US" sz="2000" i="1" dirty="0"/>
              <a:t> </a:t>
            </a:r>
            <a:r>
              <a:rPr lang="it-IT" sz="2000" i="1" dirty="0" smtClean="0"/>
              <a:t>}</a:t>
            </a:r>
            <a:endParaRPr lang="it-IT" sz="2000" i="1" dirty="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6</a:t>
            </a:fld>
            <a:endParaRPr lang="it-IT"/>
          </a:p>
        </p:txBody>
      </p:sp>
      <p:sp>
        <p:nvSpPr>
          <p:cNvPr id="4" name="Titolo 3"/>
          <p:cNvSpPr>
            <a:spLocks noGrp="1"/>
          </p:cNvSpPr>
          <p:nvPr>
            <p:ph type="title"/>
          </p:nvPr>
        </p:nvSpPr>
        <p:spPr/>
        <p:txBody>
          <a:bodyPr>
            <a:normAutofit fontScale="90000"/>
          </a:bodyPr>
          <a:lstStyle/>
          <a:p>
            <a:r>
              <a:rPr lang="it-IT" dirty="0"/>
              <a:t>Classi Astratte</a:t>
            </a:r>
            <a:br>
              <a:rPr lang="it-IT" dirty="0"/>
            </a:br>
            <a:r>
              <a:rPr lang="it-IT" dirty="0"/>
              <a:t>Esempio </a:t>
            </a:r>
            <a:r>
              <a:rPr lang="it-IT" dirty="0" smtClean="0"/>
              <a:t>(1/5)</a:t>
            </a:r>
            <a:endParaRPr lang="it-IT" dirty="0"/>
          </a:p>
        </p:txBody>
      </p:sp>
    </p:spTree>
    <p:extLst>
      <p:ext uri="{BB962C8B-B14F-4D97-AF65-F5344CB8AC3E}">
        <p14:creationId xmlns:p14="http://schemas.microsoft.com/office/powerpoint/2010/main" val="3106866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r>
              <a:rPr lang="it-IT" dirty="0" smtClean="0"/>
              <a:t>Ed avremmo una prima implementazione:</a:t>
            </a:r>
          </a:p>
          <a:p>
            <a:pPr marL="301943" lvl="1" indent="0">
              <a:buNone/>
            </a:pPr>
            <a:endParaRPr lang="it-IT" sz="2000" i="1" dirty="0" smtClean="0"/>
          </a:p>
          <a:p>
            <a:pPr marL="301943" lvl="1" indent="0">
              <a:buNone/>
            </a:pPr>
            <a:r>
              <a:rPr lang="it-IT" sz="2000" i="1" dirty="0" smtClean="0"/>
              <a:t>package </a:t>
            </a:r>
            <a:r>
              <a:rPr lang="it-IT" sz="2000" i="1" dirty="0" err="1" smtClean="0"/>
              <a:t>com.azienda.progetto.astratte</a:t>
            </a:r>
            <a:r>
              <a:rPr lang="it-IT" sz="2000" i="1" dirty="0" smtClean="0"/>
              <a:t>;</a:t>
            </a:r>
          </a:p>
          <a:p>
            <a:pPr marL="301943" lvl="1" indent="0">
              <a:buNone/>
            </a:pPr>
            <a:r>
              <a:rPr lang="it-IT" sz="2000" i="1" dirty="0" smtClean="0"/>
              <a:t> </a:t>
            </a:r>
          </a:p>
          <a:p>
            <a:pPr marL="301943" lvl="1" indent="0">
              <a:buNone/>
            </a:pPr>
            <a:r>
              <a:rPr lang="en-US" sz="2000" i="1" dirty="0" smtClean="0"/>
              <a:t>public class Concreta1 extends </a:t>
            </a:r>
            <a:r>
              <a:rPr lang="en-US" sz="2000" i="1" dirty="0" err="1" smtClean="0"/>
              <a:t>Astratta</a:t>
            </a:r>
            <a:r>
              <a:rPr lang="en-US" sz="2000" i="1" dirty="0" smtClean="0"/>
              <a:t> {</a:t>
            </a:r>
            <a:endParaRPr lang="it-IT" sz="2000" i="1" dirty="0" smtClean="0"/>
          </a:p>
          <a:p>
            <a:pPr marL="301943" lvl="1" indent="0">
              <a:buNone/>
            </a:pPr>
            <a:r>
              <a:rPr lang="en-US" sz="2000" i="1" dirty="0" smtClean="0"/>
              <a:t> </a:t>
            </a:r>
            <a:endParaRPr lang="it-IT" sz="2000" i="1" dirty="0" smtClean="0"/>
          </a:p>
          <a:p>
            <a:pPr marL="301943" lvl="1" indent="0">
              <a:buNone/>
            </a:pPr>
            <a:r>
              <a:rPr lang="en-US" sz="2000" i="1" dirty="0" smtClean="0"/>
              <a:t>	public void </a:t>
            </a:r>
            <a:r>
              <a:rPr lang="en-US" sz="2000" i="1" dirty="0" err="1" smtClean="0"/>
              <a:t>metodoAstratto</a:t>
            </a:r>
            <a:r>
              <a:rPr lang="en-US" sz="2000" i="1" dirty="0" smtClean="0"/>
              <a:t>(String s) </a:t>
            </a:r>
            <a:r>
              <a:rPr lang="it-IT" sz="2000" i="1" dirty="0" smtClean="0"/>
              <a:t>{</a:t>
            </a:r>
          </a:p>
          <a:p>
            <a:pPr marL="301943" lvl="1" indent="0">
              <a:buNone/>
            </a:pPr>
            <a:r>
              <a:rPr lang="it-IT" sz="2000" i="1" dirty="0" smtClean="0"/>
              <a:t>		</a:t>
            </a:r>
            <a:r>
              <a:rPr lang="it-IT" sz="2000" i="1" dirty="0" err="1" smtClean="0"/>
              <a:t>System.out.println</a:t>
            </a:r>
            <a:r>
              <a:rPr lang="it-IT" sz="2000" i="1" dirty="0" smtClean="0"/>
              <a:t>("Concreta1 - " + s);</a:t>
            </a:r>
          </a:p>
          <a:p>
            <a:pPr marL="301943" lvl="1" indent="0">
              <a:buNone/>
            </a:pPr>
            <a:r>
              <a:rPr lang="it-IT" sz="2000" i="1" dirty="0" smtClean="0"/>
              <a:t>	}</a:t>
            </a:r>
          </a:p>
          <a:p>
            <a:pPr marL="301943" lvl="1" indent="0">
              <a:buNone/>
            </a:pPr>
            <a:r>
              <a:rPr lang="it-IT" sz="2000" i="1" dirty="0" smtClean="0"/>
              <a:t>}</a:t>
            </a:r>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7</a:t>
            </a:fld>
            <a:endParaRPr lang="it-IT"/>
          </a:p>
        </p:txBody>
      </p:sp>
      <p:sp>
        <p:nvSpPr>
          <p:cNvPr id="4" name="Titolo 3"/>
          <p:cNvSpPr>
            <a:spLocks noGrp="1"/>
          </p:cNvSpPr>
          <p:nvPr>
            <p:ph type="title"/>
          </p:nvPr>
        </p:nvSpPr>
        <p:spPr/>
        <p:txBody>
          <a:bodyPr>
            <a:normAutofit fontScale="90000"/>
          </a:bodyPr>
          <a:lstStyle/>
          <a:p>
            <a:r>
              <a:rPr lang="it-IT" dirty="0"/>
              <a:t>Classi Astratte</a:t>
            </a:r>
            <a:br>
              <a:rPr lang="it-IT" dirty="0"/>
            </a:br>
            <a:r>
              <a:rPr lang="it-IT" dirty="0"/>
              <a:t>Esempio </a:t>
            </a:r>
            <a:r>
              <a:rPr lang="it-IT" dirty="0" smtClean="0"/>
              <a:t>(2/5)</a:t>
            </a:r>
            <a:endParaRPr lang="it-IT" dirty="0"/>
          </a:p>
        </p:txBody>
      </p:sp>
    </p:spTree>
    <p:extLst>
      <p:ext uri="{BB962C8B-B14F-4D97-AF65-F5344CB8AC3E}">
        <p14:creationId xmlns:p14="http://schemas.microsoft.com/office/powerpoint/2010/main" val="118688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r>
              <a:rPr lang="it-IT" dirty="0" smtClean="0"/>
              <a:t>Ed una seconda implementazione:</a:t>
            </a:r>
          </a:p>
          <a:p>
            <a:pPr marL="301943" lvl="1" indent="0">
              <a:buNone/>
            </a:pPr>
            <a:endParaRPr lang="it-IT" sz="2000" i="1" dirty="0" smtClean="0"/>
          </a:p>
          <a:p>
            <a:pPr marL="301943" lvl="1" indent="0">
              <a:buNone/>
            </a:pPr>
            <a:r>
              <a:rPr lang="it-IT" sz="2000" i="1" dirty="0" smtClean="0"/>
              <a:t>package </a:t>
            </a:r>
            <a:r>
              <a:rPr lang="it-IT" sz="2000" i="1" dirty="0" err="1" smtClean="0"/>
              <a:t>com.azienda.progetto.astratte</a:t>
            </a:r>
            <a:r>
              <a:rPr lang="it-IT" sz="2000" i="1" dirty="0" smtClean="0"/>
              <a:t>;</a:t>
            </a:r>
          </a:p>
          <a:p>
            <a:pPr marL="301943" lvl="1" indent="0">
              <a:buNone/>
            </a:pPr>
            <a:r>
              <a:rPr lang="it-IT" sz="2000" i="1" dirty="0" smtClean="0"/>
              <a:t> </a:t>
            </a:r>
          </a:p>
          <a:p>
            <a:pPr marL="301943" lvl="1" indent="0">
              <a:buNone/>
            </a:pPr>
            <a:r>
              <a:rPr lang="en-US" sz="2000" i="1" dirty="0" smtClean="0"/>
              <a:t>public class Concreta2 extends </a:t>
            </a:r>
            <a:r>
              <a:rPr lang="en-US" sz="2000" i="1" dirty="0" err="1" smtClean="0"/>
              <a:t>Astratta</a:t>
            </a:r>
            <a:r>
              <a:rPr lang="en-US" sz="2000" i="1" dirty="0" smtClean="0"/>
              <a:t> {</a:t>
            </a:r>
            <a:endParaRPr lang="it-IT" sz="2000" i="1" dirty="0" smtClean="0"/>
          </a:p>
          <a:p>
            <a:pPr marL="301943" lvl="1" indent="0">
              <a:buNone/>
            </a:pPr>
            <a:r>
              <a:rPr lang="en-US" sz="2000" i="1" dirty="0" smtClean="0"/>
              <a:t> </a:t>
            </a:r>
            <a:endParaRPr lang="it-IT" sz="2000" i="1" dirty="0" smtClean="0"/>
          </a:p>
          <a:p>
            <a:pPr marL="301943" lvl="1" indent="0">
              <a:buNone/>
            </a:pPr>
            <a:r>
              <a:rPr lang="en-US" sz="2000" i="1" dirty="0" smtClean="0"/>
              <a:t>	</a:t>
            </a:r>
            <a:r>
              <a:rPr lang="en-US" sz="2000" i="1" dirty="0"/>
              <a:t>public void </a:t>
            </a:r>
            <a:r>
              <a:rPr lang="en-US" sz="2000" i="1" dirty="0" err="1"/>
              <a:t>metodoAstratto</a:t>
            </a:r>
            <a:r>
              <a:rPr lang="en-US" sz="2000" i="1" dirty="0"/>
              <a:t>(String s) </a:t>
            </a:r>
            <a:r>
              <a:rPr lang="it-IT" sz="2000" i="1" dirty="0"/>
              <a:t>{</a:t>
            </a:r>
          </a:p>
          <a:p>
            <a:pPr marL="301943" lvl="1" indent="0">
              <a:buNone/>
            </a:pPr>
            <a:r>
              <a:rPr lang="it-IT" sz="2000" i="1" dirty="0"/>
              <a:t>		</a:t>
            </a:r>
            <a:r>
              <a:rPr lang="it-IT" sz="2000" i="1" dirty="0" err="1"/>
              <a:t>System.out.println</a:t>
            </a:r>
            <a:r>
              <a:rPr lang="it-IT" sz="2000" i="1" dirty="0"/>
              <a:t>("</a:t>
            </a:r>
            <a:r>
              <a:rPr lang="it-IT" sz="2000" i="1" dirty="0" smtClean="0"/>
              <a:t>Concreta2 </a:t>
            </a:r>
            <a:r>
              <a:rPr lang="it-IT" sz="2000" i="1" dirty="0"/>
              <a:t>- " + s);</a:t>
            </a:r>
          </a:p>
          <a:p>
            <a:pPr marL="301943" lvl="1" indent="0">
              <a:buNone/>
            </a:pPr>
            <a:r>
              <a:rPr lang="it-IT" sz="2000" i="1" dirty="0"/>
              <a:t>	}</a:t>
            </a:r>
          </a:p>
          <a:p>
            <a:pPr marL="301943" lvl="1" indent="0">
              <a:buNone/>
            </a:pPr>
            <a:r>
              <a:rPr lang="it-IT" sz="2000" i="1" dirty="0" smtClean="0"/>
              <a:t>}</a:t>
            </a:r>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8</a:t>
            </a:fld>
            <a:endParaRPr lang="it-IT"/>
          </a:p>
        </p:txBody>
      </p:sp>
      <p:sp>
        <p:nvSpPr>
          <p:cNvPr id="4" name="Titolo 3"/>
          <p:cNvSpPr>
            <a:spLocks noGrp="1"/>
          </p:cNvSpPr>
          <p:nvPr>
            <p:ph type="title"/>
          </p:nvPr>
        </p:nvSpPr>
        <p:spPr/>
        <p:txBody>
          <a:bodyPr>
            <a:normAutofit fontScale="90000"/>
          </a:bodyPr>
          <a:lstStyle/>
          <a:p>
            <a:r>
              <a:rPr lang="it-IT" dirty="0"/>
              <a:t>Classi Astratte</a:t>
            </a:r>
            <a:br>
              <a:rPr lang="it-IT" dirty="0"/>
            </a:br>
            <a:r>
              <a:rPr lang="it-IT" dirty="0"/>
              <a:t>Esempio </a:t>
            </a:r>
            <a:r>
              <a:rPr lang="it-IT" dirty="0" smtClean="0"/>
              <a:t>(3/5)</a:t>
            </a:r>
            <a:endParaRPr lang="it-IT" dirty="0"/>
          </a:p>
        </p:txBody>
      </p:sp>
    </p:spTree>
    <p:extLst>
      <p:ext uri="{BB962C8B-B14F-4D97-AF65-F5344CB8AC3E}">
        <p14:creationId xmlns:p14="http://schemas.microsoft.com/office/powerpoint/2010/main" val="206159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628800"/>
            <a:ext cx="7408333" cy="4497363"/>
          </a:xfrm>
        </p:spPr>
        <p:txBody>
          <a:bodyPr>
            <a:noAutofit/>
          </a:bodyPr>
          <a:lstStyle/>
          <a:p>
            <a:r>
              <a:rPr lang="it-IT" sz="2200" dirty="0" smtClean="0"/>
              <a:t>Il codice chiamante:</a:t>
            </a:r>
          </a:p>
          <a:p>
            <a:pPr marL="0" indent="0">
              <a:buNone/>
            </a:pPr>
            <a:r>
              <a:rPr lang="it-IT" sz="1600" i="1" dirty="0"/>
              <a:t>package </a:t>
            </a:r>
            <a:r>
              <a:rPr lang="it-IT" sz="1600" i="1" dirty="0" err="1" smtClean="0"/>
              <a:t>com.azienda.astratte</a:t>
            </a:r>
            <a:r>
              <a:rPr lang="it-IT" sz="1600" i="1" dirty="0"/>
              <a:t>;</a:t>
            </a:r>
          </a:p>
          <a:p>
            <a:pPr marL="0" indent="0">
              <a:buNone/>
            </a:pPr>
            <a:r>
              <a:rPr lang="it-IT" sz="1600" i="1" dirty="0"/>
              <a:t> </a:t>
            </a:r>
            <a:endParaRPr lang="it-IT" sz="1600" i="1" dirty="0" smtClean="0"/>
          </a:p>
          <a:p>
            <a:pPr marL="0" indent="0">
              <a:buNone/>
            </a:pPr>
            <a:r>
              <a:rPr lang="en-US" sz="1600" i="1" dirty="0" smtClean="0"/>
              <a:t>public </a:t>
            </a:r>
            <a:r>
              <a:rPr lang="en-US" sz="1600" i="1" dirty="0"/>
              <a:t>class </a:t>
            </a:r>
            <a:r>
              <a:rPr lang="en-US" sz="1600" i="1" dirty="0" err="1"/>
              <a:t>UsoAstratta</a:t>
            </a:r>
            <a:r>
              <a:rPr lang="en-US" sz="1600" i="1" dirty="0"/>
              <a:t> {</a:t>
            </a:r>
            <a:endParaRPr lang="it-IT" sz="1600" i="1" dirty="0"/>
          </a:p>
          <a:p>
            <a:pPr marL="0" indent="0">
              <a:buNone/>
            </a:pPr>
            <a:r>
              <a:rPr lang="en-US" sz="1600" i="1" dirty="0"/>
              <a:t> 	public static void main(String[] </a:t>
            </a:r>
            <a:r>
              <a:rPr lang="en-US" sz="1600" i="1" dirty="0" err="1"/>
              <a:t>args</a:t>
            </a:r>
            <a:r>
              <a:rPr lang="en-US" sz="1600" i="1" dirty="0"/>
              <a:t>) </a:t>
            </a:r>
            <a:r>
              <a:rPr lang="it-IT" sz="1600" i="1" dirty="0" smtClean="0"/>
              <a:t>{</a:t>
            </a:r>
            <a:endParaRPr lang="it-IT" sz="1600" i="1" dirty="0"/>
          </a:p>
          <a:p>
            <a:pPr marL="0" indent="0">
              <a:buNone/>
            </a:pPr>
            <a:r>
              <a:rPr lang="it-IT" sz="1600" i="1" dirty="0"/>
              <a:t>		</a:t>
            </a:r>
            <a:r>
              <a:rPr lang="en-US" sz="1600" i="1" dirty="0" err="1" smtClean="0"/>
              <a:t>Astratta</a:t>
            </a:r>
            <a:r>
              <a:rPr lang="it-IT" sz="1600" i="1" dirty="0" smtClean="0"/>
              <a:t> </a:t>
            </a:r>
            <a:r>
              <a:rPr lang="it-IT" sz="1600" i="1" dirty="0"/>
              <a:t>astratta = new Concreta1();</a:t>
            </a:r>
          </a:p>
          <a:p>
            <a:pPr marL="0" indent="0">
              <a:buNone/>
            </a:pPr>
            <a:r>
              <a:rPr lang="it-IT" sz="1600" i="1" dirty="0"/>
              <a:t>		</a:t>
            </a:r>
            <a:r>
              <a:rPr lang="it-IT" sz="1600" i="1" dirty="0" err="1" smtClean="0"/>
              <a:t>astratta.metodoConcreto</a:t>
            </a:r>
            <a:r>
              <a:rPr lang="it-IT" sz="1600" i="1" dirty="0" smtClean="0"/>
              <a:t>("</a:t>
            </a:r>
            <a:r>
              <a:rPr lang="it-IT" sz="1600" i="1" dirty="0"/>
              <a:t>Mario Rossi");</a:t>
            </a:r>
          </a:p>
          <a:p>
            <a:pPr marL="0" indent="0">
              <a:buNone/>
            </a:pPr>
            <a:r>
              <a:rPr lang="it-IT" sz="1600" i="1" dirty="0"/>
              <a:t>		</a:t>
            </a:r>
            <a:r>
              <a:rPr lang="it-IT" sz="1600" i="1" dirty="0" err="1" smtClean="0"/>
              <a:t>astratta.metodoAstratto</a:t>
            </a:r>
            <a:r>
              <a:rPr lang="it-IT" sz="1600" i="1" dirty="0" smtClean="0"/>
              <a:t>("Ciao");</a:t>
            </a:r>
            <a:endParaRPr lang="it-IT" sz="1600" i="1" dirty="0"/>
          </a:p>
          <a:p>
            <a:pPr marL="0" indent="0">
              <a:buNone/>
            </a:pPr>
            <a:r>
              <a:rPr lang="it-IT" sz="1600" i="1" dirty="0" smtClean="0"/>
              <a:t>		astratta </a:t>
            </a:r>
            <a:r>
              <a:rPr lang="it-IT" sz="1600" i="1" dirty="0"/>
              <a:t>= new Concreta2();</a:t>
            </a:r>
          </a:p>
          <a:p>
            <a:pPr marL="0" indent="0">
              <a:buNone/>
            </a:pPr>
            <a:r>
              <a:rPr lang="it-IT" sz="1600" i="1" dirty="0"/>
              <a:t>		</a:t>
            </a:r>
            <a:r>
              <a:rPr lang="it-IT" sz="1600" i="1" dirty="0" err="1"/>
              <a:t>astratta.metodoConcreto</a:t>
            </a:r>
            <a:r>
              <a:rPr lang="it-IT" sz="1600" i="1" dirty="0"/>
              <a:t>("Mario Rossi");</a:t>
            </a:r>
          </a:p>
          <a:p>
            <a:pPr marL="0" indent="0">
              <a:buNone/>
            </a:pPr>
            <a:r>
              <a:rPr lang="it-IT" sz="1600" i="1" dirty="0"/>
              <a:t>		</a:t>
            </a:r>
            <a:r>
              <a:rPr lang="it-IT" sz="1600" i="1" dirty="0" err="1"/>
              <a:t>astratta.metodoAstratto</a:t>
            </a:r>
            <a:r>
              <a:rPr lang="it-IT" sz="1600" i="1" dirty="0"/>
              <a:t>("Ciao");</a:t>
            </a:r>
          </a:p>
          <a:p>
            <a:pPr marL="0" indent="0">
              <a:buNone/>
            </a:pPr>
            <a:r>
              <a:rPr lang="it-IT" sz="1600" i="1" dirty="0"/>
              <a:t>	}</a:t>
            </a:r>
          </a:p>
          <a:p>
            <a:pPr marL="0" indent="0">
              <a:buNone/>
            </a:pPr>
            <a:r>
              <a:rPr lang="it-IT" sz="1600" i="1" dirty="0"/>
              <a:t> </a:t>
            </a:r>
            <a:r>
              <a:rPr lang="it-IT" sz="1600" i="1" dirty="0" smtClean="0"/>
              <a:t>}</a:t>
            </a:r>
            <a:endParaRPr lang="it-IT" sz="1600" i="1" dirty="0"/>
          </a:p>
          <a:p>
            <a:endParaRPr lang="it-IT" sz="1600"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9</a:t>
            </a:fld>
            <a:endParaRPr lang="it-IT"/>
          </a:p>
        </p:txBody>
      </p:sp>
      <p:sp>
        <p:nvSpPr>
          <p:cNvPr id="4" name="Titolo 3"/>
          <p:cNvSpPr>
            <a:spLocks noGrp="1"/>
          </p:cNvSpPr>
          <p:nvPr>
            <p:ph type="title"/>
          </p:nvPr>
        </p:nvSpPr>
        <p:spPr/>
        <p:txBody>
          <a:bodyPr>
            <a:normAutofit fontScale="90000"/>
          </a:bodyPr>
          <a:lstStyle/>
          <a:p>
            <a:r>
              <a:rPr lang="it-IT" dirty="0"/>
              <a:t>Classi Astratte</a:t>
            </a:r>
            <a:br>
              <a:rPr lang="it-IT" dirty="0"/>
            </a:br>
            <a:r>
              <a:rPr lang="it-IT" dirty="0"/>
              <a:t>Esempio </a:t>
            </a:r>
            <a:r>
              <a:rPr lang="it-IT" dirty="0" smtClean="0"/>
              <a:t>(4/5)</a:t>
            </a:r>
            <a:endParaRPr lang="it-IT" dirty="0"/>
          </a:p>
        </p:txBody>
      </p:sp>
    </p:spTree>
    <p:extLst>
      <p:ext uri="{BB962C8B-B14F-4D97-AF65-F5344CB8AC3E}">
        <p14:creationId xmlns:p14="http://schemas.microsoft.com/office/powerpoint/2010/main" val="1339049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lstStyle/>
          <a:p>
            <a:endParaRPr lang="it-IT" dirty="0" smtClean="0"/>
          </a:p>
          <a:p>
            <a:r>
              <a:rPr lang="it-IT" dirty="0" smtClean="0"/>
              <a:t>L’output a console verrebbe:</a:t>
            </a:r>
          </a:p>
          <a:p>
            <a:endParaRPr lang="it-IT" dirty="0"/>
          </a:p>
          <a:p>
            <a:pPr marL="301943" lvl="1" indent="0">
              <a:buNone/>
            </a:pPr>
            <a:r>
              <a:rPr lang="it-IT" sz="1800" dirty="0" smtClean="0"/>
              <a:t>La </a:t>
            </a:r>
            <a:r>
              <a:rPr lang="it-IT" sz="1800" dirty="0"/>
              <a:t>stringa è: Mario Rossi</a:t>
            </a:r>
          </a:p>
          <a:p>
            <a:pPr marL="301943" lvl="1" indent="0">
              <a:buNone/>
            </a:pPr>
            <a:r>
              <a:rPr lang="it-IT" sz="1800" dirty="0" smtClean="0"/>
              <a:t>Concreta1 - Ciao</a:t>
            </a:r>
            <a:endParaRPr lang="it-IT" sz="1800" dirty="0"/>
          </a:p>
          <a:p>
            <a:pPr marL="301943" lvl="1" indent="0">
              <a:buNone/>
            </a:pPr>
            <a:r>
              <a:rPr lang="it-IT" sz="1800" dirty="0"/>
              <a:t>La stringa è: Mario Rossi</a:t>
            </a:r>
          </a:p>
          <a:p>
            <a:pPr marL="301943" lvl="1" indent="0">
              <a:buNone/>
            </a:pPr>
            <a:r>
              <a:rPr lang="it-IT" sz="1800" dirty="0" smtClean="0"/>
              <a:t>Concreta2 - Ciao</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10</a:t>
            </a:fld>
            <a:endParaRPr lang="it-IT"/>
          </a:p>
        </p:txBody>
      </p:sp>
      <p:sp>
        <p:nvSpPr>
          <p:cNvPr id="4" name="Titolo 3"/>
          <p:cNvSpPr>
            <a:spLocks noGrp="1"/>
          </p:cNvSpPr>
          <p:nvPr>
            <p:ph type="title"/>
          </p:nvPr>
        </p:nvSpPr>
        <p:spPr/>
        <p:txBody>
          <a:bodyPr>
            <a:normAutofit fontScale="90000"/>
          </a:bodyPr>
          <a:lstStyle/>
          <a:p>
            <a:r>
              <a:rPr lang="it-IT" dirty="0"/>
              <a:t>Classi Astratte</a:t>
            </a:r>
            <a:br>
              <a:rPr lang="it-IT" dirty="0"/>
            </a:br>
            <a:r>
              <a:rPr lang="it-IT" dirty="0"/>
              <a:t>Esempio </a:t>
            </a:r>
            <a:r>
              <a:rPr lang="it-IT" dirty="0" smtClean="0"/>
              <a:t>(5/5)</a:t>
            </a:r>
            <a:endParaRPr lang="it-IT" dirty="0"/>
          </a:p>
        </p:txBody>
      </p:sp>
    </p:spTree>
    <p:extLst>
      <p:ext uri="{BB962C8B-B14F-4D97-AF65-F5344CB8AC3E}">
        <p14:creationId xmlns:p14="http://schemas.microsoft.com/office/powerpoint/2010/main" val="10029882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nde">
  <a:themeElements>
    <a:clrScheme name="Onde">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nde">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nde">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622</TotalTime>
  <Words>399</Words>
  <Application>Microsoft Office PowerPoint</Application>
  <PresentationFormat>Presentazione su schermo (4:3)</PresentationFormat>
  <Paragraphs>83</Paragraphs>
  <Slides>10</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10</vt:i4>
      </vt:variant>
    </vt:vector>
  </HeadingPairs>
  <TitlesOfParts>
    <vt:vector size="14" baseType="lpstr">
      <vt:lpstr>Calibri</vt:lpstr>
      <vt:lpstr>Candara</vt:lpstr>
      <vt:lpstr>Symbol</vt:lpstr>
      <vt:lpstr>Onde</vt:lpstr>
      <vt:lpstr>Classi Astratte</vt:lpstr>
      <vt:lpstr>Classi Astratte (1/3)</vt:lpstr>
      <vt:lpstr>Classi Astratte (2/3)</vt:lpstr>
      <vt:lpstr>Classi Astratte (3/3)</vt:lpstr>
      <vt:lpstr>Classi astratte: regole sintattiche</vt:lpstr>
      <vt:lpstr>Classi Astratte Esempio (1/5)</vt:lpstr>
      <vt:lpstr>Classi Astratte Esempio (2/5)</vt:lpstr>
      <vt:lpstr>Classi Astratte Esempio (3/5)</vt:lpstr>
      <vt:lpstr>Classi Astratte Esempio (4/5)</vt:lpstr>
      <vt:lpstr>Classi Astratte Esempio (5/5)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 e oggetti (parte II)</dc:title>
  <dc:creator>Roberto Santoro</dc:creator>
  <cp:lastModifiedBy>Roberto Santoro</cp:lastModifiedBy>
  <cp:revision>104</cp:revision>
  <dcterms:created xsi:type="dcterms:W3CDTF">2020-03-12T08:56:57Z</dcterms:created>
  <dcterms:modified xsi:type="dcterms:W3CDTF">2023-04-26T10:26:26Z</dcterms:modified>
</cp:coreProperties>
</file>