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4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304" r:id="rId10"/>
    <p:sldId id="305" r:id="rId11"/>
    <p:sldId id="306" r:id="rId12"/>
    <p:sldId id="307" r:id="rId13"/>
    <p:sldId id="308" r:id="rId14"/>
    <p:sldId id="309" r:id="rId15"/>
    <p:sldId id="312" r:id="rId16"/>
    <p:sldId id="316" r:id="rId17"/>
    <p:sldId id="313" r:id="rId18"/>
    <p:sldId id="310" r:id="rId19"/>
    <p:sldId id="311" r:id="rId20"/>
    <p:sldId id="314" r:id="rId21"/>
    <p:sldId id="329" r:id="rId22"/>
    <p:sldId id="330" r:id="rId23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 autoAdjust="0"/>
    <p:restoredTop sz="94681" autoAdjust="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0" y="1567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70AA1-E622-47CB-86EB-1B14FCE7E646}" type="datetimeFigureOut">
              <a:rPr lang="it-IT" smtClean="0"/>
              <a:t>13/05/2023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FF30F-A231-417B-99B7-615F441DE7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6197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C35B-5C48-48D4-ADF6-AD39B83EDF67}" type="datetime1">
              <a:rPr lang="it-IT" smtClean="0"/>
              <a:t>13/05/2023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15E0-0E5C-4478-9BDA-31A75B36BDEE}" type="datetime1">
              <a:rPr lang="it-IT" smtClean="0"/>
              <a:t>13/05/2023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E6371-2029-4C19-B29C-038526F02D0F}" type="datetime1">
              <a:rPr lang="it-IT" smtClean="0"/>
              <a:t>13/05/2023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86F8-CB58-4643-BCF8-58E89A8D6A23}" type="datetime1">
              <a:rPr lang="it-IT" smtClean="0"/>
              <a:t>13/05/2023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87-0F4C-44C4-A937-97548BA92539}" type="datetime1">
              <a:rPr lang="it-IT" smtClean="0"/>
              <a:t>13/05/2023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F5C3-1BAF-48AF-B42E-9C2A5C4DDFC2}" type="datetime1">
              <a:rPr lang="it-IT" smtClean="0"/>
              <a:t>13/05/2023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69A3-A94A-466A-A1D1-76E6349989E9}" type="datetime1">
              <a:rPr lang="it-IT" smtClean="0"/>
              <a:t>13/05/2023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250C-842E-4DD9-903E-2879056001C5}" type="datetime1">
              <a:rPr lang="it-IT" smtClean="0"/>
              <a:t>13/05/2023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CA4E-F157-45A8-B93C-C551EFA43A03}" type="datetime1">
              <a:rPr lang="it-IT" smtClean="0"/>
              <a:t>13/05/2023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BA9C0-B123-472B-85E7-3C8D753F682F}" type="datetime1">
              <a:rPr lang="it-IT" smtClean="0"/>
              <a:t>13/05/2023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28718-DA37-4D43-9353-C6CE9512E50F}" type="datetime1">
              <a:rPr lang="it-IT" smtClean="0"/>
              <a:t>13/05/2023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FAFCD71E-7FA0-497B-A412-445D11E8EF4E}" type="datetime1">
              <a:rPr lang="it-IT" smtClean="0"/>
              <a:t>13/05/2023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Classi e oggetti</a:t>
            </a:r>
            <a:br>
              <a:rPr lang="it-IT" dirty="0"/>
            </a:br>
            <a:r>
              <a:rPr lang="it-IT" dirty="0"/>
              <a:t>concetti avanzati</a:t>
            </a:r>
            <a:br>
              <a:rPr lang="it-IT" dirty="0"/>
            </a:br>
            <a:r>
              <a:rPr lang="it-IT" dirty="0"/>
              <a:t>(parte </a:t>
            </a:r>
            <a:r>
              <a:rPr lang="it-IT" dirty="0" smtClean="0"/>
              <a:t>B - Ereditarietà)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2129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556792"/>
            <a:ext cx="7408333" cy="45693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600" i="1" dirty="0"/>
              <a:t>package </a:t>
            </a:r>
            <a:r>
              <a:rPr lang="it-IT" sz="1600" i="1" dirty="0" err="1" smtClean="0"/>
              <a:t>com.azienda.progetto.ereditarieta</a:t>
            </a:r>
            <a:r>
              <a:rPr lang="it-IT" sz="1600" i="1" dirty="0"/>
              <a:t>;</a:t>
            </a:r>
          </a:p>
          <a:p>
            <a:pPr marL="0" indent="0">
              <a:buNone/>
            </a:pPr>
            <a:r>
              <a:rPr lang="it-IT" sz="1600" i="1" dirty="0" smtClean="0"/>
              <a:t>public </a:t>
            </a:r>
            <a:r>
              <a:rPr lang="it-IT" sz="1600" i="1" dirty="0" err="1"/>
              <a:t>class</a:t>
            </a:r>
            <a:r>
              <a:rPr lang="it-IT" sz="1600" i="1" dirty="0"/>
              <a:t> </a:t>
            </a:r>
            <a:r>
              <a:rPr lang="it-IT" sz="1600" i="1" dirty="0" err="1"/>
              <a:t>Parent</a:t>
            </a:r>
            <a:r>
              <a:rPr lang="it-IT" sz="1600" i="1" dirty="0"/>
              <a:t> {</a:t>
            </a:r>
          </a:p>
          <a:p>
            <a:pPr marL="0" indent="0">
              <a:buNone/>
            </a:pPr>
            <a:r>
              <a:rPr lang="it-IT" sz="1600" i="1" dirty="0"/>
              <a:t>	private </a:t>
            </a:r>
            <a:r>
              <a:rPr lang="it-IT" sz="1600" i="1" dirty="0" err="1"/>
              <a:t>String</a:t>
            </a:r>
            <a:r>
              <a:rPr lang="it-IT" sz="1600" i="1" dirty="0"/>
              <a:t> stringa1 = </a:t>
            </a:r>
            <a:r>
              <a:rPr lang="it-IT" sz="1600" i="1" dirty="0" err="1"/>
              <a:t>null</a:t>
            </a:r>
            <a:r>
              <a:rPr lang="it-IT" sz="1600" i="1" dirty="0"/>
              <a:t>;</a:t>
            </a:r>
          </a:p>
          <a:p>
            <a:pPr marL="0" indent="0">
              <a:buNone/>
            </a:pPr>
            <a:r>
              <a:rPr lang="it-IT" sz="1600" i="1" dirty="0"/>
              <a:t>	</a:t>
            </a:r>
            <a:r>
              <a:rPr lang="it-IT" sz="1600" i="1" dirty="0" err="1"/>
              <a:t>protected</a:t>
            </a:r>
            <a:r>
              <a:rPr lang="it-IT" sz="1600" i="1" dirty="0"/>
              <a:t> </a:t>
            </a:r>
            <a:r>
              <a:rPr lang="it-IT" sz="1600" i="1" dirty="0" err="1"/>
              <a:t>String</a:t>
            </a:r>
            <a:r>
              <a:rPr lang="it-IT" sz="1600" i="1" dirty="0"/>
              <a:t> stringa2 = </a:t>
            </a:r>
            <a:r>
              <a:rPr lang="it-IT" sz="1600" i="1" dirty="0" err="1"/>
              <a:t>null</a:t>
            </a:r>
            <a:r>
              <a:rPr lang="it-IT" sz="1600" i="1" dirty="0"/>
              <a:t>;</a:t>
            </a:r>
          </a:p>
          <a:p>
            <a:pPr marL="0" indent="0">
              <a:buNone/>
            </a:pPr>
            <a:r>
              <a:rPr lang="it-IT" sz="1600" i="1" dirty="0"/>
              <a:t>	</a:t>
            </a:r>
            <a:r>
              <a:rPr lang="it-IT" sz="1600" i="1" dirty="0" err="1"/>
              <a:t>String</a:t>
            </a:r>
            <a:r>
              <a:rPr lang="it-IT" sz="1600" i="1" dirty="0"/>
              <a:t> stringa3 = </a:t>
            </a:r>
            <a:r>
              <a:rPr lang="it-IT" sz="1600" i="1" dirty="0" err="1"/>
              <a:t>null</a:t>
            </a:r>
            <a:r>
              <a:rPr lang="it-IT" sz="1600" i="1" dirty="0"/>
              <a:t>;</a:t>
            </a:r>
          </a:p>
          <a:p>
            <a:pPr marL="0" indent="0">
              <a:buNone/>
            </a:pPr>
            <a:r>
              <a:rPr lang="it-IT" sz="1600" i="1" dirty="0"/>
              <a:t>	</a:t>
            </a:r>
            <a:r>
              <a:rPr lang="it-IT" sz="1600" i="1" dirty="0" smtClean="0"/>
              <a:t>public </a:t>
            </a:r>
            <a:r>
              <a:rPr lang="it-IT" sz="1600" i="1" dirty="0" err="1"/>
              <a:t>Parent</a:t>
            </a:r>
            <a:r>
              <a:rPr lang="it-IT" sz="1600" i="1" dirty="0" smtClean="0"/>
              <a:t>() {</a:t>
            </a:r>
            <a:endParaRPr lang="it-IT" sz="1600" i="1" dirty="0"/>
          </a:p>
          <a:p>
            <a:pPr marL="0" indent="0">
              <a:buNone/>
            </a:pPr>
            <a:r>
              <a:rPr lang="it-IT" sz="1600" i="1" dirty="0" smtClean="0"/>
              <a:t>		stringa1 </a:t>
            </a:r>
            <a:r>
              <a:rPr lang="it-IT" sz="1600" i="1" dirty="0"/>
              <a:t>= "Stringa 1";</a:t>
            </a:r>
          </a:p>
          <a:p>
            <a:pPr marL="0" indent="0">
              <a:buNone/>
            </a:pPr>
            <a:r>
              <a:rPr lang="it-IT" sz="1600" i="1" dirty="0"/>
              <a:t>		stringa2 = "Stringa 2";</a:t>
            </a:r>
          </a:p>
          <a:p>
            <a:pPr marL="0" indent="0">
              <a:buNone/>
            </a:pPr>
            <a:r>
              <a:rPr lang="it-IT" sz="1600" i="1" dirty="0"/>
              <a:t>		stringa3 = "Stringa 3";</a:t>
            </a:r>
          </a:p>
          <a:p>
            <a:pPr marL="0" indent="0">
              <a:buNone/>
            </a:pPr>
            <a:r>
              <a:rPr lang="it-IT" sz="1600" i="1" dirty="0"/>
              <a:t>	}</a:t>
            </a:r>
          </a:p>
          <a:p>
            <a:pPr marL="0" indent="0">
              <a:buNone/>
            </a:pPr>
            <a:r>
              <a:rPr lang="it-IT" sz="1600" i="1" dirty="0"/>
              <a:t>	</a:t>
            </a:r>
            <a:r>
              <a:rPr lang="it-IT" sz="1600" i="1" dirty="0" smtClean="0"/>
              <a:t>public </a:t>
            </a:r>
            <a:r>
              <a:rPr lang="it-IT" sz="1600" i="1" dirty="0" err="1"/>
              <a:t>String</a:t>
            </a:r>
            <a:r>
              <a:rPr lang="it-IT" sz="1600" i="1" dirty="0"/>
              <a:t> getStringa1() {</a:t>
            </a:r>
          </a:p>
          <a:p>
            <a:pPr marL="0" indent="0">
              <a:buNone/>
            </a:pPr>
            <a:r>
              <a:rPr lang="it-IT" sz="1600" i="1" dirty="0"/>
              <a:t>		</a:t>
            </a:r>
            <a:r>
              <a:rPr lang="it-IT" sz="1600" i="1" dirty="0" err="1"/>
              <a:t>return</a:t>
            </a:r>
            <a:r>
              <a:rPr lang="it-IT" sz="1600" i="1" dirty="0"/>
              <a:t> stringa1;</a:t>
            </a:r>
          </a:p>
          <a:p>
            <a:pPr marL="0" indent="0">
              <a:buNone/>
            </a:pPr>
            <a:r>
              <a:rPr lang="it-IT" sz="1600" i="1" dirty="0"/>
              <a:t>	}</a:t>
            </a:r>
          </a:p>
          <a:p>
            <a:pPr marL="0" indent="0">
              <a:buNone/>
            </a:pPr>
            <a:r>
              <a:rPr lang="it-IT" sz="1600" i="1" dirty="0"/>
              <a:t>	public </a:t>
            </a:r>
            <a:r>
              <a:rPr lang="it-IT" sz="1600" i="1" dirty="0" err="1"/>
              <a:t>void</a:t>
            </a:r>
            <a:r>
              <a:rPr lang="it-IT" sz="1600" i="1" dirty="0"/>
              <a:t> setStringa1(</a:t>
            </a:r>
            <a:r>
              <a:rPr lang="it-IT" sz="1600" i="1" dirty="0" err="1"/>
              <a:t>String</a:t>
            </a:r>
            <a:r>
              <a:rPr lang="it-IT" sz="1600" i="1" dirty="0"/>
              <a:t> stringa1) {</a:t>
            </a:r>
          </a:p>
          <a:p>
            <a:pPr marL="0" indent="0">
              <a:buNone/>
            </a:pPr>
            <a:r>
              <a:rPr lang="it-IT" sz="1600" i="1" dirty="0"/>
              <a:t>		this.stringa1 = stringa1;</a:t>
            </a:r>
          </a:p>
          <a:p>
            <a:pPr marL="0" indent="0">
              <a:buNone/>
            </a:pPr>
            <a:r>
              <a:rPr lang="it-IT" sz="1600" i="1" dirty="0"/>
              <a:t>	</a:t>
            </a:r>
            <a:r>
              <a:rPr lang="it-IT" sz="1600" i="1" dirty="0" smtClean="0"/>
              <a:t>}</a:t>
            </a:r>
          </a:p>
          <a:p>
            <a:pPr marL="0" indent="0">
              <a:buNone/>
            </a:pPr>
            <a:r>
              <a:rPr lang="it-IT" sz="1400" i="1" dirty="0"/>
              <a:t>	</a:t>
            </a:r>
            <a:r>
              <a:rPr lang="it-IT" sz="1400" i="1" dirty="0" smtClean="0"/>
              <a:t>…..</a:t>
            </a:r>
            <a:endParaRPr lang="it-IT" sz="1400" i="1" dirty="0"/>
          </a:p>
          <a:p>
            <a:pPr marL="0" indent="0">
              <a:buNone/>
            </a:pPr>
            <a:endParaRPr lang="it-IT" sz="1400" i="1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2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 smtClean="0"/>
              <a:t>Override</a:t>
            </a:r>
            <a:r>
              <a:rPr lang="it-IT" dirty="0" smtClean="0"/>
              <a:t> - Esempio (1/3)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30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628800"/>
            <a:ext cx="7408333" cy="44973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t-IT" sz="2900" i="1" dirty="0" smtClean="0"/>
              <a:t>package </a:t>
            </a:r>
            <a:r>
              <a:rPr lang="it-IT" sz="2900" i="1" dirty="0" err="1" smtClean="0"/>
              <a:t>com.azienda.progetto.ereditarieta</a:t>
            </a:r>
            <a:r>
              <a:rPr lang="it-IT" sz="2900" i="1" dirty="0" smtClean="0"/>
              <a:t>;</a:t>
            </a:r>
          </a:p>
          <a:p>
            <a:pPr marL="0" indent="0">
              <a:buNone/>
            </a:pPr>
            <a:endParaRPr lang="it-IT" sz="2900" i="1" dirty="0"/>
          </a:p>
          <a:p>
            <a:pPr marL="0" indent="0">
              <a:buNone/>
            </a:pPr>
            <a:r>
              <a:rPr lang="it-IT" sz="2900" i="1" dirty="0"/>
              <a:t>public </a:t>
            </a:r>
            <a:r>
              <a:rPr lang="it-IT" sz="2900" i="1" dirty="0" err="1"/>
              <a:t>class</a:t>
            </a:r>
            <a:r>
              <a:rPr lang="it-IT" sz="2900" i="1" dirty="0"/>
              <a:t> Child </a:t>
            </a:r>
            <a:r>
              <a:rPr lang="it-IT" sz="2900" i="1" dirty="0" err="1"/>
              <a:t>extends</a:t>
            </a:r>
            <a:r>
              <a:rPr lang="it-IT" sz="2900" i="1" dirty="0"/>
              <a:t> </a:t>
            </a:r>
            <a:r>
              <a:rPr lang="it-IT" sz="2900" i="1" dirty="0" err="1"/>
              <a:t>Parent</a:t>
            </a:r>
            <a:r>
              <a:rPr lang="it-IT" sz="2900" i="1" dirty="0"/>
              <a:t> {</a:t>
            </a:r>
          </a:p>
          <a:p>
            <a:pPr marL="0" indent="0">
              <a:buNone/>
            </a:pPr>
            <a:r>
              <a:rPr lang="it-IT" sz="2900" i="1" dirty="0"/>
              <a:t>	private </a:t>
            </a:r>
            <a:r>
              <a:rPr lang="it-IT" sz="2900" i="1" dirty="0" err="1"/>
              <a:t>String</a:t>
            </a:r>
            <a:r>
              <a:rPr lang="it-IT" sz="2900" i="1" dirty="0"/>
              <a:t> stringa4 = </a:t>
            </a:r>
            <a:r>
              <a:rPr lang="it-IT" sz="2900" i="1" dirty="0" err="1"/>
              <a:t>null</a:t>
            </a:r>
            <a:r>
              <a:rPr lang="it-IT" sz="2900" i="1" dirty="0"/>
              <a:t>;</a:t>
            </a:r>
          </a:p>
          <a:p>
            <a:pPr marL="0" indent="0">
              <a:buNone/>
            </a:pPr>
            <a:r>
              <a:rPr lang="it-IT" sz="2900" i="1" dirty="0"/>
              <a:t>	private </a:t>
            </a:r>
            <a:r>
              <a:rPr lang="it-IT" sz="2900" i="1" dirty="0" err="1"/>
              <a:t>String</a:t>
            </a:r>
            <a:r>
              <a:rPr lang="it-IT" sz="2900" i="1" dirty="0"/>
              <a:t> stringa3 = </a:t>
            </a:r>
            <a:r>
              <a:rPr lang="it-IT" sz="2900" i="1" dirty="0" err="1"/>
              <a:t>null</a:t>
            </a:r>
            <a:r>
              <a:rPr lang="it-IT" sz="2900" i="1" dirty="0"/>
              <a:t>;</a:t>
            </a:r>
          </a:p>
          <a:p>
            <a:pPr marL="0" indent="0">
              <a:buNone/>
            </a:pPr>
            <a:endParaRPr lang="it-IT" sz="2900" i="1" dirty="0" smtClean="0"/>
          </a:p>
          <a:p>
            <a:pPr marL="0" indent="0">
              <a:buNone/>
            </a:pPr>
            <a:r>
              <a:rPr lang="it-IT" sz="2900" i="1" dirty="0"/>
              <a:t>	public Child()</a:t>
            </a:r>
          </a:p>
          <a:p>
            <a:pPr marL="0" indent="0">
              <a:buNone/>
            </a:pPr>
            <a:r>
              <a:rPr lang="it-IT" sz="2900" i="1" dirty="0"/>
              <a:t>	{</a:t>
            </a:r>
          </a:p>
          <a:p>
            <a:pPr marL="0" indent="0">
              <a:buNone/>
            </a:pPr>
            <a:r>
              <a:rPr lang="it-IT" sz="2900" i="1" dirty="0"/>
              <a:t>		stringa3 = "Stringa3(Child)";</a:t>
            </a:r>
          </a:p>
          <a:p>
            <a:pPr marL="0" indent="0">
              <a:buNone/>
            </a:pPr>
            <a:r>
              <a:rPr lang="it-IT" sz="2900" i="1" dirty="0"/>
              <a:t>		stringa4 = "Stringa4(Child)";</a:t>
            </a:r>
          </a:p>
          <a:p>
            <a:pPr marL="0" indent="0">
              <a:buNone/>
            </a:pPr>
            <a:r>
              <a:rPr lang="it-IT" sz="2900" i="1" dirty="0"/>
              <a:t>	</a:t>
            </a:r>
            <a:r>
              <a:rPr lang="it-IT" sz="2900" i="1" dirty="0" smtClean="0"/>
              <a:t>}</a:t>
            </a:r>
          </a:p>
          <a:p>
            <a:pPr marL="0" indent="0">
              <a:buNone/>
            </a:pPr>
            <a:r>
              <a:rPr lang="it-IT" sz="2900" i="1" dirty="0"/>
              <a:t>	</a:t>
            </a:r>
            <a:r>
              <a:rPr lang="it-IT" sz="2900" i="1" dirty="0" smtClean="0"/>
              <a:t>…// qui andranno i metodi </a:t>
            </a:r>
            <a:r>
              <a:rPr lang="it-IT" sz="2900" i="1" dirty="0" err="1" smtClean="0"/>
              <a:t>get</a:t>
            </a:r>
            <a:r>
              <a:rPr lang="it-IT" sz="2900" i="1" dirty="0" smtClean="0"/>
              <a:t> e set di stringa3(del </a:t>
            </a:r>
            <a:r>
              <a:rPr lang="it-IT" sz="2900" i="1" dirty="0" err="1" smtClean="0"/>
              <a:t>child</a:t>
            </a:r>
            <a:r>
              <a:rPr lang="it-IT" sz="2900" i="1" dirty="0" smtClean="0"/>
              <a:t>) e stringa4</a:t>
            </a:r>
            <a:endParaRPr lang="it-IT" sz="2900" i="1" dirty="0"/>
          </a:p>
          <a:p>
            <a:pPr marL="0" indent="0">
              <a:buNone/>
            </a:pPr>
            <a:r>
              <a:rPr lang="it-IT" sz="2900" i="1" dirty="0" smtClean="0"/>
              <a:t>	public </a:t>
            </a:r>
            <a:r>
              <a:rPr lang="it-IT" sz="2900" i="1" dirty="0" err="1"/>
              <a:t>String</a:t>
            </a:r>
            <a:r>
              <a:rPr lang="it-IT" sz="2900" i="1" dirty="0"/>
              <a:t> getParentStringa3(){</a:t>
            </a:r>
          </a:p>
          <a:p>
            <a:pPr marL="0" indent="0">
              <a:buNone/>
            </a:pPr>
            <a:r>
              <a:rPr lang="it-IT" sz="2900" i="1" dirty="0"/>
              <a:t>		</a:t>
            </a:r>
            <a:r>
              <a:rPr lang="it-IT" sz="2900" i="1" dirty="0" err="1"/>
              <a:t>return</a:t>
            </a:r>
            <a:r>
              <a:rPr lang="it-IT" sz="2900" i="1" dirty="0"/>
              <a:t> super.stringa3;</a:t>
            </a:r>
          </a:p>
          <a:p>
            <a:pPr marL="0" indent="0">
              <a:buNone/>
            </a:pPr>
            <a:r>
              <a:rPr lang="it-IT" sz="2900" i="1" dirty="0"/>
              <a:t>	}</a:t>
            </a:r>
          </a:p>
          <a:p>
            <a:pPr marL="0" indent="0">
              <a:buNone/>
            </a:pPr>
            <a:r>
              <a:rPr lang="it-IT" sz="2900" i="1" dirty="0" smtClean="0"/>
              <a:t>}</a:t>
            </a:r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3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Override</a:t>
            </a:r>
            <a:r>
              <a:rPr lang="it-IT" dirty="0"/>
              <a:t> - </a:t>
            </a:r>
            <a:r>
              <a:rPr lang="it-IT" dirty="0" smtClean="0"/>
              <a:t>Esempio (</a:t>
            </a:r>
            <a:r>
              <a:rPr lang="it-IT" dirty="0"/>
              <a:t>2/3)</a:t>
            </a:r>
          </a:p>
        </p:txBody>
      </p:sp>
    </p:spTree>
    <p:extLst>
      <p:ext uri="{BB962C8B-B14F-4D97-AF65-F5344CB8AC3E}">
        <p14:creationId xmlns:p14="http://schemas.microsoft.com/office/powerpoint/2010/main" val="576585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772816"/>
            <a:ext cx="7408333" cy="43533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600" i="1" dirty="0"/>
              <a:t>package </a:t>
            </a:r>
            <a:r>
              <a:rPr lang="it-IT" sz="1600" i="1" dirty="0" err="1" smtClean="0"/>
              <a:t>com.azienda.progetto.ereditarieta</a:t>
            </a:r>
            <a:r>
              <a:rPr lang="it-IT" sz="1600" i="1" dirty="0"/>
              <a:t>;</a:t>
            </a:r>
          </a:p>
          <a:p>
            <a:pPr marL="0" indent="0">
              <a:buNone/>
            </a:pPr>
            <a:r>
              <a:rPr lang="it-IT" sz="1600" i="1" dirty="0"/>
              <a:t>public </a:t>
            </a:r>
            <a:r>
              <a:rPr lang="it-IT" sz="1600" i="1" dirty="0" err="1"/>
              <a:t>class</a:t>
            </a:r>
            <a:r>
              <a:rPr lang="it-IT" sz="1600" i="1" dirty="0"/>
              <a:t> Eredita {</a:t>
            </a:r>
          </a:p>
          <a:p>
            <a:pPr marL="0" indent="0">
              <a:buNone/>
            </a:pPr>
            <a:r>
              <a:rPr lang="it-IT" sz="1600" i="1" dirty="0"/>
              <a:t>	public </a:t>
            </a:r>
            <a:r>
              <a:rPr lang="it-IT" sz="1600" i="1" dirty="0" err="1"/>
              <a:t>static</a:t>
            </a:r>
            <a:r>
              <a:rPr lang="it-IT" sz="1600" i="1" dirty="0"/>
              <a:t> </a:t>
            </a:r>
            <a:r>
              <a:rPr lang="it-IT" sz="1600" i="1" dirty="0" err="1"/>
              <a:t>void</a:t>
            </a:r>
            <a:r>
              <a:rPr lang="it-IT" sz="1600" i="1" dirty="0"/>
              <a:t> </a:t>
            </a:r>
            <a:r>
              <a:rPr lang="it-IT" sz="1600" i="1" dirty="0" err="1"/>
              <a:t>main</a:t>
            </a:r>
            <a:r>
              <a:rPr lang="it-IT" sz="1600" i="1" dirty="0"/>
              <a:t> (</a:t>
            </a:r>
            <a:r>
              <a:rPr lang="it-IT" sz="1600" i="1" dirty="0" err="1"/>
              <a:t>String</a:t>
            </a:r>
            <a:r>
              <a:rPr lang="it-IT" sz="1600" i="1" dirty="0"/>
              <a:t> </a:t>
            </a:r>
            <a:r>
              <a:rPr lang="it-IT" sz="1600" i="1" dirty="0" err="1"/>
              <a:t>args</a:t>
            </a:r>
            <a:r>
              <a:rPr lang="it-IT" sz="1600" i="1" dirty="0" smtClean="0"/>
              <a:t>[]) {</a:t>
            </a:r>
            <a:endParaRPr lang="it-IT" sz="1600" i="1" dirty="0"/>
          </a:p>
          <a:p>
            <a:pPr marL="0" indent="0">
              <a:buNone/>
            </a:pPr>
            <a:r>
              <a:rPr lang="it-IT" sz="1600" i="1" dirty="0"/>
              <a:t>		</a:t>
            </a:r>
            <a:r>
              <a:rPr lang="it-IT" sz="1600" i="1" dirty="0" err="1"/>
              <a:t>Parent</a:t>
            </a:r>
            <a:r>
              <a:rPr lang="it-IT" sz="1600" i="1" dirty="0"/>
              <a:t> </a:t>
            </a:r>
            <a:r>
              <a:rPr lang="it-IT" sz="1600" i="1" dirty="0" err="1"/>
              <a:t>parent</a:t>
            </a:r>
            <a:r>
              <a:rPr lang="it-IT" sz="1600" i="1" dirty="0"/>
              <a:t> = new </a:t>
            </a:r>
            <a:r>
              <a:rPr lang="it-IT" sz="1600" i="1" dirty="0" err="1"/>
              <a:t>Parent</a:t>
            </a:r>
            <a:r>
              <a:rPr lang="it-IT" sz="1600" i="1" dirty="0"/>
              <a:t>();</a:t>
            </a:r>
          </a:p>
          <a:p>
            <a:pPr marL="0" indent="0">
              <a:buNone/>
            </a:pPr>
            <a:r>
              <a:rPr lang="it-IT" sz="1600" i="1" dirty="0"/>
              <a:t>		Child </a:t>
            </a:r>
            <a:r>
              <a:rPr lang="it-IT" sz="1600" i="1" dirty="0" err="1"/>
              <a:t>child</a:t>
            </a:r>
            <a:r>
              <a:rPr lang="it-IT" sz="1600" i="1" dirty="0"/>
              <a:t> = new Child();</a:t>
            </a:r>
          </a:p>
          <a:p>
            <a:pPr marL="0" indent="0">
              <a:buNone/>
            </a:pPr>
            <a:r>
              <a:rPr lang="it-IT" sz="1600" i="1" dirty="0"/>
              <a:t>		</a:t>
            </a:r>
            <a:r>
              <a:rPr lang="it-IT" sz="1600" i="1" dirty="0" err="1"/>
              <a:t>System.out.println</a:t>
            </a:r>
            <a:r>
              <a:rPr lang="it-IT" sz="1600" i="1" dirty="0"/>
              <a:t>("Parent.stringa1: " + parent.getStringa1());</a:t>
            </a:r>
          </a:p>
          <a:p>
            <a:pPr marL="0" indent="0">
              <a:buNone/>
            </a:pPr>
            <a:r>
              <a:rPr lang="it-IT" sz="1600" i="1" dirty="0"/>
              <a:t>		</a:t>
            </a:r>
            <a:r>
              <a:rPr lang="it-IT" sz="1600" i="1" dirty="0" err="1"/>
              <a:t>System.out.println</a:t>
            </a:r>
            <a:r>
              <a:rPr lang="it-IT" sz="1600" i="1" dirty="0"/>
              <a:t>("Parent.stringa2: " + parent.getStringa2());</a:t>
            </a:r>
          </a:p>
          <a:p>
            <a:pPr marL="0" indent="0">
              <a:buNone/>
            </a:pPr>
            <a:r>
              <a:rPr lang="it-IT" sz="1600" i="1" dirty="0"/>
              <a:t>		</a:t>
            </a:r>
            <a:r>
              <a:rPr lang="it-IT" sz="1600" i="1" dirty="0" err="1"/>
              <a:t>System.out.println</a:t>
            </a:r>
            <a:r>
              <a:rPr lang="it-IT" sz="1600" i="1" dirty="0"/>
              <a:t>("Parent.stringa3: " + parent.getStringa3());</a:t>
            </a:r>
          </a:p>
          <a:p>
            <a:pPr marL="0" indent="0">
              <a:buNone/>
            </a:pPr>
            <a:r>
              <a:rPr lang="it-IT" sz="1600" i="1" dirty="0"/>
              <a:t>		</a:t>
            </a:r>
            <a:r>
              <a:rPr lang="it-IT" sz="1600" i="1" dirty="0" err="1"/>
              <a:t>System.out.println</a:t>
            </a:r>
            <a:r>
              <a:rPr lang="it-IT" sz="1600" i="1" dirty="0"/>
              <a:t>("Child.stringa1: " + child.getStringa1());</a:t>
            </a:r>
          </a:p>
          <a:p>
            <a:pPr marL="0" indent="0">
              <a:buNone/>
            </a:pPr>
            <a:r>
              <a:rPr lang="it-IT" sz="1600" i="1" dirty="0"/>
              <a:t>		</a:t>
            </a:r>
            <a:r>
              <a:rPr lang="it-IT" sz="1600" i="1" dirty="0" err="1"/>
              <a:t>System.out.println</a:t>
            </a:r>
            <a:r>
              <a:rPr lang="it-IT" sz="1600" i="1" dirty="0"/>
              <a:t>("Child.stringa2: " + child.getStringa2());</a:t>
            </a:r>
          </a:p>
          <a:p>
            <a:pPr marL="0" indent="0">
              <a:buNone/>
            </a:pPr>
            <a:r>
              <a:rPr lang="it-IT" sz="1600" i="1" dirty="0"/>
              <a:t>		</a:t>
            </a:r>
            <a:r>
              <a:rPr lang="it-IT" sz="1600" i="1" dirty="0" err="1"/>
              <a:t>System.out.println</a:t>
            </a:r>
            <a:r>
              <a:rPr lang="it-IT" sz="1600" i="1" dirty="0"/>
              <a:t>("Child.stringa3: " + child.getStringa3());</a:t>
            </a:r>
          </a:p>
          <a:p>
            <a:pPr marL="0" indent="0">
              <a:buNone/>
            </a:pPr>
            <a:r>
              <a:rPr lang="it-IT" sz="1600" i="1" dirty="0"/>
              <a:t>		</a:t>
            </a:r>
            <a:r>
              <a:rPr lang="it-IT" sz="1600" i="1" dirty="0" err="1"/>
              <a:t>System.out.println</a:t>
            </a:r>
            <a:r>
              <a:rPr lang="it-IT" sz="1600" i="1" dirty="0"/>
              <a:t>("Child.stringa4: " + child.getStringa4());</a:t>
            </a:r>
          </a:p>
          <a:p>
            <a:pPr marL="0" indent="0">
              <a:buNone/>
            </a:pPr>
            <a:r>
              <a:rPr lang="it-IT" sz="1600" i="1" dirty="0" err="1" smtClean="0"/>
              <a:t>System.out.println</a:t>
            </a:r>
            <a:r>
              <a:rPr lang="it-IT" sz="1600" i="1" dirty="0"/>
              <a:t>("Parent.Stringa3 vista da Child: " + child.getParentStringa3());</a:t>
            </a:r>
          </a:p>
          <a:p>
            <a:pPr marL="0" indent="0">
              <a:buNone/>
            </a:pPr>
            <a:r>
              <a:rPr lang="it-IT" sz="1600" i="1" dirty="0"/>
              <a:t>	}</a:t>
            </a:r>
          </a:p>
          <a:p>
            <a:pPr marL="0" indent="0">
              <a:buNone/>
            </a:pPr>
            <a:r>
              <a:rPr lang="it-IT" sz="1600" i="1" dirty="0" smtClean="0"/>
              <a:t>}</a:t>
            </a:r>
            <a:endParaRPr lang="it-IT" sz="1600" i="1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4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Override</a:t>
            </a:r>
            <a:r>
              <a:rPr lang="it-IT" dirty="0"/>
              <a:t> - </a:t>
            </a:r>
            <a:r>
              <a:rPr lang="it-IT" dirty="0" smtClean="0"/>
              <a:t>Esempio (</a:t>
            </a:r>
            <a:r>
              <a:rPr lang="it-IT" dirty="0"/>
              <a:t>3/3)</a:t>
            </a:r>
          </a:p>
        </p:txBody>
      </p:sp>
    </p:spTree>
    <p:extLst>
      <p:ext uri="{BB962C8B-B14F-4D97-AF65-F5344CB8AC3E}">
        <p14:creationId xmlns:p14="http://schemas.microsoft.com/office/powerpoint/2010/main" val="35077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844824"/>
            <a:ext cx="7408333" cy="4281339"/>
          </a:xfrm>
        </p:spPr>
        <p:txBody>
          <a:bodyPr>
            <a:normAutofit/>
          </a:bodyPr>
          <a:lstStyle/>
          <a:p>
            <a:endParaRPr lang="it-IT" dirty="0" smtClean="0"/>
          </a:p>
          <a:p>
            <a:r>
              <a:rPr lang="it-IT" dirty="0" smtClean="0"/>
              <a:t>Output </a:t>
            </a:r>
            <a:r>
              <a:rPr lang="it-IT" dirty="0"/>
              <a:t>a </a:t>
            </a:r>
            <a:r>
              <a:rPr lang="it-IT" dirty="0" smtClean="0"/>
              <a:t>console:</a:t>
            </a:r>
            <a:endParaRPr lang="it-IT" dirty="0"/>
          </a:p>
          <a:p>
            <a:pPr marL="301943" lvl="1" indent="0">
              <a:buNone/>
            </a:pPr>
            <a:endParaRPr lang="it-IT" sz="1800" i="1" dirty="0" smtClean="0"/>
          </a:p>
          <a:p>
            <a:pPr marL="301943" lvl="1" indent="0">
              <a:buNone/>
            </a:pPr>
            <a:r>
              <a:rPr lang="it-IT" sz="1800" i="1" dirty="0" smtClean="0"/>
              <a:t>Parent.stringa1</a:t>
            </a:r>
            <a:r>
              <a:rPr lang="it-IT" sz="1800" i="1" dirty="0"/>
              <a:t>: Stringa 1</a:t>
            </a:r>
          </a:p>
          <a:p>
            <a:pPr marL="301943" lvl="1" indent="0">
              <a:buNone/>
            </a:pPr>
            <a:r>
              <a:rPr lang="it-IT" sz="1800" i="1" dirty="0"/>
              <a:t>Parent.stringa2: Stringa 2</a:t>
            </a:r>
          </a:p>
          <a:p>
            <a:pPr marL="301943" lvl="1" indent="0">
              <a:buNone/>
            </a:pPr>
            <a:r>
              <a:rPr lang="it-IT" sz="1800" i="1" dirty="0"/>
              <a:t>Parent.stringa3: Stringa 3</a:t>
            </a:r>
          </a:p>
          <a:p>
            <a:pPr marL="301943" lvl="1" indent="0">
              <a:buNone/>
            </a:pPr>
            <a:r>
              <a:rPr lang="it-IT" sz="1800" i="1" dirty="0"/>
              <a:t>Child.stringa1: Stringa 1</a:t>
            </a:r>
          </a:p>
          <a:p>
            <a:pPr marL="301943" lvl="1" indent="0">
              <a:buNone/>
            </a:pPr>
            <a:r>
              <a:rPr lang="it-IT" sz="1800" i="1" dirty="0"/>
              <a:t>Child.stringa2: Stringa 2</a:t>
            </a:r>
          </a:p>
          <a:p>
            <a:pPr marL="301943" lvl="1" indent="0">
              <a:buNone/>
            </a:pPr>
            <a:r>
              <a:rPr lang="it-IT" sz="1800" i="1" dirty="0"/>
              <a:t>Child.stringa3: Stringa3(Child)</a:t>
            </a:r>
          </a:p>
          <a:p>
            <a:pPr marL="301943" lvl="1" indent="0">
              <a:buNone/>
            </a:pPr>
            <a:r>
              <a:rPr lang="it-IT" sz="1800" i="1" dirty="0"/>
              <a:t>Child.stringa4: Stringa4(Child)</a:t>
            </a:r>
          </a:p>
          <a:p>
            <a:pPr marL="301943" lvl="1" indent="0">
              <a:buNone/>
            </a:pPr>
            <a:r>
              <a:rPr lang="it-IT" sz="1800" i="1" dirty="0"/>
              <a:t>Parent.Stringa3 vista da Child: Stringa 3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5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Override</a:t>
            </a:r>
            <a:r>
              <a:rPr lang="it-IT" dirty="0"/>
              <a:t> - Esempio 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smtClean="0"/>
              <a:t>output a console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62347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772816"/>
            <a:ext cx="7408333" cy="4353347"/>
          </a:xfrm>
        </p:spPr>
        <p:txBody>
          <a:bodyPr>
            <a:normAutofit fontScale="92500"/>
          </a:bodyPr>
          <a:lstStyle/>
          <a:p>
            <a:r>
              <a:rPr lang="it-IT" dirty="0" smtClean="0"/>
              <a:t>Nell’esempio </a:t>
            </a:r>
            <a:r>
              <a:rPr lang="it-IT" dirty="0"/>
              <a:t>viene mostrata come la classe </a:t>
            </a:r>
            <a:r>
              <a:rPr lang="it-IT" i="1" dirty="0"/>
              <a:t>Child</a:t>
            </a:r>
            <a:r>
              <a:rPr lang="it-IT" dirty="0"/>
              <a:t> abbia accesso diretto agli attributi ed ai metodi della classe </a:t>
            </a:r>
            <a:r>
              <a:rPr lang="it-IT" i="1" dirty="0" err="1"/>
              <a:t>Parent</a:t>
            </a:r>
            <a:r>
              <a:rPr lang="it-IT" dirty="0"/>
              <a:t> eccetto quelli dichiarati </a:t>
            </a:r>
            <a:r>
              <a:rPr lang="it-IT" i="1" dirty="0"/>
              <a:t>private</a:t>
            </a:r>
            <a:r>
              <a:rPr lang="it-IT" dirty="0"/>
              <a:t> (nell’esempio l’attributo </a:t>
            </a:r>
            <a:r>
              <a:rPr lang="it-IT" i="1" dirty="0"/>
              <a:t>stringa3</a:t>
            </a:r>
            <a:r>
              <a:rPr lang="it-IT" dirty="0"/>
              <a:t> della classe </a:t>
            </a:r>
            <a:r>
              <a:rPr lang="it-IT" i="1" dirty="0" err="1"/>
              <a:t>Parent</a:t>
            </a:r>
            <a:r>
              <a:rPr lang="it-IT" dirty="0"/>
              <a:t> non è accessibile nella classe </a:t>
            </a:r>
            <a:r>
              <a:rPr lang="it-IT" i="1" dirty="0"/>
              <a:t>Child</a:t>
            </a:r>
            <a:r>
              <a:rPr lang="it-IT" dirty="0" smtClean="0"/>
              <a:t>)</a:t>
            </a:r>
            <a:endParaRPr lang="it-IT" dirty="0"/>
          </a:p>
          <a:p>
            <a:r>
              <a:rPr lang="it-IT" dirty="0"/>
              <a:t>Quando viene creato un oggetto di classe </a:t>
            </a:r>
            <a:r>
              <a:rPr lang="it-IT" i="1" dirty="0"/>
              <a:t>Child</a:t>
            </a:r>
            <a:r>
              <a:rPr lang="it-IT" dirty="0"/>
              <a:t> attraverso </a:t>
            </a:r>
            <a:r>
              <a:rPr lang="it-IT" dirty="0" smtClean="0"/>
              <a:t>l’istruzione: </a:t>
            </a:r>
            <a:r>
              <a:rPr lang="it-IT" i="1" dirty="0" smtClean="0"/>
              <a:t>Child </a:t>
            </a:r>
            <a:r>
              <a:rPr lang="it-IT" i="1" dirty="0" err="1"/>
              <a:t>child</a:t>
            </a:r>
            <a:r>
              <a:rPr lang="it-IT" i="1" dirty="0"/>
              <a:t> = new Child</a:t>
            </a:r>
            <a:r>
              <a:rPr lang="it-IT" i="1" dirty="0" smtClean="0"/>
              <a:t>(); </a:t>
            </a:r>
            <a:r>
              <a:rPr lang="it-IT" dirty="0" smtClean="0"/>
              <a:t>la </a:t>
            </a:r>
            <a:r>
              <a:rPr lang="it-IT" dirty="0"/>
              <a:t>JVM invoca prima il costruttore della classe </a:t>
            </a:r>
            <a:r>
              <a:rPr lang="it-IT" i="1" dirty="0" err="1"/>
              <a:t>Parent</a:t>
            </a:r>
            <a:r>
              <a:rPr lang="it-IT" i="1" dirty="0"/>
              <a:t> </a:t>
            </a:r>
            <a:r>
              <a:rPr lang="it-IT" dirty="0"/>
              <a:t> e poi quello della classe </a:t>
            </a:r>
            <a:r>
              <a:rPr lang="it-IT" i="1" dirty="0" smtClean="0"/>
              <a:t>Child. </a:t>
            </a:r>
            <a:r>
              <a:rPr lang="it-IT" dirty="0"/>
              <a:t>Quindi l’oggetto </a:t>
            </a:r>
            <a:r>
              <a:rPr lang="it-IT" i="1" dirty="0" err="1"/>
              <a:t>child</a:t>
            </a:r>
            <a:r>
              <a:rPr lang="it-IT" dirty="0"/>
              <a:t> viene costruito con gli attributi s</a:t>
            </a:r>
            <a:r>
              <a:rPr lang="it-IT" i="1" dirty="0"/>
              <a:t>tringa1 </a:t>
            </a:r>
            <a:r>
              <a:rPr lang="it-IT" dirty="0"/>
              <a:t>e s</a:t>
            </a:r>
            <a:r>
              <a:rPr lang="it-IT" i="1" dirty="0"/>
              <a:t>tringa2</a:t>
            </a:r>
            <a:r>
              <a:rPr lang="it-IT" dirty="0"/>
              <a:t> inizializzati dalla classe </a:t>
            </a:r>
            <a:r>
              <a:rPr lang="it-IT" i="1" dirty="0" err="1"/>
              <a:t>Parent</a:t>
            </a:r>
            <a:r>
              <a:rPr lang="it-IT" dirty="0"/>
              <a:t> e poi con gli attributi </a:t>
            </a:r>
            <a:r>
              <a:rPr lang="it-IT" i="1" dirty="0"/>
              <a:t>stringa3 </a:t>
            </a:r>
            <a:r>
              <a:rPr lang="it-IT" dirty="0"/>
              <a:t>e </a:t>
            </a:r>
            <a:r>
              <a:rPr lang="it-IT" i="1" dirty="0"/>
              <a:t>stringa4</a:t>
            </a:r>
            <a:r>
              <a:rPr lang="it-IT" dirty="0"/>
              <a:t> inizializzati dal costruttore della classe </a:t>
            </a:r>
            <a:r>
              <a:rPr lang="it-IT" i="1" dirty="0"/>
              <a:t>Child</a:t>
            </a:r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6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Override</a:t>
            </a:r>
            <a:r>
              <a:rPr lang="it-IT" dirty="0"/>
              <a:t> - Esempio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smtClean="0"/>
              <a:t>analisi (1/3)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0240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772816"/>
            <a:ext cx="7408333" cy="4353347"/>
          </a:xfrm>
        </p:spPr>
        <p:txBody>
          <a:bodyPr>
            <a:normAutofit lnSpcReduction="10000"/>
          </a:bodyPr>
          <a:lstStyle/>
          <a:p>
            <a:endParaRPr lang="it-IT" dirty="0" smtClean="0"/>
          </a:p>
          <a:p>
            <a:r>
              <a:rPr lang="it-IT" dirty="0" smtClean="0"/>
              <a:t>Il concetto fondamentale mostrato </a:t>
            </a:r>
            <a:r>
              <a:rPr lang="it-IT" dirty="0"/>
              <a:t>dall’esempio è l’</a:t>
            </a:r>
            <a:r>
              <a:rPr lang="it-IT" b="1" dirty="0" err="1"/>
              <a:t>overriding</a:t>
            </a:r>
            <a:r>
              <a:rPr lang="it-IT" b="1" dirty="0"/>
              <a:t>, </a:t>
            </a:r>
            <a:r>
              <a:rPr lang="it-IT" dirty="0"/>
              <a:t>o sovrascrittura, dell’attributo </a:t>
            </a:r>
            <a:r>
              <a:rPr lang="it-IT" i="1" dirty="0"/>
              <a:t>stringa3 </a:t>
            </a:r>
            <a:r>
              <a:rPr lang="it-IT" dirty="0"/>
              <a:t> e del metodo </a:t>
            </a:r>
            <a:r>
              <a:rPr lang="it-IT" i="1" dirty="0"/>
              <a:t>getStringa3</a:t>
            </a:r>
            <a:r>
              <a:rPr lang="it-IT" i="1" dirty="0" smtClean="0"/>
              <a:t>()</a:t>
            </a:r>
            <a:endParaRPr lang="it-IT" dirty="0"/>
          </a:p>
          <a:p>
            <a:r>
              <a:rPr lang="it-IT" dirty="0"/>
              <a:t>Si parla di </a:t>
            </a:r>
            <a:r>
              <a:rPr lang="it-IT" b="1" dirty="0" err="1"/>
              <a:t>overriding</a:t>
            </a:r>
            <a:r>
              <a:rPr lang="it-IT" dirty="0"/>
              <a:t> quando una classe figlia ridefinisce un attributo o un metodo, ovvero definisce un attributo o un metodo con lo stesso nome </a:t>
            </a:r>
            <a:r>
              <a:rPr lang="it-IT" dirty="0" smtClean="0"/>
              <a:t>(e gli stessi parametri di input/output in caso di metodo) della </a:t>
            </a:r>
            <a:r>
              <a:rPr lang="it-IT" dirty="0"/>
              <a:t>classe </a:t>
            </a:r>
            <a:r>
              <a:rPr lang="it-IT" dirty="0" smtClean="0"/>
              <a:t>genitore</a:t>
            </a:r>
            <a:endParaRPr lang="it-IT" dirty="0"/>
          </a:p>
          <a:p>
            <a:r>
              <a:rPr lang="it-IT" dirty="0"/>
              <a:t>In questo caso la JVM usa sempre la versione dell’attributo o del metodo dell’oggetto sul quale si sta lavorando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7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Override</a:t>
            </a:r>
            <a:r>
              <a:rPr lang="it-IT" dirty="0"/>
              <a:t> - Esempio</a:t>
            </a:r>
            <a:br>
              <a:rPr lang="it-IT" dirty="0"/>
            </a:br>
            <a:r>
              <a:rPr lang="it-IT" dirty="0"/>
              <a:t>analisi </a:t>
            </a:r>
            <a:r>
              <a:rPr lang="it-IT" dirty="0" smtClean="0"/>
              <a:t>(2/3)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34569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2060848"/>
            <a:ext cx="7408333" cy="4065315"/>
          </a:xfrm>
        </p:spPr>
        <p:txBody>
          <a:bodyPr/>
          <a:lstStyle/>
          <a:p>
            <a:r>
              <a:rPr lang="it-IT" dirty="0"/>
              <a:t>Nell’esempio precedente </a:t>
            </a:r>
            <a:r>
              <a:rPr lang="it-IT" i="1" dirty="0"/>
              <a:t>parent.getStringa3()</a:t>
            </a:r>
            <a:r>
              <a:rPr lang="it-IT" dirty="0"/>
              <a:t> invoca la versione del metodo della classe </a:t>
            </a:r>
            <a:r>
              <a:rPr lang="it-IT" i="1" dirty="0" err="1"/>
              <a:t>Parent</a:t>
            </a:r>
            <a:r>
              <a:rPr lang="it-IT" dirty="0"/>
              <a:t> e viceversa </a:t>
            </a:r>
            <a:r>
              <a:rPr lang="it-IT" i="1" dirty="0"/>
              <a:t>child.getStringa3()</a:t>
            </a:r>
            <a:r>
              <a:rPr lang="it-IT" dirty="0"/>
              <a:t> invoca la versione </a:t>
            </a:r>
            <a:r>
              <a:rPr lang="it-IT" b="1" dirty="0" err="1"/>
              <a:t>overriden</a:t>
            </a:r>
            <a:r>
              <a:rPr lang="it-IT" b="1" dirty="0"/>
              <a:t> </a:t>
            </a:r>
            <a:r>
              <a:rPr lang="it-IT" dirty="0"/>
              <a:t>della classe </a:t>
            </a:r>
            <a:r>
              <a:rPr lang="it-IT" i="1" dirty="0" smtClean="0"/>
              <a:t>Child</a:t>
            </a:r>
            <a:endParaRPr lang="it-IT" dirty="0"/>
          </a:p>
          <a:p>
            <a:r>
              <a:rPr lang="it-IT" dirty="0"/>
              <a:t>In caso di </a:t>
            </a:r>
            <a:r>
              <a:rPr lang="it-IT" dirty="0" err="1"/>
              <a:t>override</a:t>
            </a:r>
            <a:r>
              <a:rPr lang="it-IT" dirty="0"/>
              <a:t>, per accedere dal codice di classe figlia agli attributi e ai metodi </a:t>
            </a:r>
            <a:r>
              <a:rPr lang="it-IT" dirty="0" err="1"/>
              <a:t>overriden</a:t>
            </a:r>
            <a:r>
              <a:rPr lang="it-IT" dirty="0"/>
              <a:t> della classe genitore (e quindi per risolvere l’ambiguità di nomi) si usa la parola chiave </a:t>
            </a:r>
            <a:r>
              <a:rPr lang="it-IT" b="1" dirty="0"/>
              <a:t>super</a:t>
            </a:r>
            <a:r>
              <a:rPr lang="it-IT" dirty="0"/>
              <a:t>, come mostra il metodo </a:t>
            </a:r>
            <a:r>
              <a:rPr lang="it-IT" i="1" dirty="0"/>
              <a:t>getParentStringa3()</a:t>
            </a:r>
            <a:r>
              <a:rPr lang="it-IT" dirty="0"/>
              <a:t> della classe </a:t>
            </a:r>
            <a:r>
              <a:rPr lang="it-IT" i="1" dirty="0"/>
              <a:t>Child</a:t>
            </a:r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8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Override</a:t>
            </a:r>
            <a:r>
              <a:rPr lang="it-IT" dirty="0"/>
              <a:t> - Esempio</a:t>
            </a:r>
            <a:br>
              <a:rPr lang="it-IT" dirty="0"/>
            </a:br>
            <a:r>
              <a:rPr lang="it-IT" dirty="0"/>
              <a:t>analisi </a:t>
            </a:r>
            <a:r>
              <a:rPr lang="it-IT" dirty="0" smtClean="0"/>
              <a:t>(3/3)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31847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844824"/>
            <a:ext cx="7408333" cy="4281339"/>
          </a:xfrm>
        </p:spPr>
        <p:txBody>
          <a:bodyPr>
            <a:normAutofit/>
          </a:bodyPr>
          <a:lstStyle/>
          <a:p>
            <a:pPr algn="just"/>
            <a:r>
              <a:rPr lang="it-IT" dirty="0" smtClean="0"/>
              <a:t>Tutte le classi Java sono, di default, figlie della classe </a:t>
            </a:r>
            <a:r>
              <a:rPr lang="it-IT" i="1" dirty="0" err="1" smtClean="0"/>
              <a:t>java.lang.Object</a:t>
            </a:r>
            <a:r>
              <a:rPr lang="it-IT" dirty="0" smtClean="0"/>
              <a:t> e di conseguenza ereditano i suoi metodi, tra cui </a:t>
            </a:r>
            <a:r>
              <a:rPr lang="it-IT" i="1" dirty="0" err="1" smtClean="0"/>
              <a:t>toString</a:t>
            </a:r>
            <a:r>
              <a:rPr lang="it-IT" dirty="0" smtClean="0"/>
              <a:t> </a:t>
            </a:r>
            <a:r>
              <a:rPr lang="it-IT" i="1" dirty="0" err="1" smtClean="0"/>
              <a:t>equals</a:t>
            </a:r>
            <a:r>
              <a:rPr lang="it-IT" i="1" dirty="0" smtClean="0"/>
              <a:t> </a:t>
            </a:r>
            <a:r>
              <a:rPr lang="it-IT" dirty="0" smtClean="0"/>
              <a:t>ed </a:t>
            </a:r>
            <a:r>
              <a:rPr lang="it-IT" i="1" dirty="0" err="1" smtClean="0"/>
              <a:t>hashCode</a:t>
            </a:r>
            <a:endParaRPr lang="it-IT" i="1" dirty="0" smtClean="0"/>
          </a:p>
          <a:p>
            <a:pPr algn="just"/>
            <a:r>
              <a:rPr lang="it-IT" dirty="0" smtClean="0"/>
              <a:t>Il metodo </a:t>
            </a:r>
            <a:r>
              <a:rPr lang="it-IT" i="1" dirty="0" err="1" smtClean="0"/>
              <a:t>toString</a:t>
            </a:r>
            <a:r>
              <a:rPr lang="it-IT" i="1" dirty="0" smtClean="0"/>
              <a:t> </a:t>
            </a:r>
            <a:r>
              <a:rPr lang="it-IT" dirty="0" smtClean="0"/>
              <a:t>è quello che la </a:t>
            </a:r>
            <a:r>
              <a:rPr lang="it-IT" dirty="0" err="1" smtClean="0"/>
              <a:t>Jdk</a:t>
            </a:r>
            <a:r>
              <a:rPr lang="it-IT" dirty="0" smtClean="0"/>
              <a:t> invoca automaticamente ogni qualvolta ha bisogno di trasformare un oggetto in </a:t>
            </a:r>
            <a:r>
              <a:rPr lang="it-IT" dirty="0" err="1" smtClean="0"/>
              <a:t>String</a:t>
            </a:r>
            <a:r>
              <a:rPr lang="it-IT" dirty="0" smtClean="0"/>
              <a:t> (ad esempio quando viene invocata una </a:t>
            </a:r>
            <a:r>
              <a:rPr lang="it-IT" i="1" dirty="0" err="1" smtClean="0"/>
              <a:t>System.out.println</a:t>
            </a:r>
            <a:r>
              <a:rPr lang="it-IT" i="1" dirty="0" smtClean="0"/>
              <a:t>(oggetto))</a:t>
            </a:r>
          </a:p>
          <a:p>
            <a:pPr algn="just"/>
            <a:r>
              <a:rPr lang="it-IT" dirty="0" smtClean="0"/>
              <a:t>L’implementazione di default della classe </a:t>
            </a:r>
            <a:r>
              <a:rPr lang="it-IT" i="1" dirty="0" smtClean="0"/>
              <a:t>Object</a:t>
            </a:r>
            <a:r>
              <a:rPr lang="it-IT" dirty="0" smtClean="0"/>
              <a:t> restituisce come stringa l’identificativo dell’oggetto nella forma </a:t>
            </a:r>
            <a:r>
              <a:rPr lang="it-IT" i="1" dirty="0" err="1" smtClean="0"/>
              <a:t>nomeClasse@id_numerico</a:t>
            </a:r>
            <a:r>
              <a:rPr lang="it-IT" dirty="0" smtClean="0"/>
              <a:t>. Per esempio:</a:t>
            </a:r>
          </a:p>
          <a:p>
            <a:pPr marL="301943" lvl="1" indent="0" algn="just">
              <a:buNone/>
            </a:pPr>
            <a:r>
              <a:rPr lang="it-IT" sz="2000" i="1" dirty="0" smtClean="0"/>
              <a:t>com.azienda.progetto.MiaClasse</a:t>
            </a:r>
            <a:r>
              <a:rPr lang="it-IT" sz="2000" dirty="0" smtClean="0"/>
              <a:t>@15db9742</a:t>
            </a:r>
            <a:endParaRPr lang="it-IT" sz="2000" i="1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9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Ereditarietà dalla classe Object</a:t>
            </a:r>
            <a:br>
              <a:rPr lang="it-IT" dirty="0" smtClean="0"/>
            </a:br>
            <a:r>
              <a:rPr lang="it-IT" dirty="0" smtClean="0"/>
              <a:t>metodo </a:t>
            </a:r>
            <a:r>
              <a:rPr lang="it-IT" i="1" dirty="0" err="1" smtClean="0"/>
              <a:t>toString</a:t>
            </a:r>
            <a:r>
              <a:rPr lang="it-IT" i="1" dirty="0" smtClean="0"/>
              <a:t> </a:t>
            </a:r>
            <a:r>
              <a:rPr lang="it-IT" dirty="0" smtClean="0"/>
              <a:t>(1/2)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0821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Pertanto ogni qualvolta si desidera che la rappresentazione in </a:t>
            </a:r>
            <a:r>
              <a:rPr lang="it-IT" dirty="0" err="1" smtClean="0"/>
              <a:t>String</a:t>
            </a:r>
            <a:r>
              <a:rPr lang="it-IT" dirty="0" smtClean="0"/>
              <a:t> di un oggetto di classe </a:t>
            </a:r>
            <a:r>
              <a:rPr lang="it-IT" i="1" dirty="0" smtClean="0"/>
              <a:t>X</a:t>
            </a:r>
            <a:r>
              <a:rPr lang="it-IT" dirty="0" smtClean="0"/>
              <a:t> sia personalizzata (magari stampando i valori degli attributi degli oggetti di classe </a:t>
            </a:r>
            <a:r>
              <a:rPr lang="it-IT" i="1" dirty="0" smtClean="0"/>
              <a:t>X</a:t>
            </a:r>
            <a:r>
              <a:rPr lang="it-IT" dirty="0" smtClean="0"/>
              <a:t>) si può ricorrere all’</a:t>
            </a:r>
            <a:r>
              <a:rPr lang="it-IT" i="1" dirty="0" err="1" smtClean="0"/>
              <a:t>override</a:t>
            </a:r>
            <a:r>
              <a:rPr lang="it-IT" dirty="0" smtClean="0"/>
              <a:t> del metodo </a:t>
            </a:r>
            <a:r>
              <a:rPr lang="it-IT" i="1" dirty="0" err="1" smtClean="0"/>
              <a:t>toString</a:t>
            </a:r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10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Ereditarietà dalla classe Object</a:t>
            </a:r>
            <a:br>
              <a:rPr lang="it-IT" dirty="0"/>
            </a:br>
            <a:r>
              <a:rPr lang="it-IT" dirty="0"/>
              <a:t>metodo </a:t>
            </a:r>
            <a:r>
              <a:rPr lang="it-IT" i="1" dirty="0" err="1"/>
              <a:t>toString</a:t>
            </a:r>
            <a:r>
              <a:rPr lang="it-IT" i="1" dirty="0"/>
              <a:t> </a:t>
            </a:r>
            <a:r>
              <a:rPr lang="it-IT" dirty="0" smtClean="0"/>
              <a:t>(2/2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97142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772816"/>
            <a:ext cx="7408333" cy="4353347"/>
          </a:xfrm>
        </p:spPr>
        <p:txBody>
          <a:bodyPr>
            <a:normAutofit fontScale="77500" lnSpcReduction="20000"/>
          </a:bodyPr>
          <a:lstStyle/>
          <a:p>
            <a:r>
              <a:rPr lang="it-IT" sz="3100" dirty="0" smtClean="0"/>
              <a:t>Supponiamo di avere la seguente classe:</a:t>
            </a:r>
          </a:p>
          <a:p>
            <a:pPr marL="301943" lvl="1" indent="0">
              <a:buNone/>
            </a:pPr>
            <a:r>
              <a:rPr lang="it-IT" i="1" dirty="0" smtClean="0"/>
              <a:t>package </a:t>
            </a:r>
            <a:r>
              <a:rPr lang="it-IT" i="1" dirty="0" err="1" smtClean="0"/>
              <a:t>com.azienda.progetto</a:t>
            </a:r>
            <a:r>
              <a:rPr lang="it-IT" i="1" dirty="0"/>
              <a:t>;</a:t>
            </a:r>
            <a:endParaRPr lang="it-IT" i="1" dirty="0" smtClean="0"/>
          </a:p>
          <a:p>
            <a:pPr marL="301943" lvl="1" indent="0">
              <a:buNone/>
            </a:pPr>
            <a:endParaRPr lang="it-IT" sz="2300" i="1" dirty="0" smtClean="0"/>
          </a:p>
          <a:p>
            <a:pPr marL="301943" lvl="1" indent="0">
              <a:buNone/>
            </a:pPr>
            <a:r>
              <a:rPr lang="it-IT" sz="2300" i="1" dirty="0" smtClean="0"/>
              <a:t>public </a:t>
            </a:r>
            <a:r>
              <a:rPr lang="it-IT" sz="2300" i="1" dirty="0" err="1"/>
              <a:t>class</a:t>
            </a:r>
            <a:r>
              <a:rPr lang="it-IT" sz="2300" i="1" dirty="0"/>
              <a:t> Esempio {</a:t>
            </a:r>
          </a:p>
          <a:p>
            <a:pPr marL="301943" lvl="1" indent="0">
              <a:buNone/>
            </a:pPr>
            <a:endParaRPr lang="it-IT" sz="2300" i="1" dirty="0" smtClean="0"/>
          </a:p>
          <a:p>
            <a:pPr marL="301943" lvl="1" indent="0">
              <a:buNone/>
            </a:pPr>
            <a:r>
              <a:rPr lang="it-IT" sz="2300" i="1" dirty="0" smtClean="0"/>
              <a:t>private </a:t>
            </a:r>
            <a:r>
              <a:rPr lang="it-IT" sz="2300" i="1" dirty="0" err="1"/>
              <a:t>String</a:t>
            </a:r>
            <a:r>
              <a:rPr lang="it-IT" sz="2300" i="1" dirty="0"/>
              <a:t> s = </a:t>
            </a:r>
            <a:r>
              <a:rPr lang="it-IT" sz="2300" i="1" dirty="0" err="1"/>
              <a:t>null</a:t>
            </a:r>
            <a:r>
              <a:rPr lang="it-IT" sz="2300" i="1" dirty="0"/>
              <a:t>;</a:t>
            </a:r>
          </a:p>
          <a:p>
            <a:pPr marL="301943" lvl="1" indent="0">
              <a:buNone/>
            </a:pPr>
            <a:endParaRPr lang="it-IT" sz="2300" i="1" dirty="0" smtClean="0"/>
          </a:p>
          <a:p>
            <a:pPr marL="301943" lvl="1" indent="0">
              <a:buNone/>
            </a:pPr>
            <a:r>
              <a:rPr lang="it-IT" sz="2300" i="1" dirty="0" smtClean="0"/>
              <a:t>public </a:t>
            </a:r>
            <a:r>
              <a:rPr lang="it-IT" sz="2300" i="1" dirty="0" err="1"/>
              <a:t>String</a:t>
            </a:r>
            <a:r>
              <a:rPr lang="it-IT" sz="2300" i="1" dirty="0"/>
              <a:t> </a:t>
            </a:r>
            <a:r>
              <a:rPr lang="it-IT" sz="2300" i="1" dirty="0" err="1"/>
              <a:t>getS</a:t>
            </a:r>
            <a:r>
              <a:rPr lang="it-IT" sz="2300" i="1" dirty="0"/>
              <a:t>() {</a:t>
            </a:r>
          </a:p>
          <a:p>
            <a:pPr marL="301943" lvl="1" indent="0">
              <a:buNone/>
            </a:pPr>
            <a:r>
              <a:rPr lang="it-IT" sz="2300" i="1" dirty="0" err="1"/>
              <a:t>return</a:t>
            </a:r>
            <a:r>
              <a:rPr lang="it-IT" sz="2300" i="1" dirty="0"/>
              <a:t> s;</a:t>
            </a:r>
          </a:p>
          <a:p>
            <a:pPr marL="301943" lvl="1" indent="0">
              <a:buNone/>
            </a:pPr>
            <a:r>
              <a:rPr lang="it-IT" sz="2300" i="1" dirty="0"/>
              <a:t>}</a:t>
            </a:r>
          </a:p>
          <a:p>
            <a:pPr marL="301943" lvl="1" indent="0">
              <a:buNone/>
            </a:pPr>
            <a:endParaRPr lang="it-IT" sz="2300" i="1" dirty="0" smtClean="0"/>
          </a:p>
          <a:p>
            <a:pPr marL="301943" lvl="1" indent="0">
              <a:buNone/>
            </a:pPr>
            <a:r>
              <a:rPr lang="it-IT" sz="2300" i="1" dirty="0" smtClean="0"/>
              <a:t>public </a:t>
            </a:r>
            <a:r>
              <a:rPr lang="it-IT" sz="2300" i="1" dirty="0" err="1"/>
              <a:t>void</a:t>
            </a:r>
            <a:r>
              <a:rPr lang="it-IT" sz="2300" i="1" dirty="0"/>
              <a:t> </a:t>
            </a:r>
            <a:r>
              <a:rPr lang="it-IT" sz="2300" i="1" dirty="0" err="1"/>
              <a:t>setS</a:t>
            </a:r>
            <a:r>
              <a:rPr lang="it-IT" sz="2300" i="1" dirty="0"/>
              <a:t>(</a:t>
            </a:r>
            <a:r>
              <a:rPr lang="it-IT" sz="2300" i="1" dirty="0" err="1"/>
              <a:t>String</a:t>
            </a:r>
            <a:r>
              <a:rPr lang="it-IT" sz="2300" i="1" dirty="0"/>
              <a:t> s) {</a:t>
            </a:r>
          </a:p>
          <a:p>
            <a:pPr marL="301943" lvl="1" indent="0">
              <a:buNone/>
            </a:pPr>
            <a:r>
              <a:rPr lang="it-IT" sz="2300" i="1" dirty="0" err="1"/>
              <a:t>this.s</a:t>
            </a:r>
            <a:r>
              <a:rPr lang="it-IT" sz="2300" i="1" dirty="0"/>
              <a:t> = s;</a:t>
            </a:r>
          </a:p>
          <a:p>
            <a:pPr marL="301943" lvl="1" indent="0">
              <a:buNone/>
            </a:pPr>
            <a:r>
              <a:rPr lang="it-IT" sz="2300" i="1" dirty="0"/>
              <a:t>}</a:t>
            </a:r>
          </a:p>
          <a:p>
            <a:pPr marL="301943" lvl="1" indent="0">
              <a:buNone/>
            </a:pPr>
            <a:r>
              <a:rPr lang="it-IT" sz="2300" i="1" dirty="0" smtClean="0"/>
              <a:t>}</a:t>
            </a:r>
            <a:endParaRPr lang="it-IT" sz="2300" i="1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11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 smtClean="0"/>
              <a:t>Override</a:t>
            </a:r>
            <a:r>
              <a:rPr lang="it-IT" dirty="0" smtClean="0"/>
              <a:t> </a:t>
            </a:r>
            <a:r>
              <a:rPr lang="it-IT" i="1" dirty="0" err="1" smtClean="0"/>
              <a:t>toString</a:t>
            </a:r>
            <a:r>
              <a:rPr lang="it-IT" i="1" dirty="0" smtClean="0"/>
              <a:t/>
            </a:r>
            <a:br>
              <a:rPr lang="it-IT" i="1" dirty="0" smtClean="0"/>
            </a:br>
            <a:r>
              <a:rPr lang="it-IT" dirty="0" smtClean="0"/>
              <a:t>Esempio (1/3)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6117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988840"/>
            <a:ext cx="7408333" cy="4137323"/>
          </a:xfrm>
        </p:spPr>
        <p:txBody>
          <a:bodyPr/>
          <a:lstStyle/>
          <a:p>
            <a:r>
              <a:rPr lang="it-IT" dirty="0" smtClean="0"/>
              <a:t>E supponiamo che in un metodo </a:t>
            </a:r>
            <a:r>
              <a:rPr lang="it-IT" i="1" dirty="0" err="1" smtClean="0"/>
              <a:t>main</a:t>
            </a:r>
            <a:r>
              <a:rPr lang="it-IT" dirty="0" smtClean="0"/>
              <a:t> di un’altra classe usiamo oggetti di classe </a:t>
            </a:r>
            <a:r>
              <a:rPr lang="it-IT" i="1" dirty="0" smtClean="0"/>
              <a:t>Esempio</a:t>
            </a:r>
            <a:r>
              <a:rPr lang="it-IT" dirty="0" smtClean="0"/>
              <a:t> nel seguente modo:</a:t>
            </a:r>
          </a:p>
          <a:p>
            <a:pPr marL="301943" lvl="1" indent="0">
              <a:buNone/>
            </a:pPr>
            <a:r>
              <a:rPr lang="en-US" sz="1800" i="1" dirty="0"/>
              <a:t>public static void main(String[] </a:t>
            </a:r>
            <a:r>
              <a:rPr lang="en-US" sz="1800" i="1" dirty="0" err="1"/>
              <a:t>args</a:t>
            </a:r>
            <a:r>
              <a:rPr lang="en-US" sz="1800" i="1" dirty="0"/>
              <a:t>) {</a:t>
            </a:r>
          </a:p>
          <a:p>
            <a:pPr marL="301943" lvl="1" indent="0">
              <a:buNone/>
            </a:pPr>
            <a:r>
              <a:rPr lang="it-IT" sz="1800" i="1" dirty="0"/>
              <a:t>Esempio </a:t>
            </a:r>
            <a:r>
              <a:rPr lang="it-IT" sz="1800" i="1" dirty="0" err="1"/>
              <a:t>obj</a:t>
            </a:r>
            <a:r>
              <a:rPr lang="it-IT" sz="1800" i="1" dirty="0"/>
              <a:t> = new Esempio();</a:t>
            </a:r>
          </a:p>
          <a:p>
            <a:pPr marL="301943" lvl="1" indent="0">
              <a:buNone/>
            </a:pPr>
            <a:r>
              <a:rPr lang="it-IT" sz="1800" i="1" dirty="0" err="1"/>
              <a:t>obj.setS</a:t>
            </a:r>
            <a:r>
              <a:rPr lang="it-IT" sz="1800" i="1" dirty="0"/>
              <a:t>("Ciao");</a:t>
            </a:r>
          </a:p>
          <a:p>
            <a:pPr marL="301943" lvl="1" indent="0">
              <a:buNone/>
            </a:pPr>
            <a:r>
              <a:rPr lang="it-IT" sz="1800" i="1" dirty="0" err="1"/>
              <a:t>System.out.println</a:t>
            </a:r>
            <a:r>
              <a:rPr lang="it-IT" sz="1800" i="1" dirty="0"/>
              <a:t>(</a:t>
            </a:r>
            <a:r>
              <a:rPr lang="it-IT" sz="1800" i="1" dirty="0" err="1"/>
              <a:t>obj</a:t>
            </a:r>
            <a:r>
              <a:rPr lang="it-IT" sz="1800" i="1" dirty="0"/>
              <a:t>);</a:t>
            </a:r>
          </a:p>
          <a:p>
            <a:pPr marL="301943" lvl="1" indent="0">
              <a:buNone/>
            </a:pPr>
            <a:r>
              <a:rPr lang="it-IT" sz="1800" i="1" dirty="0" smtClean="0"/>
              <a:t>}</a:t>
            </a:r>
          </a:p>
          <a:p>
            <a:r>
              <a:rPr lang="it-IT" dirty="0" smtClean="0"/>
              <a:t>A console vedremmo:</a:t>
            </a:r>
          </a:p>
          <a:p>
            <a:pPr marL="301943" lvl="1" indent="0">
              <a:buNone/>
            </a:pPr>
            <a:r>
              <a:rPr lang="it-IT" sz="1800" i="1" dirty="0" smtClean="0"/>
              <a:t>com.azienda.progetto.Esempio@15db9742</a:t>
            </a:r>
            <a:endParaRPr lang="it-IT" sz="1800" i="1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12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Override</a:t>
            </a:r>
            <a:r>
              <a:rPr lang="it-IT" dirty="0"/>
              <a:t> </a:t>
            </a:r>
            <a:r>
              <a:rPr lang="it-IT" i="1" dirty="0" err="1"/>
              <a:t>toString</a:t>
            </a:r>
            <a:r>
              <a:rPr lang="it-IT" i="1" dirty="0"/>
              <a:t/>
            </a:r>
            <a:br>
              <a:rPr lang="it-IT" i="1" dirty="0"/>
            </a:br>
            <a:r>
              <a:rPr lang="it-IT" dirty="0"/>
              <a:t>Esempio </a:t>
            </a:r>
            <a:r>
              <a:rPr lang="it-IT" dirty="0" smtClean="0"/>
              <a:t>(2/3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08663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2060848"/>
            <a:ext cx="7408333" cy="4065315"/>
          </a:xfrm>
        </p:spPr>
        <p:txBody>
          <a:bodyPr/>
          <a:lstStyle/>
          <a:p>
            <a:r>
              <a:rPr lang="it-IT" dirty="0" smtClean="0"/>
              <a:t>Se invece nella classe </a:t>
            </a:r>
            <a:r>
              <a:rPr lang="it-IT" i="1" dirty="0" smtClean="0"/>
              <a:t>Esempio</a:t>
            </a:r>
            <a:r>
              <a:rPr lang="it-IT" dirty="0" smtClean="0"/>
              <a:t> andassimo a fare </a:t>
            </a:r>
            <a:r>
              <a:rPr lang="it-IT" i="1" dirty="0" err="1" smtClean="0"/>
              <a:t>override</a:t>
            </a:r>
            <a:r>
              <a:rPr lang="it-IT" i="1" dirty="0" smtClean="0"/>
              <a:t> </a:t>
            </a:r>
            <a:r>
              <a:rPr lang="it-IT" dirty="0" smtClean="0"/>
              <a:t>del metodo </a:t>
            </a:r>
            <a:r>
              <a:rPr lang="it-IT" i="1" dirty="0" err="1" smtClean="0"/>
              <a:t>toString</a:t>
            </a:r>
            <a:r>
              <a:rPr lang="it-IT" dirty="0" smtClean="0"/>
              <a:t> nel seguente modo:</a:t>
            </a:r>
          </a:p>
          <a:p>
            <a:pPr marL="301943" lvl="1" indent="0">
              <a:buNone/>
            </a:pPr>
            <a:r>
              <a:rPr lang="it-IT" sz="1800" i="1" dirty="0"/>
              <a:t>public </a:t>
            </a:r>
            <a:r>
              <a:rPr lang="it-IT" sz="1800" i="1" dirty="0" err="1"/>
              <a:t>String</a:t>
            </a:r>
            <a:r>
              <a:rPr lang="it-IT" sz="1800" i="1" dirty="0"/>
              <a:t> </a:t>
            </a:r>
            <a:r>
              <a:rPr lang="it-IT" sz="1800" i="1" dirty="0" err="1"/>
              <a:t>toString</a:t>
            </a:r>
            <a:r>
              <a:rPr lang="it-IT" sz="1800" i="1" dirty="0"/>
              <a:t>() {</a:t>
            </a:r>
          </a:p>
          <a:p>
            <a:pPr marL="301943" lvl="1" indent="0">
              <a:buNone/>
            </a:pPr>
            <a:r>
              <a:rPr lang="it-IT" sz="1800" i="1" dirty="0" err="1"/>
              <a:t>return</a:t>
            </a:r>
            <a:r>
              <a:rPr lang="it-IT" sz="1800" i="1" dirty="0"/>
              <a:t> "Il valore dell'attributo s è: " + s;</a:t>
            </a:r>
          </a:p>
          <a:p>
            <a:pPr marL="301943" lvl="1" indent="0">
              <a:buNone/>
            </a:pPr>
            <a:r>
              <a:rPr lang="it-IT" sz="1800" i="1" dirty="0" smtClean="0"/>
              <a:t>}</a:t>
            </a:r>
          </a:p>
          <a:p>
            <a:r>
              <a:rPr lang="it-IT" dirty="0" smtClean="0"/>
              <a:t>lanciando in esecuzione lo stesso metodo </a:t>
            </a:r>
            <a:r>
              <a:rPr lang="it-IT" i="1" dirty="0" err="1" smtClean="0"/>
              <a:t>main</a:t>
            </a:r>
            <a:r>
              <a:rPr lang="it-IT" dirty="0" smtClean="0"/>
              <a:t> della slide precedente, a console vedremmo:</a:t>
            </a:r>
          </a:p>
          <a:p>
            <a:pPr marL="301943" lvl="1" indent="0">
              <a:buNone/>
            </a:pPr>
            <a:r>
              <a:rPr lang="it-IT" sz="2000" i="1" dirty="0"/>
              <a:t>Il valore dell'attributo s è: Ciao</a:t>
            </a:r>
          </a:p>
          <a:p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13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Override</a:t>
            </a:r>
            <a:r>
              <a:rPr lang="it-IT" dirty="0"/>
              <a:t> </a:t>
            </a:r>
            <a:r>
              <a:rPr lang="it-IT" i="1" dirty="0" err="1"/>
              <a:t>toString</a:t>
            </a:r>
            <a:r>
              <a:rPr lang="it-IT" i="1" dirty="0"/>
              <a:t/>
            </a:r>
            <a:br>
              <a:rPr lang="it-IT" i="1" dirty="0"/>
            </a:br>
            <a:r>
              <a:rPr lang="it-IT" dirty="0"/>
              <a:t>Esempio </a:t>
            </a:r>
            <a:r>
              <a:rPr lang="it-IT" dirty="0" smtClean="0"/>
              <a:t>(3/3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87116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988840"/>
            <a:ext cx="7408333" cy="4137323"/>
          </a:xfrm>
        </p:spPr>
        <p:txBody>
          <a:bodyPr>
            <a:normAutofit lnSpcReduction="10000"/>
          </a:bodyPr>
          <a:lstStyle/>
          <a:p>
            <a:r>
              <a:rPr lang="it-IT" dirty="0" smtClean="0"/>
              <a:t>Java per controllare che due oggetti siano uguali va ad invocare i metodi </a:t>
            </a:r>
            <a:r>
              <a:rPr lang="it-IT" i="1" dirty="0" err="1" smtClean="0"/>
              <a:t>equals</a:t>
            </a:r>
            <a:r>
              <a:rPr lang="it-IT" dirty="0" smtClean="0"/>
              <a:t> ed </a:t>
            </a:r>
            <a:r>
              <a:rPr lang="it-IT" i="1" dirty="0" err="1" smtClean="0"/>
              <a:t>hashCode</a:t>
            </a:r>
            <a:r>
              <a:rPr lang="it-IT" dirty="0" smtClean="0"/>
              <a:t> che tutti gli oggetti ereditano dalla classe </a:t>
            </a:r>
            <a:r>
              <a:rPr lang="it-IT" i="1" dirty="0" smtClean="0"/>
              <a:t>Object</a:t>
            </a:r>
            <a:r>
              <a:rPr lang="it-IT" dirty="0" smtClean="0"/>
              <a:t> (l’invocazione di </a:t>
            </a:r>
            <a:r>
              <a:rPr lang="it-IT" i="1" dirty="0" err="1" smtClean="0"/>
              <a:t>hashCode</a:t>
            </a:r>
            <a:r>
              <a:rPr lang="it-IT" dirty="0" smtClean="0"/>
              <a:t>, pur se meno evidente, viene utilizzata internamente da Java: ad esempio per rispettare il </a:t>
            </a:r>
            <a:r>
              <a:rPr lang="it-IT" i="1" dirty="0" smtClean="0"/>
              <a:t>contratto</a:t>
            </a:r>
            <a:r>
              <a:rPr lang="it-IT" dirty="0" smtClean="0"/>
              <a:t> di tutte le classi che usano </a:t>
            </a:r>
            <a:r>
              <a:rPr lang="it-IT" i="1" dirty="0" err="1" smtClean="0"/>
              <a:t>hash</a:t>
            </a:r>
            <a:r>
              <a:rPr lang="it-IT" dirty="0" smtClean="0"/>
              <a:t>, come </a:t>
            </a:r>
            <a:r>
              <a:rPr lang="it-IT" i="1" dirty="0" err="1" smtClean="0"/>
              <a:t>HashMap</a:t>
            </a:r>
            <a:r>
              <a:rPr lang="it-IT" i="1" dirty="0" smtClean="0"/>
              <a:t>, </a:t>
            </a:r>
            <a:r>
              <a:rPr lang="it-IT" i="1" dirty="0" err="1" smtClean="0"/>
              <a:t>HashSet</a:t>
            </a:r>
            <a:r>
              <a:rPr lang="it-IT" dirty="0" smtClean="0"/>
              <a:t> che vedremo più avanti)</a:t>
            </a:r>
            <a:endParaRPr lang="it-IT" i="1" dirty="0" smtClean="0"/>
          </a:p>
          <a:p>
            <a:r>
              <a:rPr lang="it-IT" dirty="0" smtClean="0"/>
              <a:t>L’implementazione dei due metodi nella classe Object restituisce </a:t>
            </a:r>
            <a:r>
              <a:rPr lang="it-IT" i="1" dirty="0" err="1" smtClean="0"/>
              <a:t>true</a:t>
            </a:r>
            <a:r>
              <a:rPr lang="it-IT" dirty="0" smtClean="0"/>
              <a:t> soltanto se i due oggetti che si vogliono confrontare hanno lo stesso identico </a:t>
            </a:r>
            <a:r>
              <a:rPr lang="it-IT" i="1" dirty="0" smtClean="0"/>
              <a:t>riferimento/puntatore, </a:t>
            </a:r>
            <a:r>
              <a:rPr lang="it-IT" dirty="0" smtClean="0"/>
              <a:t>ovvero puntano entrambi alla stessa area di memoria</a:t>
            </a:r>
            <a:endParaRPr lang="it-IT" sz="1800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14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3200" dirty="0"/>
              <a:t>Ereditarietà dalla classe Object</a:t>
            </a:r>
            <a:br>
              <a:rPr lang="it-IT" sz="3200" dirty="0"/>
            </a:br>
            <a:r>
              <a:rPr lang="it-IT" sz="3200" dirty="0" smtClean="0"/>
              <a:t>metodi </a:t>
            </a:r>
            <a:r>
              <a:rPr lang="it-IT" sz="3200" i="1" dirty="0" err="1" smtClean="0"/>
              <a:t>equals</a:t>
            </a:r>
            <a:r>
              <a:rPr lang="it-IT" sz="3200" i="1" dirty="0" smtClean="0"/>
              <a:t> </a:t>
            </a:r>
            <a:r>
              <a:rPr lang="it-IT" sz="3200" dirty="0" smtClean="0"/>
              <a:t>ed</a:t>
            </a:r>
            <a:r>
              <a:rPr lang="it-IT" sz="3200" i="1" dirty="0" smtClean="0"/>
              <a:t> </a:t>
            </a:r>
            <a:r>
              <a:rPr lang="it-IT" sz="3200" i="1" dirty="0" err="1" smtClean="0"/>
              <a:t>hascode</a:t>
            </a:r>
            <a:r>
              <a:rPr lang="it-IT" sz="3200" i="1" dirty="0" smtClean="0"/>
              <a:t/>
            </a:r>
            <a:br>
              <a:rPr lang="it-IT" sz="3200" i="1" dirty="0" smtClean="0"/>
            </a:br>
            <a:r>
              <a:rPr lang="it-IT" sz="3200" dirty="0" smtClean="0"/>
              <a:t>Uguaglianza di oggetti</a:t>
            </a: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2226394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988840"/>
            <a:ext cx="7408333" cy="4137323"/>
          </a:xfrm>
        </p:spPr>
        <p:txBody>
          <a:bodyPr>
            <a:normAutofit/>
          </a:bodyPr>
          <a:lstStyle/>
          <a:p>
            <a:r>
              <a:rPr lang="it-IT" dirty="0" smtClean="0"/>
              <a:t>Supponiamo di avere una classe fatta così:</a:t>
            </a:r>
          </a:p>
          <a:p>
            <a:pPr marL="0" indent="0">
              <a:buNone/>
            </a:pPr>
            <a:r>
              <a:rPr lang="it-IT" sz="1800" i="1" dirty="0" smtClean="0"/>
              <a:t>package </a:t>
            </a:r>
            <a:r>
              <a:rPr lang="it-IT" sz="1800" i="1" dirty="0" err="1" smtClean="0"/>
              <a:t>com.azienda.progetto</a:t>
            </a:r>
            <a:r>
              <a:rPr lang="it-IT" sz="1800" i="1" dirty="0" smtClean="0"/>
              <a:t>;</a:t>
            </a:r>
          </a:p>
          <a:p>
            <a:pPr marL="0" indent="0">
              <a:buNone/>
            </a:pPr>
            <a:r>
              <a:rPr lang="it-IT" sz="1800" i="1" dirty="0" smtClean="0"/>
              <a:t>public </a:t>
            </a:r>
            <a:r>
              <a:rPr lang="it-IT" sz="1800" i="1" dirty="0" err="1" smtClean="0"/>
              <a:t>class</a:t>
            </a:r>
            <a:r>
              <a:rPr lang="it-IT" sz="1800" i="1" dirty="0" smtClean="0"/>
              <a:t> </a:t>
            </a:r>
            <a:r>
              <a:rPr lang="it-IT" sz="1800" i="1" dirty="0" err="1" smtClean="0"/>
              <a:t>MiaClasse</a:t>
            </a:r>
            <a:r>
              <a:rPr lang="it-IT" sz="1800" i="1" dirty="0" smtClean="0"/>
              <a:t> {</a:t>
            </a:r>
          </a:p>
          <a:p>
            <a:pPr marL="0" indent="0">
              <a:buNone/>
            </a:pPr>
            <a:r>
              <a:rPr lang="it-IT" sz="1800" i="1" dirty="0" smtClean="0"/>
              <a:t>	private </a:t>
            </a:r>
            <a:r>
              <a:rPr lang="it-IT" sz="1800" i="1" dirty="0" err="1" smtClean="0"/>
              <a:t>String</a:t>
            </a:r>
            <a:r>
              <a:rPr lang="it-IT" sz="1800" i="1" dirty="0" smtClean="0"/>
              <a:t> s = </a:t>
            </a:r>
            <a:r>
              <a:rPr lang="it-IT" sz="1800" i="1" dirty="0" err="1" smtClean="0"/>
              <a:t>null</a:t>
            </a:r>
            <a:r>
              <a:rPr lang="it-IT" sz="1800" i="1" dirty="0" smtClean="0"/>
              <a:t>;</a:t>
            </a:r>
          </a:p>
          <a:p>
            <a:pPr marL="0" indent="0">
              <a:buNone/>
            </a:pPr>
            <a:r>
              <a:rPr lang="it-IT" sz="1800" i="1" dirty="0" smtClean="0"/>
              <a:t>	public </a:t>
            </a:r>
            <a:r>
              <a:rPr lang="it-IT" sz="1800" i="1" dirty="0" err="1"/>
              <a:t>String</a:t>
            </a:r>
            <a:r>
              <a:rPr lang="it-IT" sz="1800" i="1" dirty="0"/>
              <a:t> </a:t>
            </a:r>
            <a:r>
              <a:rPr lang="it-IT" sz="1800" i="1" dirty="0" err="1"/>
              <a:t>getS</a:t>
            </a:r>
            <a:r>
              <a:rPr lang="it-IT" sz="1800" i="1" dirty="0"/>
              <a:t>() {</a:t>
            </a:r>
          </a:p>
          <a:p>
            <a:pPr marL="0" indent="0">
              <a:buNone/>
            </a:pPr>
            <a:r>
              <a:rPr lang="it-IT" sz="1800" i="1" dirty="0" smtClean="0"/>
              <a:t>		</a:t>
            </a:r>
            <a:r>
              <a:rPr lang="it-IT" sz="1800" i="1" dirty="0" err="1" smtClean="0"/>
              <a:t>return</a:t>
            </a:r>
            <a:r>
              <a:rPr lang="it-IT" sz="1800" i="1" dirty="0" smtClean="0"/>
              <a:t> </a:t>
            </a:r>
            <a:r>
              <a:rPr lang="it-IT" sz="1800" i="1" dirty="0"/>
              <a:t>s;</a:t>
            </a:r>
          </a:p>
          <a:p>
            <a:pPr marL="0" indent="0">
              <a:buNone/>
            </a:pPr>
            <a:r>
              <a:rPr lang="it-IT" sz="1800" i="1" dirty="0" smtClean="0"/>
              <a:t>	}</a:t>
            </a:r>
            <a:endParaRPr lang="it-IT" sz="1800" i="1" dirty="0"/>
          </a:p>
          <a:p>
            <a:pPr marL="0" indent="0">
              <a:buNone/>
            </a:pPr>
            <a:endParaRPr lang="it-IT" sz="1800" i="1" dirty="0" smtClean="0"/>
          </a:p>
          <a:p>
            <a:pPr marL="0" indent="0">
              <a:buNone/>
            </a:pPr>
            <a:r>
              <a:rPr lang="it-IT" sz="1800" i="1" dirty="0" smtClean="0"/>
              <a:t>	public </a:t>
            </a:r>
            <a:r>
              <a:rPr lang="it-IT" sz="1800" i="1" dirty="0" err="1"/>
              <a:t>void</a:t>
            </a:r>
            <a:r>
              <a:rPr lang="it-IT" sz="1800" i="1" dirty="0"/>
              <a:t> </a:t>
            </a:r>
            <a:r>
              <a:rPr lang="it-IT" sz="1800" i="1" dirty="0" err="1"/>
              <a:t>setS</a:t>
            </a:r>
            <a:r>
              <a:rPr lang="it-IT" sz="1800" i="1" dirty="0"/>
              <a:t>(</a:t>
            </a:r>
            <a:r>
              <a:rPr lang="it-IT" sz="1800" i="1" dirty="0" err="1"/>
              <a:t>String</a:t>
            </a:r>
            <a:r>
              <a:rPr lang="it-IT" sz="1800" i="1" dirty="0"/>
              <a:t> s) {</a:t>
            </a:r>
          </a:p>
          <a:p>
            <a:pPr marL="0" indent="0">
              <a:buNone/>
            </a:pPr>
            <a:r>
              <a:rPr lang="it-IT" sz="1800" i="1" dirty="0" smtClean="0"/>
              <a:t>		</a:t>
            </a:r>
            <a:r>
              <a:rPr lang="it-IT" sz="1800" i="1" dirty="0" err="1" smtClean="0"/>
              <a:t>this.s</a:t>
            </a:r>
            <a:r>
              <a:rPr lang="it-IT" sz="1800" i="1" dirty="0" smtClean="0"/>
              <a:t> </a:t>
            </a:r>
            <a:r>
              <a:rPr lang="it-IT" sz="1800" i="1" dirty="0"/>
              <a:t>= s;</a:t>
            </a:r>
          </a:p>
          <a:p>
            <a:pPr marL="0" indent="0">
              <a:buNone/>
            </a:pPr>
            <a:r>
              <a:rPr lang="it-IT" sz="1800" i="1" dirty="0" smtClean="0"/>
              <a:t>	}</a:t>
            </a:r>
          </a:p>
          <a:p>
            <a:pPr marL="0" indent="0">
              <a:buNone/>
            </a:pPr>
            <a:r>
              <a:rPr lang="it-IT" sz="1800" i="1" dirty="0"/>
              <a:t>}</a:t>
            </a:r>
            <a:endParaRPr lang="it-IT" i="1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15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Uguaglianza di oggetti</a:t>
            </a:r>
            <a:br>
              <a:rPr lang="it-IT" dirty="0" smtClean="0"/>
            </a:br>
            <a:r>
              <a:rPr lang="it-IT" dirty="0" smtClean="0"/>
              <a:t>Esempio (1/3)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70255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2132856"/>
            <a:ext cx="7408333" cy="3993307"/>
          </a:xfrm>
        </p:spPr>
        <p:txBody>
          <a:bodyPr/>
          <a:lstStyle/>
          <a:p>
            <a:r>
              <a:rPr lang="it-IT" dirty="0" smtClean="0"/>
              <a:t>Quando due oggetti vengono confrontati attraverso l’operatore </a:t>
            </a:r>
            <a:r>
              <a:rPr lang="it-IT" i="1" dirty="0" smtClean="0"/>
              <a:t>==</a:t>
            </a:r>
            <a:r>
              <a:rPr lang="it-IT" dirty="0" smtClean="0"/>
              <a:t> Java controlla i </a:t>
            </a:r>
            <a:r>
              <a:rPr lang="it-IT" i="1" dirty="0" smtClean="0"/>
              <a:t>riferimenti/puntatori</a:t>
            </a:r>
            <a:r>
              <a:rPr lang="it-IT" dirty="0" smtClean="0"/>
              <a:t> degli oggetti, restituendo </a:t>
            </a:r>
            <a:r>
              <a:rPr lang="it-IT" i="1" dirty="0" err="1" smtClean="0"/>
              <a:t>true</a:t>
            </a:r>
            <a:r>
              <a:rPr lang="it-IT" dirty="0" smtClean="0"/>
              <a:t> solo se i due oggetti hanno lo stesso </a:t>
            </a:r>
            <a:r>
              <a:rPr lang="it-IT" i="1" dirty="0" smtClean="0"/>
              <a:t>riferimento </a:t>
            </a:r>
            <a:r>
              <a:rPr lang="it-IT" dirty="0" smtClean="0"/>
              <a:t>(attenzione al caso particolare delle stringhe inizializzate attraverso </a:t>
            </a:r>
            <a:r>
              <a:rPr lang="it-IT" i="1" dirty="0" err="1" smtClean="0"/>
              <a:t>literal</a:t>
            </a:r>
            <a:r>
              <a:rPr lang="it-IT" dirty="0" smtClean="0"/>
              <a:t>, vedere più avanti)</a:t>
            </a:r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16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Ancora sull’uguaglianza di oggetti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08279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988840"/>
            <a:ext cx="7408333" cy="4137323"/>
          </a:xfrm>
        </p:spPr>
        <p:txBody>
          <a:bodyPr/>
          <a:lstStyle/>
          <a:p>
            <a:r>
              <a:rPr lang="it-IT" dirty="0" smtClean="0"/>
              <a:t>Se all’interno di un codice chiamante (per es. un metodo </a:t>
            </a:r>
            <a:r>
              <a:rPr lang="it-IT" i="1" dirty="0" err="1" smtClean="0"/>
              <a:t>main</a:t>
            </a:r>
            <a:r>
              <a:rPr lang="it-IT" dirty="0" smtClean="0"/>
              <a:t> di un’altra classe) andassimo ad istanziare ed usare oggetti di classe </a:t>
            </a:r>
            <a:r>
              <a:rPr lang="it-IT" i="1" dirty="0" err="1" smtClean="0"/>
              <a:t>MiaClasse</a:t>
            </a:r>
            <a:r>
              <a:rPr lang="it-IT" dirty="0" smtClean="0"/>
              <a:t> nel seguente modo:</a:t>
            </a:r>
          </a:p>
          <a:p>
            <a:pPr marL="0" indent="0">
              <a:buNone/>
            </a:pPr>
            <a:r>
              <a:rPr lang="it-IT" sz="1800" i="1" dirty="0"/>
              <a:t>	</a:t>
            </a:r>
            <a:r>
              <a:rPr lang="it-IT" sz="1800" i="1" dirty="0" err="1" smtClean="0"/>
              <a:t>MiaClasse</a:t>
            </a:r>
            <a:r>
              <a:rPr lang="it-IT" sz="1800" i="1" dirty="0" smtClean="0"/>
              <a:t> </a:t>
            </a:r>
            <a:r>
              <a:rPr lang="it-IT" sz="1800" i="1" dirty="0"/>
              <a:t>obj1 = new </a:t>
            </a:r>
            <a:r>
              <a:rPr lang="it-IT" sz="1800" i="1" dirty="0" err="1"/>
              <a:t>MiaClasse</a:t>
            </a:r>
            <a:r>
              <a:rPr lang="it-IT" sz="1800" i="1" dirty="0" smtClean="0"/>
              <a:t>();</a:t>
            </a:r>
          </a:p>
          <a:p>
            <a:pPr marL="0" indent="0">
              <a:buNone/>
            </a:pPr>
            <a:r>
              <a:rPr lang="it-IT" sz="1800" i="1" dirty="0" smtClean="0"/>
              <a:t>	obj1.setS(</a:t>
            </a:r>
            <a:r>
              <a:rPr lang="it-IT" sz="1800" dirty="0" smtClean="0"/>
              <a:t>"ciao"); </a:t>
            </a:r>
            <a:endParaRPr lang="it-IT" sz="1800" i="1" dirty="0" smtClean="0"/>
          </a:p>
          <a:p>
            <a:pPr marL="0" indent="0">
              <a:buNone/>
            </a:pPr>
            <a:r>
              <a:rPr lang="it-IT" sz="1800" i="1" dirty="0" smtClean="0"/>
              <a:t>	</a:t>
            </a:r>
            <a:r>
              <a:rPr lang="it-IT" sz="1800" i="1" dirty="0" err="1" smtClean="0"/>
              <a:t>MiaClasse</a:t>
            </a:r>
            <a:r>
              <a:rPr lang="it-IT" sz="1800" i="1" dirty="0" smtClean="0"/>
              <a:t> </a:t>
            </a:r>
            <a:r>
              <a:rPr lang="it-IT" sz="1800" i="1" dirty="0"/>
              <a:t>obj2 = </a:t>
            </a:r>
            <a:r>
              <a:rPr lang="it-IT" sz="1800" i="1" dirty="0" smtClean="0"/>
              <a:t>obj1;</a:t>
            </a:r>
          </a:p>
          <a:p>
            <a:pPr marL="0" indent="0">
              <a:buNone/>
            </a:pPr>
            <a:r>
              <a:rPr lang="it-IT" sz="1800" i="1" dirty="0" smtClean="0"/>
              <a:t>	</a:t>
            </a:r>
            <a:r>
              <a:rPr lang="it-IT" sz="1800" i="1" dirty="0" err="1" smtClean="0"/>
              <a:t>boolean</a:t>
            </a:r>
            <a:r>
              <a:rPr lang="it-IT" sz="1800" i="1" dirty="0" smtClean="0"/>
              <a:t> </a:t>
            </a:r>
            <a:r>
              <a:rPr lang="it-IT" sz="1800" i="1" dirty="0"/>
              <a:t>b = obj1.equals(obj2)</a:t>
            </a:r>
            <a:r>
              <a:rPr lang="it-IT" sz="1800" dirty="0"/>
              <a:t>; // b è </a:t>
            </a:r>
            <a:r>
              <a:rPr lang="it-IT" sz="1800" dirty="0" err="1" smtClean="0"/>
              <a:t>true</a:t>
            </a:r>
            <a:endParaRPr lang="it-IT" sz="1800" dirty="0" smtClean="0"/>
          </a:p>
          <a:p>
            <a:r>
              <a:rPr lang="it-IT" dirty="0" smtClean="0"/>
              <a:t>la variabile </a:t>
            </a:r>
            <a:r>
              <a:rPr lang="it-IT" i="1" dirty="0" smtClean="0"/>
              <a:t>b</a:t>
            </a:r>
            <a:r>
              <a:rPr lang="it-IT" dirty="0" smtClean="0"/>
              <a:t> sarà sempre </a:t>
            </a:r>
            <a:r>
              <a:rPr lang="it-IT" dirty="0" err="1" smtClean="0"/>
              <a:t>true</a:t>
            </a:r>
            <a:r>
              <a:rPr lang="it-IT" dirty="0" smtClean="0"/>
              <a:t> perché i due oggetti </a:t>
            </a:r>
            <a:r>
              <a:rPr lang="it-IT" i="1" dirty="0" smtClean="0"/>
              <a:t>obj1</a:t>
            </a:r>
            <a:r>
              <a:rPr lang="it-IT" dirty="0" smtClean="0"/>
              <a:t> ed </a:t>
            </a:r>
            <a:r>
              <a:rPr lang="it-IT" i="1" dirty="0" smtClean="0"/>
              <a:t>obj2</a:t>
            </a:r>
            <a:r>
              <a:rPr lang="it-IT" dirty="0" smtClean="0"/>
              <a:t> referenziano la stessa area di memoria</a:t>
            </a:r>
            <a:endParaRPr lang="it-IT" dirty="0"/>
          </a:p>
          <a:p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17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Uguaglianza di oggetti</a:t>
            </a:r>
            <a:br>
              <a:rPr lang="it-IT" dirty="0"/>
            </a:br>
            <a:r>
              <a:rPr lang="it-IT" dirty="0"/>
              <a:t>Esempio </a:t>
            </a:r>
            <a:r>
              <a:rPr lang="it-IT" dirty="0" smtClean="0"/>
              <a:t>(2/3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00009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988840"/>
            <a:ext cx="7408333" cy="4137323"/>
          </a:xfrm>
        </p:spPr>
        <p:txBody>
          <a:bodyPr/>
          <a:lstStyle/>
          <a:p>
            <a:r>
              <a:rPr lang="it-IT" dirty="0" smtClean="0"/>
              <a:t>Mentre se scrivessimo, sempre nel codice chiamante:</a:t>
            </a:r>
          </a:p>
          <a:p>
            <a:pPr marL="0" indent="0">
              <a:buNone/>
            </a:pPr>
            <a:r>
              <a:rPr lang="it-IT" sz="1800" i="1" dirty="0" smtClean="0"/>
              <a:t>	</a:t>
            </a:r>
            <a:r>
              <a:rPr lang="it-IT" sz="1800" i="1" dirty="0" err="1" smtClean="0"/>
              <a:t>MiaClasse</a:t>
            </a:r>
            <a:r>
              <a:rPr lang="it-IT" sz="1800" i="1" dirty="0" smtClean="0"/>
              <a:t> </a:t>
            </a:r>
            <a:r>
              <a:rPr lang="it-IT" sz="1800" i="1" dirty="0"/>
              <a:t>obj1 = new </a:t>
            </a:r>
            <a:r>
              <a:rPr lang="it-IT" sz="1800" i="1" dirty="0" err="1"/>
              <a:t>MiaClasse</a:t>
            </a:r>
            <a:r>
              <a:rPr lang="it-IT" sz="1800" i="1" dirty="0" smtClean="0"/>
              <a:t>();</a:t>
            </a:r>
          </a:p>
          <a:p>
            <a:pPr marL="0" indent="0">
              <a:buNone/>
            </a:pPr>
            <a:r>
              <a:rPr lang="it-IT" sz="1800" i="1" dirty="0"/>
              <a:t>	 obj1.setS(</a:t>
            </a:r>
            <a:r>
              <a:rPr lang="it-IT" sz="1800" dirty="0"/>
              <a:t>"ciao"); </a:t>
            </a:r>
            <a:endParaRPr lang="it-IT" sz="1800" dirty="0" smtClean="0"/>
          </a:p>
          <a:p>
            <a:pPr marL="0" indent="0">
              <a:buNone/>
            </a:pPr>
            <a:r>
              <a:rPr lang="it-IT" sz="1800" i="1" dirty="0"/>
              <a:t>	</a:t>
            </a:r>
            <a:r>
              <a:rPr lang="it-IT" sz="1800" i="1" dirty="0" err="1"/>
              <a:t>MiaClasse</a:t>
            </a:r>
            <a:r>
              <a:rPr lang="it-IT" sz="1800" i="1" dirty="0"/>
              <a:t> obj2 = </a:t>
            </a:r>
            <a:r>
              <a:rPr lang="it-IT" sz="1800" i="1" dirty="0" smtClean="0"/>
              <a:t>new </a:t>
            </a:r>
            <a:r>
              <a:rPr lang="it-IT" sz="1800" i="1" dirty="0" err="1" smtClean="0"/>
              <a:t>MiaClasse</a:t>
            </a:r>
            <a:r>
              <a:rPr lang="it-IT" sz="1800" i="1" dirty="0" smtClean="0"/>
              <a:t>();</a:t>
            </a:r>
          </a:p>
          <a:p>
            <a:pPr marL="0" indent="0">
              <a:buNone/>
            </a:pPr>
            <a:r>
              <a:rPr lang="it-IT" sz="1800" i="1" dirty="0" smtClean="0"/>
              <a:t>	obj2.setS</a:t>
            </a:r>
            <a:r>
              <a:rPr lang="it-IT" sz="1800" i="1" dirty="0"/>
              <a:t>(</a:t>
            </a:r>
            <a:r>
              <a:rPr lang="it-IT" sz="1800" dirty="0"/>
              <a:t>"ciao");</a:t>
            </a:r>
            <a:endParaRPr lang="it-IT" sz="1800" i="1" dirty="0"/>
          </a:p>
          <a:p>
            <a:pPr marL="0" indent="0">
              <a:buNone/>
            </a:pPr>
            <a:r>
              <a:rPr lang="it-IT" sz="1800" i="1" dirty="0"/>
              <a:t>	</a:t>
            </a:r>
            <a:r>
              <a:rPr lang="it-IT" sz="1800" i="1" dirty="0" err="1"/>
              <a:t>boolean</a:t>
            </a:r>
            <a:r>
              <a:rPr lang="it-IT" sz="1800" i="1" dirty="0"/>
              <a:t> b = obj1.equals(obj2)</a:t>
            </a:r>
            <a:r>
              <a:rPr lang="it-IT" sz="1800" dirty="0"/>
              <a:t>; // b è </a:t>
            </a:r>
            <a:r>
              <a:rPr lang="it-IT" sz="1800" dirty="0" smtClean="0"/>
              <a:t>false</a:t>
            </a:r>
            <a:endParaRPr lang="it-IT" dirty="0" smtClean="0"/>
          </a:p>
          <a:p>
            <a:r>
              <a:rPr lang="it-IT" dirty="0" smtClean="0"/>
              <a:t>In questo caso l’uguaglianza tra i due oggetti sarà sempre false, anche se i due oggetti contengono lo stesso </a:t>
            </a:r>
            <a:r>
              <a:rPr lang="it-IT" i="1" dirty="0" smtClean="0"/>
              <a:t>stato</a:t>
            </a:r>
            <a:r>
              <a:rPr lang="it-IT" dirty="0" smtClean="0"/>
              <a:t> (valore dell’unico attributo </a:t>
            </a:r>
            <a:r>
              <a:rPr lang="it-IT" i="1" dirty="0" smtClean="0"/>
              <a:t>s</a:t>
            </a:r>
            <a:r>
              <a:rPr lang="it-IT" dirty="0" smtClean="0"/>
              <a:t>); questo perché i due oggetti puntano a due aree di memoria distinte</a:t>
            </a:r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18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Uguaglianza di oggetti</a:t>
            </a:r>
            <a:br>
              <a:rPr lang="it-IT" dirty="0"/>
            </a:br>
            <a:r>
              <a:rPr lang="it-IT" dirty="0"/>
              <a:t>Esempio </a:t>
            </a:r>
            <a:r>
              <a:rPr lang="it-IT" dirty="0" smtClean="0"/>
              <a:t>(3/3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1866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916832"/>
            <a:ext cx="7408333" cy="4209331"/>
          </a:xfrm>
        </p:spPr>
        <p:txBody>
          <a:bodyPr/>
          <a:lstStyle/>
          <a:p>
            <a:r>
              <a:rPr lang="it-IT" dirty="0" smtClean="0"/>
              <a:t>Se vogliamo cambiare il comportamento di default dei due metodi, per esempio perché vogliamo che due oggetti della classe </a:t>
            </a:r>
            <a:r>
              <a:rPr lang="it-IT" i="1" dirty="0" err="1" smtClean="0"/>
              <a:t>MiaClasse</a:t>
            </a:r>
            <a:r>
              <a:rPr lang="it-IT" dirty="0" smtClean="0"/>
              <a:t> siano considerati dalla JVM uguali quando hanno lo stesso </a:t>
            </a:r>
            <a:r>
              <a:rPr lang="it-IT" i="1" dirty="0" smtClean="0"/>
              <a:t>stato,</a:t>
            </a:r>
            <a:r>
              <a:rPr lang="it-IT" dirty="0" smtClean="0"/>
              <a:t> ovvero lo stesso valore del loro unico attributo </a:t>
            </a:r>
            <a:r>
              <a:rPr lang="it-IT" i="1" dirty="0" smtClean="0"/>
              <a:t>s</a:t>
            </a:r>
            <a:r>
              <a:rPr lang="it-IT" dirty="0" smtClean="0"/>
              <a:t>, allora dovremmo andare a fare </a:t>
            </a:r>
            <a:r>
              <a:rPr lang="it-IT" i="1" dirty="0" err="1" smtClean="0"/>
              <a:t>override</a:t>
            </a:r>
            <a:r>
              <a:rPr lang="it-IT" dirty="0" smtClean="0"/>
              <a:t> dei metodi </a:t>
            </a:r>
            <a:r>
              <a:rPr lang="it-IT" i="1" dirty="0" err="1" smtClean="0"/>
              <a:t>equals</a:t>
            </a:r>
            <a:r>
              <a:rPr lang="it-IT" dirty="0" smtClean="0"/>
              <a:t> ed </a:t>
            </a:r>
            <a:r>
              <a:rPr lang="it-IT" i="1" dirty="0" err="1" smtClean="0"/>
              <a:t>hashcode</a:t>
            </a:r>
            <a:r>
              <a:rPr lang="it-IT" dirty="0" smtClean="0"/>
              <a:t> (in questo torna molto utile un IDE come </a:t>
            </a:r>
            <a:r>
              <a:rPr lang="it-IT" dirty="0" err="1" smtClean="0"/>
              <a:t>Eclipse</a:t>
            </a:r>
            <a:r>
              <a:rPr lang="it-IT" dirty="0" smtClean="0"/>
              <a:t> che generi in automatico tali metodi)</a:t>
            </a:r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19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 smtClean="0"/>
              <a:t>Override</a:t>
            </a:r>
            <a:r>
              <a:rPr lang="it-IT" dirty="0" smtClean="0"/>
              <a:t> dei metodi </a:t>
            </a:r>
            <a:br>
              <a:rPr lang="it-IT" dirty="0" smtClean="0"/>
            </a:br>
            <a:r>
              <a:rPr lang="it-IT" i="1" dirty="0" err="1" smtClean="0"/>
              <a:t>equals</a:t>
            </a:r>
            <a:r>
              <a:rPr lang="it-IT" i="1" dirty="0" smtClean="0"/>
              <a:t> </a:t>
            </a:r>
            <a:r>
              <a:rPr lang="it-IT" dirty="0" smtClean="0"/>
              <a:t>e </a:t>
            </a:r>
            <a:r>
              <a:rPr lang="it-IT" i="1" dirty="0" err="1" smtClean="0"/>
              <a:t>hashcode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771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772816"/>
            <a:ext cx="7408333" cy="4353347"/>
          </a:xfrm>
        </p:spPr>
        <p:txBody>
          <a:bodyPr>
            <a:normAutofit/>
          </a:bodyPr>
          <a:lstStyle/>
          <a:p>
            <a:r>
              <a:rPr lang="it-IT" dirty="0" smtClean="0"/>
              <a:t>Per tutto quanto detto, quando si vuole controllare nel codice se due oggetti, </a:t>
            </a:r>
            <a:r>
              <a:rPr lang="it-IT" i="1" dirty="0" smtClean="0"/>
              <a:t>obj1</a:t>
            </a:r>
            <a:r>
              <a:rPr lang="it-IT" dirty="0" smtClean="0"/>
              <a:t> ed </a:t>
            </a:r>
            <a:r>
              <a:rPr lang="it-IT" i="1" dirty="0" smtClean="0"/>
              <a:t>obj2,</a:t>
            </a:r>
            <a:r>
              <a:rPr lang="it-IT" dirty="0" smtClean="0"/>
              <a:t> siano uguali (di qualsiasi classe essi siano) occorrerà scrivere:</a:t>
            </a:r>
          </a:p>
          <a:p>
            <a:r>
              <a:rPr lang="it-IT" i="1" dirty="0" err="1" smtClean="0"/>
              <a:t>if</a:t>
            </a:r>
            <a:r>
              <a:rPr lang="it-IT" i="1" dirty="0" smtClean="0"/>
              <a:t> ( obj1.equals(obj2) )</a:t>
            </a:r>
          </a:p>
          <a:p>
            <a:r>
              <a:rPr lang="it-IT" dirty="0" smtClean="0"/>
              <a:t>e mai </a:t>
            </a:r>
            <a:r>
              <a:rPr lang="it-IT" i="1" strike="sngStrike" dirty="0" err="1" smtClean="0">
                <a:solidFill>
                  <a:srgbClr val="FF0000"/>
                </a:solidFill>
              </a:rPr>
              <a:t>if</a:t>
            </a:r>
            <a:r>
              <a:rPr lang="it-IT" i="1" strike="sngStrike" dirty="0" smtClean="0">
                <a:solidFill>
                  <a:srgbClr val="FF0000"/>
                </a:solidFill>
              </a:rPr>
              <a:t> ( obj1 == obj2 )</a:t>
            </a:r>
          </a:p>
          <a:p>
            <a:endParaRPr lang="it-IT" smtClean="0"/>
          </a:p>
          <a:p>
            <a:r>
              <a:rPr lang="it-IT" smtClean="0"/>
              <a:t>Solo </a:t>
            </a:r>
            <a:r>
              <a:rPr lang="it-IT" dirty="0" smtClean="0"/>
              <a:t>per i primitivi numerici l’uguaglianza va controllata con il «doppio uguale» (==):</a:t>
            </a:r>
          </a:p>
          <a:p>
            <a:pPr marL="0" indent="0">
              <a:buNone/>
            </a:pPr>
            <a:r>
              <a:rPr lang="it-IT" sz="1800" i="1" dirty="0" smtClean="0"/>
              <a:t>	</a:t>
            </a:r>
            <a:r>
              <a:rPr lang="it-IT" sz="1800" i="1" dirty="0" err="1" smtClean="0"/>
              <a:t>int</a:t>
            </a:r>
            <a:r>
              <a:rPr lang="it-IT" sz="1800" i="1" dirty="0" smtClean="0"/>
              <a:t> x = 3; </a:t>
            </a:r>
            <a:r>
              <a:rPr lang="it-IT" sz="1800" i="1" dirty="0" err="1" smtClean="0"/>
              <a:t>int</a:t>
            </a:r>
            <a:r>
              <a:rPr lang="it-IT" sz="1800" i="1" dirty="0" smtClean="0"/>
              <a:t> y = 3;</a:t>
            </a:r>
          </a:p>
          <a:p>
            <a:pPr marL="0" indent="0">
              <a:buNone/>
            </a:pPr>
            <a:r>
              <a:rPr lang="it-IT" sz="1800" i="1" dirty="0"/>
              <a:t>	</a:t>
            </a:r>
            <a:r>
              <a:rPr lang="it-IT" sz="1800" i="1" dirty="0" err="1" smtClean="0"/>
              <a:t>if</a:t>
            </a:r>
            <a:r>
              <a:rPr lang="it-IT" sz="1800" i="1" dirty="0" smtClean="0"/>
              <a:t> ( x == y ) </a:t>
            </a:r>
            <a:endParaRPr lang="it-IT" sz="1800" i="1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20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Uguaglianze di oggetti</a:t>
            </a:r>
            <a:br>
              <a:rPr lang="it-IT" dirty="0" smtClean="0"/>
            </a:br>
            <a:r>
              <a:rPr lang="it-IT" dirty="0" smtClean="0"/>
              <a:t>Conclusioni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25389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844824"/>
            <a:ext cx="7408333" cy="4281339"/>
          </a:xfrm>
        </p:spPr>
        <p:txBody>
          <a:bodyPr/>
          <a:lstStyle/>
          <a:p>
            <a:r>
              <a:rPr lang="it-IT" dirty="0" smtClean="0"/>
              <a:t>Attenzione al caso particolare delle stringhe (in cui come per tutti gli oggetti l’uguaglianza va sempre controllata invocando il metodo </a:t>
            </a:r>
            <a:r>
              <a:rPr lang="it-IT" i="1" dirty="0" err="1" smtClean="0"/>
              <a:t>equals</a:t>
            </a:r>
            <a:r>
              <a:rPr lang="it-IT" i="1" dirty="0" smtClean="0"/>
              <a:t>)</a:t>
            </a:r>
            <a:r>
              <a:rPr lang="it-IT" dirty="0" smtClean="0"/>
              <a:t>, quando queste sono inizializzate tramite </a:t>
            </a:r>
            <a:r>
              <a:rPr lang="it-IT" i="1" dirty="0" err="1" smtClean="0"/>
              <a:t>literal</a:t>
            </a:r>
            <a:r>
              <a:rPr lang="it-IT" dirty="0" smtClean="0"/>
              <a:t> (esempio </a:t>
            </a:r>
            <a:r>
              <a:rPr lang="it-IT" i="1" dirty="0" err="1" smtClean="0"/>
              <a:t>String</a:t>
            </a:r>
            <a:r>
              <a:rPr lang="it-IT" i="1" dirty="0" smtClean="0"/>
              <a:t> s = «ciao»;</a:t>
            </a:r>
            <a:r>
              <a:rPr lang="it-IT" dirty="0" smtClean="0"/>
              <a:t>):</a:t>
            </a:r>
          </a:p>
          <a:p>
            <a:pPr lvl="1"/>
            <a:r>
              <a:rPr lang="it-IT" dirty="0" smtClean="0"/>
              <a:t>in questo caso l’operatore </a:t>
            </a:r>
            <a:r>
              <a:rPr lang="it-IT" i="1" dirty="0" smtClean="0"/>
              <a:t>== </a:t>
            </a:r>
            <a:r>
              <a:rPr lang="it-IT" dirty="0" smtClean="0"/>
              <a:t>assume un significato differente a causa della gestione di Java delle stringhe attraverso il concetto di </a:t>
            </a:r>
            <a:r>
              <a:rPr lang="it-IT" i="1" dirty="0" smtClean="0"/>
              <a:t>pool </a:t>
            </a:r>
            <a:r>
              <a:rPr lang="it-IT" dirty="0" smtClean="0"/>
              <a:t>(ci torneremo più avanti), per cui Java (proprio perché le stringhe sono </a:t>
            </a:r>
            <a:r>
              <a:rPr lang="it-IT" i="1" dirty="0" smtClean="0"/>
              <a:t>immutabili</a:t>
            </a:r>
            <a:r>
              <a:rPr lang="it-IT" dirty="0" smtClean="0"/>
              <a:t>) </a:t>
            </a:r>
            <a:r>
              <a:rPr lang="it-IT" dirty="0" err="1" smtClean="0"/>
              <a:t>ri</a:t>
            </a:r>
            <a:r>
              <a:rPr lang="it-IT" dirty="0" smtClean="0"/>
              <a:t>-utilizza gli stessi </a:t>
            </a:r>
            <a:r>
              <a:rPr lang="it-IT" i="1" dirty="0" err="1" smtClean="0"/>
              <a:t>literal</a:t>
            </a:r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21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Il caso particolare delle stringhe </a:t>
            </a:r>
            <a:r>
              <a:rPr lang="it-IT" i="1" dirty="0" err="1" smtClean="0"/>
              <a:t>literal</a:t>
            </a:r>
            <a:r>
              <a:rPr lang="it-IT" dirty="0" smtClean="0"/>
              <a:t> e dell’operatore </a:t>
            </a:r>
            <a:r>
              <a:rPr lang="it-IT" i="1" dirty="0" smtClean="0"/>
              <a:t>== </a:t>
            </a:r>
            <a:r>
              <a:rPr lang="it-IT" dirty="0" smtClean="0"/>
              <a:t>(1/2)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24509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628800"/>
            <a:ext cx="7408333" cy="4497363"/>
          </a:xfrm>
        </p:spPr>
        <p:txBody>
          <a:bodyPr>
            <a:normAutofit fontScale="92500" lnSpcReduction="10000"/>
          </a:bodyPr>
          <a:lstStyle/>
          <a:p>
            <a:endParaRPr lang="it-IT" dirty="0" smtClean="0"/>
          </a:p>
          <a:p>
            <a:r>
              <a:rPr lang="it-IT" dirty="0" smtClean="0"/>
              <a:t>Quindi se creiamo due stringhe tramite </a:t>
            </a:r>
            <a:r>
              <a:rPr lang="it-IT" i="1" dirty="0" err="1" smtClean="0"/>
              <a:t>literal</a:t>
            </a:r>
            <a:r>
              <a:rPr lang="it-IT" dirty="0" smtClean="0"/>
              <a:t>:</a:t>
            </a:r>
          </a:p>
          <a:p>
            <a:pPr marL="301943" lvl="1" indent="0">
              <a:buNone/>
            </a:pPr>
            <a:r>
              <a:rPr lang="it-IT" sz="1800" i="1" dirty="0" err="1" smtClean="0"/>
              <a:t>String</a:t>
            </a:r>
            <a:r>
              <a:rPr lang="it-IT" sz="1800" i="1" dirty="0" smtClean="0"/>
              <a:t> s = </a:t>
            </a:r>
            <a:r>
              <a:rPr lang="it-IT" sz="1800" dirty="0"/>
              <a:t>"</a:t>
            </a:r>
            <a:r>
              <a:rPr lang="it-IT" sz="1800" i="1" dirty="0" smtClean="0"/>
              <a:t>ciao</a:t>
            </a:r>
            <a:r>
              <a:rPr lang="it-IT" sz="1800" dirty="0" smtClean="0"/>
              <a:t>"; </a:t>
            </a:r>
            <a:r>
              <a:rPr lang="it-IT" sz="1800" i="1" dirty="0" err="1" smtClean="0"/>
              <a:t>String</a:t>
            </a:r>
            <a:r>
              <a:rPr lang="it-IT" sz="1800" i="1" dirty="0" smtClean="0"/>
              <a:t> s2 = </a:t>
            </a:r>
            <a:r>
              <a:rPr lang="it-IT" sz="1800" dirty="0" smtClean="0"/>
              <a:t>"ciao";</a:t>
            </a:r>
            <a:endParaRPr lang="it-IT" sz="1800" i="1" dirty="0"/>
          </a:p>
          <a:p>
            <a:r>
              <a:rPr lang="it-IT" i="1" dirty="0" smtClean="0"/>
              <a:t>s </a:t>
            </a:r>
            <a:r>
              <a:rPr lang="it-IT" dirty="0" smtClean="0"/>
              <a:t>e </a:t>
            </a:r>
            <a:r>
              <a:rPr lang="it-IT" i="1" dirty="0" smtClean="0"/>
              <a:t>s2</a:t>
            </a:r>
            <a:r>
              <a:rPr lang="it-IT" dirty="0" smtClean="0"/>
              <a:t> sono uguali sia se le confrontiamo con l’operatore </a:t>
            </a:r>
            <a:r>
              <a:rPr lang="it-IT" i="1" dirty="0" smtClean="0"/>
              <a:t>==</a:t>
            </a:r>
            <a:r>
              <a:rPr lang="it-IT" dirty="0" smtClean="0"/>
              <a:t> che invocando </a:t>
            </a:r>
            <a:r>
              <a:rPr lang="it-IT" i="1" dirty="0" err="1" smtClean="0"/>
              <a:t>equals</a:t>
            </a:r>
            <a:endParaRPr lang="it-IT" i="1" dirty="0" smtClean="0"/>
          </a:p>
          <a:p>
            <a:endParaRPr lang="it-IT" i="1" dirty="0"/>
          </a:p>
          <a:p>
            <a:r>
              <a:rPr lang="it-IT" dirty="0" smtClean="0"/>
              <a:t>se però le stringhe le creiamo senza ricorrere ai </a:t>
            </a:r>
            <a:r>
              <a:rPr lang="it-IT" i="1" dirty="0" err="1" smtClean="0"/>
              <a:t>literal</a:t>
            </a:r>
            <a:r>
              <a:rPr lang="it-IT" dirty="0" smtClean="0"/>
              <a:t>:</a:t>
            </a:r>
          </a:p>
          <a:p>
            <a:pPr marL="279400" lvl="2" indent="0">
              <a:buNone/>
            </a:pPr>
            <a:r>
              <a:rPr lang="it-IT" sz="1800" i="1" dirty="0" err="1"/>
              <a:t>String</a:t>
            </a:r>
            <a:r>
              <a:rPr lang="it-IT" sz="1800" i="1" dirty="0"/>
              <a:t> </a:t>
            </a:r>
            <a:r>
              <a:rPr lang="it-IT" sz="1800" i="1" dirty="0" smtClean="0"/>
              <a:t>s3 </a:t>
            </a:r>
            <a:r>
              <a:rPr lang="it-IT" sz="1800" i="1" dirty="0"/>
              <a:t>= </a:t>
            </a:r>
            <a:r>
              <a:rPr lang="it-IT" sz="1800" i="1" dirty="0" smtClean="0"/>
              <a:t>new </a:t>
            </a:r>
            <a:r>
              <a:rPr lang="it-IT" sz="1800" i="1" dirty="0" err="1" smtClean="0"/>
              <a:t>String</a:t>
            </a:r>
            <a:r>
              <a:rPr lang="it-IT" sz="1800" i="1" dirty="0" smtClean="0"/>
              <a:t>(</a:t>
            </a:r>
            <a:r>
              <a:rPr lang="it-IT" sz="1800" dirty="0" smtClean="0"/>
              <a:t>"</a:t>
            </a:r>
            <a:r>
              <a:rPr lang="it-IT" sz="1800" i="1" dirty="0" smtClean="0"/>
              <a:t>ciao</a:t>
            </a:r>
            <a:r>
              <a:rPr lang="it-IT" sz="1800" dirty="0" smtClean="0"/>
              <a:t>"); </a:t>
            </a:r>
            <a:r>
              <a:rPr lang="it-IT" sz="1800" i="1" dirty="0" err="1"/>
              <a:t>String</a:t>
            </a:r>
            <a:r>
              <a:rPr lang="it-IT" sz="1800" i="1" dirty="0"/>
              <a:t> </a:t>
            </a:r>
            <a:r>
              <a:rPr lang="it-IT" sz="1800" i="1" dirty="0" smtClean="0"/>
              <a:t>s4 </a:t>
            </a:r>
            <a:r>
              <a:rPr lang="it-IT" sz="1800" i="1" dirty="0"/>
              <a:t>= </a:t>
            </a:r>
            <a:r>
              <a:rPr lang="it-IT" sz="1800" i="1" dirty="0" smtClean="0"/>
              <a:t>new </a:t>
            </a:r>
            <a:r>
              <a:rPr lang="it-IT" sz="1800" i="1" dirty="0" err="1" smtClean="0"/>
              <a:t>String</a:t>
            </a:r>
            <a:r>
              <a:rPr lang="it-IT" sz="1800" i="1" dirty="0" smtClean="0"/>
              <a:t>(</a:t>
            </a:r>
            <a:r>
              <a:rPr lang="it-IT" sz="1800" dirty="0" smtClean="0"/>
              <a:t>"ciao");</a:t>
            </a:r>
            <a:endParaRPr lang="it-IT" i="1" dirty="0"/>
          </a:p>
          <a:p>
            <a:r>
              <a:rPr lang="it-IT" i="1" dirty="0" smtClean="0"/>
              <a:t>s3 </a:t>
            </a:r>
            <a:r>
              <a:rPr lang="it-IT" dirty="0" smtClean="0"/>
              <a:t>e </a:t>
            </a:r>
            <a:r>
              <a:rPr lang="it-IT" i="1" dirty="0" smtClean="0"/>
              <a:t>s4</a:t>
            </a:r>
            <a:r>
              <a:rPr lang="it-IT" dirty="0" smtClean="0"/>
              <a:t> risulteranno uguali solo se le confrontiamo invocando il metodo </a:t>
            </a:r>
            <a:r>
              <a:rPr lang="it-IT" i="1" dirty="0" err="1" smtClean="0"/>
              <a:t>equals</a:t>
            </a:r>
            <a:r>
              <a:rPr lang="it-IT" dirty="0" smtClean="0"/>
              <a:t>, mentre l’operatore </a:t>
            </a:r>
            <a:r>
              <a:rPr lang="it-IT" i="1" dirty="0" smtClean="0"/>
              <a:t>==</a:t>
            </a:r>
            <a:r>
              <a:rPr lang="it-IT" dirty="0" smtClean="0"/>
              <a:t> restituirà sempre </a:t>
            </a:r>
            <a:r>
              <a:rPr lang="it-IT" i="1" dirty="0" smtClean="0"/>
              <a:t>false</a:t>
            </a:r>
            <a:r>
              <a:rPr lang="it-IT" dirty="0" smtClean="0"/>
              <a:t> essendo due oggetti con </a:t>
            </a:r>
            <a:r>
              <a:rPr lang="it-IT" i="1" dirty="0" smtClean="0"/>
              <a:t>riferimenti</a:t>
            </a:r>
            <a:r>
              <a:rPr lang="it-IT" dirty="0" smtClean="0"/>
              <a:t> differenti e non essendo soggetti alla gestione tramite </a:t>
            </a:r>
            <a:r>
              <a:rPr lang="it-IT" i="1" dirty="0" smtClean="0"/>
              <a:t>pool</a:t>
            </a:r>
            <a:r>
              <a:rPr lang="it-IT" dirty="0" smtClean="0"/>
              <a:t> dei </a:t>
            </a:r>
            <a:r>
              <a:rPr lang="it-IT" i="1" dirty="0" err="1" smtClean="0"/>
              <a:t>literal</a:t>
            </a:r>
            <a:endParaRPr lang="it-IT" i="1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22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Il caso particolare delle stringhe </a:t>
            </a:r>
            <a:r>
              <a:rPr lang="it-IT" i="1" dirty="0" err="1"/>
              <a:t>literal</a:t>
            </a:r>
            <a:r>
              <a:rPr lang="it-IT" dirty="0"/>
              <a:t> e dell’operatore </a:t>
            </a:r>
            <a:r>
              <a:rPr lang="it-IT" i="1" dirty="0"/>
              <a:t>== </a:t>
            </a:r>
            <a:r>
              <a:rPr lang="it-IT" dirty="0" smtClean="0"/>
              <a:t>(2/2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645157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nde">
  <a:themeElements>
    <a:clrScheme name="Onde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nde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nde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920</TotalTime>
  <Words>1174</Words>
  <Application>Microsoft Office PowerPoint</Application>
  <PresentationFormat>Presentazione su schermo (4:3)</PresentationFormat>
  <Paragraphs>190</Paragraphs>
  <Slides>22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6" baseType="lpstr">
      <vt:lpstr>Calibri</vt:lpstr>
      <vt:lpstr>Candara</vt:lpstr>
      <vt:lpstr>Symbol</vt:lpstr>
      <vt:lpstr>Onde</vt:lpstr>
      <vt:lpstr>Classi e oggetti concetti avanzati (parte B - Ereditarietà)</vt:lpstr>
      <vt:lpstr>Override - Esempio (1/3)</vt:lpstr>
      <vt:lpstr>Override - Esempio (2/3)</vt:lpstr>
      <vt:lpstr>Override - Esempio (3/3)</vt:lpstr>
      <vt:lpstr>Override - Esempio  output a console</vt:lpstr>
      <vt:lpstr>Override - Esempio analisi (1/3)</vt:lpstr>
      <vt:lpstr>Override - Esempio analisi (2/3)</vt:lpstr>
      <vt:lpstr>Override - Esempio analisi (3/3)</vt:lpstr>
      <vt:lpstr>Ereditarietà dalla classe Object metodo toString (1/2)</vt:lpstr>
      <vt:lpstr>Ereditarietà dalla classe Object metodo toString (2/2)</vt:lpstr>
      <vt:lpstr>Override toString Esempio (1/3)</vt:lpstr>
      <vt:lpstr>Override toString Esempio (2/3)</vt:lpstr>
      <vt:lpstr>Override toString Esempio (3/3)</vt:lpstr>
      <vt:lpstr>Ereditarietà dalla classe Object metodi equals ed hascode Uguaglianza di oggetti</vt:lpstr>
      <vt:lpstr>Uguaglianza di oggetti Esempio (1/3)</vt:lpstr>
      <vt:lpstr>Ancora sull’uguaglianza di oggetti</vt:lpstr>
      <vt:lpstr>Uguaglianza di oggetti Esempio (2/3)</vt:lpstr>
      <vt:lpstr>Uguaglianza di oggetti Esempio (3/3)</vt:lpstr>
      <vt:lpstr>Override dei metodi  equals e hashcode</vt:lpstr>
      <vt:lpstr>Uguaglianze di oggetti Conclusioni</vt:lpstr>
      <vt:lpstr>Il caso particolare delle stringhe literal e dell’operatore == (1/2)</vt:lpstr>
      <vt:lpstr>Il caso particolare delle stringhe literal e dell’operatore ==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 e oggetti (parte II)</dc:title>
  <dc:creator>Roberto Santoro</dc:creator>
  <cp:lastModifiedBy>Roberto Santoro</cp:lastModifiedBy>
  <cp:revision>108</cp:revision>
  <dcterms:created xsi:type="dcterms:W3CDTF">2020-03-12T08:56:57Z</dcterms:created>
  <dcterms:modified xsi:type="dcterms:W3CDTF">2023-05-13T11:51:34Z</dcterms:modified>
</cp:coreProperties>
</file>