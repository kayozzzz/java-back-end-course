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64" r:id="rId3"/>
    <p:sldId id="265" r:id="rId4"/>
    <p:sldId id="266" r:id="rId5"/>
    <p:sldId id="267" r:id="rId6"/>
    <p:sldId id="324" r:id="rId7"/>
    <p:sldId id="325" r:id="rId8"/>
    <p:sldId id="326" r:id="rId9"/>
    <p:sldId id="327" r:id="rId10"/>
    <p:sldId id="328" r:id="rId1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81" autoAdjust="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0" y="1567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70AA1-E622-47CB-86EB-1B14FCE7E646}" type="datetimeFigureOut">
              <a:rPr lang="it-IT" smtClean="0"/>
              <a:t>16/05/2023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FF30F-A231-417B-99B7-615F441DE7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619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C35B-5C48-48D4-ADF6-AD39B83EDF67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15E0-0E5C-4478-9BDA-31A75B36BDEE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6371-2029-4C19-B29C-038526F02D0F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86F8-CB58-4643-BCF8-58E89A8D6A23}" type="datetime1">
              <a:rPr lang="it-IT" smtClean="0"/>
              <a:t>16/05/2023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87-0F4C-44C4-A937-97548BA92539}" type="datetime1">
              <a:rPr lang="it-IT" smtClean="0"/>
              <a:t>16/05/2023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F5C3-1BAF-48AF-B42E-9C2A5C4DDFC2}" type="datetime1">
              <a:rPr lang="it-IT" smtClean="0"/>
              <a:t>16/05/2023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69A3-A94A-466A-A1D1-76E6349989E9}" type="datetime1">
              <a:rPr lang="it-IT" smtClean="0"/>
              <a:t>16/05/2023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250C-842E-4DD9-903E-2879056001C5}" type="datetime1">
              <a:rPr lang="it-IT" smtClean="0"/>
              <a:t>16/05/2023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CA4E-F157-45A8-B93C-C551EFA43A03}" type="datetime1">
              <a:rPr lang="it-IT" smtClean="0"/>
              <a:t>16/05/2023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BA9C0-B123-472B-85E7-3C8D753F682F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8718-DA37-4D43-9353-C6CE9512E50F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AFCD71E-7FA0-497B-A412-445D11E8EF4E}" type="datetime1">
              <a:rPr lang="it-IT" smtClean="0"/>
              <a:t>16/05/2023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Classi e oggetti</a:t>
            </a:r>
            <a:br>
              <a:rPr lang="it-IT" dirty="0"/>
            </a:br>
            <a:r>
              <a:rPr lang="it-IT" dirty="0"/>
              <a:t>concetti avanzati</a:t>
            </a:r>
            <a:br>
              <a:rPr lang="it-IT" dirty="0"/>
            </a:br>
            <a:r>
              <a:rPr lang="it-IT" dirty="0"/>
              <a:t>(parte </a:t>
            </a:r>
            <a:r>
              <a:rPr lang="it-IT" dirty="0" smtClean="0"/>
              <a:t>B - Ereditarietà)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12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Autofit/>
          </a:bodyPr>
          <a:lstStyle/>
          <a:p>
            <a:r>
              <a:rPr lang="it-IT" dirty="0" smtClean="0"/>
              <a:t>In </a:t>
            </a:r>
            <a:r>
              <a:rPr lang="it-IT" dirty="0"/>
              <a:t>Java una classe, detta </a:t>
            </a:r>
            <a:r>
              <a:rPr lang="it-IT" i="1" dirty="0" err="1"/>
              <a:t>child</a:t>
            </a:r>
            <a:r>
              <a:rPr lang="it-IT" i="1" dirty="0"/>
              <a:t> </a:t>
            </a:r>
            <a:r>
              <a:rPr lang="it-IT" i="1" dirty="0" err="1"/>
              <a:t>class</a:t>
            </a:r>
            <a:r>
              <a:rPr lang="it-IT" dirty="0"/>
              <a:t> (classe figlia), ha la possibilità di essere definita a partire da un’altra classe, detta </a:t>
            </a:r>
            <a:r>
              <a:rPr lang="it-IT" i="1" dirty="0" err="1"/>
              <a:t>parent</a:t>
            </a:r>
            <a:r>
              <a:rPr lang="it-IT" i="1" dirty="0"/>
              <a:t> </a:t>
            </a:r>
            <a:r>
              <a:rPr lang="it-IT" i="1" dirty="0" err="1"/>
              <a:t>class</a:t>
            </a:r>
            <a:r>
              <a:rPr lang="it-IT" dirty="0"/>
              <a:t> (classe genitore) ereditandone gli attributi ed i </a:t>
            </a:r>
            <a:r>
              <a:rPr lang="it-IT" dirty="0" smtClean="0"/>
              <a:t>metodi</a:t>
            </a:r>
          </a:p>
          <a:p>
            <a:r>
              <a:rPr lang="it-IT" dirty="0" smtClean="0"/>
              <a:t>Dicendo </a:t>
            </a:r>
            <a:r>
              <a:rPr lang="it-IT" dirty="0"/>
              <a:t>che la classe </a:t>
            </a:r>
            <a:r>
              <a:rPr lang="it-IT" i="1" dirty="0"/>
              <a:t>B</a:t>
            </a:r>
            <a:r>
              <a:rPr lang="it-IT" dirty="0"/>
              <a:t> è figlia della classe </a:t>
            </a:r>
            <a:r>
              <a:rPr lang="it-IT" i="1" dirty="0"/>
              <a:t>A</a:t>
            </a:r>
            <a:r>
              <a:rPr lang="it-IT" dirty="0"/>
              <a:t>, automaticamente gli attributi ed i metodi di </a:t>
            </a:r>
            <a:r>
              <a:rPr lang="it-IT" i="1" dirty="0"/>
              <a:t>A</a:t>
            </a:r>
            <a:r>
              <a:rPr lang="it-IT" dirty="0"/>
              <a:t> diventano attributi e metodi anche di </a:t>
            </a:r>
            <a:r>
              <a:rPr lang="it-IT" i="1" dirty="0" smtClean="0"/>
              <a:t>B</a:t>
            </a:r>
          </a:p>
          <a:p>
            <a:r>
              <a:rPr lang="it-IT" dirty="0" smtClean="0"/>
              <a:t>La </a:t>
            </a:r>
            <a:r>
              <a:rPr lang="it-IT" dirty="0"/>
              <a:t>classe </a:t>
            </a:r>
            <a:r>
              <a:rPr lang="it-IT" i="1" dirty="0"/>
              <a:t>B</a:t>
            </a:r>
            <a:r>
              <a:rPr lang="it-IT" dirty="0"/>
              <a:t> può però aggiungere attributi e metodi nuovi, che non faranno parte di </a:t>
            </a:r>
            <a:r>
              <a:rPr lang="it-IT" i="1" dirty="0"/>
              <a:t>A</a:t>
            </a:r>
            <a:r>
              <a:rPr lang="it-IT" dirty="0"/>
              <a:t> ma solo di </a:t>
            </a:r>
            <a:r>
              <a:rPr lang="it-IT" i="1" dirty="0"/>
              <a:t>B</a:t>
            </a:r>
            <a:r>
              <a:rPr lang="it-IT" dirty="0"/>
              <a:t>. Per questo si dice che la classe figlia </a:t>
            </a:r>
            <a:r>
              <a:rPr lang="it-IT" b="1" dirty="0"/>
              <a:t>estende</a:t>
            </a:r>
            <a:r>
              <a:rPr lang="it-IT" dirty="0"/>
              <a:t> la classe genitore </a:t>
            </a:r>
            <a:r>
              <a:rPr lang="it-IT" i="1" dirty="0"/>
              <a:t>specializzandone</a:t>
            </a:r>
            <a:r>
              <a:rPr lang="it-IT" dirty="0"/>
              <a:t> il comportamento con l’aggiunta di ulteriori attributi e </a:t>
            </a:r>
            <a:r>
              <a:rPr lang="it-IT" dirty="0" smtClean="0"/>
              <a:t>metodi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Ereditarietà (1/4)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685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 fontScale="92500"/>
          </a:bodyPr>
          <a:lstStyle/>
          <a:p>
            <a:r>
              <a:rPr lang="it-IT" dirty="0"/>
              <a:t>Nell’analisi di un progetto e nella successiva definizione del modello ad oggetti è fondamentale identificare e mettere a fattor comune gli attributi ed i metodi delle classi. Questo ci consentirà di identificare quelle che saranno deputate a diventare le classi genitori (</a:t>
            </a:r>
            <a:r>
              <a:rPr lang="it-IT" dirty="0" err="1"/>
              <a:t>parent</a:t>
            </a:r>
            <a:r>
              <a:rPr lang="it-IT" dirty="0"/>
              <a:t> </a:t>
            </a:r>
            <a:r>
              <a:rPr lang="it-IT" dirty="0" err="1"/>
              <a:t>class</a:t>
            </a:r>
            <a:r>
              <a:rPr lang="it-IT" dirty="0"/>
              <a:t>) e successivamente specializzare gli attributi ed i metodi che invece non sono comuni, all’interno delle classi </a:t>
            </a:r>
            <a:r>
              <a:rPr lang="it-IT" dirty="0" smtClean="0"/>
              <a:t>figlie</a:t>
            </a:r>
          </a:p>
          <a:p>
            <a:r>
              <a:rPr lang="it-IT" dirty="0"/>
              <a:t>In Java è possibile creare gerarchie di ereditarietà di qualsiasi profondità, nel senso che una classe </a:t>
            </a:r>
            <a:r>
              <a:rPr lang="it-IT" i="1" dirty="0"/>
              <a:t>Z</a:t>
            </a:r>
            <a:r>
              <a:rPr lang="it-IT" dirty="0"/>
              <a:t> può essere figlia della classe </a:t>
            </a:r>
            <a:r>
              <a:rPr lang="it-IT" i="1" dirty="0"/>
              <a:t>Y</a:t>
            </a:r>
            <a:r>
              <a:rPr lang="it-IT" dirty="0"/>
              <a:t> che a sua volta è figlia della classe </a:t>
            </a:r>
            <a:r>
              <a:rPr lang="it-IT" i="1" dirty="0"/>
              <a:t>X</a:t>
            </a:r>
            <a:r>
              <a:rPr lang="it-IT" dirty="0"/>
              <a:t> e così via fino alla classe </a:t>
            </a:r>
            <a:r>
              <a:rPr lang="it-IT" i="1" dirty="0"/>
              <a:t>A</a:t>
            </a:r>
            <a:r>
              <a:rPr lang="it-IT" dirty="0"/>
              <a:t> seguendo un qualsiasi livello di profondità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3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Ereditarietà </a:t>
            </a:r>
            <a:r>
              <a:rPr lang="it-IT" dirty="0" smtClean="0"/>
              <a:t>(2/4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003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Una classe Java </a:t>
            </a:r>
            <a:r>
              <a:rPr lang="it-IT" b="1" dirty="0"/>
              <a:t>può avere un qualsiasi numero di classi figlie (e nipoti e così via) ma può essere figlia di una sola classe genitore, </a:t>
            </a:r>
            <a:r>
              <a:rPr lang="it-IT" dirty="0"/>
              <a:t>ovvero </a:t>
            </a:r>
            <a:r>
              <a:rPr lang="it-IT" b="1" dirty="0"/>
              <a:t>in Java non</a:t>
            </a:r>
            <a:r>
              <a:rPr lang="it-IT" dirty="0"/>
              <a:t> </a:t>
            </a:r>
            <a:r>
              <a:rPr lang="it-IT" b="1" dirty="0"/>
              <a:t>è consentita l’ereditarietà </a:t>
            </a:r>
            <a:r>
              <a:rPr lang="it-IT" b="1" dirty="0" smtClean="0"/>
              <a:t>multipla</a:t>
            </a:r>
            <a:endParaRPr lang="it-IT" dirty="0"/>
          </a:p>
          <a:p>
            <a:r>
              <a:rPr lang="it-IT" dirty="0"/>
              <a:t>In Java </a:t>
            </a:r>
            <a:r>
              <a:rPr lang="it-IT" b="1" dirty="0"/>
              <a:t>tutte le classi sono </a:t>
            </a:r>
            <a:r>
              <a:rPr lang="it-IT" b="1" dirty="0" smtClean="0"/>
              <a:t>(di default) figlie </a:t>
            </a:r>
            <a:r>
              <a:rPr lang="it-IT" b="1" dirty="0"/>
              <a:t>di una classe, la classe Object del package </a:t>
            </a:r>
            <a:r>
              <a:rPr lang="it-IT" b="1" dirty="0" err="1" smtClean="0"/>
              <a:t>java.lang</a:t>
            </a:r>
            <a:endParaRPr lang="it-IT" b="1" dirty="0" smtClean="0"/>
          </a:p>
          <a:p>
            <a:r>
              <a:rPr lang="it-IT" i="1" dirty="0" smtClean="0"/>
              <a:t>Compiler </a:t>
            </a:r>
            <a:r>
              <a:rPr lang="it-IT" i="1" dirty="0" err="1" smtClean="0"/>
              <a:t>enhancement</a:t>
            </a:r>
            <a:r>
              <a:rPr lang="it-IT" i="1" dirty="0" smtClean="0"/>
              <a:t>: </a:t>
            </a:r>
            <a:r>
              <a:rPr lang="it-IT" dirty="0" smtClean="0"/>
              <a:t>anche </a:t>
            </a:r>
            <a:r>
              <a:rPr lang="it-IT" dirty="0"/>
              <a:t>le classi </a:t>
            </a:r>
            <a:r>
              <a:rPr lang="it-IT" dirty="0" smtClean="0"/>
              <a:t>che creiamo senza specificare che siano figlie di altre classi, sono </a:t>
            </a:r>
            <a:r>
              <a:rPr lang="it-IT" dirty="0"/>
              <a:t>automaticamente </a:t>
            </a:r>
            <a:r>
              <a:rPr lang="it-IT" dirty="0" smtClean="0"/>
              <a:t>figlie </a:t>
            </a:r>
            <a:r>
              <a:rPr lang="it-IT" dirty="0"/>
              <a:t>della classe </a:t>
            </a:r>
            <a:r>
              <a:rPr lang="it-IT" b="1" dirty="0" smtClean="0"/>
              <a:t>Object</a:t>
            </a:r>
            <a:r>
              <a:rPr lang="it-IT" dirty="0" smtClean="0"/>
              <a:t>; il compilatore in automatico aggiunge alla classe la dichiarazione per renderla figlia di </a:t>
            </a:r>
            <a:r>
              <a:rPr lang="it-IT" i="1" dirty="0" smtClean="0"/>
              <a:t>Object</a:t>
            </a:r>
            <a:r>
              <a:rPr lang="it-IT" dirty="0" smtClean="0"/>
              <a:t> (un po’ come fa per il costruttore di default) se la nostra classe non è già figlia di qualche altra classe</a:t>
            </a:r>
            <a:endParaRPr lang="it-IT" dirty="0"/>
          </a:p>
          <a:p>
            <a:r>
              <a:rPr lang="it-IT" dirty="0"/>
              <a:t>Un’ulteriore conferma di quanto appena osservato è che i metodi definiti dalla classe </a:t>
            </a:r>
            <a:r>
              <a:rPr lang="it-IT" b="1" dirty="0"/>
              <a:t>Object</a:t>
            </a:r>
            <a:r>
              <a:rPr lang="it-IT" dirty="0"/>
              <a:t> </a:t>
            </a:r>
            <a:r>
              <a:rPr lang="it-IT" dirty="0" smtClean="0"/>
              <a:t> (</a:t>
            </a:r>
            <a:r>
              <a:rPr lang="it-IT" i="1" dirty="0" err="1" smtClean="0"/>
              <a:t>toString</a:t>
            </a:r>
            <a:r>
              <a:rPr lang="it-IT" i="1" dirty="0" smtClean="0"/>
              <a:t>(), </a:t>
            </a:r>
            <a:r>
              <a:rPr lang="it-IT" i="1" dirty="0" err="1" smtClean="0"/>
              <a:t>equals</a:t>
            </a:r>
            <a:r>
              <a:rPr lang="it-IT" i="1" dirty="0" smtClean="0"/>
              <a:t>() etc.) </a:t>
            </a:r>
            <a:r>
              <a:rPr lang="it-IT" dirty="0" smtClean="0"/>
              <a:t>fanno </a:t>
            </a:r>
            <a:r>
              <a:rPr lang="it-IT" dirty="0"/>
              <a:t>automaticamente parte di qualsiasi oggetto Java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4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Ereditarietà </a:t>
            </a:r>
            <a:r>
              <a:rPr lang="it-IT" dirty="0" smtClean="0"/>
              <a:t>(3/4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244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/>
          <a:lstStyle/>
          <a:p>
            <a:r>
              <a:rPr lang="it-IT" dirty="0" smtClean="0"/>
              <a:t>In </a:t>
            </a:r>
            <a:r>
              <a:rPr lang="it-IT" dirty="0"/>
              <a:t>Java per indicare che una classe </a:t>
            </a:r>
            <a:r>
              <a:rPr lang="it-IT" i="1" dirty="0"/>
              <a:t>B</a:t>
            </a:r>
            <a:r>
              <a:rPr lang="it-IT" dirty="0"/>
              <a:t> eredita da una classe si usa la parola chiave </a:t>
            </a:r>
            <a:r>
              <a:rPr lang="it-IT" b="1" dirty="0" err="1"/>
              <a:t>extends</a:t>
            </a:r>
            <a:r>
              <a:rPr lang="it-IT" dirty="0"/>
              <a:t>, proprio perché </a:t>
            </a:r>
            <a:r>
              <a:rPr lang="it-IT" i="1" dirty="0"/>
              <a:t>B</a:t>
            </a:r>
            <a:r>
              <a:rPr lang="it-IT" dirty="0"/>
              <a:t> estende </a:t>
            </a:r>
            <a:r>
              <a:rPr lang="it-IT" i="1" dirty="0"/>
              <a:t>A</a:t>
            </a:r>
            <a:r>
              <a:rPr lang="it-IT" dirty="0"/>
              <a:t>. La sintassi è:</a:t>
            </a:r>
          </a:p>
          <a:p>
            <a:pPr marL="581343" lvl="2" indent="0">
              <a:buNone/>
            </a:pPr>
            <a:endParaRPr lang="en-US" i="1" dirty="0" smtClean="0"/>
          </a:p>
          <a:p>
            <a:pPr marL="581343" lvl="2" indent="0">
              <a:buNone/>
            </a:pPr>
            <a:r>
              <a:rPr lang="en-US" i="1" dirty="0" smtClean="0"/>
              <a:t>public </a:t>
            </a:r>
            <a:r>
              <a:rPr lang="en-US" i="1" dirty="0"/>
              <a:t>class B </a:t>
            </a:r>
            <a:r>
              <a:rPr lang="en-US" b="1" i="1" dirty="0"/>
              <a:t>extends</a:t>
            </a:r>
            <a:r>
              <a:rPr lang="en-US" i="1" dirty="0"/>
              <a:t> A {</a:t>
            </a:r>
            <a:endParaRPr lang="it-IT" i="1" dirty="0"/>
          </a:p>
          <a:p>
            <a:pPr marL="581343" lvl="2" indent="0">
              <a:buNone/>
            </a:pPr>
            <a:r>
              <a:rPr lang="it-IT" i="1" dirty="0"/>
              <a:t>……</a:t>
            </a:r>
          </a:p>
          <a:p>
            <a:pPr marL="581343" lvl="2" indent="0">
              <a:buNone/>
            </a:pPr>
            <a:r>
              <a:rPr lang="it-IT" i="1" dirty="0" smtClean="0"/>
              <a:t>}</a:t>
            </a:r>
          </a:p>
          <a:p>
            <a:pPr marL="581343" lvl="2" indent="0">
              <a:buNone/>
            </a:pPr>
            <a:endParaRPr lang="it-IT" i="1" dirty="0" smtClean="0"/>
          </a:p>
          <a:p>
            <a:r>
              <a:rPr lang="it-IT" dirty="0"/>
              <a:t>Se una classe viene dichiarata </a:t>
            </a:r>
            <a:r>
              <a:rPr lang="it-IT" b="1" dirty="0" err="1"/>
              <a:t>final</a:t>
            </a:r>
            <a:r>
              <a:rPr lang="it-IT" dirty="0"/>
              <a:t> non può essere ereditata, ovvero non può avere classi figlie</a:t>
            </a:r>
          </a:p>
          <a:p>
            <a:pPr marL="301943" lvl="1" indent="0">
              <a:buNone/>
            </a:pPr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5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Ereditarietà </a:t>
            </a:r>
            <a:r>
              <a:rPr lang="it-IT" dirty="0" smtClean="0"/>
              <a:t>(4/4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835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 fontScale="92500" lnSpcReduction="20000"/>
          </a:bodyPr>
          <a:lstStyle/>
          <a:p>
            <a:r>
              <a:rPr lang="it-IT" dirty="0" smtClean="0"/>
              <a:t>Il compilatore in automatico, quando deve costruire un oggetto, cerca sempre per prima cosa di costruire la classe </a:t>
            </a:r>
            <a:r>
              <a:rPr lang="it-IT" i="1" dirty="0" smtClean="0"/>
              <a:t>padre</a:t>
            </a:r>
            <a:r>
              <a:rPr lang="it-IT" dirty="0" smtClean="0"/>
              <a:t> con una chiamata a </a:t>
            </a:r>
            <a:r>
              <a:rPr lang="it-IT" i="1" dirty="0" smtClean="0"/>
              <a:t>super()</a:t>
            </a:r>
            <a:r>
              <a:rPr lang="it-IT" dirty="0" smtClean="0"/>
              <a:t>, che rappresenta l’invocazione del costruttore della classe </a:t>
            </a:r>
            <a:r>
              <a:rPr lang="it-IT" i="1" dirty="0" smtClean="0"/>
              <a:t>padre</a:t>
            </a:r>
            <a:r>
              <a:rPr lang="it-IT" dirty="0" smtClean="0"/>
              <a:t> (ogni classe in Java ha sempre una classe </a:t>
            </a:r>
            <a:r>
              <a:rPr lang="it-IT" i="1" dirty="0" smtClean="0"/>
              <a:t>padre</a:t>
            </a:r>
            <a:r>
              <a:rPr lang="it-IT" dirty="0" smtClean="0"/>
              <a:t>:  o una esplicitamente definita dal programmatore o </a:t>
            </a:r>
            <a:r>
              <a:rPr lang="it-IT" i="1" dirty="0" smtClean="0"/>
              <a:t>Object</a:t>
            </a:r>
            <a:r>
              <a:rPr lang="it-IT" dirty="0" smtClean="0"/>
              <a:t>)</a:t>
            </a:r>
          </a:p>
          <a:p>
            <a:r>
              <a:rPr lang="it-IT" dirty="0" smtClean="0"/>
              <a:t>e inoltre il compilatore:</a:t>
            </a:r>
          </a:p>
          <a:p>
            <a:pPr lvl="1"/>
            <a:r>
              <a:rPr lang="it-IT" dirty="0"/>
              <a:t>ad una classe senza costruttori </a:t>
            </a:r>
            <a:r>
              <a:rPr lang="it-IT" dirty="0" smtClean="0"/>
              <a:t>aggiunge un costruttore di default, senza parametri </a:t>
            </a:r>
          </a:p>
          <a:p>
            <a:pPr lvl="1"/>
            <a:r>
              <a:rPr lang="it-IT" dirty="0" smtClean="0"/>
              <a:t>ad una classe che non è figlia di altre, aggiunge in automatico </a:t>
            </a:r>
            <a:r>
              <a:rPr lang="it-IT" i="1" dirty="0" err="1" smtClean="0"/>
              <a:t>extends</a:t>
            </a:r>
            <a:r>
              <a:rPr lang="it-IT" i="1" dirty="0" smtClean="0"/>
              <a:t> Object</a:t>
            </a:r>
            <a:endParaRPr lang="it-IT" dirty="0" smtClean="0"/>
          </a:p>
          <a:p>
            <a:pPr lvl="1"/>
            <a:r>
              <a:rPr lang="it-IT" dirty="0" smtClean="0"/>
              <a:t>in ogni costruttore della classe figlia, se non trova la chiamata </a:t>
            </a:r>
            <a:r>
              <a:rPr lang="it-IT" dirty="0"/>
              <a:t> </a:t>
            </a:r>
            <a:r>
              <a:rPr lang="it-IT" dirty="0" smtClean="0"/>
              <a:t>a </a:t>
            </a:r>
            <a:r>
              <a:rPr lang="it-IT" i="1" dirty="0" smtClean="0"/>
              <a:t>super()</a:t>
            </a:r>
            <a:r>
              <a:rPr lang="it-IT" dirty="0" smtClean="0"/>
              <a:t>, che inoltre deve essere la prima istruzione, la aggiunge in automatico usando la versione di </a:t>
            </a:r>
            <a:r>
              <a:rPr lang="it-IT" i="1" dirty="0" smtClean="0"/>
              <a:t>super()</a:t>
            </a:r>
            <a:r>
              <a:rPr lang="it-IT" dirty="0" smtClean="0"/>
              <a:t> senza parametri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6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 smtClean="0"/>
              <a:t>Compiler </a:t>
            </a:r>
            <a:r>
              <a:rPr lang="it-IT" i="1" dirty="0" err="1" smtClean="0"/>
              <a:t>enhancement</a:t>
            </a:r>
            <a:r>
              <a:rPr lang="it-IT" i="1" dirty="0" smtClean="0"/>
              <a:t>:</a:t>
            </a:r>
            <a:br>
              <a:rPr lang="it-IT" i="1" dirty="0" smtClean="0"/>
            </a:br>
            <a:r>
              <a:rPr lang="it-IT" dirty="0" smtClean="0"/>
              <a:t>costruttori e super() (1/4)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517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 lnSpcReduction="10000"/>
          </a:bodyPr>
          <a:lstStyle/>
          <a:p>
            <a:r>
              <a:rPr lang="it-IT" dirty="0" smtClean="0"/>
              <a:t>Quindi se definiamo una gerarchia di classi </a:t>
            </a:r>
            <a:r>
              <a:rPr lang="it-IT" i="1" dirty="0" smtClean="0"/>
              <a:t>Nonno-Padre-Figlia</a:t>
            </a:r>
            <a:r>
              <a:rPr lang="it-IT" dirty="0" smtClean="0"/>
              <a:t>, ognuna con un costruttore senza parametri e senza alcuna chiamata esplicita alla </a:t>
            </a:r>
            <a:r>
              <a:rPr lang="it-IT" i="1" dirty="0" smtClean="0"/>
              <a:t>super()</a:t>
            </a:r>
            <a:r>
              <a:rPr lang="it-IT" dirty="0" smtClean="0"/>
              <a:t>,</a:t>
            </a:r>
            <a:r>
              <a:rPr lang="it-IT" i="1" dirty="0" smtClean="0"/>
              <a:t> </a:t>
            </a:r>
            <a:r>
              <a:rPr lang="it-IT" dirty="0" smtClean="0"/>
              <a:t>e se provassimo a creare oggetti di </a:t>
            </a:r>
            <a:r>
              <a:rPr lang="it-IT" i="1" dirty="0" smtClean="0"/>
              <a:t>Figlia</a:t>
            </a:r>
            <a:r>
              <a:rPr lang="it-IT" dirty="0" smtClean="0"/>
              <a:t>, vedremmo che Java chiamerebbe in ordine:</a:t>
            </a:r>
          </a:p>
          <a:p>
            <a:pPr marL="759143" lvl="1" indent="-457200">
              <a:buFont typeface="+mj-lt"/>
              <a:buAutoNum type="arabicPeriod"/>
            </a:pPr>
            <a:r>
              <a:rPr lang="it-IT" dirty="0" smtClean="0"/>
              <a:t>il costruttore di </a:t>
            </a:r>
            <a:r>
              <a:rPr lang="it-IT" i="1" dirty="0" smtClean="0"/>
              <a:t>Object </a:t>
            </a:r>
            <a:r>
              <a:rPr lang="it-IT" dirty="0" smtClean="0"/>
              <a:t>(questo non si vede, ma viene chiamato)</a:t>
            </a:r>
          </a:p>
          <a:p>
            <a:pPr marL="759143" lvl="1" indent="-457200">
              <a:buFont typeface="+mj-lt"/>
              <a:buAutoNum type="arabicPeriod"/>
            </a:pPr>
            <a:r>
              <a:rPr lang="it-IT" dirty="0" smtClean="0"/>
              <a:t>il costruttore di </a:t>
            </a:r>
            <a:r>
              <a:rPr lang="it-IT" i="1" dirty="0" smtClean="0"/>
              <a:t>Nonno</a:t>
            </a:r>
          </a:p>
          <a:p>
            <a:pPr marL="759143" lvl="1" indent="-457200">
              <a:buFont typeface="+mj-lt"/>
              <a:buAutoNum type="arabicPeriod"/>
            </a:pPr>
            <a:r>
              <a:rPr lang="it-IT" dirty="0"/>
              <a:t>il costruttore di </a:t>
            </a:r>
            <a:r>
              <a:rPr lang="it-IT" i="1" dirty="0" smtClean="0"/>
              <a:t>Padre</a:t>
            </a:r>
          </a:p>
          <a:p>
            <a:pPr marL="759143" lvl="1" indent="-457200">
              <a:buFont typeface="+mj-lt"/>
              <a:buAutoNum type="arabicPeriod"/>
            </a:pPr>
            <a:r>
              <a:rPr lang="it-IT" dirty="0"/>
              <a:t>il costruttore di </a:t>
            </a:r>
            <a:r>
              <a:rPr lang="it-IT" i="1" dirty="0" smtClean="0"/>
              <a:t>Figlia</a:t>
            </a:r>
            <a:endParaRPr lang="it-IT" dirty="0"/>
          </a:p>
          <a:p>
            <a:r>
              <a:rPr lang="it-IT" dirty="0" smtClean="0"/>
              <a:t>ovvero, Java in automatico ha inserito le </a:t>
            </a:r>
            <a:r>
              <a:rPr lang="it-IT" i="1" dirty="0" smtClean="0"/>
              <a:t>super()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/>
              <a:t>Compiler </a:t>
            </a:r>
            <a:r>
              <a:rPr lang="it-IT" i="1" dirty="0" err="1"/>
              <a:t>enhancement</a:t>
            </a:r>
            <a:r>
              <a:rPr lang="it-IT" i="1" dirty="0"/>
              <a:t>:</a:t>
            </a:r>
            <a:br>
              <a:rPr lang="it-IT" i="1" dirty="0"/>
            </a:br>
            <a:r>
              <a:rPr lang="it-IT" dirty="0"/>
              <a:t>costruttori e super() </a:t>
            </a:r>
            <a:r>
              <a:rPr lang="it-IT" dirty="0" smtClean="0"/>
              <a:t>(2/4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307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/>
          </a:bodyPr>
          <a:lstStyle/>
          <a:p>
            <a:r>
              <a:rPr lang="it-IT" dirty="0" smtClean="0"/>
              <a:t>Attenzione: se creiamo una gerarchia tra classi, ad esempio </a:t>
            </a:r>
            <a:r>
              <a:rPr lang="it-IT" i="1" dirty="0" smtClean="0"/>
              <a:t>Padre-Figlia</a:t>
            </a:r>
            <a:r>
              <a:rPr lang="it-IT" dirty="0" smtClean="0"/>
              <a:t>, e nella classe </a:t>
            </a:r>
            <a:r>
              <a:rPr lang="it-IT" i="1" dirty="0" smtClean="0"/>
              <a:t>Padre</a:t>
            </a:r>
            <a:r>
              <a:rPr lang="it-IT" dirty="0" smtClean="0"/>
              <a:t> definiamo solo costruttori parametrici -&gt; la classe </a:t>
            </a:r>
            <a:r>
              <a:rPr lang="it-IT" i="1" dirty="0" smtClean="0"/>
              <a:t>Figlia</a:t>
            </a:r>
            <a:r>
              <a:rPr lang="it-IT" dirty="0" smtClean="0"/>
              <a:t> è costretta a creare costruttori </a:t>
            </a:r>
            <a:r>
              <a:rPr lang="it-IT" i="1" dirty="0" smtClean="0"/>
              <a:t>espliciti</a:t>
            </a:r>
            <a:r>
              <a:rPr lang="it-IT" dirty="0" smtClean="0"/>
              <a:t> (non può </a:t>
            </a:r>
            <a:r>
              <a:rPr lang="it-IT" dirty="0"/>
              <a:t>più </a:t>
            </a:r>
            <a:r>
              <a:rPr lang="it-IT" dirty="0" smtClean="0"/>
              <a:t>usare il costruttore di </a:t>
            </a:r>
            <a:r>
              <a:rPr lang="it-IT" i="1" dirty="0" smtClean="0"/>
              <a:t>default</a:t>
            </a:r>
            <a:r>
              <a:rPr lang="it-IT" dirty="0" smtClean="0"/>
              <a:t>) e in ciascuno di essi è costretta a chiamare la </a:t>
            </a:r>
            <a:r>
              <a:rPr lang="it-IT" i="1" dirty="0" smtClean="0"/>
              <a:t>super()</a:t>
            </a:r>
            <a:r>
              <a:rPr lang="it-IT" dirty="0" smtClean="0"/>
              <a:t> che invochi uno dei costruttori parametrici definiti in </a:t>
            </a:r>
            <a:r>
              <a:rPr lang="it-IT" i="1" dirty="0" smtClean="0"/>
              <a:t>Padre</a:t>
            </a:r>
            <a:r>
              <a:rPr lang="it-IT" dirty="0" smtClean="0"/>
              <a:t>. Infatti:</a:t>
            </a:r>
          </a:p>
          <a:p>
            <a:pPr marL="759143" lvl="1" indent="-457200">
              <a:buFont typeface="+mj-lt"/>
              <a:buAutoNum type="arabicPeriod"/>
            </a:pPr>
            <a:r>
              <a:rPr lang="it-IT" dirty="0" smtClean="0"/>
              <a:t>se </a:t>
            </a:r>
            <a:r>
              <a:rPr lang="it-IT" i="1" dirty="0" smtClean="0"/>
              <a:t>Figlia</a:t>
            </a:r>
            <a:r>
              <a:rPr lang="it-IT" dirty="0" smtClean="0"/>
              <a:t> non avesse costruttori, il compilatore le creerebbe quello di default senza parametri e proverebbe a chiamare con la </a:t>
            </a:r>
            <a:r>
              <a:rPr lang="it-IT" i="1" dirty="0" smtClean="0"/>
              <a:t>super()</a:t>
            </a:r>
            <a:r>
              <a:rPr lang="it-IT" dirty="0" smtClean="0"/>
              <a:t> senza parametri il costruttore senza parametri di </a:t>
            </a:r>
            <a:r>
              <a:rPr lang="it-IT" i="1" dirty="0" smtClean="0"/>
              <a:t>Padre</a:t>
            </a:r>
            <a:r>
              <a:rPr lang="it-IT" dirty="0" smtClean="0"/>
              <a:t> che non esiste        </a:t>
            </a:r>
            <a:endParaRPr lang="it-IT" i="1" dirty="0" smtClean="0"/>
          </a:p>
          <a:p>
            <a:pPr lvl="1"/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8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/>
              <a:t>Compiler </a:t>
            </a:r>
            <a:r>
              <a:rPr lang="it-IT" i="1" dirty="0" err="1"/>
              <a:t>enhancement</a:t>
            </a:r>
            <a:r>
              <a:rPr lang="it-IT" i="1" dirty="0"/>
              <a:t>:</a:t>
            </a:r>
            <a:br>
              <a:rPr lang="it-IT" i="1" dirty="0"/>
            </a:br>
            <a:r>
              <a:rPr lang="it-IT" dirty="0"/>
              <a:t>costruttori e super() </a:t>
            </a:r>
            <a:r>
              <a:rPr lang="it-IT" dirty="0" smtClean="0"/>
              <a:t>(3/4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616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/>
          <a:lstStyle/>
          <a:p>
            <a:pPr marL="759143" lvl="1" indent="-457200">
              <a:buFont typeface="+mj-lt"/>
              <a:buAutoNum type="arabicPeriod" startAt="2"/>
            </a:pPr>
            <a:r>
              <a:rPr lang="it-IT" dirty="0" smtClean="0"/>
              <a:t>se </a:t>
            </a:r>
            <a:r>
              <a:rPr lang="it-IT" i="1" dirty="0" smtClean="0"/>
              <a:t>Figlia</a:t>
            </a:r>
            <a:r>
              <a:rPr lang="it-IT" dirty="0" smtClean="0"/>
              <a:t> avesse costruttori </a:t>
            </a:r>
            <a:r>
              <a:rPr lang="it-IT" i="1" dirty="0" smtClean="0"/>
              <a:t>espliciti</a:t>
            </a:r>
            <a:r>
              <a:rPr lang="it-IT" dirty="0" smtClean="0"/>
              <a:t> ma senza avere come prima istruzione la chiamata a </a:t>
            </a:r>
            <a:r>
              <a:rPr lang="it-IT" i="1" dirty="0" smtClean="0"/>
              <a:t>super()</a:t>
            </a:r>
            <a:r>
              <a:rPr lang="it-IT" dirty="0" smtClean="0"/>
              <a:t>, il compilatore inserirebbe in automatico la </a:t>
            </a:r>
            <a:r>
              <a:rPr lang="it-IT" i="1" dirty="0" smtClean="0"/>
              <a:t>super() </a:t>
            </a:r>
            <a:r>
              <a:rPr lang="it-IT" dirty="0" smtClean="0"/>
              <a:t>senza parametri come prima istruzione, cercando quindi di invocare il costruttore senza parametri di </a:t>
            </a:r>
            <a:r>
              <a:rPr lang="it-IT" i="1" dirty="0" smtClean="0"/>
              <a:t>Padre</a:t>
            </a:r>
            <a:r>
              <a:rPr lang="it-IT" dirty="0" smtClean="0"/>
              <a:t> ed andando quindi nuovamente in errore di compilazione</a:t>
            </a:r>
          </a:p>
          <a:p>
            <a:r>
              <a:rPr lang="it-IT" dirty="0" smtClean="0"/>
              <a:t>quindi </a:t>
            </a:r>
            <a:r>
              <a:rPr lang="it-IT" i="1" dirty="0" smtClean="0"/>
              <a:t>Figlia</a:t>
            </a:r>
            <a:r>
              <a:rPr lang="it-IT" dirty="0" smtClean="0"/>
              <a:t> è costretta a creare costruttori </a:t>
            </a:r>
            <a:r>
              <a:rPr lang="it-IT" i="1" dirty="0" smtClean="0"/>
              <a:t>espliciti</a:t>
            </a:r>
            <a:r>
              <a:rPr lang="it-IT" dirty="0" smtClean="0"/>
              <a:t> in cui la prima istruzione sia una chiamata a </a:t>
            </a:r>
            <a:r>
              <a:rPr lang="it-IT" i="1" dirty="0" smtClean="0"/>
              <a:t>super() </a:t>
            </a:r>
            <a:r>
              <a:rPr lang="it-IT" dirty="0" smtClean="0"/>
              <a:t>con i parametri che si aspetta il costruttore di </a:t>
            </a:r>
            <a:r>
              <a:rPr lang="it-IT" i="1" dirty="0" smtClean="0"/>
              <a:t>Padre</a:t>
            </a:r>
            <a:r>
              <a:rPr lang="it-IT" dirty="0" smtClean="0"/>
              <a:t> 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fld id="{E7A41E1B-4F70-4964-A407-84C68BE8251C}" type="slidenum">
              <a:rPr lang="it-IT" smtClean="0"/>
              <a:pPr marL="228600" indent="-228600">
                <a:buFont typeface="+mj-lt"/>
                <a:buAutoNum type="arabicPeriod"/>
              </a:pPr>
              <a:t>9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/>
              <a:t>Compiler </a:t>
            </a:r>
            <a:r>
              <a:rPr lang="it-IT" i="1" dirty="0" err="1"/>
              <a:t>enhancement</a:t>
            </a:r>
            <a:r>
              <a:rPr lang="it-IT" i="1" dirty="0"/>
              <a:t>:</a:t>
            </a:r>
            <a:br>
              <a:rPr lang="it-IT" i="1" dirty="0"/>
            </a:br>
            <a:r>
              <a:rPr lang="it-IT" dirty="0"/>
              <a:t>costruttori e super() </a:t>
            </a:r>
            <a:r>
              <a:rPr lang="it-IT" dirty="0" smtClean="0"/>
              <a:t>(4/4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020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/>
          </a:bodyPr>
          <a:lstStyle/>
          <a:p>
            <a:r>
              <a:rPr lang="it-IT" dirty="0" smtClean="0"/>
              <a:t>Il qualificatore d’accesso </a:t>
            </a:r>
            <a:r>
              <a:rPr lang="it-IT" i="1" dirty="0" err="1" smtClean="0"/>
              <a:t>protected</a:t>
            </a:r>
            <a:r>
              <a:rPr lang="it-IT" dirty="0" smtClean="0"/>
              <a:t> amplia i privilegi d’accesso rispetto al </a:t>
            </a:r>
            <a:r>
              <a:rPr lang="it-IT" i="1" dirty="0" smtClean="0"/>
              <a:t>default</a:t>
            </a:r>
            <a:r>
              <a:rPr lang="it-IT" dirty="0" smtClean="0"/>
              <a:t> (assenza di qualificatore) permettendo l’accesso ai membri (attributi e metodi) </a:t>
            </a:r>
            <a:r>
              <a:rPr lang="it-IT" i="1" dirty="0" err="1" smtClean="0"/>
              <a:t>protected</a:t>
            </a:r>
            <a:r>
              <a:rPr lang="it-IT" i="1" dirty="0" smtClean="0"/>
              <a:t> </a:t>
            </a:r>
            <a:r>
              <a:rPr lang="it-IT" dirty="0" smtClean="0"/>
              <a:t>di una classe anche </a:t>
            </a:r>
            <a:r>
              <a:rPr lang="it-IT" b="1" dirty="0" smtClean="0"/>
              <a:t>all’interno</a:t>
            </a:r>
            <a:r>
              <a:rPr lang="it-IT" b="1" i="1" dirty="0" smtClean="0"/>
              <a:t> </a:t>
            </a:r>
            <a:r>
              <a:rPr lang="it-IT" dirty="0" smtClean="0"/>
              <a:t>delle classi </a:t>
            </a:r>
            <a:r>
              <a:rPr lang="it-IT" i="1" dirty="0" smtClean="0"/>
              <a:t>derivate</a:t>
            </a:r>
          </a:p>
          <a:p>
            <a:r>
              <a:rPr lang="it-IT" dirty="0" smtClean="0"/>
              <a:t>Attenzione: l’accesso è solo </a:t>
            </a:r>
            <a:r>
              <a:rPr lang="it-IT" b="1" dirty="0" smtClean="0"/>
              <a:t>all’interno</a:t>
            </a:r>
            <a:r>
              <a:rPr lang="it-IT" b="1" i="1" dirty="0" smtClean="0"/>
              <a:t> </a:t>
            </a:r>
            <a:r>
              <a:rPr lang="it-IT" dirty="0" smtClean="0"/>
              <a:t>del codice delle classi </a:t>
            </a:r>
            <a:r>
              <a:rPr lang="it-IT" i="1" dirty="0" smtClean="0"/>
              <a:t>derivate</a:t>
            </a:r>
            <a:r>
              <a:rPr lang="it-IT" dirty="0" smtClean="0"/>
              <a:t> -&gt; se quindi creiamo un oggetto di classe figlia (in un package differente rispetto alla classe </a:t>
            </a:r>
            <a:r>
              <a:rPr lang="it-IT" i="1" dirty="0" smtClean="0"/>
              <a:t>padre</a:t>
            </a:r>
            <a:r>
              <a:rPr lang="it-IT" dirty="0" smtClean="0"/>
              <a:t>), l’oggetto in questione continua a </a:t>
            </a:r>
            <a:r>
              <a:rPr lang="it-IT" b="1" dirty="0" smtClean="0"/>
              <a:t>non poter accedere agli attributi </a:t>
            </a:r>
            <a:r>
              <a:rPr lang="it-IT" b="1" dirty="0" err="1" smtClean="0"/>
              <a:t>protected</a:t>
            </a:r>
            <a:r>
              <a:rPr lang="it-IT" b="1" dirty="0" smtClean="0"/>
              <a:t> della classe padre</a:t>
            </a:r>
            <a:r>
              <a:rPr lang="it-IT" dirty="0" smtClean="0"/>
              <a:t>  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10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Qualificatore d’accesso </a:t>
            </a:r>
            <a:r>
              <a:rPr lang="it-IT" i="1" dirty="0" err="1" smtClean="0"/>
              <a:t>protected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970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nde">
  <a:themeElements>
    <a:clrScheme name="Onde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nde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nde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928</TotalTime>
  <Words>913</Words>
  <Application>Microsoft Office PowerPoint</Application>
  <PresentationFormat>Presentazione su schermo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Calibri</vt:lpstr>
      <vt:lpstr>Candara</vt:lpstr>
      <vt:lpstr>Symbol</vt:lpstr>
      <vt:lpstr>Onde</vt:lpstr>
      <vt:lpstr>Classi e oggetti concetti avanzati (parte B - Ereditarietà)</vt:lpstr>
      <vt:lpstr>Ereditarietà (1/4)</vt:lpstr>
      <vt:lpstr>Ereditarietà (2/4)</vt:lpstr>
      <vt:lpstr>Ereditarietà (3/4)</vt:lpstr>
      <vt:lpstr>Ereditarietà (4/4)</vt:lpstr>
      <vt:lpstr>Compiler enhancement: costruttori e super() (1/4)</vt:lpstr>
      <vt:lpstr>Compiler enhancement: costruttori e super() (2/4)</vt:lpstr>
      <vt:lpstr>Compiler enhancement: costruttori e super() (3/4)</vt:lpstr>
      <vt:lpstr>Compiler enhancement: costruttori e super() (4/4)</vt:lpstr>
      <vt:lpstr>Qualificatore d’accesso protected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 e oggetti (parte II)</dc:title>
  <dc:creator>Roberto Santoro</dc:creator>
  <cp:lastModifiedBy>Roberto Santoro</cp:lastModifiedBy>
  <cp:revision>109</cp:revision>
  <dcterms:created xsi:type="dcterms:W3CDTF">2020-03-12T08:56:57Z</dcterms:created>
  <dcterms:modified xsi:type="dcterms:W3CDTF">2023-05-16T10:14:29Z</dcterms:modified>
</cp:coreProperties>
</file>