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9144000"/>
  <p:notesSz cx="6858000" cy="9144000"/>
  <p:embeddedFontLst>
    <p:embeddedFont>
      <p:font typeface="Candara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7" roundtripDataSignature="AMtx7mhEI2ToXhyLclPEq9aOuz3WKp3o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Candara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Candara-italic.fntdata"/><Relationship Id="rId14" Type="http://schemas.openxmlformats.org/officeDocument/2006/relationships/font" Target="fonts/Candara-bold.fntdata"/><Relationship Id="rId17" Type="http://customschemas.google.com/relationships/presentationmetadata" Target="metadata"/><Relationship Id="rId16" Type="http://schemas.openxmlformats.org/officeDocument/2006/relationships/font" Target="fonts/Candara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9"/>
          <p:cNvSpPr txBox="1"/>
          <p:nvPr>
            <p:ph idx="1" type="body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5pPr>
            <a:lvl6pPr indent="-342900" lvl="5" marL="27432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7" name="Google Shape;27;p9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titolo" showMasterSp="0" type="title">
  <p:cSld name="TITL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fmla="val 1272" name="adj"/>
            </a:avLst>
          </a:prstGeom>
          <a:gradFill>
            <a:gsLst>
              <a:gs pos="0">
                <a:srgbClr val="0293E0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grpSp>
        <p:nvGrpSpPr>
          <p:cNvPr id="30" name="Google Shape;30;p10"/>
          <p:cNvGrpSpPr/>
          <p:nvPr/>
        </p:nvGrpSpPr>
        <p:grpSpPr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31" name="Google Shape;31;p10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862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32" name="Google Shape;32;p10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33" name="Google Shape;33;p10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34" name="Google Shape;34;p10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35" name="Google Shape;35;p10"/>
            <p:cNvSpPr/>
            <p:nvPr/>
          </p:nvSpPr>
          <p:spPr>
            <a:xfrm>
              <a:off x="-3905250" y="4294188"/>
              <a:ext cx="13011150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36" name="Google Shape;36;p10"/>
          <p:cNvSpPr txBox="1"/>
          <p:nvPr>
            <p:ph type="ctrTitle"/>
          </p:nvPr>
        </p:nvSpPr>
        <p:spPr>
          <a:xfrm>
            <a:off x="685800" y="1600200"/>
            <a:ext cx="7772400" cy="17801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  <a:defRPr sz="440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0"/>
          <p:cNvSpPr txBox="1"/>
          <p:nvPr>
            <p:ph idx="1" type="subTitle"/>
          </p:nvPr>
        </p:nvSpPr>
        <p:spPr>
          <a:xfrm>
            <a:off x="1371600" y="3556001"/>
            <a:ext cx="6400800" cy="14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FFFFF"/>
                </a:solidFill>
              </a:defRPr>
            </a:lvl1pPr>
            <a:lvl2pPr lvl="1" algn="ctr">
              <a:spcBef>
                <a:spcPts val="440"/>
              </a:spcBef>
              <a:spcAft>
                <a:spcPts val="0"/>
              </a:spcAft>
              <a:buSzPts val="22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84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84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84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84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10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stazione sezione" showMasterSp="0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fmla="val 1272" name="adj"/>
            </a:avLst>
          </a:prstGeom>
          <a:gradFill>
            <a:gsLst>
              <a:gs pos="0">
                <a:srgbClr val="0293E0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3" name="Google Shape;43;p11"/>
          <p:cNvSpPr/>
          <p:nvPr/>
        </p:nvSpPr>
        <p:spPr>
          <a:xfrm>
            <a:off x="6047438" y="4203592"/>
            <a:ext cx="2876429" cy="714026"/>
          </a:xfrm>
          <a:custGeom>
            <a:rect b="b" l="l" r="r" t="t"/>
            <a:pathLst>
              <a:path extrusionOk="0" h="640" w="2706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lt2">
              <a:alpha val="28627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4" name="Google Shape;44;p11"/>
          <p:cNvSpPr/>
          <p:nvPr/>
        </p:nvSpPr>
        <p:spPr>
          <a:xfrm>
            <a:off x="2619320" y="4075290"/>
            <a:ext cx="5544515" cy="850138"/>
          </a:xfrm>
          <a:custGeom>
            <a:rect b="b" l="l" r="r" t="t"/>
            <a:pathLst>
              <a:path extrusionOk="0" h="762" w="5216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lt2">
              <a:alpha val="4000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5" name="Google Shape;45;p11"/>
          <p:cNvSpPr/>
          <p:nvPr/>
        </p:nvSpPr>
        <p:spPr>
          <a:xfrm>
            <a:off x="2828728" y="4087562"/>
            <a:ext cx="5467980" cy="774272"/>
          </a:xfrm>
          <a:custGeom>
            <a:rect b="b" l="l" r="r" t="t"/>
            <a:pathLst>
              <a:path extrusionOk="0" h="694" w="514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6" name="Google Shape;46;p11"/>
          <p:cNvSpPr/>
          <p:nvPr/>
        </p:nvSpPr>
        <p:spPr>
          <a:xfrm>
            <a:off x="5609489" y="4074174"/>
            <a:ext cx="3308000" cy="651549"/>
          </a:xfrm>
          <a:custGeom>
            <a:rect b="b" l="l" r="r" t="t"/>
            <a:pathLst>
              <a:path extrusionOk="0" h="584" w="3112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7" name="Google Shape;47;p11"/>
          <p:cNvSpPr/>
          <p:nvPr/>
        </p:nvSpPr>
        <p:spPr>
          <a:xfrm>
            <a:off x="211665" y="4058555"/>
            <a:ext cx="8723376" cy="1329874"/>
          </a:xfrm>
          <a:custGeom>
            <a:rect b="b" l="l" r="r" t="t"/>
            <a:pathLst>
              <a:path extrusionOk="0" h="1192" w="8196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8" name="Google Shape;48;p11"/>
          <p:cNvSpPr txBox="1"/>
          <p:nvPr>
            <p:ph type="title"/>
          </p:nvPr>
        </p:nvSpPr>
        <p:spPr>
          <a:xfrm>
            <a:off x="690032" y="2463560"/>
            <a:ext cx="77724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" type="body"/>
          </p:nvPr>
        </p:nvSpPr>
        <p:spPr>
          <a:xfrm>
            <a:off x="1367365" y="1437448"/>
            <a:ext cx="6417734" cy="939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FFFFF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84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84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84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84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0" name="Google Shape;50;p11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e contenuti" type="twoObj">
  <p:cSld name="TWO_OBJECTS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2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58" name="Google Shape;58;p12"/>
          <p:cNvSpPr txBox="1"/>
          <p:nvPr>
            <p:ph idx="1" type="body"/>
          </p:nvPr>
        </p:nvSpPr>
        <p:spPr>
          <a:xfrm>
            <a:off x="676655" y="2679192"/>
            <a:ext cx="3822192" cy="3447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5pPr>
            <a:lvl6pPr indent="-342900" lvl="5" marL="27432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2" type="body"/>
          </p:nvPr>
        </p:nvSpPr>
        <p:spPr>
          <a:xfrm>
            <a:off x="4645152" y="2679192"/>
            <a:ext cx="3822192" cy="3447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5pPr>
            <a:lvl6pPr indent="-342900" lvl="5" marL="27432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ronto" type="twoTxTwoObj">
  <p:cSld name="TWO_OBJECTS_WITH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1" type="body"/>
          </p:nvPr>
        </p:nvSpPr>
        <p:spPr>
          <a:xfrm>
            <a:off x="676656" y="2678114"/>
            <a:ext cx="3822192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3" name="Google Shape;63;p13"/>
          <p:cNvSpPr txBox="1"/>
          <p:nvPr>
            <p:ph idx="2" type="body"/>
          </p:nvPr>
        </p:nvSpPr>
        <p:spPr>
          <a:xfrm>
            <a:off x="677332" y="3429000"/>
            <a:ext cx="3820055" cy="2697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400"/>
              </a:spcBef>
              <a:spcAft>
                <a:spcPts val="0"/>
              </a:spcAft>
              <a:buSzPts val="2000"/>
              <a:buChar char="*"/>
              <a:defRPr sz="20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*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*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*"/>
              <a:defRPr sz="1400"/>
            </a:lvl5pPr>
            <a:lvl6pPr indent="-330200" lvl="5" marL="27432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6pPr>
            <a:lvl7pPr indent="-330200" lvl="6" marL="32004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8pPr>
            <a:lvl9pPr indent="-330200" lvl="8" marL="41148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9pPr>
          </a:lstStyle>
          <a:p/>
        </p:txBody>
      </p:sp>
      <p:sp>
        <p:nvSpPr>
          <p:cNvPr id="64" name="Google Shape;64;p13"/>
          <p:cNvSpPr txBox="1"/>
          <p:nvPr>
            <p:ph idx="3" type="body"/>
          </p:nvPr>
        </p:nvSpPr>
        <p:spPr>
          <a:xfrm>
            <a:off x="4648200" y="2678113"/>
            <a:ext cx="3822192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SzPts val="2400"/>
              <a:buNone/>
              <a:defRPr b="0" i="0" sz="24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5" name="Google Shape;65;p13"/>
          <p:cNvSpPr txBox="1"/>
          <p:nvPr>
            <p:ph idx="4" type="body"/>
          </p:nvPr>
        </p:nvSpPr>
        <p:spPr>
          <a:xfrm>
            <a:off x="4645025" y="3429000"/>
            <a:ext cx="3822192" cy="2697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400"/>
              </a:spcBef>
              <a:spcAft>
                <a:spcPts val="0"/>
              </a:spcAft>
              <a:buSzPts val="2000"/>
              <a:buChar char="*"/>
              <a:defRPr sz="20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*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*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*"/>
              <a:defRPr sz="1400"/>
            </a:lvl5pPr>
            <a:lvl6pPr indent="-330200" lvl="5" marL="27432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6pPr>
            <a:lvl7pPr indent="-330200" lvl="6" marL="32004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8pPr>
            <a:lvl9pPr indent="-330200" lvl="8" marL="41148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9pPr>
          </a:lstStyle>
          <a:p/>
        </p:txBody>
      </p:sp>
      <p:sp>
        <p:nvSpPr>
          <p:cNvPr id="66" name="Google Shape;66;p13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itolo" type="titleOnly">
  <p:cSld name="TITLE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a" showMasterSp="0" typ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fmla="val 7136" name="adj"/>
            </a:avLst>
          </a:prstGeom>
          <a:gradFill>
            <a:gsLst>
              <a:gs pos="0">
                <a:srgbClr val="0293E0"/>
              </a:gs>
              <a:gs pos="90000">
                <a:srgbClr val="81D2FE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grpSp>
        <p:nvGrpSpPr>
          <p:cNvPr id="76" name="Google Shape;76;p15"/>
          <p:cNvGrpSpPr/>
          <p:nvPr/>
        </p:nvGrpSpPr>
        <p:grpSpPr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7" name="Google Shape;77;p15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862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78" name="Google Shape;78;p15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79" name="Google Shape;79;p15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80" name="Google Shape;80;p15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81" name="Google Shape;81;p15"/>
            <p:cNvSpPr/>
            <p:nvPr/>
          </p:nvSpPr>
          <p:spPr>
            <a:xfrm>
              <a:off x="-3905251" y="4294188"/>
              <a:ext cx="13027839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82" name="Google Shape;82;p15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to con didascalia" showMasterSp="0" type="objTx">
  <p:cSld name="OBJECT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fmla="val 7136" name="adj"/>
            </a:avLst>
          </a:prstGeom>
          <a:gradFill>
            <a:gsLst>
              <a:gs pos="0">
                <a:srgbClr val="0293E0"/>
              </a:gs>
              <a:gs pos="90000">
                <a:srgbClr val="81D2FE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87" name="Google Shape;87;p16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90" name="Google Shape;90;p16"/>
          <p:cNvSpPr txBox="1"/>
          <p:nvPr>
            <p:ph idx="1" type="body"/>
          </p:nvPr>
        </p:nvSpPr>
        <p:spPr>
          <a:xfrm>
            <a:off x="914400" y="3581400"/>
            <a:ext cx="3352800" cy="1905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grpSp>
        <p:nvGrpSpPr>
          <p:cNvPr id="91" name="Google Shape;91;p16"/>
          <p:cNvGrpSpPr/>
          <p:nvPr/>
        </p:nvGrpSpPr>
        <p:grpSpPr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92" name="Google Shape;92;p16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862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93" name="Google Shape;93;p16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94" name="Google Shape;94;p16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95" name="Google Shape;95;p16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96" name="Google Shape;96;p16"/>
            <p:cNvSpPr/>
            <p:nvPr/>
          </p:nvSpPr>
          <p:spPr>
            <a:xfrm>
              <a:off x="-3905250" y="4294188"/>
              <a:ext cx="13011150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97" name="Google Shape;97;p16"/>
          <p:cNvSpPr txBox="1"/>
          <p:nvPr>
            <p:ph type="title"/>
          </p:nvPr>
        </p:nvSpPr>
        <p:spPr>
          <a:xfrm>
            <a:off x="914400" y="2286000"/>
            <a:ext cx="33528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ndara"/>
              <a:buNone/>
              <a:defRPr sz="320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6"/>
          <p:cNvSpPr txBox="1"/>
          <p:nvPr>
            <p:ph idx="2" type="body"/>
          </p:nvPr>
        </p:nvSpPr>
        <p:spPr>
          <a:xfrm>
            <a:off x="4651962" y="1828800"/>
            <a:ext cx="3904076" cy="3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68300" lvl="0" marL="457200" algn="l"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2200"/>
              <a:buChar char="*"/>
              <a:defRPr sz="2200">
                <a:solidFill>
                  <a:schemeClr val="dk2"/>
                </a:solidFill>
              </a:defRPr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*"/>
              <a:defRPr sz="2000">
                <a:solidFill>
                  <a:schemeClr val="dk2"/>
                </a:solidFill>
              </a:defRPr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*"/>
              <a:defRPr sz="1800">
                <a:solidFill>
                  <a:schemeClr val="dk2"/>
                </a:solidFill>
              </a:defRPr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*"/>
              <a:defRPr sz="1600">
                <a:solidFill>
                  <a:schemeClr val="dk2"/>
                </a:solidFill>
              </a:defRPr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*"/>
              <a:defRPr sz="1600">
                <a:solidFill>
                  <a:schemeClr val="dk2"/>
                </a:solidFill>
              </a:defRPr>
            </a:lvl5pPr>
            <a:lvl6pPr indent="-355600" lvl="5" marL="2743200" algn="l">
              <a:spcBef>
                <a:spcPts val="384"/>
              </a:spcBef>
              <a:spcAft>
                <a:spcPts val="0"/>
              </a:spcAft>
              <a:buSzPts val="2000"/>
              <a:buChar char="●"/>
              <a:defRPr sz="2000"/>
            </a:lvl6pPr>
            <a:lvl7pPr indent="-355600" lvl="6" marL="3200400" algn="l">
              <a:spcBef>
                <a:spcPts val="384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algn="l">
              <a:spcBef>
                <a:spcPts val="384"/>
              </a:spcBef>
              <a:spcAft>
                <a:spcPts val="0"/>
              </a:spcAft>
              <a:buSzPts val="2000"/>
              <a:buChar char="●"/>
              <a:defRPr sz="2000"/>
            </a:lvl8pPr>
            <a:lvl9pPr indent="-355600" lvl="8" marL="4114800" algn="l">
              <a:spcBef>
                <a:spcPts val="384"/>
              </a:spcBef>
              <a:spcAft>
                <a:spcPts val="0"/>
              </a:spcAft>
              <a:buSzPts val="2000"/>
              <a:buChar char="●"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agine con didascalia" showMasterSp="0" type="picTx">
  <p:cSld name="PICTURE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fmla="val 1272" name="adj"/>
            </a:avLst>
          </a:prstGeom>
          <a:gradFill>
            <a:gsLst>
              <a:gs pos="0">
                <a:srgbClr val="0293E0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grpSp>
        <p:nvGrpSpPr>
          <p:cNvPr id="101" name="Google Shape;101;p17"/>
          <p:cNvGrpSpPr/>
          <p:nvPr/>
        </p:nvGrpSpPr>
        <p:grpSpPr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2" name="Google Shape;102;p17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862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03" name="Google Shape;103;p17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04" name="Google Shape;104;p17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05" name="Google Shape;105;p17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06" name="Google Shape;106;p17"/>
            <p:cNvSpPr/>
            <p:nvPr/>
          </p:nvSpPr>
          <p:spPr>
            <a:xfrm>
              <a:off x="-3905250" y="4294188"/>
              <a:ext cx="13011150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107" name="Google Shape;107;p17"/>
          <p:cNvSpPr txBox="1"/>
          <p:nvPr>
            <p:ph type="title"/>
          </p:nvPr>
        </p:nvSpPr>
        <p:spPr>
          <a:xfrm>
            <a:off x="4874155" y="338667"/>
            <a:ext cx="3812645" cy="2429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ndara"/>
              <a:buNone/>
              <a:defRPr b="0" sz="280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7"/>
          <p:cNvSpPr txBox="1"/>
          <p:nvPr>
            <p:ph idx="1" type="body"/>
          </p:nvPr>
        </p:nvSpPr>
        <p:spPr>
          <a:xfrm>
            <a:off x="4868333" y="2785533"/>
            <a:ext cx="3818467" cy="24214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9" name="Google Shape;109;p17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7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7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12" name="Google Shape;112;p17"/>
          <p:cNvSpPr/>
          <p:nvPr>
            <p:ph idx="2" type="pic"/>
          </p:nvPr>
        </p:nvSpPr>
        <p:spPr>
          <a:xfrm>
            <a:off x="838200" y="1371600"/>
            <a:ext cx="3566160" cy="2926080"/>
          </a:xfrm>
          <a:prstGeom prst="roundRect">
            <a:avLst>
              <a:gd fmla="val 3924" name="adj"/>
            </a:avLst>
          </a:prstGeom>
          <a:solidFill>
            <a:schemeClr val="accent1"/>
          </a:solidFill>
          <a:ln>
            <a:noFill/>
          </a:ln>
          <a:effectLst>
            <a:reflection blurRad="0" dir="5400000" dist="5000" endA="0" endPos="30000" kx="0" rotWithShape="0" algn="bl" stA="30000" stPos="0" sy="-100000" ky="0"/>
          </a:effectLst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testo verticale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8"/>
          <p:cNvSpPr txBox="1"/>
          <p:nvPr>
            <p:ph idx="1" type="body"/>
          </p:nvPr>
        </p:nvSpPr>
        <p:spPr>
          <a:xfrm rot="5400000">
            <a:off x="2850886" y="696648"/>
            <a:ext cx="3450696" cy="7408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*"/>
              <a:defRPr/>
            </a:lvl1pPr>
            <a:lvl2pPr indent="-368300" lvl="1" marL="914400" algn="l">
              <a:spcBef>
                <a:spcPts val="440"/>
              </a:spcBef>
              <a:spcAft>
                <a:spcPts val="0"/>
              </a:spcAft>
              <a:buSzPts val="2200"/>
              <a:buChar char="*"/>
              <a:defRPr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*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*"/>
              <a:defRPr/>
            </a:lvl5pPr>
            <a:lvl6pPr indent="-342900" lvl="5" marL="27432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16" name="Google Shape;116;p18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8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8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olo e testo verticale" showMasterSp="0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fmla="val 7136" name="adj"/>
            </a:avLst>
          </a:prstGeom>
          <a:gradFill>
            <a:gsLst>
              <a:gs pos="0">
                <a:srgbClr val="0293E0"/>
              </a:gs>
              <a:gs pos="90000">
                <a:srgbClr val="81D2FE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21" name="Google Shape;121;p19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9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9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grpSp>
        <p:nvGrpSpPr>
          <p:cNvPr id="124" name="Google Shape;124;p19"/>
          <p:cNvGrpSpPr/>
          <p:nvPr/>
        </p:nvGrpSpPr>
        <p:grpSpPr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25" name="Google Shape;125;p19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862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26" name="Google Shape;126;p19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27" name="Google Shape;127;p19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28" name="Google Shape;128;p19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29" name="Google Shape;129;p19"/>
            <p:cNvSpPr/>
            <p:nvPr/>
          </p:nvSpPr>
          <p:spPr>
            <a:xfrm>
              <a:off x="-3905250" y="4294188"/>
              <a:ext cx="13011150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130" name="Google Shape;130;p19"/>
          <p:cNvSpPr txBox="1"/>
          <p:nvPr>
            <p:ph type="title"/>
          </p:nvPr>
        </p:nvSpPr>
        <p:spPr>
          <a:xfrm rot="5400000">
            <a:off x="5414434" y="2662767"/>
            <a:ext cx="4487333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9"/>
          <p:cNvSpPr txBox="1"/>
          <p:nvPr>
            <p:ph idx="1" type="body"/>
          </p:nvPr>
        </p:nvSpPr>
        <p:spPr>
          <a:xfrm rot="5400000">
            <a:off x="1223433" y="681567"/>
            <a:ext cx="448733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*"/>
              <a:defRPr/>
            </a:lvl1pPr>
            <a:lvl2pPr indent="-368300" lvl="1" marL="91440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200"/>
              <a:buChar char="*"/>
              <a:defRPr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*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*"/>
              <a:defRPr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*"/>
              <a:defRPr/>
            </a:lvl5pPr>
            <a:lvl6pPr indent="-342900" lvl="5" marL="27432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fmla="val 3362" name="adj"/>
            </a:avLst>
          </a:prstGeom>
          <a:gradFill>
            <a:gsLst>
              <a:gs pos="0">
                <a:srgbClr val="0293E0"/>
              </a:gs>
              <a:gs pos="90000">
                <a:srgbClr val="81D2FE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grpSp>
        <p:nvGrpSpPr>
          <p:cNvPr id="11" name="Google Shape;11;p8"/>
          <p:cNvGrpSpPr/>
          <p:nvPr/>
        </p:nvGrpSpPr>
        <p:grpSpPr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2" name="Google Shape;12;p8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862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3" name="Google Shape;13;p8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4" name="Google Shape;14;p8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5" name="Google Shape;15;p8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6" name="Google Shape;16;p8"/>
            <p:cNvSpPr/>
            <p:nvPr/>
          </p:nvSpPr>
          <p:spPr>
            <a:xfrm>
              <a:off x="-3905251" y="4294188"/>
              <a:ext cx="13027839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17" name="Google Shape;17;p8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  <a:defRPr b="0" i="0" sz="4400" u="none" cap="none" strike="noStrike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" name="Google Shape;18;p8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/>
        </p:txBody>
      </p:sp>
      <p:sp>
        <p:nvSpPr>
          <p:cNvPr id="19" name="Google Shape;19;p8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/>
        </p:txBody>
      </p:sp>
      <p:sp>
        <p:nvSpPr>
          <p:cNvPr id="20" name="Google Shape;20;p8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0" lvl="1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indent="0" lvl="2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indent="0" lvl="3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indent="0" lvl="4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indent="0" lvl="5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indent="0" lvl="6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indent="0" lvl="7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indent="0" lvl="8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1" name="Google Shape;21;p8"/>
          <p:cNvSpPr txBox="1"/>
          <p:nvPr>
            <p:ph idx="1" type="body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*"/>
              <a:defRPr b="0" i="0" sz="24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-368300" lvl="1" marL="9144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*"/>
              <a:defRPr b="0" i="0" sz="22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*"/>
              <a:defRPr b="0" i="0" sz="20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*"/>
              <a:defRPr b="0" i="0" sz="18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*"/>
              <a:defRPr b="0" i="0" sz="16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indent="-317500" lvl="5" marL="2743200" marR="0" rtl="0" algn="l">
              <a:spcBef>
                <a:spcPts val="384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indent="-317500" lvl="6" marL="3200400" marR="0" rtl="0" algn="l">
              <a:spcBef>
                <a:spcPts val="384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indent="-317500" lvl="7" marL="3657600" marR="0" rtl="0" algn="l">
              <a:spcBef>
                <a:spcPts val="384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indent="-317500" lvl="8" marL="4114800" marR="0" rtl="0" algn="l">
              <a:spcBef>
                <a:spcPts val="384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"/>
          <p:cNvSpPr txBox="1"/>
          <p:nvPr>
            <p:ph idx="1" type="body"/>
          </p:nvPr>
        </p:nvSpPr>
        <p:spPr>
          <a:xfrm>
            <a:off x="872067" y="1916832"/>
            <a:ext cx="7408333" cy="4209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1920" lvl="0" marL="27432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Un’altra caratteristica interessante che deriva dall’ereditarietà e che è tipica della programmazione object oriented è il </a:t>
            </a:r>
            <a:r>
              <a:rPr b="1" lang="it-IT"/>
              <a:t>polimorfismo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Per </a:t>
            </a:r>
            <a:r>
              <a:rPr b="1" lang="it-IT"/>
              <a:t>polimorfismo </a:t>
            </a:r>
            <a:r>
              <a:rPr lang="it-IT"/>
              <a:t>si intende la capacità di un oggetto di assumere forme diverse durante l’esecuzione del codice. Ad esempio potremmo dichiarare un oggetto di classe «padre», istanziarlo inizialmente di classe «padre» e poi in un altro punto del codice potremmo re-istanziarlo questa volta di classe «figlia»</a:t>
            </a:r>
            <a:endParaRPr/>
          </a:p>
        </p:txBody>
      </p:sp>
      <p:sp>
        <p:nvSpPr>
          <p:cNvPr id="137" name="Google Shape;137;p1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38" name="Google Shape;138;p1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Ereditarietà e Polimorfismo (1/3)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"/>
          <p:cNvSpPr txBox="1"/>
          <p:nvPr>
            <p:ph idx="1" type="body"/>
          </p:nvPr>
        </p:nvSpPr>
        <p:spPr>
          <a:xfrm>
            <a:off x="872067" y="1988840"/>
            <a:ext cx="7408333" cy="4137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i="1" lang="it-IT" sz="1800"/>
              <a:t>Parent parent1 = null;</a:t>
            </a:r>
            <a:endParaRPr/>
          </a:p>
          <a:p>
            <a:pPr indent="0" lvl="0" marL="0" rtl="0" algn="l">
              <a:spcBef>
                <a:spcPts val="333"/>
              </a:spcBef>
              <a:spcAft>
                <a:spcPts val="0"/>
              </a:spcAft>
              <a:buSzPct val="100000"/>
              <a:buNone/>
            </a:pPr>
            <a:r>
              <a:rPr i="1" lang="it-IT" sz="1800"/>
              <a:t>parent1 = new Parent();</a:t>
            </a:r>
            <a:endParaRPr i="1" sz="1800"/>
          </a:p>
          <a:p>
            <a:pPr indent="0" lvl="0" marL="0" rtl="0" algn="l">
              <a:spcBef>
                <a:spcPts val="333"/>
              </a:spcBef>
              <a:spcAft>
                <a:spcPts val="0"/>
              </a:spcAft>
              <a:buSzPct val="100000"/>
              <a:buNone/>
            </a:pPr>
            <a:r>
              <a:rPr i="1" lang="it-IT" sz="1800"/>
              <a:t>System.out.println("\nParent1.stringa3: " + parent1.getStringa3());</a:t>
            </a:r>
            <a:endParaRPr i="1" sz="1800"/>
          </a:p>
          <a:p>
            <a:pPr indent="0" lvl="0" marL="0" rtl="0" algn="l">
              <a:spcBef>
                <a:spcPts val="333"/>
              </a:spcBef>
              <a:spcAft>
                <a:spcPts val="0"/>
              </a:spcAft>
              <a:buSzPct val="100000"/>
              <a:buNone/>
            </a:pPr>
            <a:r>
              <a:rPr i="1" lang="it-IT" sz="1800"/>
              <a:t>parent1 = new Child();</a:t>
            </a:r>
            <a:endParaRPr i="1" sz="1800"/>
          </a:p>
          <a:p>
            <a:pPr indent="0" lvl="0" marL="0" rtl="0" algn="l">
              <a:spcBef>
                <a:spcPts val="333"/>
              </a:spcBef>
              <a:spcAft>
                <a:spcPts val="0"/>
              </a:spcAft>
              <a:buSzPct val="100000"/>
              <a:buNone/>
            </a:pPr>
            <a:r>
              <a:rPr i="1" lang="it-IT" sz="1800"/>
              <a:t>System.out.println("Parent1.stringa3: " + parent1.getStringa3());</a:t>
            </a:r>
            <a:endParaRPr/>
          </a:p>
          <a:p>
            <a:pPr indent="0" lvl="0" marL="0" rtl="0" algn="l">
              <a:spcBef>
                <a:spcPts val="333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i="1" sz="1800"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E l’output sarebbe stato: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SzPct val="100000"/>
              <a:buNone/>
            </a:pPr>
            <a:r>
              <a:rPr i="1" lang="it-IT" sz="1800"/>
              <a:t>	</a:t>
            </a:r>
            <a:r>
              <a:rPr i="1" lang="it-IT" sz="2000"/>
              <a:t>Parent1.stringa3: Stringa 3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SzPct val="100000"/>
              <a:buNone/>
            </a:pPr>
            <a:r>
              <a:rPr i="1" lang="it-IT" sz="2000"/>
              <a:t>	Parent1.stringa3: Stringa3(Child)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i="1" sz="2000"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Ovvero l’oggetto </a:t>
            </a:r>
            <a:r>
              <a:rPr i="1" lang="it-IT"/>
              <a:t>parent1</a:t>
            </a:r>
            <a:r>
              <a:rPr lang="it-IT"/>
              <a:t> viene prima istanziato come oggetto di classe </a:t>
            </a:r>
            <a:r>
              <a:rPr i="1" lang="it-IT"/>
              <a:t>Parent</a:t>
            </a:r>
            <a:r>
              <a:rPr lang="it-IT"/>
              <a:t> e successivamente istanziato come oggetto di classe </a:t>
            </a:r>
            <a:r>
              <a:rPr i="1" lang="it-IT"/>
              <a:t>Child</a:t>
            </a:r>
            <a:endParaRPr/>
          </a:p>
        </p:txBody>
      </p:sp>
      <p:sp>
        <p:nvSpPr>
          <p:cNvPr id="144" name="Google Shape;144;p2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45" name="Google Shape;145;p2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Ereditarietà e Polimorfismo (2/3)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"/>
          <p:cNvSpPr txBox="1"/>
          <p:nvPr>
            <p:ph idx="1" type="body"/>
          </p:nvPr>
        </p:nvSpPr>
        <p:spPr>
          <a:xfrm>
            <a:off x="872067" y="1916832"/>
            <a:ext cx="7408333" cy="4209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Da notare, nell’esempio precedente, che la stampa a video prodotta dal metodo </a:t>
            </a:r>
            <a:r>
              <a:rPr i="1" lang="it-IT"/>
              <a:t>getStringa3()</a:t>
            </a:r>
            <a:r>
              <a:rPr lang="it-IT"/>
              <a:t> fa riferimento all’implementazione della classe </a:t>
            </a:r>
            <a:r>
              <a:rPr i="1" lang="it-IT"/>
              <a:t>Parent</a:t>
            </a:r>
            <a:r>
              <a:rPr lang="it-IT"/>
              <a:t> o della classe </a:t>
            </a:r>
            <a:r>
              <a:rPr i="1" lang="it-IT"/>
              <a:t>Child</a:t>
            </a:r>
            <a:r>
              <a:rPr lang="it-IT"/>
              <a:t> a seconda se </a:t>
            </a:r>
            <a:r>
              <a:rPr i="1" lang="it-IT"/>
              <a:t>parent1 </a:t>
            </a:r>
            <a:r>
              <a:rPr lang="it-IT"/>
              <a:t>è stato istanziato rispettivamente come oggetto di classe </a:t>
            </a:r>
            <a:r>
              <a:rPr i="1" lang="it-IT"/>
              <a:t>Parent</a:t>
            </a:r>
            <a:r>
              <a:rPr lang="it-IT"/>
              <a:t> o di classe </a:t>
            </a:r>
            <a:r>
              <a:rPr i="1" lang="it-IT"/>
              <a:t>Child</a:t>
            </a:r>
            <a:r>
              <a:rPr lang="it-IT"/>
              <a:t> (</a:t>
            </a:r>
            <a:r>
              <a:rPr b="1" lang="it-IT"/>
              <a:t>polimorfismo</a:t>
            </a:r>
            <a:r>
              <a:rPr lang="it-IT"/>
              <a:t>)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Da notare anche che avendo dichiarato </a:t>
            </a:r>
            <a:r>
              <a:rPr i="1" lang="it-IT"/>
              <a:t>parent1</a:t>
            </a:r>
            <a:r>
              <a:rPr lang="it-IT"/>
              <a:t> come oggetto di classe </a:t>
            </a:r>
            <a:r>
              <a:rPr i="1" lang="it-IT"/>
              <a:t>Parent</a:t>
            </a:r>
            <a:r>
              <a:rPr lang="it-IT"/>
              <a:t>, </a:t>
            </a:r>
            <a:r>
              <a:rPr i="1" lang="it-IT"/>
              <a:t>parent1</a:t>
            </a:r>
            <a:r>
              <a:rPr lang="it-IT"/>
              <a:t> vedrà solo i metodi definiti nella classe </a:t>
            </a:r>
            <a:r>
              <a:rPr i="1" lang="it-IT"/>
              <a:t>Parent</a:t>
            </a:r>
            <a:r>
              <a:rPr lang="it-IT"/>
              <a:t> più la versione </a:t>
            </a:r>
            <a:r>
              <a:rPr b="1" lang="it-IT"/>
              <a:t>overriden</a:t>
            </a:r>
            <a:r>
              <a:rPr lang="it-IT"/>
              <a:t> del metodo </a:t>
            </a:r>
            <a:r>
              <a:rPr i="1" lang="it-IT"/>
              <a:t>getStringa3() </a:t>
            </a:r>
            <a:r>
              <a:rPr lang="it-IT"/>
              <a:t>della classe </a:t>
            </a:r>
            <a:r>
              <a:rPr i="1" lang="it-IT"/>
              <a:t>Child</a:t>
            </a:r>
            <a:r>
              <a:rPr lang="it-IT"/>
              <a:t>, quando viene re-instanziato di classe </a:t>
            </a:r>
            <a:r>
              <a:rPr i="1" lang="it-IT"/>
              <a:t>Child</a:t>
            </a:r>
            <a:endParaRPr/>
          </a:p>
        </p:txBody>
      </p:sp>
      <p:sp>
        <p:nvSpPr>
          <p:cNvPr id="151" name="Google Shape;151;p3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52" name="Google Shape;152;p3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Ereditarietà e Polimorfismo (3/3)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"/>
          <p:cNvSpPr txBox="1"/>
          <p:nvPr>
            <p:ph idx="1" type="body"/>
          </p:nvPr>
        </p:nvSpPr>
        <p:spPr>
          <a:xfrm>
            <a:off x="872067" y="1844824"/>
            <a:ext cx="7408333" cy="428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Quindi </a:t>
            </a:r>
            <a:r>
              <a:rPr i="1" lang="it-IT"/>
              <a:t>parent1</a:t>
            </a:r>
            <a:r>
              <a:rPr lang="it-IT"/>
              <a:t> non vede mai i metodi specifici di </a:t>
            </a:r>
            <a:r>
              <a:rPr i="1" lang="it-IT"/>
              <a:t>Child</a:t>
            </a:r>
            <a:r>
              <a:rPr lang="it-IT"/>
              <a:t>, nemmeno quando viene re-instanziato di classe </a:t>
            </a:r>
            <a:r>
              <a:rPr i="1" lang="it-IT"/>
              <a:t>Child</a:t>
            </a:r>
            <a:r>
              <a:rPr lang="it-IT"/>
              <a:t>. Per risolvere questo problema si può sempre effettuare un </a:t>
            </a:r>
            <a:r>
              <a:rPr b="1" lang="it-IT"/>
              <a:t>cast</a:t>
            </a:r>
            <a:r>
              <a:rPr lang="it-IT"/>
              <a:t>, dell’oggetto </a:t>
            </a:r>
            <a:r>
              <a:rPr i="1" lang="it-IT"/>
              <a:t>parent1 </a:t>
            </a:r>
            <a:r>
              <a:rPr lang="it-IT"/>
              <a:t> da </a:t>
            </a:r>
            <a:r>
              <a:rPr i="1" lang="it-IT"/>
              <a:t>Parent </a:t>
            </a:r>
            <a:r>
              <a:rPr lang="it-IT"/>
              <a:t>a</a:t>
            </a:r>
            <a:r>
              <a:rPr i="1" lang="it-IT"/>
              <a:t> Child</a:t>
            </a:r>
            <a:r>
              <a:rPr lang="it-IT"/>
              <a:t> tramite l’istruzione 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Child</a:t>
            </a:r>
            <a:r>
              <a:rPr lang="it-IT"/>
              <a:t> </a:t>
            </a:r>
            <a:r>
              <a:rPr i="1" lang="it-IT"/>
              <a:t>parent2 = (Child) parent1;</a:t>
            </a:r>
            <a:r>
              <a:rPr lang="it-IT"/>
              <a:t> </a:t>
            </a:r>
            <a:endParaRPr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e a questo punto </a:t>
            </a:r>
            <a:r>
              <a:rPr i="1" lang="it-IT"/>
              <a:t>parent2</a:t>
            </a:r>
            <a:r>
              <a:rPr lang="it-IT"/>
              <a:t> ha visibilità anche dei metodi della classe </a:t>
            </a:r>
            <a:r>
              <a:rPr i="1" lang="it-IT"/>
              <a:t>Child</a:t>
            </a:r>
            <a:r>
              <a:rPr lang="it-IT"/>
              <a:t>:</a:t>
            </a:r>
            <a:endParaRPr/>
          </a:p>
          <a:p>
            <a:pPr indent="0" lvl="1" marL="301943" rtl="0" algn="l">
              <a:spcBef>
                <a:spcPts val="407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Child parent2 = (Child) parent1;</a:t>
            </a:r>
            <a:endParaRPr i="1"/>
          </a:p>
          <a:p>
            <a:pPr indent="0" lvl="1" marL="301943" rtl="0" algn="l">
              <a:spcBef>
                <a:spcPts val="407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System.out.println("Parent2.stringa4: " + parent2.getStringa4());</a:t>
            </a:r>
            <a:endParaRPr i="1"/>
          </a:p>
          <a:p>
            <a:pPr indent="0" lvl="1" marL="301943" rtl="0" algn="l">
              <a:spcBef>
                <a:spcPts val="407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System.out.println("Parent2.parentStringa3"+parent2.getParentStringa3());</a:t>
            </a:r>
            <a:endParaRPr i="1"/>
          </a:p>
        </p:txBody>
      </p:sp>
      <p:sp>
        <p:nvSpPr>
          <p:cNvPr id="158" name="Google Shape;158;p4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59" name="Google Shape;159;p4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Ereditarietà e Polimorfismo</a:t>
            </a:r>
            <a:br>
              <a:rPr lang="it-IT"/>
            </a:br>
            <a:r>
              <a:rPr lang="it-IT"/>
              <a:t>Class Cast (1/3)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"/>
          <p:cNvSpPr txBox="1"/>
          <p:nvPr>
            <p:ph idx="1" type="body"/>
          </p:nvPr>
        </p:nvSpPr>
        <p:spPr>
          <a:xfrm>
            <a:off x="872067" y="2060848"/>
            <a:ext cx="7408333" cy="4065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Quando si ha a che fare col «cast» occorre fare attenzione alle due fasi di compilazione e di esecuzione/runtime del programma: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in fase di compilazione il «cast» è sempre ammesso da classe </a:t>
            </a:r>
            <a:r>
              <a:rPr i="1" lang="it-IT"/>
              <a:t>padre</a:t>
            </a:r>
            <a:r>
              <a:rPr lang="it-IT"/>
              <a:t> a classe </a:t>
            </a:r>
            <a:r>
              <a:rPr i="1" lang="it-IT"/>
              <a:t>figlia</a:t>
            </a:r>
            <a:r>
              <a:rPr lang="it-IT"/>
              <a:t> (e poi vedremo anche con le interfacce) perché esiste compatibilità tra le due classi. Si dice che un oggetto di classe </a:t>
            </a:r>
            <a:r>
              <a:rPr i="1" lang="it-IT"/>
              <a:t>figlia</a:t>
            </a:r>
            <a:r>
              <a:rPr lang="it-IT"/>
              <a:t> è sempre anche un’istanza di classe </a:t>
            </a:r>
            <a:r>
              <a:rPr i="1" lang="it-IT"/>
              <a:t>padre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a runtime, invece, il «cast» potrebbe non funzionare (generando una eccezione/errore nel programma) se nell’istante in cui viene eseguito il «cast» l’oggetto non è istanziato di classe </a:t>
            </a:r>
            <a:r>
              <a:rPr i="1" lang="it-IT"/>
              <a:t>figlia</a:t>
            </a:r>
            <a:endParaRPr i="1"/>
          </a:p>
        </p:txBody>
      </p:sp>
      <p:sp>
        <p:nvSpPr>
          <p:cNvPr id="165" name="Google Shape;165;p5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66" name="Google Shape;166;p5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Ereditarietà e Polimorfismo</a:t>
            </a:r>
            <a:br>
              <a:rPr lang="it-IT"/>
            </a:br>
            <a:r>
              <a:rPr lang="it-IT"/>
              <a:t>Class Cast (2/3)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"/>
          <p:cNvSpPr txBox="1"/>
          <p:nvPr>
            <p:ph idx="1" type="body"/>
          </p:nvPr>
        </p:nvSpPr>
        <p:spPr>
          <a:xfrm>
            <a:off x="872067" y="1772816"/>
            <a:ext cx="7408333" cy="4353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1920" lvl="0" marL="27432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Esempio con due «cast», entrambi non danno errori di compilazione, ma il primo darebbe errore a runtime, mentre il secondo è corretto anche a runtime: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i="1" lang="it-IT" sz="2000"/>
              <a:t>	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i="1" lang="it-IT" sz="2000"/>
              <a:t>	Parent parent1 = null;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i="1" lang="it-IT" sz="2000"/>
              <a:t>	parent1 = new Parent();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i="1" lang="it-IT" sz="2000"/>
              <a:t>	Child parent2 = (Child) parent1; // qui NO</a:t>
            </a:r>
            <a:endParaRPr i="1"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i="1" lang="it-IT" sz="2000"/>
              <a:t>	parent1 = new Child();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i="1" lang="it-IT" sz="2000"/>
              <a:t>	Child parent2 = (Child) parent1; // qui SI</a:t>
            </a:r>
            <a:endParaRPr i="1" sz="2000"/>
          </a:p>
          <a:p>
            <a:pPr indent="-121920" lvl="0" marL="27432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73" name="Google Shape;173;p6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Ereditarietà e Polimorfismo</a:t>
            </a:r>
            <a:br>
              <a:rPr lang="it-IT"/>
            </a:br>
            <a:r>
              <a:rPr lang="it-IT"/>
              <a:t>Class Cast (3/3)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"/>
          <p:cNvSpPr txBox="1"/>
          <p:nvPr>
            <p:ph idx="1" type="body"/>
          </p:nvPr>
        </p:nvSpPr>
        <p:spPr>
          <a:xfrm>
            <a:off x="872067" y="1844824"/>
            <a:ext cx="7408333" cy="428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Se abbiamo un metodo con la firma:</a:t>
            </a:r>
            <a:endParaRPr/>
          </a:p>
          <a:p>
            <a:pPr indent="0" lvl="0" marL="27432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public void metodo(Parent ref)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nel corpo del metodo non sappiamo se </a:t>
            </a:r>
            <a:r>
              <a:rPr i="1" lang="it-IT"/>
              <a:t>ref</a:t>
            </a:r>
            <a:r>
              <a:rPr lang="it-IT"/>
              <a:t> è stato istanziato come </a:t>
            </a:r>
            <a:r>
              <a:rPr i="1" lang="it-IT"/>
              <a:t>new Parent()</a:t>
            </a:r>
            <a:r>
              <a:rPr lang="it-IT"/>
              <a:t> o come </a:t>
            </a:r>
            <a:r>
              <a:rPr i="1" lang="it-IT"/>
              <a:t>new Child()</a:t>
            </a:r>
            <a:r>
              <a:rPr lang="it-IT"/>
              <a:t>, per cui se volessimo fare un </a:t>
            </a:r>
            <a:r>
              <a:rPr i="1" lang="it-IT"/>
              <a:t>cast</a:t>
            </a:r>
            <a:r>
              <a:rPr lang="it-IT"/>
              <a:t> sicuro, senza errori in fase di esecuzione, dovremmo prima testare di che istanza è </a:t>
            </a:r>
            <a:r>
              <a:rPr i="1" lang="it-IT"/>
              <a:t>ref</a:t>
            </a:r>
            <a:r>
              <a:rPr lang="it-IT"/>
              <a:t> tramite la parola chiave </a:t>
            </a:r>
            <a:r>
              <a:rPr i="1" lang="it-IT"/>
              <a:t>instanceof</a:t>
            </a:r>
            <a:r>
              <a:rPr lang="it-IT"/>
              <a:t>:</a:t>
            </a:r>
            <a:endParaRPr/>
          </a:p>
          <a:p>
            <a:pPr indent="0" lvl="2" marL="5813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if ( ref instanceof Child ){</a:t>
            </a:r>
            <a:endParaRPr/>
          </a:p>
          <a:p>
            <a:pPr indent="0" lvl="3" marL="91440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/>
              <a:t>Child c = (Child) ref;</a:t>
            </a:r>
            <a:endParaRPr/>
          </a:p>
          <a:p>
            <a:pPr indent="0" lvl="3" marL="91440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/>
              <a:t>…..</a:t>
            </a:r>
            <a:endParaRPr/>
          </a:p>
          <a:p>
            <a:pPr indent="0" lvl="2" marL="5813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}</a:t>
            </a:r>
            <a:endParaRPr/>
          </a:p>
        </p:txBody>
      </p:sp>
      <p:sp>
        <p:nvSpPr>
          <p:cNvPr id="179" name="Google Shape;179;p7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80" name="Google Shape;180;p7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instanceof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nde">
  <a:themeElements>
    <a:clrScheme name="Onde">
      <a:dk1>
        <a:srgbClr val="000000"/>
      </a:dk1>
      <a:lt1>
        <a:srgbClr val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2020-03-12T08:56:57Z</dcterms:created>
  <dc:creator>Roberto Santoro</dc:creator>
</cp:coreProperties>
</file>