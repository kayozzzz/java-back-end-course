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20"/>
  </p:notesMasterIdLst>
  <p:sldIdLst>
    <p:sldId id="256" r:id="rId2"/>
    <p:sldId id="281" r:id="rId3"/>
    <p:sldId id="282" r:id="rId4"/>
    <p:sldId id="285" r:id="rId5"/>
    <p:sldId id="319" r:id="rId6"/>
    <p:sldId id="321" r:id="rId7"/>
    <p:sldId id="320" r:id="rId8"/>
    <p:sldId id="283" r:id="rId9"/>
    <p:sldId id="284" r:id="rId10"/>
    <p:sldId id="286" r:id="rId11"/>
    <p:sldId id="287" r:id="rId12"/>
    <p:sldId id="288" r:id="rId13"/>
    <p:sldId id="289" r:id="rId14"/>
    <p:sldId id="290" r:id="rId15"/>
    <p:sldId id="291" r:id="rId16"/>
    <p:sldId id="292" r:id="rId17"/>
    <p:sldId id="293" r:id="rId18"/>
    <p:sldId id="294" r:id="rId19"/>
  </p:sldIdLst>
  <p:sldSz cx="9144000" cy="6858000" type="screen4x3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1" autoAdjust="0"/>
    <p:restoredTop sz="94681" autoAdjust="0"/>
  </p:normalViewPr>
  <p:slideViewPr>
    <p:cSldViewPr>
      <p:cViewPr varScale="1">
        <p:scale>
          <a:sx n="83" d="100"/>
          <a:sy n="83" d="100"/>
        </p:scale>
        <p:origin x="1450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40" y="15676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D70AA1-E622-47CB-86EB-1B14FCE7E646}" type="datetimeFigureOut">
              <a:rPr lang="it-IT" smtClean="0"/>
              <a:t>23/05/2023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5FF30F-A231-417B-99B7-615F441DE74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261975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9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1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5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600200"/>
            <a:ext cx="7772400" cy="1780108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556001"/>
            <a:ext cx="6400800" cy="14732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 smtClean="0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FC35B-5C48-48D4-ADF6-AD39B83EDF67}" type="datetime1">
              <a:rPr lang="it-IT" smtClean="0"/>
              <a:t>23/05/2023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3515E0-0E5C-4478-9BDA-31A75B36BDEE}" type="datetime1">
              <a:rPr lang="it-IT" smtClean="0"/>
              <a:t>23/05/2023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4736592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14"/>
          <p:cNvSpPr>
            <a:spLocks/>
          </p:cNvSpPr>
          <p:nvPr/>
        </p:nvSpPr>
        <p:spPr bwMode="hidden">
          <a:xfrm>
            <a:off x="6047438" y="4203592"/>
            <a:ext cx="2876429" cy="714026"/>
          </a:xfrm>
          <a:custGeom>
            <a:avLst/>
            <a:gdLst/>
            <a:ahLst/>
            <a:cxnLst>
              <a:cxn ang="0">
                <a:pos x="2700" y="0"/>
              </a:cxn>
              <a:cxn ang="0">
                <a:pos x="2700" y="0"/>
              </a:cxn>
              <a:cxn ang="0">
                <a:pos x="2586" y="18"/>
              </a:cxn>
              <a:cxn ang="0">
                <a:pos x="2470" y="38"/>
              </a:cxn>
              <a:cxn ang="0">
                <a:pos x="2352" y="60"/>
              </a:cxn>
              <a:cxn ang="0">
                <a:pos x="2230" y="82"/>
              </a:cxn>
              <a:cxn ang="0">
                <a:pos x="2106" y="108"/>
              </a:cxn>
              <a:cxn ang="0">
                <a:pos x="1978" y="134"/>
              </a:cxn>
              <a:cxn ang="0">
                <a:pos x="1848" y="164"/>
              </a:cxn>
              <a:cxn ang="0">
                <a:pos x="1714" y="194"/>
              </a:cxn>
              <a:cxn ang="0">
                <a:pos x="1714" y="194"/>
              </a:cxn>
              <a:cxn ang="0">
                <a:pos x="1472" y="252"/>
              </a:cxn>
              <a:cxn ang="0">
                <a:pos x="1236" y="304"/>
              </a:cxn>
              <a:cxn ang="0">
                <a:pos x="1010" y="352"/>
              </a:cxn>
              <a:cxn ang="0">
                <a:pos x="792" y="398"/>
              </a:cxn>
              <a:cxn ang="0">
                <a:pos x="584" y="438"/>
              </a:cxn>
              <a:cxn ang="0">
                <a:pos x="382" y="474"/>
              </a:cxn>
              <a:cxn ang="0">
                <a:pos x="188" y="508"/>
              </a:cxn>
              <a:cxn ang="0">
                <a:pos x="0" y="538"/>
              </a:cxn>
              <a:cxn ang="0">
                <a:pos x="0" y="538"/>
              </a:cxn>
              <a:cxn ang="0">
                <a:pos x="130" y="556"/>
              </a:cxn>
              <a:cxn ang="0">
                <a:pos x="254" y="572"/>
              </a:cxn>
              <a:cxn ang="0">
                <a:pos x="374" y="586"/>
              </a:cxn>
              <a:cxn ang="0">
                <a:pos x="492" y="598"/>
              </a:cxn>
              <a:cxn ang="0">
                <a:pos x="606" y="610"/>
              </a:cxn>
              <a:cxn ang="0">
                <a:pos x="716" y="618"/>
              </a:cxn>
              <a:cxn ang="0">
                <a:pos x="822" y="626"/>
              </a:cxn>
              <a:cxn ang="0">
                <a:pos x="926" y="632"/>
              </a:cxn>
              <a:cxn ang="0">
                <a:pos x="1028" y="636"/>
              </a:cxn>
              <a:cxn ang="0">
                <a:pos x="1126" y="638"/>
              </a:cxn>
              <a:cxn ang="0">
                <a:pos x="1220" y="640"/>
              </a:cxn>
              <a:cxn ang="0">
                <a:pos x="1312" y="640"/>
              </a:cxn>
              <a:cxn ang="0">
                <a:pos x="1402" y="638"/>
              </a:cxn>
              <a:cxn ang="0">
                <a:pos x="1490" y="636"/>
              </a:cxn>
              <a:cxn ang="0">
                <a:pos x="1574" y="632"/>
              </a:cxn>
              <a:cxn ang="0">
                <a:pos x="1656" y="626"/>
              </a:cxn>
              <a:cxn ang="0">
                <a:pos x="1734" y="620"/>
              </a:cxn>
              <a:cxn ang="0">
                <a:pos x="1812" y="612"/>
              </a:cxn>
              <a:cxn ang="0">
                <a:pos x="1886" y="602"/>
              </a:cxn>
              <a:cxn ang="0">
                <a:pos x="1960" y="592"/>
              </a:cxn>
              <a:cxn ang="0">
                <a:pos x="2030" y="580"/>
              </a:cxn>
              <a:cxn ang="0">
                <a:pos x="2100" y="568"/>
              </a:cxn>
              <a:cxn ang="0">
                <a:pos x="2166" y="554"/>
              </a:cxn>
              <a:cxn ang="0">
                <a:pos x="2232" y="540"/>
              </a:cxn>
              <a:cxn ang="0">
                <a:pos x="2296" y="524"/>
              </a:cxn>
              <a:cxn ang="0">
                <a:pos x="2358" y="508"/>
              </a:cxn>
              <a:cxn ang="0">
                <a:pos x="2418" y="490"/>
              </a:cxn>
              <a:cxn ang="0">
                <a:pos x="2478" y="472"/>
              </a:cxn>
              <a:cxn ang="0">
                <a:pos x="2592" y="432"/>
              </a:cxn>
              <a:cxn ang="0">
                <a:pos x="2702" y="390"/>
              </a:cxn>
              <a:cxn ang="0">
                <a:pos x="2702" y="390"/>
              </a:cxn>
              <a:cxn ang="0">
                <a:pos x="2706" y="388"/>
              </a:cxn>
              <a:cxn ang="0">
                <a:pos x="2706" y="388"/>
              </a:cxn>
              <a:cxn ang="0">
                <a:pos x="2706" y="0"/>
              </a:cxn>
              <a:cxn ang="0">
                <a:pos x="2706" y="0"/>
              </a:cxn>
              <a:cxn ang="0">
                <a:pos x="2700" y="0"/>
              </a:cxn>
              <a:cxn ang="0">
                <a:pos x="2700" y="0"/>
              </a:cxn>
            </a:cxnLst>
            <a:rect l="0" t="0" r="r" b="b"/>
            <a:pathLst>
              <a:path w="2706" h="640">
                <a:moveTo>
                  <a:pt x="2700" y="0"/>
                </a:moveTo>
                <a:lnTo>
                  <a:pt x="2700" y="0"/>
                </a:lnTo>
                <a:lnTo>
                  <a:pt x="2586" y="18"/>
                </a:lnTo>
                <a:lnTo>
                  <a:pt x="2470" y="38"/>
                </a:lnTo>
                <a:lnTo>
                  <a:pt x="2352" y="60"/>
                </a:lnTo>
                <a:lnTo>
                  <a:pt x="2230" y="82"/>
                </a:lnTo>
                <a:lnTo>
                  <a:pt x="2106" y="108"/>
                </a:lnTo>
                <a:lnTo>
                  <a:pt x="1978" y="134"/>
                </a:lnTo>
                <a:lnTo>
                  <a:pt x="1848" y="164"/>
                </a:lnTo>
                <a:lnTo>
                  <a:pt x="1714" y="194"/>
                </a:lnTo>
                <a:lnTo>
                  <a:pt x="1714" y="194"/>
                </a:lnTo>
                <a:lnTo>
                  <a:pt x="1472" y="252"/>
                </a:lnTo>
                <a:lnTo>
                  <a:pt x="1236" y="304"/>
                </a:lnTo>
                <a:lnTo>
                  <a:pt x="1010" y="352"/>
                </a:lnTo>
                <a:lnTo>
                  <a:pt x="792" y="398"/>
                </a:lnTo>
                <a:lnTo>
                  <a:pt x="584" y="438"/>
                </a:lnTo>
                <a:lnTo>
                  <a:pt x="382" y="474"/>
                </a:lnTo>
                <a:lnTo>
                  <a:pt x="188" y="508"/>
                </a:lnTo>
                <a:lnTo>
                  <a:pt x="0" y="538"/>
                </a:lnTo>
                <a:lnTo>
                  <a:pt x="0" y="538"/>
                </a:lnTo>
                <a:lnTo>
                  <a:pt x="130" y="556"/>
                </a:lnTo>
                <a:lnTo>
                  <a:pt x="254" y="572"/>
                </a:lnTo>
                <a:lnTo>
                  <a:pt x="374" y="586"/>
                </a:lnTo>
                <a:lnTo>
                  <a:pt x="492" y="598"/>
                </a:lnTo>
                <a:lnTo>
                  <a:pt x="606" y="610"/>
                </a:lnTo>
                <a:lnTo>
                  <a:pt x="716" y="618"/>
                </a:lnTo>
                <a:lnTo>
                  <a:pt x="822" y="626"/>
                </a:lnTo>
                <a:lnTo>
                  <a:pt x="926" y="632"/>
                </a:lnTo>
                <a:lnTo>
                  <a:pt x="1028" y="636"/>
                </a:lnTo>
                <a:lnTo>
                  <a:pt x="1126" y="638"/>
                </a:lnTo>
                <a:lnTo>
                  <a:pt x="1220" y="640"/>
                </a:lnTo>
                <a:lnTo>
                  <a:pt x="1312" y="640"/>
                </a:lnTo>
                <a:lnTo>
                  <a:pt x="1402" y="638"/>
                </a:lnTo>
                <a:lnTo>
                  <a:pt x="1490" y="636"/>
                </a:lnTo>
                <a:lnTo>
                  <a:pt x="1574" y="632"/>
                </a:lnTo>
                <a:lnTo>
                  <a:pt x="1656" y="626"/>
                </a:lnTo>
                <a:lnTo>
                  <a:pt x="1734" y="620"/>
                </a:lnTo>
                <a:lnTo>
                  <a:pt x="1812" y="612"/>
                </a:lnTo>
                <a:lnTo>
                  <a:pt x="1886" y="602"/>
                </a:lnTo>
                <a:lnTo>
                  <a:pt x="1960" y="592"/>
                </a:lnTo>
                <a:lnTo>
                  <a:pt x="2030" y="580"/>
                </a:lnTo>
                <a:lnTo>
                  <a:pt x="2100" y="568"/>
                </a:lnTo>
                <a:lnTo>
                  <a:pt x="2166" y="554"/>
                </a:lnTo>
                <a:lnTo>
                  <a:pt x="2232" y="540"/>
                </a:lnTo>
                <a:lnTo>
                  <a:pt x="2296" y="524"/>
                </a:lnTo>
                <a:lnTo>
                  <a:pt x="2358" y="508"/>
                </a:lnTo>
                <a:lnTo>
                  <a:pt x="2418" y="490"/>
                </a:lnTo>
                <a:lnTo>
                  <a:pt x="2478" y="472"/>
                </a:lnTo>
                <a:lnTo>
                  <a:pt x="2592" y="432"/>
                </a:lnTo>
                <a:lnTo>
                  <a:pt x="2702" y="390"/>
                </a:lnTo>
                <a:lnTo>
                  <a:pt x="2702" y="390"/>
                </a:lnTo>
                <a:lnTo>
                  <a:pt x="2706" y="388"/>
                </a:lnTo>
                <a:lnTo>
                  <a:pt x="2706" y="388"/>
                </a:lnTo>
                <a:lnTo>
                  <a:pt x="2706" y="0"/>
                </a:lnTo>
                <a:lnTo>
                  <a:pt x="2706" y="0"/>
                </a:lnTo>
                <a:lnTo>
                  <a:pt x="2700" y="0"/>
                </a:lnTo>
                <a:lnTo>
                  <a:pt x="2700" y="0"/>
                </a:lnTo>
                <a:close/>
              </a:path>
            </a:pathLst>
          </a:custGeom>
          <a:solidFill>
            <a:schemeClr val="bg2">
              <a:alpha val="29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Freeform 18"/>
          <p:cNvSpPr>
            <a:spLocks/>
          </p:cNvSpPr>
          <p:nvPr/>
        </p:nvSpPr>
        <p:spPr bwMode="hidden">
          <a:xfrm>
            <a:off x="2619320" y="4075290"/>
            <a:ext cx="5544515" cy="850138"/>
          </a:xfrm>
          <a:custGeom>
            <a:avLst/>
            <a:gdLst/>
            <a:ahLst/>
            <a:cxnLst>
              <a:cxn ang="0">
                <a:pos x="5216" y="714"/>
              </a:cxn>
              <a:cxn ang="0">
                <a:pos x="4984" y="686"/>
              </a:cxn>
              <a:cxn ang="0">
                <a:pos x="4478" y="610"/>
              </a:cxn>
              <a:cxn ang="0">
                <a:pos x="3914" y="508"/>
              </a:cxn>
              <a:cxn ang="0">
                <a:pos x="3286" y="374"/>
              </a:cxn>
              <a:cxn ang="0">
                <a:pos x="2946" y="296"/>
              </a:cxn>
              <a:cxn ang="0">
                <a:pos x="2682" y="236"/>
              </a:cxn>
              <a:cxn ang="0">
                <a:pos x="2430" y="184"/>
              </a:cxn>
              <a:cxn ang="0">
                <a:pos x="2190" y="140"/>
              </a:cxn>
              <a:cxn ang="0">
                <a:pos x="1960" y="102"/>
              </a:cxn>
              <a:cxn ang="0">
                <a:pos x="1740" y="72"/>
              </a:cxn>
              <a:cxn ang="0">
                <a:pos x="1334" y="28"/>
              </a:cxn>
              <a:cxn ang="0">
                <a:pos x="970" y="4"/>
              </a:cxn>
              <a:cxn ang="0">
                <a:pos x="644" y="0"/>
              </a:cxn>
              <a:cxn ang="0">
                <a:pos x="358" y="10"/>
              </a:cxn>
              <a:cxn ang="0">
                <a:pos x="110" y="32"/>
              </a:cxn>
              <a:cxn ang="0">
                <a:pos x="0" y="48"/>
              </a:cxn>
              <a:cxn ang="0">
                <a:pos x="314" y="86"/>
              </a:cxn>
              <a:cxn ang="0">
                <a:pos x="652" y="140"/>
              </a:cxn>
              <a:cxn ang="0">
                <a:pos x="1014" y="210"/>
              </a:cxn>
              <a:cxn ang="0">
                <a:pos x="1402" y="296"/>
              </a:cxn>
              <a:cxn ang="0">
                <a:pos x="1756" y="378"/>
              </a:cxn>
              <a:cxn ang="0">
                <a:pos x="2408" y="516"/>
              </a:cxn>
              <a:cxn ang="0">
                <a:pos x="2708" y="572"/>
              </a:cxn>
              <a:cxn ang="0">
                <a:pos x="2992" y="620"/>
              </a:cxn>
              <a:cxn ang="0">
                <a:pos x="3260" y="662"/>
              </a:cxn>
              <a:cxn ang="0">
                <a:pos x="3512" y="694"/>
              </a:cxn>
              <a:cxn ang="0">
                <a:pos x="3750" y="722"/>
              </a:cxn>
              <a:cxn ang="0">
                <a:pos x="3974" y="740"/>
              </a:cxn>
              <a:cxn ang="0">
                <a:pos x="4184" y="754"/>
              </a:cxn>
              <a:cxn ang="0">
                <a:pos x="4384" y="762"/>
              </a:cxn>
              <a:cxn ang="0">
                <a:pos x="4570" y="762"/>
              </a:cxn>
              <a:cxn ang="0">
                <a:pos x="4746" y="758"/>
              </a:cxn>
              <a:cxn ang="0">
                <a:pos x="4912" y="748"/>
              </a:cxn>
              <a:cxn ang="0">
                <a:pos x="5068" y="732"/>
              </a:cxn>
              <a:cxn ang="0">
                <a:pos x="5216" y="714"/>
              </a:cxn>
            </a:cxnLst>
            <a:rect l="0" t="0" r="r" b="b"/>
            <a:pathLst>
              <a:path w="5216" h="762">
                <a:moveTo>
                  <a:pt x="5216" y="714"/>
                </a:moveTo>
                <a:lnTo>
                  <a:pt x="5216" y="714"/>
                </a:lnTo>
                <a:lnTo>
                  <a:pt x="5102" y="700"/>
                </a:lnTo>
                <a:lnTo>
                  <a:pt x="4984" y="686"/>
                </a:lnTo>
                <a:lnTo>
                  <a:pt x="4738" y="652"/>
                </a:lnTo>
                <a:lnTo>
                  <a:pt x="4478" y="610"/>
                </a:lnTo>
                <a:lnTo>
                  <a:pt x="4204" y="564"/>
                </a:lnTo>
                <a:lnTo>
                  <a:pt x="3914" y="508"/>
                </a:lnTo>
                <a:lnTo>
                  <a:pt x="3608" y="446"/>
                </a:lnTo>
                <a:lnTo>
                  <a:pt x="3286" y="374"/>
                </a:lnTo>
                <a:lnTo>
                  <a:pt x="2946" y="296"/>
                </a:lnTo>
                <a:lnTo>
                  <a:pt x="2946" y="296"/>
                </a:lnTo>
                <a:lnTo>
                  <a:pt x="2812" y="266"/>
                </a:lnTo>
                <a:lnTo>
                  <a:pt x="2682" y="236"/>
                </a:lnTo>
                <a:lnTo>
                  <a:pt x="2556" y="210"/>
                </a:lnTo>
                <a:lnTo>
                  <a:pt x="2430" y="184"/>
                </a:lnTo>
                <a:lnTo>
                  <a:pt x="2308" y="162"/>
                </a:lnTo>
                <a:lnTo>
                  <a:pt x="2190" y="140"/>
                </a:lnTo>
                <a:lnTo>
                  <a:pt x="2074" y="120"/>
                </a:lnTo>
                <a:lnTo>
                  <a:pt x="1960" y="102"/>
                </a:lnTo>
                <a:lnTo>
                  <a:pt x="1850" y="86"/>
                </a:lnTo>
                <a:lnTo>
                  <a:pt x="1740" y="72"/>
                </a:lnTo>
                <a:lnTo>
                  <a:pt x="1532" y="46"/>
                </a:lnTo>
                <a:lnTo>
                  <a:pt x="1334" y="28"/>
                </a:lnTo>
                <a:lnTo>
                  <a:pt x="1148" y="14"/>
                </a:lnTo>
                <a:lnTo>
                  <a:pt x="970" y="4"/>
                </a:lnTo>
                <a:lnTo>
                  <a:pt x="802" y="0"/>
                </a:lnTo>
                <a:lnTo>
                  <a:pt x="644" y="0"/>
                </a:lnTo>
                <a:lnTo>
                  <a:pt x="496" y="4"/>
                </a:lnTo>
                <a:lnTo>
                  <a:pt x="358" y="10"/>
                </a:lnTo>
                <a:lnTo>
                  <a:pt x="230" y="20"/>
                </a:lnTo>
                <a:lnTo>
                  <a:pt x="110" y="32"/>
                </a:lnTo>
                <a:lnTo>
                  <a:pt x="0" y="48"/>
                </a:lnTo>
                <a:lnTo>
                  <a:pt x="0" y="48"/>
                </a:lnTo>
                <a:lnTo>
                  <a:pt x="154" y="66"/>
                </a:lnTo>
                <a:lnTo>
                  <a:pt x="314" y="86"/>
                </a:lnTo>
                <a:lnTo>
                  <a:pt x="480" y="112"/>
                </a:lnTo>
                <a:lnTo>
                  <a:pt x="652" y="140"/>
                </a:lnTo>
                <a:lnTo>
                  <a:pt x="830" y="174"/>
                </a:lnTo>
                <a:lnTo>
                  <a:pt x="1014" y="210"/>
                </a:lnTo>
                <a:lnTo>
                  <a:pt x="1206" y="250"/>
                </a:lnTo>
                <a:lnTo>
                  <a:pt x="1402" y="296"/>
                </a:lnTo>
                <a:lnTo>
                  <a:pt x="1402" y="296"/>
                </a:lnTo>
                <a:lnTo>
                  <a:pt x="1756" y="378"/>
                </a:lnTo>
                <a:lnTo>
                  <a:pt x="2092" y="450"/>
                </a:lnTo>
                <a:lnTo>
                  <a:pt x="2408" y="516"/>
                </a:lnTo>
                <a:lnTo>
                  <a:pt x="2562" y="544"/>
                </a:lnTo>
                <a:lnTo>
                  <a:pt x="2708" y="572"/>
                </a:lnTo>
                <a:lnTo>
                  <a:pt x="2852" y="598"/>
                </a:lnTo>
                <a:lnTo>
                  <a:pt x="2992" y="620"/>
                </a:lnTo>
                <a:lnTo>
                  <a:pt x="3128" y="642"/>
                </a:lnTo>
                <a:lnTo>
                  <a:pt x="3260" y="662"/>
                </a:lnTo>
                <a:lnTo>
                  <a:pt x="3388" y="678"/>
                </a:lnTo>
                <a:lnTo>
                  <a:pt x="3512" y="694"/>
                </a:lnTo>
                <a:lnTo>
                  <a:pt x="3632" y="708"/>
                </a:lnTo>
                <a:lnTo>
                  <a:pt x="3750" y="722"/>
                </a:lnTo>
                <a:lnTo>
                  <a:pt x="3864" y="732"/>
                </a:lnTo>
                <a:lnTo>
                  <a:pt x="3974" y="740"/>
                </a:lnTo>
                <a:lnTo>
                  <a:pt x="4080" y="748"/>
                </a:lnTo>
                <a:lnTo>
                  <a:pt x="4184" y="754"/>
                </a:lnTo>
                <a:lnTo>
                  <a:pt x="4286" y="758"/>
                </a:lnTo>
                <a:lnTo>
                  <a:pt x="4384" y="762"/>
                </a:lnTo>
                <a:lnTo>
                  <a:pt x="4478" y="762"/>
                </a:lnTo>
                <a:lnTo>
                  <a:pt x="4570" y="762"/>
                </a:lnTo>
                <a:lnTo>
                  <a:pt x="4660" y="760"/>
                </a:lnTo>
                <a:lnTo>
                  <a:pt x="4746" y="758"/>
                </a:lnTo>
                <a:lnTo>
                  <a:pt x="4830" y="754"/>
                </a:lnTo>
                <a:lnTo>
                  <a:pt x="4912" y="748"/>
                </a:lnTo>
                <a:lnTo>
                  <a:pt x="4992" y="740"/>
                </a:lnTo>
                <a:lnTo>
                  <a:pt x="5068" y="732"/>
                </a:lnTo>
                <a:lnTo>
                  <a:pt x="5144" y="724"/>
                </a:lnTo>
                <a:lnTo>
                  <a:pt x="5216" y="714"/>
                </a:lnTo>
                <a:lnTo>
                  <a:pt x="5216" y="714"/>
                </a:lnTo>
                <a:close/>
              </a:path>
            </a:pathLst>
          </a:custGeom>
          <a:solidFill>
            <a:schemeClr val="bg2">
              <a:alpha val="4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Freeform 22"/>
          <p:cNvSpPr>
            <a:spLocks/>
          </p:cNvSpPr>
          <p:nvPr/>
        </p:nvSpPr>
        <p:spPr bwMode="hidden">
          <a:xfrm>
            <a:off x="2828728" y="4087562"/>
            <a:ext cx="5467980" cy="774272"/>
          </a:xfrm>
          <a:custGeom>
            <a:avLst/>
            <a:gdLst/>
            <a:ahLst/>
            <a:cxnLst>
              <a:cxn ang="0">
                <a:pos x="0" y="70"/>
              </a:cxn>
              <a:cxn ang="0">
                <a:pos x="0" y="70"/>
              </a:cxn>
              <a:cxn ang="0">
                <a:pos x="18" y="66"/>
              </a:cxn>
              <a:cxn ang="0">
                <a:pos x="72" y="56"/>
              </a:cxn>
              <a:cxn ang="0">
                <a:pos x="164" y="42"/>
              </a:cxn>
              <a:cxn ang="0">
                <a:pos x="224" y="34"/>
              </a:cxn>
              <a:cxn ang="0">
                <a:pos x="294" y="26"/>
              </a:cxn>
              <a:cxn ang="0">
                <a:pos x="372" y="20"/>
              </a:cxn>
              <a:cxn ang="0">
                <a:pos x="462" y="14"/>
              </a:cxn>
              <a:cxn ang="0">
                <a:pos x="560" y="8"/>
              </a:cxn>
              <a:cxn ang="0">
                <a:pos x="670" y="4"/>
              </a:cxn>
              <a:cxn ang="0">
                <a:pos x="790" y="2"/>
              </a:cxn>
              <a:cxn ang="0">
                <a:pos x="920" y="0"/>
              </a:cxn>
              <a:cxn ang="0">
                <a:pos x="1060" y="2"/>
              </a:cxn>
              <a:cxn ang="0">
                <a:pos x="1210" y="6"/>
              </a:cxn>
              <a:cxn ang="0">
                <a:pos x="1372" y="14"/>
              </a:cxn>
              <a:cxn ang="0">
                <a:pos x="1544" y="24"/>
              </a:cxn>
              <a:cxn ang="0">
                <a:pos x="1726" y="40"/>
              </a:cxn>
              <a:cxn ang="0">
                <a:pos x="1920" y="58"/>
              </a:cxn>
              <a:cxn ang="0">
                <a:pos x="2126" y="80"/>
              </a:cxn>
              <a:cxn ang="0">
                <a:pos x="2342" y="106"/>
              </a:cxn>
              <a:cxn ang="0">
                <a:pos x="2570" y="138"/>
              </a:cxn>
              <a:cxn ang="0">
                <a:pos x="2808" y="174"/>
              </a:cxn>
              <a:cxn ang="0">
                <a:pos x="3058" y="216"/>
              </a:cxn>
              <a:cxn ang="0">
                <a:pos x="3320" y="266"/>
              </a:cxn>
              <a:cxn ang="0">
                <a:pos x="3594" y="320"/>
              </a:cxn>
              <a:cxn ang="0">
                <a:pos x="3880" y="380"/>
              </a:cxn>
              <a:cxn ang="0">
                <a:pos x="4178" y="448"/>
              </a:cxn>
              <a:cxn ang="0">
                <a:pos x="4488" y="522"/>
              </a:cxn>
              <a:cxn ang="0">
                <a:pos x="4810" y="604"/>
              </a:cxn>
              <a:cxn ang="0">
                <a:pos x="5144" y="694"/>
              </a:cxn>
            </a:cxnLst>
            <a:rect l="0" t="0" r="r" b="b"/>
            <a:pathLst>
              <a:path w="5144" h="694">
                <a:moveTo>
                  <a:pt x="0" y="70"/>
                </a:moveTo>
                <a:lnTo>
                  <a:pt x="0" y="70"/>
                </a:lnTo>
                <a:lnTo>
                  <a:pt x="18" y="66"/>
                </a:lnTo>
                <a:lnTo>
                  <a:pt x="72" y="56"/>
                </a:lnTo>
                <a:lnTo>
                  <a:pt x="164" y="42"/>
                </a:lnTo>
                <a:lnTo>
                  <a:pt x="224" y="34"/>
                </a:lnTo>
                <a:lnTo>
                  <a:pt x="294" y="26"/>
                </a:lnTo>
                <a:lnTo>
                  <a:pt x="372" y="20"/>
                </a:lnTo>
                <a:lnTo>
                  <a:pt x="462" y="14"/>
                </a:lnTo>
                <a:lnTo>
                  <a:pt x="560" y="8"/>
                </a:lnTo>
                <a:lnTo>
                  <a:pt x="670" y="4"/>
                </a:lnTo>
                <a:lnTo>
                  <a:pt x="790" y="2"/>
                </a:lnTo>
                <a:lnTo>
                  <a:pt x="920" y="0"/>
                </a:lnTo>
                <a:lnTo>
                  <a:pt x="1060" y="2"/>
                </a:lnTo>
                <a:lnTo>
                  <a:pt x="1210" y="6"/>
                </a:lnTo>
                <a:lnTo>
                  <a:pt x="1372" y="14"/>
                </a:lnTo>
                <a:lnTo>
                  <a:pt x="1544" y="24"/>
                </a:lnTo>
                <a:lnTo>
                  <a:pt x="1726" y="40"/>
                </a:lnTo>
                <a:lnTo>
                  <a:pt x="1920" y="58"/>
                </a:lnTo>
                <a:lnTo>
                  <a:pt x="2126" y="80"/>
                </a:lnTo>
                <a:lnTo>
                  <a:pt x="2342" y="106"/>
                </a:lnTo>
                <a:lnTo>
                  <a:pt x="2570" y="138"/>
                </a:lnTo>
                <a:lnTo>
                  <a:pt x="2808" y="174"/>
                </a:lnTo>
                <a:lnTo>
                  <a:pt x="3058" y="216"/>
                </a:lnTo>
                <a:lnTo>
                  <a:pt x="3320" y="266"/>
                </a:lnTo>
                <a:lnTo>
                  <a:pt x="3594" y="320"/>
                </a:lnTo>
                <a:lnTo>
                  <a:pt x="3880" y="380"/>
                </a:lnTo>
                <a:lnTo>
                  <a:pt x="4178" y="448"/>
                </a:lnTo>
                <a:lnTo>
                  <a:pt x="4488" y="522"/>
                </a:lnTo>
                <a:lnTo>
                  <a:pt x="4810" y="604"/>
                </a:lnTo>
                <a:lnTo>
                  <a:pt x="5144" y="694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26"/>
          <p:cNvSpPr>
            <a:spLocks/>
          </p:cNvSpPr>
          <p:nvPr/>
        </p:nvSpPr>
        <p:spPr bwMode="hidden">
          <a:xfrm>
            <a:off x="5609489" y="4074174"/>
            <a:ext cx="3308000" cy="651549"/>
          </a:xfrm>
          <a:custGeom>
            <a:avLst/>
            <a:gdLst/>
            <a:ahLst/>
            <a:cxnLst>
              <a:cxn ang="0">
                <a:pos x="0" y="584"/>
              </a:cxn>
              <a:cxn ang="0">
                <a:pos x="0" y="584"/>
              </a:cxn>
              <a:cxn ang="0">
                <a:pos x="90" y="560"/>
              </a:cxn>
              <a:cxn ang="0">
                <a:pos x="336" y="498"/>
              </a:cxn>
              <a:cxn ang="0">
                <a:pos x="506" y="456"/>
              </a:cxn>
              <a:cxn ang="0">
                <a:pos x="702" y="410"/>
              </a:cxn>
              <a:cxn ang="0">
                <a:pos x="920" y="360"/>
              </a:cxn>
              <a:cxn ang="0">
                <a:pos x="1154" y="306"/>
              </a:cxn>
              <a:cxn ang="0">
                <a:pos x="1402" y="254"/>
              </a:cxn>
              <a:cxn ang="0">
                <a:pos x="1656" y="202"/>
              </a:cxn>
              <a:cxn ang="0">
                <a:pos x="1916" y="154"/>
              </a:cxn>
              <a:cxn ang="0">
                <a:pos x="2174" y="108"/>
              </a:cxn>
              <a:cxn ang="0">
                <a:pos x="2302" y="88"/>
              </a:cxn>
              <a:cxn ang="0">
                <a:pos x="2426" y="68"/>
              </a:cxn>
              <a:cxn ang="0">
                <a:pos x="2550" y="52"/>
              </a:cxn>
              <a:cxn ang="0">
                <a:pos x="2670" y="36"/>
              </a:cxn>
              <a:cxn ang="0">
                <a:pos x="2788" y="24"/>
              </a:cxn>
              <a:cxn ang="0">
                <a:pos x="2900" y="14"/>
              </a:cxn>
              <a:cxn ang="0">
                <a:pos x="3008" y="6"/>
              </a:cxn>
              <a:cxn ang="0">
                <a:pos x="3112" y="0"/>
              </a:cxn>
            </a:cxnLst>
            <a:rect l="0" t="0" r="r" b="b"/>
            <a:pathLst>
              <a:path w="3112" h="584">
                <a:moveTo>
                  <a:pt x="0" y="584"/>
                </a:moveTo>
                <a:lnTo>
                  <a:pt x="0" y="584"/>
                </a:lnTo>
                <a:lnTo>
                  <a:pt x="90" y="560"/>
                </a:lnTo>
                <a:lnTo>
                  <a:pt x="336" y="498"/>
                </a:lnTo>
                <a:lnTo>
                  <a:pt x="506" y="456"/>
                </a:lnTo>
                <a:lnTo>
                  <a:pt x="702" y="410"/>
                </a:lnTo>
                <a:lnTo>
                  <a:pt x="920" y="360"/>
                </a:lnTo>
                <a:lnTo>
                  <a:pt x="1154" y="306"/>
                </a:lnTo>
                <a:lnTo>
                  <a:pt x="1402" y="254"/>
                </a:lnTo>
                <a:lnTo>
                  <a:pt x="1656" y="202"/>
                </a:lnTo>
                <a:lnTo>
                  <a:pt x="1916" y="154"/>
                </a:lnTo>
                <a:lnTo>
                  <a:pt x="2174" y="108"/>
                </a:lnTo>
                <a:lnTo>
                  <a:pt x="2302" y="88"/>
                </a:lnTo>
                <a:lnTo>
                  <a:pt x="2426" y="68"/>
                </a:lnTo>
                <a:lnTo>
                  <a:pt x="2550" y="52"/>
                </a:lnTo>
                <a:lnTo>
                  <a:pt x="2670" y="36"/>
                </a:lnTo>
                <a:lnTo>
                  <a:pt x="2788" y="24"/>
                </a:lnTo>
                <a:lnTo>
                  <a:pt x="2900" y="14"/>
                </a:lnTo>
                <a:lnTo>
                  <a:pt x="3008" y="6"/>
                </a:lnTo>
                <a:lnTo>
                  <a:pt x="3112" y="0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 useBgFill="1">
        <p:nvSpPr>
          <p:cNvPr id="13" name="Freeform 10"/>
          <p:cNvSpPr>
            <a:spLocks/>
          </p:cNvSpPr>
          <p:nvPr/>
        </p:nvSpPr>
        <p:spPr bwMode="hidden">
          <a:xfrm>
            <a:off x="211665" y="4058555"/>
            <a:ext cx="8723376" cy="1329874"/>
          </a:xfrm>
          <a:custGeom>
            <a:avLst/>
            <a:gdLst/>
            <a:ahLst/>
            <a:cxnLst>
              <a:cxn ang="0">
                <a:pos x="8192" y="512"/>
              </a:cxn>
              <a:cxn ang="0">
                <a:pos x="8040" y="570"/>
              </a:cxn>
              <a:cxn ang="0">
                <a:pos x="7878" y="620"/>
              </a:cxn>
              <a:cxn ang="0">
                <a:pos x="7706" y="666"/>
              </a:cxn>
              <a:cxn ang="0">
                <a:pos x="7522" y="702"/>
              </a:cxn>
              <a:cxn ang="0">
                <a:pos x="7322" y="730"/>
              </a:cxn>
              <a:cxn ang="0">
                <a:pos x="7106" y="750"/>
              </a:cxn>
              <a:cxn ang="0">
                <a:pos x="6872" y="762"/>
              </a:cxn>
              <a:cxn ang="0">
                <a:pos x="6618" y="760"/>
              </a:cxn>
              <a:cxn ang="0">
                <a:pos x="6342" y="750"/>
              </a:cxn>
              <a:cxn ang="0">
                <a:pos x="6042" y="726"/>
              </a:cxn>
              <a:cxn ang="0">
                <a:pos x="5716" y="690"/>
              </a:cxn>
              <a:cxn ang="0">
                <a:pos x="5364" y="642"/>
              </a:cxn>
              <a:cxn ang="0">
                <a:pos x="4982" y="578"/>
              </a:cxn>
              <a:cxn ang="0">
                <a:pos x="4568" y="500"/>
              </a:cxn>
              <a:cxn ang="0">
                <a:pos x="4122" y="406"/>
              </a:cxn>
              <a:cxn ang="0">
                <a:pos x="3640" y="296"/>
              </a:cxn>
              <a:cxn ang="0">
                <a:pos x="3396" y="240"/>
              </a:cxn>
              <a:cxn ang="0">
                <a:pos x="2934" y="148"/>
              </a:cxn>
              <a:cxn ang="0">
                <a:pos x="2512" y="82"/>
              </a:cxn>
              <a:cxn ang="0">
                <a:pos x="2126" y="36"/>
              </a:cxn>
              <a:cxn ang="0">
                <a:pos x="1776" y="10"/>
              </a:cxn>
              <a:cxn ang="0">
                <a:pos x="1462" y="0"/>
              </a:cxn>
              <a:cxn ang="0">
                <a:pos x="1182" y="4"/>
              </a:cxn>
              <a:cxn ang="0">
                <a:pos x="934" y="20"/>
              </a:cxn>
              <a:cxn ang="0">
                <a:pos x="716" y="44"/>
              </a:cxn>
              <a:cxn ang="0">
                <a:pos x="530" y="74"/>
              </a:cxn>
              <a:cxn ang="0">
                <a:pos x="374" y="108"/>
              </a:cxn>
              <a:cxn ang="0">
                <a:pos x="248" y="144"/>
              </a:cxn>
              <a:cxn ang="0">
                <a:pos x="148" y="176"/>
              </a:cxn>
              <a:cxn ang="0">
                <a:pos x="48" y="216"/>
              </a:cxn>
              <a:cxn ang="0">
                <a:pos x="0" y="240"/>
              </a:cxn>
              <a:cxn ang="0">
                <a:pos x="8192" y="1192"/>
              </a:cxn>
              <a:cxn ang="0">
                <a:pos x="8196" y="1186"/>
              </a:cxn>
              <a:cxn ang="0">
                <a:pos x="8196" y="510"/>
              </a:cxn>
              <a:cxn ang="0">
                <a:pos x="8192" y="512"/>
              </a:cxn>
            </a:cxnLst>
            <a:rect l="0" t="0" r="r" b="b"/>
            <a:pathLst>
              <a:path w="8196" h="1192">
                <a:moveTo>
                  <a:pt x="8192" y="512"/>
                </a:moveTo>
                <a:lnTo>
                  <a:pt x="8192" y="512"/>
                </a:lnTo>
                <a:lnTo>
                  <a:pt x="8116" y="542"/>
                </a:lnTo>
                <a:lnTo>
                  <a:pt x="8040" y="570"/>
                </a:lnTo>
                <a:lnTo>
                  <a:pt x="7960" y="596"/>
                </a:lnTo>
                <a:lnTo>
                  <a:pt x="7878" y="620"/>
                </a:lnTo>
                <a:lnTo>
                  <a:pt x="7794" y="644"/>
                </a:lnTo>
                <a:lnTo>
                  <a:pt x="7706" y="666"/>
                </a:lnTo>
                <a:lnTo>
                  <a:pt x="7616" y="684"/>
                </a:lnTo>
                <a:lnTo>
                  <a:pt x="7522" y="702"/>
                </a:lnTo>
                <a:lnTo>
                  <a:pt x="7424" y="718"/>
                </a:lnTo>
                <a:lnTo>
                  <a:pt x="7322" y="730"/>
                </a:lnTo>
                <a:lnTo>
                  <a:pt x="7216" y="742"/>
                </a:lnTo>
                <a:lnTo>
                  <a:pt x="7106" y="750"/>
                </a:lnTo>
                <a:lnTo>
                  <a:pt x="6992" y="758"/>
                </a:lnTo>
                <a:lnTo>
                  <a:pt x="6872" y="762"/>
                </a:lnTo>
                <a:lnTo>
                  <a:pt x="6748" y="762"/>
                </a:lnTo>
                <a:lnTo>
                  <a:pt x="6618" y="760"/>
                </a:lnTo>
                <a:lnTo>
                  <a:pt x="6482" y="756"/>
                </a:lnTo>
                <a:lnTo>
                  <a:pt x="6342" y="750"/>
                </a:lnTo>
                <a:lnTo>
                  <a:pt x="6196" y="740"/>
                </a:lnTo>
                <a:lnTo>
                  <a:pt x="6042" y="726"/>
                </a:lnTo>
                <a:lnTo>
                  <a:pt x="5882" y="710"/>
                </a:lnTo>
                <a:lnTo>
                  <a:pt x="5716" y="690"/>
                </a:lnTo>
                <a:lnTo>
                  <a:pt x="5544" y="668"/>
                </a:lnTo>
                <a:lnTo>
                  <a:pt x="5364" y="642"/>
                </a:lnTo>
                <a:lnTo>
                  <a:pt x="5176" y="612"/>
                </a:lnTo>
                <a:lnTo>
                  <a:pt x="4982" y="578"/>
                </a:lnTo>
                <a:lnTo>
                  <a:pt x="4778" y="540"/>
                </a:lnTo>
                <a:lnTo>
                  <a:pt x="4568" y="500"/>
                </a:lnTo>
                <a:lnTo>
                  <a:pt x="4348" y="454"/>
                </a:lnTo>
                <a:lnTo>
                  <a:pt x="4122" y="406"/>
                </a:lnTo>
                <a:lnTo>
                  <a:pt x="3886" y="354"/>
                </a:lnTo>
                <a:lnTo>
                  <a:pt x="3640" y="296"/>
                </a:lnTo>
                <a:lnTo>
                  <a:pt x="3640" y="296"/>
                </a:lnTo>
                <a:lnTo>
                  <a:pt x="3396" y="240"/>
                </a:lnTo>
                <a:lnTo>
                  <a:pt x="3160" y="192"/>
                </a:lnTo>
                <a:lnTo>
                  <a:pt x="2934" y="148"/>
                </a:lnTo>
                <a:lnTo>
                  <a:pt x="2718" y="112"/>
                </a:lnTo>
                <a:lnTo>
                  <a:pt x="2512" y="82"/>
                </a:lnTo>
                <a:lnTo>
                  <a:pt x="2314" y="56"/>
                </a:lnTo>
                <a:lnTo>
                  <a:pt x="2126" y="36"/>
                </a:lnTo>
                <a:lnTo>
                  <a:pt x="1948" y="20"/>
                </a:lnTo>
                <a:lnTo>
                  <a:pt x="1776" y="10"/>
                </a:lnTo>
                <a:lnTo>
                  <a:pt x="1616" y="2"/>
                </a:lnTo>
                <a:lnTo>
                  <a:pt x="1462" y="0"/>
                </a:lnTo>
                <a:lnTo>
                  <a:pt x="1318" y="0"/>
                </a:lnTo>
                <a:lnTo>
                  <a:pt x="1182" y="4"/>
                </a:lnTo>
                <a:lnTo>
                  <a:pt x="1054" y="10"/>
                </a:lnTo>
                <a:lnTo>
                  <a:pt x="934" y="20"/>
                </a:lnTo>
                <a:lnTo>
                  <a:pt x="822" y="30"/>
                </a:lnTo>
                <a:lnTo>
                  <a:pt x="716" y="44"/>
                </a:lnTo>
                <a:lnTo>
                  <a:pt x="620" y="58"/>
                </a:lnTo>
                <a:lnTo>
                  <a:pt x="530" y="74"/>
                </a:lnTo>
                <a:lnTo>
                  <a:pt x="450" y="92"/>
                </a:lnTo>
                <a:lnTo>
                  <a:pt x="374" y="108"/>
                </a:lnTo>
                <a:lnTo>
                  <a:pt x="308" y="126"/>
                </a:lnTo>
                <a:lnTo>
                  <a:pt x="248" y="144"/>
                </a:lnTo>
                <a:lnTo>
                  <a:pt x="194" y="160"/>
                </a:lnTo>
                <a:lnTo>
                  <a:pt x="148" y="176"/>
                </a:lnTo>
                <a:lnTo>
                  <a:pt x="108" y="192"/>
                </a:lnTo>
                <a:lnTo>
                  <a:pt x="48" y="216"/>
                </a:lnTo>
                <a:lnTo>
                  <a:pt x="12" y="234"/>
                </a:lnTo>
                <a:lnTo>
                  <a:pt x="0" y="240"/>
                </a:lnTo>
                <a:lnTo>
                  <a:pt x="0" y="1192"/>
                </a:lnTo>
                <a:lnTo>
                  <a:pt x="8192" y="1192"/>
                </a:lnTo>
                <a:lnTo>
                  <a:pt x="8192" y="1192"/>
                </a:lnTo>
                <a:lnTo>
                  <a:pt x="8196" y="1186"/>
                </a:lnTo>
                <a:lnTo>
                  <a:pt x="8196" y="1186"/>
                </a:lnTo>
                <a:lnTo>
                  <a:pt x="8196" y="510"/>
                </a:lnTo>
                <a:lnTo>
                  <a:pt x="8196" y="510"/>
                </a:lnTo>
                <a:lnTo>
                  <a:pt x="8192" y="512"/>
                </a:lnTo>
                <a:lnTo>
                  <a:pt x="8192" y="512"/>
                </a:lnTo>
                <a:close/>
              </a:path>
            </a:pathLst>
          </a:custGeom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032" y="2463560"/>
            <a:ext cx="7772400" cy="1524000"/>
          </a:xfrm>
        </p:spPr>
        <p:txBody>
          <a:bodyPr anchor="t">
            <a:normAutofit/>
          </a:bodyPr>
          <a:lstStyle>
            <a:lvl1pPr algn="ctr">
              <a:defRPr sz="4400" b="0" cap="none"/>
            </a:lvl1pPr>
          </a:lstStyle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7365" y="1437448"/>
            <a:ext cx="6417734" cy="939801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E6371-2029-4C19-B29C-038526F02D0F}" type="datetime1">
              <a:rPr lang="it-IT" smtClean="0"/>
              <a:t>23/05/2023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D86F8-CB58-4643-BCF8-58E89A8D6A23}" type="datetime1">
              <a:rPr lang="it-IT" smtClean="0"/>
              <a:t>23/05/2023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76655" y="2679192"/>
            <a:ext cx="3822192" cy="3447288"/>
          </a:xfrm>
        </p:spPr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679192"/>
            <a:ext cx="3822192" cy="3447288"/>
          </a:xfrm>
        </p:spPr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smtClean="0"/>
              <a:t>Fare clic per modificare lo stile del titolo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678114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7332" y="3429000"/>
            <a:ext cx="3820055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2678113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3429000"/>
            <a:ext cx="3822192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1E887-0F4C-44C4-A937-97548BA92539}" type="datetime1">
              <a:rPr lang="it-IT" smtClean="0"/>
              <a:t>23/05/2023</a:t>
            </a:fld>
            <a:endParaRPr lang="it-I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AF5C3-1BAF-48AF-B42E-9C2A5C4DDFC2}" type="datetime1">
              <a:rPr lang="it-IT" smtClean="0"/>
              <a:t>23/05/2023</a:t>
            </a:fld>
            <a:endParaRPr lang="it-I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29874"/>
            <a:chOff x="-3905251" y="4294188"/>
            <a:chExt cx="13027839" cy="1892300"/>
          </a:xfrm>
        </p:grpSpPr>
        <p:sp>
          <p:nvSpPr>
            <p:cNvPr id="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569A3-A94A-466A-A1D1-76E6349989E9}" type="datetime1">
              <a:rPr lang="it-IT" smtClean="0"/>
              <a:t>23/05/2023</a:t>
            </a:fld>
            <a:endParaRPr lang="it-I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6250C-842E-4DD9-903E-2879056001C5}" type="datetime1">
              <a:rPr lang="it-IT" smtClean="0"/>
              <a:t>23/05/2023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3581400"/>
            <a:ext cx="3352800" cy="1905001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grpSp>
        <p:nvGrpSpPr>
          <p:cNvPr id="2" name="Group 23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25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9" name="Freeform 28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2" name="Title 21"/>
          <p:cNvSpPr>
            <a:spLocks noGrp="1"/>
          </p:cNvSpPr>
          <p:nvPr>
            <p:ph type="title"/>
          </p:nvPr>
        </p:nvSpPr>
        <p:spPr>
          <a:xfrm>
            <a:off x="914400" y="2286000"/>
            <a:ext cx="3352800" cy="1252728"/>
          </a:xfrm>
        </p:spPr>
        <p:txBody>
          <a:bodyPr anchor="b">
            <a:noAutofit/>
          </a:bodyPr>
          <a:lstStyle>
            <a:lvl1pPr algn="l">
              <a:defRPr sz="3200">
                <a:solidFill>
                  <a:schemeClr val="tx2"/>
                </a:solidFill>
              </a:defRPr>
            </a:lvl1pPr>
          </a:lstStyle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51962" y="1828800"/>
            <a:ext cx="3904076" cy="3810000"/>
          </a:xfrm>
        </p:spPr>
        <p:txBody>
          <a:bodyPr anchor="ctr"/>
          <a:lstStyle>
            <a:lvl1pPr>
              <a:buClr>
                <a:schemeClr val="bg1"/>
              </a:buClr>
              <a:defRPr sz="2200">
                <a:solidFill>
                  <a:schemeClr val="tx2"/>
                </a:solidFill>
              </a:defRPr>
            </a:lvl1pPr>
            <a:lvl2pPr>
              <a:buClr>
                <a:schemeClr val="bg1"/>
              </a:buClr>
              <a:defRPr sz="2000">
                <a:solidFill>
                  <a:schemeClr val="tx2"/>
                </a:solidFill>
              </a:defRPr>
            </a:lvl2pPr>
            <a:lvl3pPr>
              <a:buClr>
                <a:schemeClr val="bg1"/>
              </a:buClr>
              <a:defRPr sz="1800">
                <a:solidFill>
                  <a:schemeClr val="tx2"/>
                </a:solidFill>
              </a:defRPr>
            </a:lvl3pPr>
            <a:lvl4pPr>
              <a:buClr>
                <a:schemeClr val="bg1"/>
              </a:buClr>
              <a:defRPr sz="1600">
                <a:solidFill>
                  <a:schemeClr val="tx2"/>
                </a:solidFill>
              </a:defRPr>
            </a:lvl4pPr>
            <a:lvl5pPr>
              <a:buClr>
                <a:schemeClr val="bg1"/>
              </a:buClr>
              <a:defRPr sz="1600">
                <a:solidFill>
                  <a:schemeClr val="tx2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0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4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74155" y="338667"/>
            <a:ext cx="3812645" cy="2429934"/>
          </a:xfrm>
        </p:spPr>
        <p:txBody>
          <a:bodyPr anchor="b">
            <a:normAutofit/>
          </a:bodyPr>
          <a:lstStyle>
            <a:lvl1pPr algn="l"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68333" y="2785533"/>
            <a:ext cx="3818467" cy="242146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ECA4E-F157-45A8-B93C-C551EFA43A03}" type="datetime1">
              <a:rPr lang="it-IT" smtClean="0"/>
              <a:t>23/05/2023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371600"/>
            <a:ext cx="3566160" cy="2926080"/>
          </a:xfrm>
          <a:prstGeom prst="roundRect">
            <a:avLst>
              <a:gd name="adj" fmla="val 3924"/>
            </a:avLst>
          </a:prstGeom>
          <a:solidFill>
            <a:schemeClr val="accent1"/>
          </a:solidFill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 fov="600000">
              <a:rot lat="240000" lon="19799999" rev="0"/>
            </a:camera>
            <a:lightRig rig="threePt" dir="t">
              <a:rot lat="0" lon="0" rev="2700000"/>
            </a:lightRig>
          </a:scene3d>
          <a:sp3d>
            <a:bevelT w="44450" h="31750"/>
          </a:sp3d>
        </p:spPr>
        <p:txBody>
          <a:bodyPr/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 smtClean="0"/>
              <a:t>Fare clic sull'icona per inserire un'immagine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BA9C0-B123-472B-85E7-3C8D753F682F}" type="datetime1">
              <a:rPr lang="it-IT" smtClean="0"/>
              <a:t>23/05/2023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ounded Rectangle 20"/>
          <p:cNvSpPr/>
          <p:nvPr/>
        </p:nvSpPr>
        <p:spPr bwMode="hidden"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28718-DA37-4D43-9353-C6CE9512E50F}" type="datetime1">
              <a:rPr lang="it-IT" smtClean="0"/>
              <a:t>23/05/2023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  <p:grpSp>
        <p:nvGrpSpPr>
          <p:cNvPr id="15" name="Group 14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16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0" name="Freeform 19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447800"/>
            <a:ext cx="2057400" cy="4487333"/>
          </a:xfrm>
        </p:spPr>
        <p:txBody>
          <a:bodyPr vert="eaVert" anchor="ctr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47800"/>
            <a:ext cx="6019800" cy="4487334"/>
          </a:xfrm>
        </p:spPr>
        <p:txBody>
          <a:bodyPr vert="eaVert"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2468880"/>
          </a:xfrm>
          <a:prstGeom prst="roundRect">
            <a:avLst>
              <a:gd name="adj" fmla="val 336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15"/>
          <p:cNvGrpSpPr>
            <a:grpSpLocks noChangeAspect="1"/>
          </p:cNvGrpSpPr>
          <p:nvPr/>
        </p:nvGrpSpPr>
        <p:grpSpPr bwMode="hidden">
          <a:xfrm>
            <a:off x="211665" y="1679429"/>
            <a:ext cx="8723376" cy="1329874"/>
            <a:chOff x="-3905251" y="4294188"/>
            <a:chExt cx="13027839" cy="1892300"/>
          </a:xfrm>
        </p:grpSpPr>
        <p:sp>
          <p:nvSpPr>
            <p:cNvPr id="1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fld id="{FAFCD71E-7FA0-497B-A412-445D11E8EF4E}" type="datetime1">
              <a:rPr lang="it-IT" smtClean="0"/>
              <a:t>23/05/2023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2"/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2067" y="2675467"/>
            <a:ext cx="7408333" cy="3450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6263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5663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46304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12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16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20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it-IT" dirty="0"/>
              <a:t>Classi e oggetti</a:t>
            </a:r>
            <a:br>
              <a:rPr lang="it-IT" dirty="0"/>
            </a:br>
            <a:r>
              <a:rPr lang="it-IT" dirty="0"/>
              <a:t>concetti avanzati</a:t>
            </a:r>
            <a:br>
              <a:rPr lang="it-IT" dirty="0"/>
            </a:br>
            <a:r>
              <a:rPr lang="it-IT" dirty="0"/>
              <a:t>(parte </a:t>
            </a:r>
            <a:r>
              <a:rPr lang="it-IT" dirty="0" smtClean="0"/>
              <a:t>C – Interfacce </a:t>
            </a:r>
            <a:r>
              <a:rPr lang="it-IT" smtClean="0"/>
              <a:t>e Astratte</a:t>
            </a:r>
            <a:r>
              <a:rPr lang="it-IT" dirty="0" smtClean="0"/>
              <a:t>)</a:t>
            </a:r>
            <a:endParaRPr lang="it-IT" dirty="0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821294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contenuto 1"/>
          <p:cNvSpPr>
            <a:spLocks noGrp="1"/>
          </p:cNvSpPr>
          <p:nvPr>
            <p:ph idx="1"/>
          </p:nvPr>
        </p:nvSpPr>
        <p:spPr>
          <a:xfrm>
            <a:off x="872067" y="2420888"/>
            <a:ext cx="7408333" cy="3705275"/>
          </a:xfrm>
        </p:spPr>
        <p:txBody>
          <a:bodyPr>
            <a:normAutofit lnSpcReduction="10000"/>
          </a:bodyPr>
          <a:lstStyle/>
          <a:p>
            <a:r>
              <a:rPr lang="it-IT" dirty="0"/>
              <a:t>Le interfacce sono particolari tipi di classi nelle quali sono dichiarate le firme dei metodi ma non è presente la loro </a:t>
            </a:r>
            <a:r>
              <a:rPr lang="it-IT" dirty="0" smtClean="0"/>
              <a:t>implementazione (tranne alcune eccezioni)</a:t>
            </a:r>
            <a:endParaRPr lang="it-IT" dirty="0"/>
          </a:p>
          <a:p>
            <a:r>
              <a:rPr lang="it-IT" dirty="0"/>
              <a:t>Le interfacce sono molto utili per dichiarare quali sono le operazioni che si vuole mettere a disposizione rimandando l’implementazione di queste operazioni ad altre classi (le classi che </a:t>
            </a:r>
            <a:r>
              <a:rPr lang="it-IT" b="1" dirty="0"/>
              <a:t>implementano</a:t>
            </a:r>
            <a:r>
              <a:rPr lang="it-IT" b="1" i="1" dirty="0"/>
              <a:t> </a:t>
            </a:r>
            <a:r>
              <a:rPr lang="it-IT" dirty="0" smtClean="0"/>
              <a:t>l’interfaccia, dette anche classi </a:t>
            </a:r>
            <a:r>
              <a:rPr lang="it-IT" b="1" dirty="0" smtClean="0"/>
              <a:t>concrete</a:t>
            </a:r>
            <a:r>
              <a:rPr lang="it-IT" dirty="0" smtClean="0"/>
              <a:t>)</a:t>
            </a:r>
          </a:p>
          <a:p>
            <a:r>
              <a:rPr lang="it-IT" dirty="0" smtClean="0"/>
              <a:t>Concetto di disaccoppiamento tra «cosa fare» e «come farlo»: le interfacce indicano «cosa fare»</a:t>
            </a:r>
            <a:endParaRPr lang="it-IT" dirty="0"/>
          </a:p>
        </p:txBody>
      </p:sp>
      <p:sp>
        <p:nvSpPr>
          <p:cNvPr id="3" name="Segnaposto numero diapositiva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2</a:t>
            </a:fld>
            <a:endParaRPr lang="it-IT"/>
          </a:p>
        </p:txBody>
      </p:sp>
      <p:sp>
        <p:nvSpPr>
          <p:cNvPr id="4" name="Titolo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Interfacce (1/3)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6474505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contenuto 1"/>
          <p:cNvSpPr>
            <a:spLocks noGrp="1"/>
          </p:cNvSpPr>
          <p:nvPr>
            <p:ph idx="1"/>
          </p:nvPr>
        </p:nvSpPr>
        <p:spPr>
          <a:xfrm>
            <a:off x="872067" y="2348880"/>
            <a:ext cx="7408333" cy="3777283"/>
          </a:xfrm>
        </p:spPr>
        <p:txBody>
          <a:bodyPr>
            <a:normAutofit fontScale="92500"/>
          </a:bodyPr>
          <a:lstStyle/>
          <a:p>
            <a:r>
              <a:rPr lang="it-IT" dirty="0"/>
              <a:t>La parola chiave per dichiarare un’interfaccia in Java è </a:t>
            </a:r>
            <a:r>
              <a:rPr lang="it-IT" b="1" dirty="0" err="1"/>
              <a:t>interface</a:t>
            </a:r>
            <a:r>
              <a:rPr lang="it-IT" b="1" dirty="0"/>
              <a:t>:</a:t>
            </a:r>
            <a:endParaRPr lang="it-IT" dirty="0"/>
          </a:p>
          <a:p>
            <a:pPr marL="581343" lvl="2" indent="0">
              <a:buNone/>
            </a:pPr>
            <a:endParaRPr lang="it-IT" i="1" dirty="0" smtClean="0"/>
          </a:p>
          <a:p>
            <a:pPr marL="581343" lvl="2" indent="0">
              <a:buNone/>
            </a:pPr>
            <a:r>
              <a:rPr lang="it-IT" i="1" dirty="0" smtClean="0"/>
              <a:t>public </a:t>
            </a:r>
            <a:r>
              <a:rPr lang="it-IT" i="1" dirty="0" err="1"/>
              <a:t>interface</a:t>
            </a:r>
            <a:r>
              <a:rPr lang="it-IT" i="1" dirty="0"/>
              <a:t> Interfaccia {</a:t>
            </a:r>
            <a:endParaRPr lang="it-IT" dirty="0"/>
          </a:p>
          <a:p>
            <a:endParaRPr lang="it-IT" dirty="0" smtClean="0"/>
          </a:p>
          <a:p>
            <a:r>
              <a:rPr lang="it-IT" dirty="0" smtClean="0"/>
              <a:t>La </a:t>
            </a:r>
            <a:r>
              <a:rPr lang="it-IT" dirty="0"/>
              <a:t>sintassi impone che i metodi dichiarati nell’interfaccia abbiano solo la firma, senza il </a:t>
            </a:r>
            <a:r>
              <a:rPr lang="it-IT" dirty="0" smtClean="0"/>
              <a:t>corpo (cosiddetti metodi </a:t>
            </a:r>
            <a:r>
              <a:rPr lang="it-IT" i="1" dirty="0" smtClean="0"/>
              <a:t>astratti</a:t>
            </a:r>
            <a:r>
              <a:rPr lang="it-IT" dirty="0" smtClean="0"/>
              <a:t>); </a:t>
            </a:r>
            <a:r>
              <a:rPr lang="it-IT" dirty="0"/>
              <a:t>occorre quindi definire le firme dei metodi chiudendo l’istruzione con il carattere </a:t>
            </a:r>
            <a:r>
              <a:rPr lang="it-IT" i="1" dirty="0"/>
              <a:t>;</a:t>
            </a:r>
            <a:r>
              <a:rPr lang="it-IT" dirty="0"/>
              <a:t> (punto e virgola) anziché aprire le parentesi graffe del corpo del </a:t>
            </a:r>
            <a:r>
              <a:rPr lang="it-IT" dirty="0" smtClean="0"/>
              <a:t>metodo</a:t>
            </a:r>
            <a:endParaRPr lang="it-IT" dirty="0"/>
          </a:p>
          <a:p>
            <a:endParaRPr lang="it-IT" dirty="0"/>
          </a:p>
        </p:txBody>
      </p:sp>
      <p:sp>
        <p:nvSpPr>
          <p:cNvPr id="3" name="Segnaposto numero diapositiva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3</a:t>
            </a:fld>
            <a:endParaRPr lang="it-IT"/>
          </a:p>
        </p:txBody>
      </p:sp>
      <p:sp>
        <p:nvSpPr>
          <p:cNvPr id="4" name="Titolo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Interfacce </a:t>
            </a:r>
            <a:r>
              <a:rPr lang="it-IT" dirty="0" smtClean="0"/>
              <a:t>(2/3)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3153793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contenuto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 smtClean="0"/>
              <a:t>La </a:t>
            </a:r>
            <a:r>
              <a:rPr lang="it-IT" dirty="0"/>
              <a:t>parola chiave in Java per dichiarare che una classe implementa un’interfaccia è </a:t>
            </a:r>
            <a:r>
              <a:rPr lang="it-IT" b="1" dirty="0" err="1" smtClean="0"/>
              <a:t>implements</a:t>
            </a:r>
            <a:r>
              <a:rPr lang="it-IT" dirty="0" smtClean="0"/>
              <a:t>:</a:t>
            </a:r>
            <a:endParaRPr lang="it-IT" dirty="0"/>
          </a:p>
          <a:p>
            <a:pPr marL="301943" lvl="1" indent="0">
              <a:buNone/>
            </a:pPr>
            <a:endParaRPr lang="en-US" i="1" dirty="0" smtClean="0"/>
          </a:p>
          <a:p>
            <a:pPr marL="301943" lvl="1" indent="0">
              <a:buNone/>
            </a:pPr>
            <a:r>
              <a:rPr lang="en-US" i="1" dirty="0" smtClean="0"/>
              <a:t>public </a:t>
            </a:r>
            <a:r>
              <a:rPr lang="en-US" i="1" dirty="0"/>
              <a:t>class </a:t>
            </a:r>
            <a:r>
              <a:rPr lang="en-US" i="1" dirty="0" err="1"/>
              <a:t>Implementazione</a:t>
            </a:r>
            <a:r>
              <a:rPr lang="en-US" i="1" dirty="0"/>
              <a:t> implements </a:t>
            </a:r>
            <a:r>
              <a:rPr lang="en-US" i="1" dirty="0" err="1"/>
              <a:t>Interfaccia</a:t>
            </a:r>
            <a:r>
              <a:rPr lang="en-US" i="1" dirty="0"/>
              <a:t> </a:t>
            </a:r>
            <a:r>
              <a:rPr lang="en-US" i="1" dirty="0" smtClean="0"/>
              <a:t>{</a:t>
            </a:r>
          </a:p>
          <a:p>
            <a:pPr marL="301943" lvl="1" indent="0">
              <a:buNone/>
            </a:pPr>
            <a:endParaRPr lang="en-US" i="1" dirty="0"/>
          </a:p>
          <a:p>
            <a:r>
              <a:rPr lang="en-US" dirty="0" smtClean="0"/>
              <a:t>La </a:t>
            </a:r>
            <a:r>
              <a:rPr lang="en-US" dirty="0" err="1" smtClean="0"/>
              <a:t>sintassi</a:t>
            </a:r>
            <a:r>
              <a:rPr lang="en-US" dirty="0" smtClean="0"/>
              <a:t> </a:t>
            </a:r>
            <a:r>
              <a:rPr lang="en-US" dirty="0" err="1" smtClean="0"/>
              <a:t>impone</a:t>
            </a:r>
            <a:r>
              <a:rPr lang="en-US" dirty="0" smtClean="0"/>
              <a:t> </a:t>
            </a:r>
            <a:r>
              <a:rPr lang="en-US" dirty="0" err="1" smtClean="0"/>
              <a:t>che</a:t>
            </a:r>
            <a:r>
              <a:rPr lang="en-US" dirty="0" smtClean="0"/>
              <a:t> la </a:t>
            </a:r>
            <a:r>
              <a:rPr lang="en-US" dirty="0" err="1" smtClean="0"/>
              <a:t>classe</a:t>
            </a:r>
            <a:r>
              <a:rPr lang="en-US" dirty="0" smtClean="0"/>
              <a:t> </a:t>
            </a:r>
            <a:r>
              <a:rPr lang="en-US" i="1" dirty="0" err="1" smtClean="0"/>
              <a:t>Implementazione</a:t>
            </a:r>
            <a:r>
              <a:rPr lang="en-US" dirty="0" smtClean="0"/>
              <a:t> </a:t>
            </a:r>
            <a:r>
              <a:rPr lang="en-US" b="1" dirty="0" err="1" smtClean="0"/>
              <a:t>debba</a:t>
            </a:r>
            <a:r>
              <a:rPr lang="en-US" b="1" dirty="0" smtClean="0"/>
              <a:t> </a:t>
            </a:r>
            <a:r>
              <a:rPr lang="en-US" dirty="0" err="1" smtClean="0"/>
              <a:t>implementare</a:t>
            </a:r>
            <a:r>
              <a:rPr lang="en-US" dirty="0" smtClean="0"/>
              <a:t> </a:t>
            </a:r>
            <a:r>
              <a:rPr lang="en-US" b="1" dirty="0" err="1" smtClean="0"/>
              <a:t>tutti</a:t>
            </a:r>
            <a:r>
              <a:rPr lang="en-US" b="1" dirty="0" smtClean="0"/>
              <a:t> </a:t>
            </a:r>
            <a:r>
              <a:rPr lang="en-US" dirty="0" err="1" smtClean="0"/>
              <a:t>i</a:t>
            </a:r>
            <a:r>
              <a:rPr lang="en-US" dirty="0" smtClean="0"/>
              <a:t> </a:t>
            </a:r>
            <a:r>
              <a:rPr lang="en-US" dirty="0" err="1" smtClean="0"/>
              <a:t>metodi</a:t>
            </a:r>
            <a:r>
              <a:rPr lang="en-US" dirty="0" smtClean="0"/>
              <a:t> </a:t>
            </a:r>
            <a:r>
              <a:rPr lang="en-US" dirty="0" err="1" smtClean="0"/>
              <a:t>dichiarati</a:t>
            </a:r>
            <a:r>
              <a:rPr lang="en-US" dirty="0" smtClean="0"/>
              <a:t> </a:t>
            </a:r>
            <a:r>
              <a:rPr lang="en-US" dirty="0" err="1" smtClean="0"/>
              <a:t>nell’interfaccia</a:t>
            </a:r>
            <a:endParaRPr lang="it-IT" b="1" i="1" dirty="0"/>
          </a:p>
          <a:p>
            <a:endParaRPr lang="it-IT" dirty="0"/>
          </a:p>
        </p:txBody>
      </p:sp>
      <p:sp>
        <p:nvSpPr>
          <p:cNvPr id="3" name="Segnaposto numero diapositiva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4</a:t>
            </a:fld>
            <a:endParaRPr lang="it-IT"/>
          </a:p>
        </p:txBody>
      </p:sp>
      <p:sp>
        <p:nvSpPr>
          <p:cNvPr id="4" name="Titolo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Interfacce </a:t>
            </a:r>
            <a:r>
              <a:rPr lang="it-IT" dirty="0" smtClean="0"/>
              <a:t>(3/3)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9784026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contenuto 1"/>
          <p:cNvSpPr>
            <a:spLocks noGrp="1"/>
          </p:cNvSpPr>
          <p:nvPr>
            <p:ph idx="1"/>
          </p:nvPr>
        </p:nvSpPr>
        <p:spPr>
          <a:xfrm>
            <a:off x="827584" y="1988840"/>
            <a:ext cx="7408333" cy="4536504"/>
          </a:xfrm>
        </p:spPr>
        <p:txBody>
          <a:bodyPr>
            <a:normAutofit/>
          </a:bodyPr>
          <a:lstStyle/>
          <a:p>
            <a:r>
              <a:rPr lang="it-IT" dirty="0" smtClean="0"/>
              <a:t>Quando istanziamo un oggetto, la clausola </a:t>
            </a:r>
            <a:r>
              <a:rPr lang="it-IT" i="1" dirty="0" smtClean="0"/>
              <a:t>new</a:t>
            </a:r>
            <a:r>
              <a:rPr lang="it-IT" dirty="0" smtClean="0"/>
              <a:t> deve sempre essere seguita dal nome di una classe concreta, non potrà mai essere seguita dal nome di un’interfaccia</a:t>
            </a:r>
          </a:p>
          <a:p>
            <a:r>
              <a:rPr lang="it-IT" dirty="0" smtClean="0"/>
              <a:t>Una classe concreta può implementare </a:t>
            </a:r>
            <a:r>
              <a:rPr lang="it-IT" i="1" dirty="0" smtClean="0"/>
              <a:t>n </a:t>
            </a:r>
            <a:r>
              <a:rPr lang="it-IT" dirty="0" smtClean="0"/>
              <a:t>interfacce (ed in tal caso sarà costretta ad implementare tutti i metodi astratti delle interfacce):</a:t>
            </a:r>
          </a:p>
          <a:p>
            <a:pPr marL="301943" lvl="1" indent="0">
              <a:buNone/>
            </a:pPr>
            <a:r>
              <a:rPr lang="it-IT" sz="1800" i="1" dirty="0" smtClean="0"/>
              <a:t>	public </a:t>
            </a:r>
            <a:r>
              <a:rPr lang="it-IT" sz="1800" i="1" dirty="0" err="1" smtClean="0"/>
              <a:t>class</a:t>
            </a:r>
            <a:r>
              <a:rPr lang="it-IT" sz="1800" i="1" dirty="0" smtClean="0"/>
              <a:t> A </a:t>
            </a:r>
            <a:r>
              <a:rPr lang="it-IT" sz="1800" i="1" dirty="0" err="1" smtClean="0"/>
              <a:t>implements</a:t>
            </a:r>
            <a:r>
              <a:rPr lang="it-IT" sz="1800" i="1" dirty="0" smtClean="0"/>
              <a:t> B, C, D</a:t>
            </a:r>
          </a:p>
          <a:p>
            <a:r>
              <a:rPr lang="it-IT" dirty="0" smtClean="0"/>
              <a:t>Una classe concreta può estendere una (sola) classe e contemporaneamente implementare </a:t>
            </a:r>
            <a:r>
              <a:rPr lang="it-IT" i="1" dirty="0" smtClean="0"/>
              <a:t>n </a:t>
            </a:r>
            <a:r>
              <a:rPr lang="it-IT" dirty="0" smtClean="0"/>
              <a:t>interfacce:</a:t>
            </a:r>
          </a:p>
          <a:p>
            <a:pPr marL="581343" lvl="2" indent="0">
              <a:buNone/>
            </a:pPr>
            <a:r>
              <a:rPr lang="it-IT" sz="1900" i="1" dirty="0" smtClean="0"/>
              <a:t>	public </a:t>
            </a:r>
            <a:r>
              <a:rPr lang="it-IT" sz="1900" i="1" dirty="0" err="1" smtClean="0"/>
              <a:t>class</a:t>
            </a:r>
            <a:r>
              <a:rPr lang="it-IT" sz="1900" i="1" dirty="0" smtClean="0"/>
              <a:t> A </a:t>
            </a:r>
            <a:r>
              <a:rPr lang="it-IT" sz="1900" i="1" dirty="0" err="1" smtClean="0"/>
              <a:t>extends</a:t>
            </a:r>
            <a:r>
              <a:rPr lang="it-IT" sz="1900" i="1" dirty="0" smtClean="0"/>
              <a:t> B </a:t>
            </a:r>
            <a:r>
              <a:rPr lang="it-IT" sz="1900" i="1" dirty="0" err="1" smtClean="0"/>
              <a:t>implements</a:t>
            </a:r>
            <a:r>
              <a:rPr lang="it-IT" sz="1900" i="1" dirty="0" smtClean="0"/>
              <a:t> C, D, E</a:t>
            </a:r>
          </a:p>
          <a:p>
            <a:endParaRPr lang="it-IT" dirty="0"/>
          </a:p>
        </p:txBody>
      </p:sp>
      <p:sp>
        <p:nvSpPr>
          <p:cNvPr id="3" name="Segnaposto numero diapositiva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5</a:t>
            </a:fld>
            <a:endParaRPr lang="it-IT"/>
          </a:p>
        </p:txBody>
      </p:sp>
      <p:sp>
        <p:nvSpPr>
          <p:cNvPr id="4" name="Titolo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Interfacce: regole sintattiche (1/3)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8654555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contenuto 1"/>
          <p:cNvSpPr>
            <a:spLocks noGrp="1"/>
          </p:cNvSpPr>
          <p:nvPr>
            <p:ph idx="1"/>
          </p:nvPr>
        </p:nvSpPr>
        <p:spPr>
          <a:xfrm>
            <a:off x="872067" y="1844824"/>
            <a:ext cx="7408333" cy="4281339"/>
          </a:xfrm>
        </p:spPr>
        <p:txBody>
          <a:bodyPr/>
          <a:lstStyle/>
          <a:p>
            <a:endParaRPr lang="it-IT" dirty="0" smtClean="0"/>
          </a:p>
          <a:p>
            <a:r>
              <a:rPr lang="it-IT" dirty="0" smtClean="0"/>
              <a:t>Un’interfaccia </a:t>
            </a:r>
            <a:r>
              <a:rPr lang="it-IT" dirty="0"/>
              <a:t>può essere figlia di un’altra interfaccia e persino di </a:t>
            </a:r>
            <a:r>
              <a:rPr lang="it-IT" i="1" dirty="0"/>
              <a:t>n</a:t>
            </a:r>
            <a:r>
              <a:rPr lang="it-IT" dirty="0"/>
              <a:t> </a:t>
            </a:r>
            <a:r>
              <a:rPr lang="it-IT" dirty="0" smtClean="0"/>
              <a:t>interfacce (unico </a:t>
            </a:r>
            <a:r>
              <a:rPr lang="it-IT" dirty="0"/>
              <a:t>caso ammesso in Java di ereditarietà </a:t>
            </a:r>
            <a:r>
              <a:rPr lang="it-IT" dirty="0" smtClean="0"/>
              <a:t>multipla):</a:t>
            </a:r>
          </a:p>
          <a:p>
            <a:pPr marL="301943" lvl="1" indent="0">
              <a:buNone/>
            </a:pPr>
            <a:r>
              <a:rPr lang="it-IT" sz="1800" dirty="0" smtClean="0"/>
              <a:t>	</a:t>
            </a:r>
            <a:r>
              <a:rPr lang="it-IT" sz="1800" i="1" dirty="0" smtClean="0"/>
              <a:t>public </a:t>
            </a:r>
            <a:r>
              <a:rPr lang="it-IT" sz="1800" i="1" dirty="0" err="1" smtClean="0"/>
              <a:t>interface</a:t>
            </a:r>
            <a:r>
              <a:rPr lang="it-IT" sz="1800" i="1" dirty="0" smtClean="0"/>
              <a:t> B </a:t>
            </a:r>
            <a:r>
              <a:rPr lang="it-IT" sz="1800" i="1" dirty="0" err="1" smtClean="0"/>
              <a:t>extends</a:t>
            </a:r>
            <a:r>
              <a:rPr lang="it-IT" sz="1800" i="1" dirty="0" smtClean="0"/>
              <a:t> C, D</a:t>
            </a:r>
          </a:p>
          <a:p>
            <a:pPr marL="0" indent="0">
              <a:buNone/>
            </a:pPr>
            <a:r>
              <a:rPr lang="it-IT" sz="1800" i="1" dirty="0" smtClean="0"/>
              <a:t>	public </a:t>
            </a:r>
            <a:r>
              <a:rPr lang="it-IT" sz="1800" i="1" dirty="0" err="1" smtClean="0"/>
              <a:t>class</a:t>
            </a:r>
            <a:r>
              <a:rPr lang="it-IT" sz="1800" i="1" dirty="0" smtClean="0"/>
              <a:t> A </a:t>
            </a:r>
            <a:r>
              <a:rPr lang="it-IT" sz="1800" i="1" dirty="0" err="1" smtClean="0"/>
              <a:t>implements</a:t>
            </a:r>
            <a:r>
              <a:rPr lang="it-IT" sz="1800" i="1" dirty="0" smtClean="0"/>
              <a:t> B</a:t>
            </a:r>
          </a:p>
          <a:p>
            <a:r>
              <a:rPr lang="it-IT" dirty="0" smtClean="0"/>
              <a:t>in tal caso </a:t>
            </a:r>
            <a:r>
              <a:rPr lang="it-IT" i="1" dirty="0" smtClean="0"/>
              <a:t>C</a:t>
            </a:r>
            <a:r>
              <a:rPr lang="it-IT" dirty="0" smtClean="0"/>
              <a:t> e </a:t>
            </a:r>
            <a:r>
              <a:rPr lang="it-IT" i="1" dirty="0" smtClean="0"/>
              <a:t>D</a:t>
            </a:r>
            <a:r>
              <a:rPr lang="it-IT" dirty="0" smtClean="0"/>
              <a:t> dovranno necessariamente essere a loro volta interfacce e la classe </a:t>
            </a:r>
            <a:r>
              <a:rPr lang="it-IT" i="1" dirty="0" smtClean="0"/>
              <a:t>A</a:t>
            </a:r>
            <a:r>
              <a:rPr lang="it-IT" dirty="0" smtClean="0"/>
              <a:t> dovrà implementare tutti i metodi astratti di </a:t>
            </a:r>
            <a:r>
              <a:rPr lang="it-IT" i="1" dirty="0" smtClean="0"/>
              <a:t>B</a:t>
            </a:r>
            <a:r>
              <a:rPr lang="it-IT" dirty="0" smtClean="0"/>
              <a:t>, </a:t>
            </a:r>
            <a:r>
              <a:rPr lang="it-IT" i="1" dirty="0" smtClean="0"/>
              <a:t>C</a:t>
            </a:r>
            <a:r>
              <a:rPr lang="it-IT" dirty="0" smtClean="0"/>
              <a:t> e </a:t>
            </a:r>
            <a:r>
              <a:rPr lang="it-IT" i="1" dirty="0" smtClean="0"/>
              <a:t>D</a:t>
            </a:r>
            <a:endParaRPr lang="it-IT" dirty="0"/>
          </a:p>
          <a:p>
            <a:endParaRPr lang="it-IT" dirty="0"/>
          </a:p>
        </p:txBody>
      </p:sp>
      <p:sp>
        <p:nvSpPr>
          <p:cNvPr id="3" name="Segnaposto numero diapositiva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6</a:t>
            </a:fld>
            <a:endParaRPr lang="it-IT"/>
          </a:p>
        </p:txBody>
      </p:sp>
      <p:sp>
        <p:nvSpPr>
          <p:cNvPr id="4" name="Titolo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Interfacce: regole sintattiche </a:t>
            </a:r>
            <a:r>
              <a:rPr lang="it-IT" dirty="0" smtClean="0"/>
              <a:t>(2/3</a:t>
            </a:r>
            <a:r>
              <a:rPr lang="it-IT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9911533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contenuto 1"/>
          <p:cNvSpPr>
            <a:spLocks noGrp="1"/>
          </p:cNvSpPr>
          <p:nvPr>
            <p:ph idx="1"/>
          </p:nvPr>
        </p:nvSpPr>
        <p:spPr>
          <a:xfrm>
            <a:off x="872067" y="1700808"/>
            <a:ext cx="7408333" cy="4425355"/>
          </a:xfrm>
        </p:spPr>
        <p:txBody>
          <a:bodyPr/>
          <a:lstStyle/>
          <a:p>
            <a:r>
              <a:rPr lang="it-IT" dirty="0" smtClean="0"/>
              <a:t>Un’interfaccia non può essere definita </a:t>
            </a:r>
            <a:r>
              <a:rPr lang="it-IT" i="1" dirty="0" err="1" smtClean="0"/>
              <a:t>final</a:t>
            </a:r>
            <a:endParaRPr lang="it-IT" i="1" dirty="0" smtClean="0"/>
          </a:p>
          <a:p>
            <a:r>
              <a:rPr lang="it-IT" dirty="0" smtClean="0"/>
              <a:t>I metodi di un’interfaccia non possono essere </a:t>
            </a:r>
            <a:r>
              <a:rPr lang="it-IT" i="1" dirty="0" err="1" smtClean="0"/>
              <a:t>final</a:t>
            </a:r>
            <a:r>
              <a:rPr lang="it-IT" dirty="0" smtClean="0"/>
              <a:t> e di default sono </a:t>
            </a:r>
            <a:r>
              <a:rPr lang="it-IT" i="1" dirty="0" smtClean="0"/>
              <a:t>public</a:t>
            </a:r>
            <a:r>
              <a:rPr lang="it-IT" dirty="0" smtClean="0"/>
              <a:t> e astratti (il compilatore inserisce le due parole chiave </a:t>
            </a:r>
            <a:r>
              <a:rPr lang="it-IT" i="1" dirty="0" smtClean="0"/>
              <a:t>public</a:t>
            </a:r>
            <a:r>
              <a:rPr lang="it-IT" dirty="0" smtClean="0"/>
              <a:t> e </a:t>
            </a:r>
            <a:r>
              <a:rPr lang="it-IT" i="1" dirty="0" err="1" smtClean="0"/>
              <a:t>abstract</a:t>
            </a:r>
            <a:r>
              <a:rPr lang="it-IT" dirty="0" smtClean="0"/>
              <a:t> di default se non lo facciamo noi) </a:t>
            </a:r>
          </a:p>
          <a:p>
            <a:r>
              <a:rPr lang="it-IT" dirty="0" smtClean="0"/>
              <a:t>Un’interfaccia può avere degli attributi che saranno di default </a:t>
            </a:r>
            <a:r>
              <a:rPr lang="it-IT" i="1" dirty="0" smtClean="0"/>
              <a:t>public,</a:t>
            </a:r>
            <a:r>
              <a:rPr lang="it-IT" dirty="0" smtClean="0"/>
              <a:t> </a:t>
            </a:r>
            <a:r>
              <a:rPr lang="it-IT" i="1" dirty="0" err="1" smtClean="0"/>
              <a:t>static</a:t>
            </a:r>
            <a:r>
              <a:rPr lang="it-IT" dirty="0" smtClean="0"/>
              <a:t> e </a:t>
            </a:r>
            <a:r>
              <a:rPr lang="it-IT" i="1" dirty="0" err="1" smtClean="0"/>
              <a:t>final</a:t>
            </a:r>
            <a:r>
              <a:rPr lang="it-IT" i="1" dirty="0" smtClean="0"/>
              <a:t> </a:t>
            </a:r>
            <a:r>
              <a:rPr lang="it-IT" dirty="0" smtClean="0"/>
              <a:t>e </a:t>
            </a:r>
            <a:r>
              <a:rPr lang="it-IT" dirty="0" smtClean="0"/>
              <a:t>dovranno necessariamente essere inizializzati subito </a:t>
            </a:r>
            <a:r>
              <a:rPr lang="it-IT" i="1" dirty="0" err="1" smtClean="0"/>
              <a:t>inline</a:t>
            </a:r>
            <a:r>
              <a:rPr lang="it-IT" dirty="0" smtClean="0"/>
              <a:t>. Di fatto sono quindi delle costanti e anzi </a:t>
            </a:r>
            <a:r>
              <a:rPr lang="it-IT" b="1" dirty="0" smtClean="0"/>
              <a:t>è il modo preferito dai programmatori Java di definire le costanti</a:t>
            </a:r>
            <a:endParaRPr lang="it-IT" b="1" dirty="0"/>
          </a:p>
        </p:txBody>
      </p:sp>
      <p:sp>
        <p:nvSpPr>
          <p:cNvPr id="3" name="Segnaposto numero diapositiva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7</a:t>
            </a:fld>
            <a:endParaRPr lang="it-IT"/>
          </a:p>
        </p:txBody>
      </p:sp>
      <p:sp>
        <p:nvSpPr>
          <p:cNvPr id="4" name="Titolo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Interfacce: regole sintattiche </a:t>
            </a:r>
            <a:r>
              <a:rPr lang="it-IT" dirty="0" smtClean="0"/>
              <a:t>(3/3)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818762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contenuto 1"/>
          <p:cNvSpPr>
            <a:spLocks noGrp="1"/>
          </p:cNvSpPr>
          <p:nvPr>
            <p:ph idx="1"/>
          </p:nvPr>
        </p:nvSpPr>
        <p:spPr>
          <a:xfrm>
            <a:off x="872067" y="2060848"/>
            <a:ext cx="7408333" cy="4065315"/>
          </a:xfrm>
        </p:spPr>
        <p:txBody>
          <a:bodyPr>
            <a:normAutofit lnSpcReduction="10000"/>
          </a:bodyPr>
          <a:lstStyle/>
          <a:p>
            <a:pPr marL="301943" lvl="1" indent="0">
              <a:buNone/>
            </a:pPr>
            <a:r>
              <a:rPr lang="it-IT" i="1" dirty="0"/>
              <a:t>package </a:t>
            </a:r>
            <a:r>
              <a:rPr lang="it-IT" i="1" dirty="0" err="1" smtClean="0"/>
              <a:t>com.azienda.progetto.interfacce</a:t>
            </a:r>
            <a:r>
              <a:rPr lang="it-IT" i="1" dirty="0"/>
              <a:t>;</a:t>
            </a:r>
          </a:p>
          <a:p>
            <a:pPr marL="301943" lvl="1" indent="0">
              <a:buNone/>
            </a:pPr>
            <a:r>
              <a:rPr lang="it-IT" i="1" dirty="0"/>
              <a:t> </a:t>
            </a:r>
          </a:p>
          <a:p>
            <a:pPr marL="301943" lvl="1" indent="0">
              <a:buNone/>
            </a:pPr>
            <a:r>
              <a:rPr lang="it-IT" i="1" dirty="0"/>
              <a:t>public </a:t>
            </a:r>
            <a:r>
              <a:rPr lang="it-IT" i="1" dirty="0" err="1"/>
              <a:t>interface</a:t>
            </a:r>
            <a:r>
              <a:rPr lang="it-IT" i="1" dirty="0"/>
              <a:t> </a:t>
            </a:r>
            <a:r>
              <a:rPr lang="it-IT" i="1" dirty="0" err="1" smtClean="0"/>
              <a:t>EsempioInterfaccia</a:t>
            </a:r>
            <a:r>
              <a:rPr lang="it-IT" i="1" dirty="0" smtClean="0"/>
              <a:t> </a:t>
            </a:r>
            <a:r>
              <a:rPr lang="it-IT" i="1" dirty="0"/>
              <a:t>{</a:t>
            </a:r>
          </a:p>
          <a:p>
            <a:pPr marL="301943" lvl="1" indent="0">
              <a:buNone/>
            </a:pPr>
            <a:r>
              <a:rPr lang="it-IT" i="1" dirty="0"/>
              <a:t>	</a:t>
            </a:r>
            <a:r>
              <a:rPr lang="it-IT" i="1" dirty="0" smtClean="0"/>
              <a:t>public </a:t>
            </a:r>
            <a:r>
              <a:rPr lang="it-IT" i="1" dirty="0" err="1" smtClean="0"/>
              <a:t>void</a:t>
            </a:r>
            <a:r>
              <a:rPr lang="it-IT" i="1" dirty="0" smtClean="0"/>
              <a:t> </a:t>
            </a:r>
            <a:r>
              <a:rPr lang="it-IT" i="1" dirty="0" err="1" smtClean="0"/>
              <a:t>stampaStringa</a:t>
            </a:r>
            <a:r>
              <a:rPr lang="it-IT" i="1" dirty="0" smtClean="0"/>
              <a:t>(</a:t>
            </a:r>
            <a:r>
              <a:rPr lang="it-IT" i="1" dirty="0" err="1" smtClean="0"/>
              <a:t>String</a:t>
            </a:r>
            <a:r>
              <a:rPr lang="it-IT" i="1" dirty="0" smtClean="0"/>
              <a:t> </a:t>
            </a:r>
            <a:r>
              <a:rPr lang="it-IT" i="1" dirty="0" err="1" smtClean="0"/>
              <a:t>stringaDaStampare</a:t>
            </a:r>
            <a:r>
              <a:rPr lang="it-IT" i="1" dirty="0" smtClean="0"/>
              <a:t>);</a:t>
            </a:r>
          </a:p>
          <a:p>
            <a:pPr marL="301943" lvl="1" indent="0">
              <a:buNone/>
            </a:pPr>
            <a:r>
              <a:rPr lang="it-IT" i="1" dirty="0"/>
              <a:t>	</a:t>
            </a:r>
            <a:r>
              <a:rPr lang="it-IT" i="1" dirty="0" smtClean="0"/>
              <a:t>public </a:t>
            </a:r>
            <a:r>
              <a:rPr lang="it-IT" i="1" dirty="0" err="1"/>
              <a:t>int</a:t>
            </a:r>
            <a:r>
              <a:rPr lang="it-IT" i="1" dirty="0"/>
              <a:t> operate(</a:t>
            </a:r>
            <a:r>
              <a:rPr lang="it-IT" i="1" dirty="0" err="1"/>
              <a:t>int</a:t>
            </a:r>
            <a:r>
              <a:rPr lang="it-IT" i="1" dirty="0"/>
              <a:t> </a:t>
            </a:r>
            <a:r>
              <a:rPr lang="it-IT" i="1" dirty="0" err="1"/>
              <a:t>x,int</a:t>
            </a:r>
            <a:r>
              <a:rPr lang="it-IT" i="1" dirty="0"/>
              <a:t> y);</a:t>
            </a:r>
          </a:p>
          <a:p>
            <a:pPr marL="301943" lvl="1" indent="0">
              <a:buNone/>
            </a:pPr>
            <a:r>
              <a:rPr lang="it-IT" i="1" dirty="0"/>
              <a:t> </a:t>
            </a:r>
            <a:r>
              <a:rPr lang="it-IT" i="1" dirty="0" smtClean="0"/>
              <a:t>}</a:t>
            </a:r>
            <a:endParaRPr lang="it-IT" i="1" dirty="0"/>
          </a:p>
          <a:p>
            <a:r>
              <a:rPr lang="it-IT" dirty="0" smtClean="0"/>
              <a:t>Nell’esempio di sopra stiamo </a:t>
            </a:r>
            <a:r>
              <a:rPr lang="it-IT" dirty="0"/>
              <a:t>dichiarando che l’interfaccia espone due metodi, uno per effettuare la stampa di una stringa e l’altro per effettuare un’operazione su due numeri interi, restituendo un numero intero come risultato</a:t>
            </a:r>
          </a:p>
        </p:txBody>
      </p:sp>
      <p:sp>
        <p:nvSpPr>
          <p:cNvPr id="3" name="Segnaposto numero diapositiva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8</a:t>
            </a:fld>
            <a:endParaRPr lang="it-IT"/>
          </a:p>
        </p:txBody>
      </p:sp>
      <p:sp>
        <p:nvSpPr>
          <p:cNvPr id="4" name="Titolo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t-IT" dirty="0"/>
              <a:t>Interfacce</a:t>
            </a:r>
            <a:br>
              <a:rPr lang="it-IT" dirty="0"/>
            </a:br>
            <a:r>
              <a:rPr lang="it-IT" dirty="0"/>
              <a:t>Esempio (</a:t>
            </a:r>
            <a:r>
              <a:rPr lang="it-IT" dirty="0" smtClean="0"/>
              <a:t>1/2)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3125781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contenuto 1"/>
          <p:cNvSpPr>
            <a:spLocks noGrp="1"/>
          </p:cNvSpPr>
          <p:nvPr>
            <p:ph idx="1"/>
          </p:nvPr>
        </p:nvSpPr>
        <p:spPr>
          <a:xfrm>
            <a:off x="872067" y="1844824"/>
            <a:ext cx="7408333" cy="4281339"/>
          </a:xfrm>
        </p:spPr>
        <p:txBody>
          <a:bodyPr>
            <a:normAutofit fontScale="92500" lnSpcReduction="10000"/>
          </a:bodyPr>
          <a:lstStyle/>
          <a:p>
            <a:r>
              <a:rPr lang="it-IT" dirty="0"/>
              <a:t>A questo punto si potrebbero creare n implementazioni diverse di </a:t>
            </a:r>
            <a:r>
              <a:rPr lang="it-IT" dirty="0" smtClean="0"/>
              <a:t>quest’interfaccia: </a:t>
            </a:r>
          </a:p>
          <a:p>
            <a:pPr lvl="1"/>
            <a:r>
              <a:rPr lang="it-IT" dirty="0" smtClean="0"/>
              <a:t>implementando </a:t>
            </a:r>
            <a:r>
              <a:rPr lang="it-IT" dirty="0"/>
              <a:t>il metodo </a:t>
            </a:r>
            <a:r>
              <a:rPr lang="it-IT" i="1" dirty="0" err="1"/>
              <a:t>stampaStringa</a:t>
            </a:r>
            <a:r>
              <a:rPr lang="it-IT" dirty="0"/>
              <a:t> effettuando la stampa a video della stringa che viene passata come parametro di input </a:t>
            </a:r>
          </a:p>
          <a:p>
            <a:pPr lvl="1"/>
            <a:r>
              <a:rPr lang="it-IT" dirty="0" err="1" smtClean="0"/>
              <a:t>implementamno</a:t>
            </a:r>
            <a:r>
              <a:rPr lang="it-IT" dirty="0" smtClean="0"/>
              <a:t> </a:t>
            </a:r>
            <a:r>
              <a:rPr lang="it-IT" dirty="0"/>
              <a:t>il metodo </a:t>
            </a:r>
            <a:r>
              <a:rPr lang="it-IT" i="1" dirty="0"/>
              <a:t>operate</a:t>
            </a:r>
            <a:r>
              <a:rPr lang="it-IT" dirty="0"/>
              <a:t> effettuando la somma dei due parametri di </a:t>
            </a:r>
            <a:r>
              <a:rPr lang="it-IT" dirty="0" smtClean="0"/>
              <a:t>ingresso </a:t>
            </a:r>
            <a:r>
              <a:rPr lang="it-IT" i="1" dirty="0" smtClean="0"/>
              <a:t>x </a:t>
            </a:r>
            <a:r>
              <a:rPr lang="it-IT" dirty="0" smtClean="0"/>
              <a:t>e </a:t>
            </a:r>
            <a:r>
              <a:rPr lang="it-IT" i="1" dirty="0" smtClean="0"/>
              <a:t>y</a:t>
            </a:r>
            <a:endParaRPr lang="it-IT" dirty="0"/>
          </a:p>
          <a:p>
            <a:r>
              <a:rPr lang="it-IT" dirty="0" smtClean="0"/>
              <a:t>Oppure:</a:t>
            </a:r>
            <a:endParaRPr lang="it-IT" dirty="0"/>
          </a:p>
          <a:p>
            <a:pPr lvl="1"/>
            <a:r>
              <a:rPr lang="it-IT" dirty="0" smtClean="0"/>
              <a:t>implementando </a:t>
            </a:r>
            <a:r>
              <a:rPr lang="it-IT" dirty="0"/>
              <a:t>il metodo </a:t>
            </a:r>
            <a:r>
              <a:rPr lang="it-IT" i="1" dirty="0" err="1"/>
              <a:t>stampaStringa</a:t>
            </a:r>
            <a:r>
              <a:rPr lang="it-IT" dirty="0"/>
              <a:t> effettuando la stampa a video della stringa viene passata come parametro di input </a:t>
            </a:r>
            <a:r>
              <a:rPr lang="it-IT" dirty="0" smtClean="0"/>
              <a:t>(stessa implementazione di sopra)</a:t>
            </a:r>
            <a:endParaRPr lang="it-IT" dirty="0"/>
          </a:p>
          <a:p>
            <a:pPr lvl="1"/>
            <a:r>
              <a:rPr lang="it-IT" dirty="0" smtClean="0"/>
              <a:t>implementando </a:t>
            </a:r>
            <a:r>
              <a:rPr lang="it-IT" dirty="0"/>
              <a:t>il metodo </a:t>
            </a:r>
            <a:r>
              <a:rPr lang="it-IT" i="1" dirty="0"/>
              <a:t>operate</a:t>
            </a:r>
            <a:r>
              <a:rPr lang="it-IT" dirty="0"/>
              <a:t> effettuando la moltiplicazione dei due parametri di ingresso </a:t>
            </a:r>
            <a:r>
              <a:rPr lang="it-IT" i="1" dirty="0"/>
              <a:t>x</a:t>
            </a:r>
            <a:r>
              <a:rPr lang="it-IT" dirty="0"/>
              <a:t> e </a:t>
            </a:r>
            <a:r>
              <a:rPr lang="it-IT" i="1" dirty="0"/>
              <a:t>y</a:t>
            </a:r>
            <a:endParaRPr lang="it-IT" dirty="0"/>
          </a:p>
        </p:txBody>
      </p:sp>
      <p:sp>
        <p:nvSpPr>
          <p:cNvPr id="3" name="Segnaposto numero diapositiva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9</a:t>
            </a:fld>
            <a:endParaRPr lang="it-IT"/>
          </a:p>
        </p:txBody>
      </p:sp>
      <p:sp>
        <p:nvSpPr>
          <p:cNvPr id="4" name="Titolo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t-IT" dirty="0" smtClean="0"/>
              <a:t>Interfacce</a:t>
            </a:r>
            <a:br>
              <a:rPr lang="it-IT" dirty="0" smtClean="0"/>
            </a:br>
            <a:r>
              <a:rPr lang="it-IT" dirty="0" smtClean="0"/>
              <a:t>Esempio (2/2)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0774200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contenuto 1"/>
          <p:cNvSpPr>
            <a:spLocks noGrp="1"/>
          </p:cNvSpPr>
          <p:nvPr>
            <p:ph idx="1"/>
          </p:nvPr>
        </p:nvSpPr>
        <p:spPr>
          <a:xfrm>
            <a:off x="872067" y="1916832"/>
            <a:ext cx="7408333" cy="4209331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it-IT" sz="2900" i="1" dirty="0"/>
              <a:t>package </a:t>
            </a:r>
            <a:r>
              <a:rPr lang="it-IT" sz="2900" i="1" dirty="0" err="1" smtClean="0"/>
              <a:t>com.azienda.progetto.interfacce</a:t>
            </a:r>
            <a:r>
              <a:rPr lang="it-IT" sz="2900" i="1" dirty="0"/>
              <a:t>;</a:t>
            </a:r>
          </a:p>
          <a:p>
            <a:pPr marL="0" indent="0">
              <a:buNone/>
            </a:pPr>
            <a:r>
              <a:rPr lang="it-IT" sz="2900" i="1" dirty="0"/>
              <a:t> </a:t>
            </a:r>
          </a:p>
          <a:p>
            <a:pPr marL="0" indent="0">
              <a:buNone/>
            </a:pPr>
            <a:r>
              <a:rPr lang="en-US" sz="2900" i="1" dirty="0"/>
              <a:t>public class Implementazione1 implements </a:t>
            </a:r>
            <a:r>
              <a:rPr lang="en-US" sz="2900" i="1" dirty="0" err="1" smtClean="0"/>
              <a:t>EsempioInterfaccia</a:t>
            </a:r>
            <a:r>
              <a:rPr lang="en-US" sz="2900" i="1" dirty="0" smtClean="0"/>
              <a:t> {</a:t>
            </a:r>
            <a:endParaRPr lang="it-IT" sz="2900" i="1" dirty="0"/>
          </a:p>
          <a:p>
            <a:pPr marL="0" indent="0">
              <a:buNone/>
            </a:pPr>
            <a:r>
              <a:rPr lang="en-US" sz="2900" i="1" dirty="0"/>
              <a:t> </a:t>
            </a:r>
            <a:endParaRPr lang="it-IT" sz="2900" i="1" dirty="0"/>
          </a:p>
          <a:p>
            <a:pPr marL="0" indent="0">
              <a:buNone/>
            </a:pPr>
            <a:r>
              <a:rPr lang="en-US" sz="2900" i="1" dirty="0"/>
              <a:t>	</a:t>
            </a:r>
            <a:r>
              <a:rPr lang="it-IT" sz="2900" i="1" dirty="0"/>
              <a:t>public </a:t>
            </a:r>
            <a:r>
              <a:rPr lang="it-IT" sz="2900" i="1" dirty="0" err="1"/>
              <a:t>void</a:t>
            </a:r>
            <a:r>
              <a:rPr lang="it-IT" sz="2900" i="1" dirty="0"/>
              <a:t> </a:t>
            </a:r>
            <a:r>
              <a:rPr lang="it-IT" sz="2900" i="1" dirty="0" err="1"/>
              <a:t>stampaStringa</a:t>
            </a:r>
            <a:r>
              <a:rPr lang="it-IT" sz="2900" i="1" dirty="0"/>
              <a:t>(</a:t>
            </a:r>
            <a:r>
              <a:rPr lang="it-IT" sz="2900" i="1" dirty="0" err="1"/>
              <a:t>String</a:t>
            </a:r>
            <a:r>
              <a:rPr lang="it-IT" sz="2900" i="1" dirty="0"/>
              <a:t> </a:t>
            </a:r>
            <a:r>
              <a:rPr lang="it-IT" sz="2900" i="1" dirty="0" err="1"/>
              <a:t>stringaDaStampare</a:t>
            </a:r>
            <a:r>
              <a:rPr lang="it-IT" sz="2900" i="1" dirty="0" smtClean="0"/>
              <a:t>) {</a:t>
            </a:r>
            <a:endParaRPr lang="it-IT" sz="2900" i="1" dirty="0"/>
          </a:p>
          <a:p>
            <a:pPr marL="0" indent="0">
              <a:buNone/>
            </a:pPr>
            <a:r>
              <a:rPr lang="it-IT" sz="2900" i="1" dirty="0"/>
              <a:t>		</a:t>
            </a:r>
            <a:r>
              <a:rPr lang="it-IT" sz="2900" i="1" dirty="0" err="1"/>
              <a:t>System.out.println</a:t>
            </a:r>
            <a:r>
              <a:rPr lang="it-IT" sz="2900" i="1" dirty="0"/>
              <a:t>("La stringa è: " + </a:t>
            </a:r>
            <a:r>
              <a:rPr lang="it-IT" sz="2900" i="1" dirty="0" smtClean="0"/>
              <a:t>s						</a:t>
            </a:r>
            <a:r>
              <a:rPr lang="it-IT" sz="2900" i="1" dirty="0" err="1" smtClean="0"/>
              <a:t>tringaDaStampare</a:t>
            </a:r>
            <a:r>
              <a:rPr lang="it-IT" sz="2900" i="1" dirty="0"/>
              <a:t>);</a:t>
            </a:r>
          </a:p>
          <a:p>
            <a:pPr marL="0" indent="0">
              <a:buNone/>
            </a:pPr>
            <a:r>
              <a:rPr lang="it-IT" sz="2900" i="1" dirty="0"/>
              <a:t>	</a:t>
            </a:r>
            <a:r>
              <a:rPr lang="en-US" sz="2900" i="1" dirty="0"/>
              <a:t>}</a:t>
            </a:r>
            <a:endParaRPr lang="it-IT" sz="2900" i="1" dirty="0"/>
          </a:p>
          <a:p>
            <a:pPr marL="0" indent="0">
              <a:buNone/>
            </a:pPr>
            <a:r>
              <a:rPr lang="en-US" sz="2900" i="1" dirty="0"/>
              <a:t> </a:t>
            </a:r>
            <a:endParaRPr lang="it-IT" sz="2900" i="1" dirty="0"/>
          </a:p>
          <a:p>
            <a:pPr marL="0" indent="0">
              <a:buNone/>
            </a:pPr>
            <a:r>
              <a:rPr lang="en-US" sz="2900" i="1" dirty="0"/>
              <a:t>	public </a:t>
            </a:r>
            <a:r>
              <a:rPr lang="en-US" sz="2900" i="1" dirty="0" err="1"/>
              <a:t>int</a:t>
            </a:r>
            <a:r>
              <a:rPr lang="en-US" sz="2900" i="1" dirty="0"/>
              <a:t> operate(</a:t>
            </a:r>
            <a:r>
              <a:rPr lang="en-US" sz="2900" i="1" dirty="0" err="1"/>
              <a:t>int</a:t>
            </a:r>
            <a:r>
              <a:rPr lang="en-US" sz="2900" i="1" dirty="0"/>
              <a:t> x, </a:t>
            </a:r>
            <a:r>
              <a:rPr lang="en-US" sz="2900" i="1" dirty="0" err="1"/>
              <a:t>int</a:t>
            </a:r>
            <a:r>
              <a:rPr lang="en-US" sz="2900" i="1" dirty="0"/>
              <a:t> y) {</a:t>
            </a:r>
            <a:endParaRPr lang="it-IT" sz="2900" i="1" dirty="0"/>
          </a:p>
          <a:p>
            <a:pPr marL="0" indent="0">
              <a:buNone/>
            </a:pPr>
            <a:r>
              <a:rPr lang="en-US" sz="2900" i="1" dirty="0"/>
              <a:t>		return x + y;</a:t>
            </a:r>
            <a:endParaRPr lang="it-IT" sz="2900" i="1" dirty="0"/>
          </a:p>
          <a:p>
            <a:pPr marL="0" indent="0">
              <a:buNone/>
            </a:pPr>
            <a:r>
              <a:rPr lang="en-US" sz="2900" i="1" dirty="0"/>
              <a:t>	}</a:t>
            </a:r>
            <a:endParaRPr lang="it-IT" sz="2900" i="1" dirty="0"/>
          </a:p>
          <a:p>
            <a:pPr marL="0" indent="0">
              <a:buNone/>
            </a:pPr>
            <a:r>
              <a:rPr lang="en-US" sz="2900" i="1" dirty="0"/>
              <a:t> </a:t>
            </a:r>
            <a:r>
              <a:rPr lang="en-US" sz="2900" i="1" dirty="0" smtClean="0"/>
              <a:t>}</a:t>
            </a:r>
            <a:endParaRPr lang="it-IT" sz="2900" i="1" dirty="0"/>
          </a:p>
          <a:p>
            <a:endParaRPr lang="it-IT" dirty="0"/>
          </a:p>
        </p:txBody>
      </p:sp>
      <p:sp>
        <p:nvSpPr>
          <p:cNvPr id="3" name="Segnaposto numero diapositiva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10</a:t>
            </a:fld>
            <a:endParaRPr lang="it-IT"/>
          </a:p>
        </p:txBody>
      </p:sp>
      <p:sp>
        <p:nvSpPr>
          <p:cNvPr id="4" name="Titolo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t-IT" dirty="0" smtClean="0"/>
              <a:t>Esempio Interfaccia</a:t>
            </a:r>
            <a:br>
              <a:rPr lang="it-IT" dirty="0" smtClean="0"/>
            </a:br>
            <a:r>
              <a:rPr lang="it-IT" dirty="0" smtClean="0"/>
              <a:t>Una prima implementazione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0898414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contenuto 1"/>
          <p:cNvSpPr>
            <a:spLocks noGrp="1"/>
          </p:cNvSpPr>
          <p:nvPr>
            <p:ph idx="1"/>
          </p:nvPr>
        </p:nvSpPr>
        <p:spPr>
          <a:xfrm>
            <a:off x="872067" y="1916832"/>
            <a:ext cx="7408333" cy="4209331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it-IT" sz="2900" i="1" dirty="0"/>
              <a:t>package </a:t>
            </a:r>
            <a:r>
              <a:rPr lang="it-IT" sz="2900" i="1" dirty="0" err="1" smtClean="0"/>
              <a:t>com.azienda.progetto.interfacce</a:t>
            </a:r>
            <a:r>
              <a:rPr lang="it-IT" sz="2900" i="1" dirty="0"/>
              <a:t>;</a:t>
            </a:r>
          </a:p>
          <a:p>
            <a:pPr marL="0" indent="0">
              <a:buNone/>
            </a:pPr>
            <a:r>
              <a:rPr lang="it-IT" sz="2900" i="1" dirty="0"/>
              <a:t> </a:t>
            </a:r>
          </a:p>
          <a:p>
            <a:pPr marL="0" indent="0">
              <a:buNone/>
            </a:pPr>
            <a:r>
              <a:rPr lang="en-US" sz="2900" i="1" dirty="0"/>
              <a:t>public class </a:t>
            </a:r>
            <a:r>
              <a:rPr lang="en-US" sz="2900" i="1" dirty="0" smtClean="0"/>
              <a:t>Implementazione2 </a:t>
            </a:r>
            <a:r>
              <a:rPr lang="en-US" sz="2900" i="1" dirty="0"/>
              <a:t>implements </a:t>
            </a:r>
            <a:r>
              <a:rPr lang="en-US" sz="2900" i="1" dirty="0" err="1" smtClean="0"/>
              <a:t>EsempioInterfaccia</a:t>
            </a:r>
            <a:r>
              <a:rPr lang="en-US" sz="2900" i="1" dirty="0" smtClean="0"/>
              <a:t> {</a:t>
            </a:r>
            <a:endParaRPr lang="it-IT" sz="2900" i="1" dirty="0"/>
          </a:p>
          <a:p>
            <a:pPr marL="0" indent="0">
              <a:buNone/>
            </a:pPr>
            <a:r>
              <a:rPr lang="en-US" sz="2900" i="1" dirty="0"/>
              <a:t> </a:t>
            </a:r>
            <a:endParaRPr lang="it-IT" sz="2900" i="1" dirty="0"/>
          </a:p>
          <a:p>
            <a:pPr marL="0" indent="0">
              <a:buNone/>
            </a:pPr>
            <a:r>
              <a:rPr lang="en-US" sz="2900" i="1" dirty="0"/>
              <a:t>	</a:t>
            </a:r>
            <a:r>
              <a:rPr lang="it-IT" sz="2900" i="1" dirty="0"/>
              <a:t>public </a:t>
            </a:r>
            <a:r>
              <a:rPr lang="it-IT" sz="2900" i="1" dirty="0" err="1"/>
              <a:t>void</a:t>
            </a:r>
            <a:r>
              <a:rPr lang="it-IT" sz="2900" i="1" dirty="0"/>
              <a:t> </a:t>
            </a:r>
            <a:r>
              <a:rPr lang="it-IT" sz="2900" i="1" dirty="0" err="1"/>
              <a:t>stampaStringa</a:t>
            </a:r>
            <a:r>
              <a:rPr lang="it-IT" sz="2900" i="1" dirty="0"/>
              <a:t>(</a:t>
            </a:r>
            <a:r>
              <a:rPr lang="it-IT" sz="2900" i="1" dirty="0" err="1"/>
              <a:t>String</a:t>
            </a:r>
            <a:r>
              <a:rPr lang="it-IT" sz="2900" i="1" dirty="0"/>
              <a:t> </a:t>
            </a:r>
            <a:r>
              <a:rPr lang="it-IT" sz="2900" i="1" dirty="0" err="1"/>
              <a:t>stringaDaStampare</a:t>
            </a:r>
            <a:r>
              <a:rPr lang="it-IT" sz="2900" i="1" dirty="0" smtClean="0"/>
              <a:t>) {</a:t>
            </a:r>
            <a:endParaRPr lang="it-IT" sz="2900" i="1" dirty="0"/>
          </a:p>
          <a:p>
            <a:pPr marL="0" indent="0">
              <a:buNone/>
            </a:pPr>
            <a:r>
              <a:rPr lang="it-IT" sz="2900" i="1" dirty="0"/>
              <a:t>		</a:t>
            </a:r>
            <a:r>
              <a:rPr lang="it-IT" sz="2900" i="1" dirty="0" err="1"/>
              <a:t>System.out.println</a:t>
            </a:r>
            <a:r>
              <a:rPr lang="it-IT" sz="2900" i="1" dirty="0"/>
              <a:t>("La stringa è: " + </a:t>
            </a:r>
            <a:r>
              <a:rPr lang="it-IT" sz="2900" i="1" dirty="0" smtClean="0"/>
              <a:t>s						</a:t>
            </a:r>
            <a:r>
              <a:rPr lang="it-IT" sz="2900" i="1" dirty="0" err="1" smtClean="0"/>
              <a:t>tringaDaStampare</a:t>
            </a:r>
            <a:r>
              <a:rPr lang="it-IT" sz="2900" i="1" dirty="0"/>
              <a:t>);</a:t>
            </a:r>
          </a:p>
          <a:p>
            <a:pPr marL="0" indent="0">
              <a:buNone/>
            </a:pPr>
            <a:r>
              <a:rPr lang="it-IT" sz="2900" i="1" dirty="0"/>
              <a:t>	</a:t>
            </a:r>
            <a:r>
              <a:rPr lang="en-US" sz="2900" i="1" dirty="0"/>
              <a:t>}</a:t>
            </a:r>
            <a:endParaRPr lang="it-IT" sz="2900" i="1" dirty="0"/>
          </a:p>
          <a:p>
            <a:pPr marL="0" indent="0">
              <a:buNone/>
            </a:pPr>
            <a:r>
              <a:rPr lang="en-US" sz="2900" i="1" dirty="0"/>
              <a:t> </a:t>
            </a:r>
            <a:endParaRPr lang="it-IT" sz="2900" i="1" dirty="0"/>
          </a:p>
          <a:p>
            <a:pPr marL="0" indent="0">
              <a:buNone/>
            </a:pPr>
            <a:r>
              <a:rPr lang="en-US" sz="2900" i="1" dirty="0"/>
              <a:t>	public </a:t>
            </a:r>
            <a:r>
              <a:rPr lang="en-US" sz="2900" i="1" dirty="0" err="1"/>
              <a:t>int</a:t>
            </a:r>
            <a:r>
              <a:rPr lang="en-US" sz="2900" i="1" dirty="0"/>
              <a:t> operate(</a:t>
            </a:r>
            <a:r>
              <a:rPr lang="en-US" sz="2900" i="1" dirty="0" err="1"/>
              <a:t>int</a:t>
            </a:r>
            <a:r>
              <a:rPr lang="en-US" sz="2900" i="1" dirty="0"/>
              <a:t> x, </a:t>
            </a:r>
            <a:r>
              <a:rPr lang="en-US" sz="2900" i="1" dirty="0" err="1"/>
              <a:t>int</a:t>
            </a:r>
            <a:r>
              <a:rPr lang="en-US" sz="2900" i="1" dirty="0"/>
              <a:t> y) {</a:t>
            </a:r>
            <a:endParaRPr lang="it-IT" sz="2900" i="1" dirty="0"/>
          </a:p>
          <a:p>
            <a:pPr marL="0" indent="0">
              <a:buNone/>
            </a:pPr>
            <a:r>
              <a:rPr lang="en-US" sz="2900" i="1" dirty="0"/>
              <a:t>		return x </a:t>
            </a:r>
            <a:r>
              <a:rPr lang="en-US" sz="2900" i="1" dirty="0" smtClean="0"/>
              <a:t>* </a:t>
            </a:r>
            <a:r>
              <a:rPr lang="en-US" sz="2900" i="1" dirty="0"/>
              <a:t>y;</a:t>
            </a:r>
            <a:endParaRPr lang="it-IT" sz="2900" i="1" dirty="0"/>
          </a:p>
          <a:p>
            <a:pPr marL="0" indent="0">
              <a:buNone/>
            </a:pPr>
            <a:r>
              <a:rPr lang="en-US" sz="2900" i="1" dirty="0"/>
              <a:t>	}</a:t>
            </a:r>
            <a:endParaRPr lang="it-IT" sz="2900" i="1" dirty="0"/>
          </a:p>
          <a:p>
            <a:pPr marL="0" indent="0">
              <a:buNone/>
            </a:pPr>
            <a:r>
              <a:rPr lang="en-US" sz="2900" i="1" dirty="0"/>
              <a:t> </a:t>
            </a:r>
            <a:r>
              <a:rPr lang="en-US" sz="2900" i="1" dirty="0" smtClean="0"/>
              <a:t>}</a:t>
            </a:r>
            <a:endParaRPr lang="it-IT" sz="2900" i="1" dirty="0"/>
          </a:p>
          <a:p>
            <a:endParaRPr lang="it-IT" dirty="0"/>
          </a:p>
        </p:txBody>
      </p:sp>
      <p:sp>
        <p:nvSpPr>
          <p:cNvPr id="3" name="Segnaposto numero diapositiva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11</a:t>
            </a:fld>
            <a:endParaRPr lang="it-IT"/>
          </a:p>
        </p:txBody>
      </p:sp>
      <p:sp>
        <p:nvSpPr>
          <p:cNvPr id="4" name="Titolo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t-IT" dirty="0" smtClean="0"/>
              <a:t>Esempio Interfaccia</a:t>
            </a:r>
            <a:br>
              <a:rPr lang="it-IT" dirty="0" smtClean="0"/>
            </a:br>
            <a:r>
              <a:rPr lang="it-IT" dirty="0" smtClean="0"/>
              <a:t>Una seconda implementazione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0714037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contenuto 1"/>
          <p:cNvSpPr>
            <a:spLocks noGrp="1"/>
          </p:cNvSpPr>
          <p:nvPr>
            <p:ph idx="1"/>
          </p:nvPr>
        </p:nvSpPr>
        <p:spPr>
          <a:xfrm>
            <a:off x="872067" y="1916832"/>
            <a:ext cx="7408333" cy="420933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it-IT" sz="1700" i="1" dirty="0"/>
              <a:t>package </a:t>
            </a:r>
            <a:r>
              <a:rPr lang="it-IT" sz="1700" i="1" dirty="0" err="1" smtClean="0"/>
              <a:t>com.azienda.progetto.interfacce</a:t>
            </a:r>
            <a:r>
              <a:rPr lang="it-IT" sz="1700" i="1" dirty="0"/>
              <a:t>;</a:t>
            </a:r>
          </a:p>
          <a:p>
            <a:pPr marL="0" indent="0">
              <a:buNone/>
            </a:pPr>
            <a:r>
              <a:rPr lang="it-IT" sz="1700" i="1" dirty="0"/>
              <a:t> </a:t>
            </a:r>
          </a:p>
          <a:p>
            <a:pPr marL="0" indent="0">
              <a:buNone/>
            </a:pPr>
            <a:r>
              <a:rPr lang="en-US" sz="1700" i="1" dirty="0"/>
              <a:t>public class </a:t>
            </a:r>
            <a:r>
              <a:rPr lang="en-US" sz="1700" i="1" dirty="0" err="1" smtClean="0"/>
              <a:t>UsoInterfaccia</a:t>
            </a:r>
            <a:r>
              <a:rPr lang="en-US" sz="1700" i="1" dirty="0" smtClean="0"/>
              <a:t>  {</a:t>
            </a:r>
            <a:endParaRPr lang="it-IT" sz="1700" i="1" dirty="0"/>
          </a:p>
          <a:p>
            <a:pPr marL="0" indent="0">
              <a:buNone/>
            </a:pPr>
            <a:r>
              <a:rPr lang="en-US" sz="1700" i="1" dirty="0"/>
              <a:t>	public static void main(String </a:t>
            </a:r>
            <a:r>
              <a:rPr lang="en-US" sz="1700" i="1" dirty="0" err="1"/>
              <a:t>args</a:t>
            </a:r>
            <a:r>
              <a:rPr lang="en-US" sz="1700" i="1" dirty="0" smtClean="0"/>
              <a:t>[]) </a:t>
            </a:r>
            <a:r>
              <a:rPr lang="it-IT" sz="1700" i="1" dirty="0" smtClean="0"/>
              <a:t>{</a:t>
            </a:r>
            <a:endParaRPr lang="it-IT" sz="1700" i="1" dirty="0"/>
          </a:p>
          <a:p>
            <a:pPr marL="0" indent="0">
              <a:buNone/>
            </a:pPr>
            <a:r>
              <a:rPr lang="it-IT" sz="1700" i="1" dirty="0"/>
              <a:t>		</a:t>
            </a:r>
            <a:r>
              <a:rPr lang="it-IT" sz="1700" i="1" dirty="0" err="1" smtClean="0"/>
              <a:t>EsempioInterfaccia</a:t>
            </a:r>
            <a:r>
              <a:rPr lang="it-IT" sz="1700" i="1" dirty="0" smtClean="0"/>
              <a:t> </a:t>
            </a:r>
            <a:r>
              <a:rPr lang="it-IT" sz="1700" i="1" dirty="0" err="1" smtClean="0"/>
              <a:t>obj</a:t>
            </a:r>
            <a:r>
              <a:rPr lang="it-IT" sz="1700" i="1" dirty="0" smtClean="0"/>
              <a:t> </a:t>
            </a:r>
            <a:r>
              <a:rPr lang="it-IT" sz="1700" i="1" dirty="0"/>
              <a:t>= new Implementazione1();</a:t>
            </a:r>
          </a:p>
          <a:p>
            <a:pPr marL="0" indent="0">
              <a:buNone/>
            </a:pPr>
            <a:r>
              <a:rPr lang="it-IT" sz="1700" i="1" dirty="0"/>
              <a:t>		</a:t>
            </a:r>
            <a:r>
              <a:rPr lang="it-IT" sz="1700" i="1" dirty="0" err="1" smtClean="0"/>
              <a:t>obj.stampaStringa</a:t>
            </a:r>
            <a:r>
              <a:rPr lang="it-IT" sz="1700" i="1" dirty="0"/>
              <a:t>("Mario Rossi");</a:t>
            </a:r>
          </a:p>
          <a:p>
            <a:pPr marL="0" indent="0">
              <a:buNone/>
            </a:pPr>
            <a:r>
              <a:rPr lang="it-IT" sz="1700" i="1" dirty="0"/>
              <a:t>		</a:t>
            </a:r>
            <a:r>
              <a:rPr lang="it-IT" sz="1700" i="1" dirty="0" err="1"/>
              <a:t>int</a:t>
            </a:r>
            <a:r>
              <a:rPr lang="it-IT" sz="1700" i="1" dirty="0"/>
              <a:t> </a:t>
            </a:r>
            <a:r>
              <a:rPr lang="it-IT" sz="1700" i="1" dirty="0" err="1"/>
              <a:t>result</a:t>
            </a:r>
            <a:r>
              <a:rPr lang="it-IT" sz="1700" i="1" dirty="0"/>
              <a:t> = </a:t>
            </a:r>
            <a:r>
              <a:rPr lang="it-IT" sz="1700" i="1" dirty="0" err="1"/>
              <a:t>obj</a:t>
            </a:r>
            <a:r>
              <a:rPr lang="it-IT" sz="1700" i="1" dirty="0" err="1" smtClean="0"/>
              <a:t>.operate</a:t>
            </a:r>
            <a:r>
              <a:rPr lang="it-IT" sz="1700" i="1" dirty="0" smtClean="0"/>
              <a:t>(2,3</a:t>
            </a:r>
            <a:r>
              <a:rPr lang="it-IT" sz="1700" i="1" dirty="0"/>
              <a:t>);</a:t>
            </a:r>
          </a:p>
          <a:p>
            <a:pPr marL="0" indent="0">
              <a:buNone/>
            </a:pPr>
            <a:r>
              <a:rPr lang="it-IT" sz="1700" i="1" dirty="0" smtClean="0"/>
              <a:t>		</a:t>
            </a:r>
            <a:r>
              <a:rPr lang="it-IT" sz="1700" i="1" dirty="0" err="1" smtClean="0"/>
              <a:t>System.out.println</a:t>
            </a:r>
            <a:r>
              <a:rPr lang="it-IT" sz="1700" i="1" dirty="0"/>
              <a:t>("Il risultato dell'operazione è: " + </a:t>
            </a:r>
            <a:r>
              <a:rPr lang="it-IT" sz="1700" i="1" dirty="0" err="1"/>
              <a:t>result</a:t>
            </a:r>
            <a:r>
              <a:rPr lang="it-IT" sz="1700" i="1" dirty="0"/>
              <a:t>);</a:t>
            </a:r>
          </a:p>
          <a:p>
            <a:pPr marL="0" indent="0">
              <a:buNone/>
            </a:pPr>
            <a:r>
              <a:rPr lang="it-IT" sz="1700" i="1" dirty="0"/>
              <a:t>		</a:t>
            </a:r>
            <a:r>
              <a:rPr lang="it-IT" sz="1700" i="1" dirty="0" err="1"/>
              <a:t>obj</a:t>
            </a:r>
            <a:r>
              <a:rPr lang="it-IT" sz="1700" i="1" dirty="0" smtClean="0"/>
              <a:t> </a:t>
            </a:r>
            <a:r>
              <a:rPr lang="it-IT" sz="1700" i="1" dirty="0"/>
              <a:t>= new Implementazione2();</a:t>
            </a:r>
          </a:p>
          <a:p>
            <a:pPr marL="0" indent="0">
              <a:buNone/>
            </a:pPr>
            <a:r>
              <a:rPr lang="it-IT" sz="1700" i="1" dirty="0"/>
              <a:t>		</a:t>
            </a:r>
            <a:r>
              <a:rPr lang="it-IT" sz="1700" i="1" dirty="0" err="1"/>
              <a:t>obj</a:t>
            </a:r>
            <a:r>
              <a:rPr lang="it-IT" sz="1700" i="1" dirty="0" err="1" smtClean="0"/>
              <a:t>.stampaStringa</a:t>
            </a:r>
            <a:r>
              <a:rPr lang="it-IT" sz="1700" i="1" dirty="0"/>
              <a:t>("Giuseppe Bianchi");</a:t>
            </a:r>
          </a:p>
          <a:p>
            <a:pPr marL="0" indent="0">
              <a:buNone/>
            </a:pPr>
            <a:r>
              <a:rPr lang="it-IT" sz="1700" i="1" dirty="0"/>
              <a:t>		</a:t>
            </a:r>
            <a:r>
              <a:rPr lang="it-IT" sz="1700" i="1" dirty="0" err="1"/>
              <a:t>int</a:t>
            </a:r>
            <a:r>
              <a:rPr lang="it-IT" sz="1700" i="1" dirty="0"/>
              <a:t> result2 = </a:t>
            </a:r>
            <a:r>
              <a:rPr lang="it-IT" sz="1700" i="1" dirty="0" err="1"/>
              <a:t>obj</a:t>
            </a:r>
            <a:r>
              <a:rPr lang="it-IT" sz="1700" i="1" dirty="0" err="1" smtClean="0"/>
              <a:t>.operate</a:t>
            </a:r>
            <a:r>
              <a:rPr lang="it-IT" sz="1700" i="1" dirty="0" smtClean="0"/>
              <a:t>(2,3</a:t>
            </a:r>
            <a:r>
              <a:rPr lang="it-IT" sz="1700" i="1" dirty="0"/>
              <a:t>);</a:t>
            </a:r>
          </a:p>
          <a:p>
            <a:pPr marL="0" indent="0">
              <a:buNone/>
            </a:pPr>
            <a:r>
              <a:rPr lang="it-IT" sz="1700" i="1" dirty="0" smtClean="0"/>
              <a:t>		</a:t>
            </a:r>
            <a:r>
              <a:rPr lang="it-IT" sz="1700" i="1" dirty="0" err="1" smtClean="0"/>
              <a:t>System.out.println</a:t>
            </a:r>
            <a:r>
              <a:rPr lang="it-IT" sz="1700" i="1" dirty="0"/>
              <a:t>("Il risultato dell'operazione è: " + result2);</a:t>
            </a:r>
          </a:p>
          <a:p>
            <a:pPr marL="0" indent="0">
              <a:buNone/>
            </a:pPr>
            <a:r>
              <a:rPr lang="it-IT" sz="1700" i="1" dirty="0"/>
              <a:t>	</a:t>
            </a:r>
            <a:r>
              <a:rPr lang="it-IT" sz="1700" i="1" dirty="0" smtClean="0"/>
              <a:t>}</a:t>
            </a:r>
            <a:endParaRPr lang="it-IT" sz="1700" i="1" dirty="0"/>
          </a:p>
          <a:p>
            <a:pPr marL="0" indent="0">
              <a:buNone/>
            </a:pPr>
            <a:r>
              <a:rPr lang="it-IT" sz="1700" i="1" dirty="0"/>
              <a:t> </a:t>
            </a:r>
            <a:r>
              <a:rPr lang="it-IT" sz="1700" i="1" dirty="0" smtClean="0"/>
              <a:t>}</a:t>
            </a:r>
            <a:endParaRPr lang="it-IT" sz="1700" dirty="0"/>
          </a:p>
        </p:txBody>
      </p:sp>
      <p:sp>
        <p:nvSpPr>
          <p:cNvPr id="3" name="Segnaposto numero diapositiva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12</a:t>
            </a:fld>
            <a:endParaRPr lang="it-IT"/>
          </a:p>
        </p:txBody>
      </p:sp>
      <p:sp>
        <p:nvSpPr>
          <p:cNvPr id="4" name="Titolo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t-IT" dirty="0" smtClean="0"/>
              <a:t>Esempio interfaccia</a:t>
            </a:r>
            <a:br>
              <a:rPr lang="it-IT" dirty="0" smtClean="0"/>
            </a:br>
            <a:r>
              <a:rPr lang="it-IT" dirty="0" smtClean="0"/>
              <a:t>Caso d’uso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5552767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contenuto 1"/>
          <p:cNvSpPr>
            <a:spLocks noGrp="1"/>
          </p:cNvSpPr>
          <p:nvPr>
            <p:ph idx="1"/>
          </p:nvPr>
        </p:nvSpPr>
        <p:spPr>
          <a:xfrm>
            <a:off x="872067" y="2204864"/>
            <a:ext cx="7408333" cy="3921299"/>
          </a:xfrm>
        </p:spPr>
        <p:txBody>
          <a:bodyPr>
            <a:normAutofit lnSpcReduction="10000"/>
          </a:bodyPr>
          <a:lstStyle/>
          <a:p>
            <a:r>
              <a:rPr lang="it-IT" dirty="0"/>
              <a:t>L’output prodotto a video dalla classe </a:t>
            </a:r>
            <a:r>
              <a:rPr lang="it-IT" i="1" dirty="0" err="1"/>
              <a:t>UsoInterfaccia</a:t>
            </a:r>
            <a:r>
              <a:rPr lang="it-IT" dirty="0"/>
              <a:t> sarà:</a:t>
            </a:r>
          </a:p>
          <a:p>
            <a:pPr marL="581343" lvl="2" indent="0">
              <a:buNone/>
            </a:pPr>
            <a:r>
              <a:rPr lang="it-IT" i="1" dirty="0"/>
              <a:t>La stringa è: Mario Rossi</a:t>
            </a:r>
          </a:p>
          <a:p>
            <a:pPr marL="581343" lvl="2" indent="0">
              <a:buNone/>
            </a:pPr>
            <a:r>
              <a:rPr lang="it-IT" i="1" dirty="0"/>
              <a:t>Il risultato dell'operazione è: 5</a:t>
            </a:r>
          </a:p>
          <a:p>
            <a:pPr marL="581343" lvl="2" indent="0">
              <a:buNone/>
            </a:pPr>
            <a:r>
              <a:rPr lang="it-IT" i="1" dirty="0"/>
              <a:t>La stringa è: Giuseppe Bianchi</a:t>
            </a:r>
          </a:p>
          <a:p>
            <a:pPr marL="581343" lvl="2" indent="0">
              <a:buNone/>
            </a:pPr>
            <a:r>
              <a:rPr lang="it-IT" i="1" dirty="0"/>
              <a:t>Il risultato dell'operazione è: </a:t>
            </a:r>
            <a:r>
              <a:rPr lang="it-IT" i="1" dirty="0" smtClean="0"/>
              <a:t>6</a:t>
            </a:r>
          </a:p>
          <a:p>
            <a:pPr marL="342900" indent="-342900"/>
            <a:r>
              <a:rPr lang="it-IT" dirty="0" smtClean="0"/>
              <a:t>L’esempio ha mostrato un altro caso d’uso del polimorfismo: l’oggetto </a:t>
            </a:r>
            <a:r>
              <a:rPr lang="it-IT" i="1" dirty="0" err="1" smtClean="0"/>
              <a:t>obj</a:t>
            </a:r>
            <a:r>
              <a:rPr lang="it-IT" dirty="0" smtClean="0"/>
              <a:t> dichiarato di tipo </a:t>
            </a:r>
            <a:r>
              <a:rPr lang="it-IT" i="1" dirty="0" err="1" smtClean="0"/>
              <a:t>EsempioInterfaccia</a:t>
            </a:r>
            <a:r>
              <a:rPr lang="it-IT" dirty="0" smtClean="0"/>
              <a:t> e istanziato in un primo momento di classe </a:t>
            </a:r>
            <a:r>
              <a:rPr lang="it-IT" i="1" dirty="0" smtClean="0"/>
              <a:t>Implementazione1</a:t>
            </a:r>
            <a:r>
              <a:rPr lang="it-IT" dirty="0" smtClean="0"/>
              <a:t> e successivamente di classe </a:t>
            </a:r>
            <a:r>
              <a:rPr lang="it-IT" i="1" dirty="0" smtClean="0"/>
              <a:t>Implentazione2</a:t>
            </a:r>
            <a:endParaRPr lang="it-IT" dirty="0"/>
          </a:p>
        </p:txBody>
      </p:sp>
      <p:sp>
        <p:nvSpPr>
          <p:cNvPr id="3" name="Segnaposto numero diapositiva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13</a:t>
            </a:fld>
            <a:endParaRPr lang="it-IT"/>
          </a:p>
        </p:txBody>
      </p:sp>
      <p:sp>
        <p:nvSpPr>
          <p:cNvPr id="4" name="Titolo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t-IT" dirty="0" smtClean="0"/>
              <a:t>Esempio Interfaccia</a:t>
            </a:r>
            <a:br>
              <a:rPr lang="it-IT" dirty="0" smtClean="0"/>
            </a:br>
            <a:r>
              <a:rPr lang="it-IT" dirty="0" smtClean="0"/>
              <a:t>Output a console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5017100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contenuto 1"/>
          <p:cNvSpPr>
            <a:spLocks noGrp="1"/>
          </p:cNvSpPr>
          <p:nvPr>
            <p:ph idx="1"/>
          </p:nvPr>
        </p:nvSpPr>
        <p:spPr>
          <a:xfrm>
            <a:off x="872067" y="1916832"/>
            <a:ext cx="7408333" cy="4209331"/>
          </a:xfrm>
        </p:spPr>
        <p:txBody>
          <a:bodyPr/>
          <a:lstStyle/>
          <a:p>
            <a:r>
              <a:rPr lang="it-IT" dirty="0"/>
              <a:t>Vediamo adesso una tecnica molto usata nella programmazione </a:t>
            </a:r>
            <a:r>
              <a:rPr lang="it-IT" dirty="0" err="1"/>
              <a:t>object</a:t>
            </a:r>
            <a:r>
              <a:rPr lang="it-IT" dirty="0"/>
              <a:t> </a:t>
            </a:r>
            <a:r>
              <a:rPr lang="it-IT" dirty="0" err="1"/>
              <a:t>oriented</a:t>
            </a:r>
            <a:r>
              <a:rPr lang="it-IT" dirty="0"/>
              <a:t> che trae profitto proprio dall’utilizzo delle interfacce</a:t>
            </a:r>
            <a:r>
              <a:rPr lang="it-IT" b="1" dirty="0"/>
              <a:t>: quando in una classe si espone un metodo che utilizza come parametri </a:t>
            </a:r>
            <a:r>
              <a:rPr lang="it-IT" b="1" dirty="0" smtClean="0"/>
              <a:t>di ingresso classi </a:t>
            </a:r>
            <a:r>
              <a:rPr lang="it-IT" b="1" dirty="0"/>
              <a:t>che implementano una determinata </a:t>
            </a:r>
            <a:r>
              <a:rPr lang="it-IT" b="1" dirty="0" smtClean="0"/>
              <a:t>interfaccia e </a:t>
            </a:r>
            <a:r>
              <a:rPr lang="it-IT" b="1" dirty="0" err="1" smtClean="0"/>
              <a:t>fintantochè</a:t>
            </a:r>
            <a:r>
              <a:rPr lang="it-IT" b="1" dirty="0" smtClean="0"/>
              <a:t> si è interessati ad usare solo i metodi definiti nell’interfaccia, è </a:t>
            </a:r>
            <a:r>
              <a:rPr lang="it-IT" b="1" dirty="0"/>
              <a:t>una best-</a:t>
            </a:r>
            <a:r>
              <a:rPr lang="it-IT" b="1" dirty="0" err="1"/>
              <a:t>practice</a:t>
            </a:r>
            <a:r>
              <a:rPr lang="it-IT" b="1" dirty="0"/>
              <a:t> dichiarare nella firma del metodo l’interfaccia piuttosto che la classe concreta</a:t>
            </a:r>
            <a:endParaRPr lang="it-IT" dirty="0"/>
          </a:p>
        </p:txBody>
      </p:sp>
      <p:sp>
        <p:nvSpPr>
          <p:cNvPr id="3" name="Segnaposto numero diapositiva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14</a:t>
            </a:fld>
            <a:endParaRPr lang="it-IT"/>
          </a:p>
        </p:txBody>
      </p:sp>
      <p:sp>
        <p:nvSpPr>
          <p:cNvPr id="4" name="Titolo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t-IT" dirty="0" smtClean="0"/>
              <a:t>Interfacce </a:t>
            </a:r>
            <a:br>
              <a:rPr lang="it-IT" dirty="0" smtClean="0"/>
            </a:br>
            <a:r>
              <a:rPr lang="it-IT" dirty="0" smtClean="0"/>
              <a:t>best-</a:t>
            </a:r>
            <a:r>
              <a:rPr lang="it-IT" dirty="0" err="1" smtClean="0"/>
              <a:t>practice</a:t>
            </a:r>
            <a:r>
              <a:rPr lang="it-IT" dirty="0" smtClean="0"/>
              <a:t> (1/2)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6053674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contenuto 1"/>
          <p:cNvSpPr>
            <a:spLocks noGrp="1"/>
          </p:cNvSpPr>
          <p:nvPr>
            <p:ph idx="1"/>
          </p:nvPr>
        </p:nvSpPr>
        <p:spPr>
          <a:xfrm>
            <a:off x="872067" y="2060848"/>
            <a:ext cx="7408333" cy="4065315"/>
          </a:xfrm>
        </p:spPr>
        <p:txBody>
          <a:bodyPr/>
          <a:lstStyle/>
          <a:p>
            <a:r>
              <a:rPr lang="it-IT" dirty="0" smtClean="0"/>
              <a:t>Immaginiamo di aggiungere all’esempio precedente una </a:t>
            </a:r>
            <a:r>
              <a:rPr lang="it-IT" dirty="0"/>
              <a:t>nuova classe </a:t>
            </a:r>
            <a:r>
              <a:rPr lang="it-IT" i="1" dirty="0"/>
              <a:t>A</a:t>
            </a:r>
            <a:r>
              <a:rPr lang="it-IT" dirty="0"/>
              <a:t> che all’interno di in un suo metodo </a:t>
            </a:r>
            <a:r>
              <a:rPr lang="it-IT" i="1" dirty="0"/>
              <a:t>prova</a:t>
            </a:r>
            <a:r>
              <a:rPr lang="it-IT" dirty="0"/>
              <a:t> voglia richiamare il metodo </a:t>
            </a:r>
            <a:r>
              <a:rPr lang="it-IT" i="1" dirty="0" smtClean="0"/>
              <a:t>operate </a:t>
            </a:r>
            <a:r>
              <a:rPr lang="it-IT" dirty="0" smtClean="0"/>
              <a:t>di </a:t>
            </a:r>
            <a:r>
              <a:rPr lang="it-IT" i="1" dirty="0" err="1" smtClean="0"/>
              <a:t>EsempioInterfaccia</a:t>
            </a:r>
            <a:endParaRPr lang="it-IT" i="1" dirty="0" smtClean="0"/>
          </a:p>
          <a:p>
            <a:r>
              <a:rPr lang="it-IT" dirty="0" smtClean="0"/>
              <a:t>Supponiamo anche che in un determinato momento «</a:t>
            </a:r>
            <a:r>
              <a:rPr lang="it-IT" i="1" dirty="0" smtClean="0"/>
              <a:t>t_0»</a:t>
            </a:r>
            <a:r>
              <a:rPr lang="it-IT" dirty="0" smtClean="0"/>
              <a:t> siamo interessati all’implementazione </a:t>
            </a:r>
            <a:r>
              <a:rPr lang="it-IT" dirty="0"/>
              <a:t>presente nella classe </a:t>
            </a:r>
            <a:r>
              <a:rPr lang="it-IT" i="1" dirty="0" smtClean="0"/>
              <a:t>Implementazione1 </a:t>
            </a:r>
            <a:r>
              <a:rPr lang="it-IT" dirty="0" smtClean="0"/>
              <a:t>(la somma)</a:t>
            </a:r>
          </a:p>
          <a:p>
            <a:endParaRPr lang="it-IT" i="1" dirty="0"/>
          </a:p>
        </p:txBody>
      </p:sp>
      <p:sp>
        <p:nvSpPr>
          <p:cNvPr id="3" name="Segnaposto numero diapositiva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15</a:t>
            </a:fld>
            <a:endParaRPr lang="it-IT"/>
          </a:p>
        </p:txBody>
      </p:sp>
      <p:sp>
        <p:nvSpPr>
          <p:cNvPr id="4" name="Titolo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t-IT" dirty="0"/>
              <a:t>Interfacce </a:t>
            </a:r>
            <a:br>
              <a:rPr lang="it-IT" dirty="0"/>
            </a:br>
            <a:r>
              <a:rPr lang="it-IT" dirty="0"/>
              <a:t>best-</a:t>
            </a:r>
            <a:r>
              <a:rPr lang="it-IT" dirty="0" err="1"/>
              <a:t>practice</a:t>
            </a:r>
            <a:r>
              <a:rPr lang="it-IT" dirty="0"/>
              <a:t> </a:t>
            </a:r>
            <a:r>
              <a:rPr lang="it-IT" dirty="0" smtClean="0"/>
              <a:t>(2/2</a:t>
            </a:r>
            <a:r>
              <a:rPr lang="it-IT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0261509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contenuto 1"/>
          <p:cNvSpPr>
            <a:spLocks noGrp="1"/>
          </p:cNvSpPr>
          <p:nvPr>
            <p:ph idx="1"/>
          </p:nvPr>
        </p:nvSpPr>
        <p:spPr>
          <a:xfrm>
            <a:off x="872067" y="2132856"/>
            <a:ext cx="7408333" cy="3993307"/>
          </a:xfrm>
        </p:spPr>
        <p:txBody>
          <a:bodyPr/>
          <a:lstStyle/>
          <a:p>
            <a:r>
              <a:rPr lang="it-IT" dirty="0" smtClean="0"/>
              <a:t>Visto che al momento </a:t>
            </a:r>
            <a:r>
              <a:rPr lang="it-IT" i="1" dirty="0" smtClean="0"/>
              <a:t>t_0 </a:t>
            </a:r>
            <a:r>
              <a:rPr lang="it-IT" dirty="0" smtClean="0"/>
              <a:t>mi serve la </a:t>
            </a:r>
            <a:r>
              <a:rPr lang="it-IT" i="1" dirty="0" smtClean="0"/>
              <a:t>operate </a:t>
            </a:r>
            <a:r>
              <a:rPr lang="it-IT" dirty="0" smtClean="0"/>
              <a:t> come somma definisco il metodo </a:t>
            </a:r>
            <a:r>
              <a:rPr lang="it-IT" i="1" dirty="0" smtClean="0"/>
              <a:t>prova</a:t>
            </a:r>
            <a:r>
              <a:rPr lang="it-IT" dirty="0" smtClean="0"/>
              <a:t> così:</a:t>
            </a:r>
          </a:p>
          <a:p>
            <a:pPr marL="301943" lvl="1" indent="0">
              <a:buNone/>
            </a:pPr>
            <a:r>
              <a:rPr lang="it-IT" i="1" dirty="0" smtClean="0"/>
              <a:t>public </a:t>
            </a:r>
            <a:r>
              <a:rPr lang="it-IT" i="1" dirty="0" err="1" smtClean="0"/>
              <a:t>void</a:t>
            </a:r>
            <a:r>
              <a:rPr lang="it-IT" i="1" dirty="0" smtClean="0"/>
              <a:t> prova(</a:t>
            </a:r>
            <a:r>
              <a:rPr lang="it-IT" b="1" i="1" dirty="0" smtClean="0"/>
              <a:t>Implementazione1</a:t>
            </a:r>
            <a:r>
              <a:rPr lang="it-IT" i="1" dirty="0" smtClean="0"/>
              <a:t> </a:t>
            </a:r>
            <a:r>
              <a:rPr lang="it-IT" i="1" dirty="0" err="1" smtClean="0"/>
              <a:t>obj,int</a:t>
            </a:r>
            <a:r>
              <a:rPr lang="it-IT" i="1" dirty="0" smtClean="0"/>
              <a:t> </a:t>
            </a:r>
            <a:r>
              <a:rPr lang="it-IT" i="1" dirty="0" err="1" smtClean="0"/>
              <a:t>x,int</a:t>
            </a:r>
            <a:r>
              <a:rPr lang="it-IT" i="1" dirty="0" smtClean="0"/>
              <a:t> y) {</a:t>
            </a:r>
          </a:p>
          <a:p>
            <a:pPr marL="581343" lvl="2" indent="0">
              <a:buNone/>
            </a:pPr>
            <a:r>
              <a:rPr lang="it-IT" i="1" dirty="0" err="1" smtClean="0"/>
              <a:t>int</a:t>
            </a:r>
            <a:r>
              <a:rPr lang="it-IT" i="1" dirty="0" smtClean="0"/>
              <a:t> z = </a:t>
            </a:r>
            <a:r>
              <a:rPr lang="it-IT" i="1" dirty="0" err="1" smtClean="0"/>
              <a:t>obj.operate</a:t>
            </a:r>
            <a:r>
              <a:rPr lang="it-IT" i="1" dirty="0" smtClean="0"/>
              <a:t>(</a:t>
            </a:r>
            <a:r>
              <a:rPr lang="it-IT" i="1" dirty="0" err="1" smtClean="0"/>
              <a:t>x,y</a:t>
            </a:r>
            <a:r>
              <a:rPr lang="it-IT" i="1" dirty="0" smtClean="0"/>
              <a:t>);</a:t>
            </a:r>
          </a:p>
          <a:p>
            <a:pPr marL="581343" lvl="2" indent="0">
              <a:buNone/>
            </a:pPr>
            <a:r>
              <a:rPr lang="it-IT" i="1" dirty="0" err="1" smtClean="0"/>
              <a:t>System.out.println</a:t>
            </a:r>
            <a:r>
              <a:rPr lang="it-IT" i="1" dirty="0" smtClean="0"/>
              <a:t>(z);</a:t>
            </a:r>
          </a:p>
          <a:p>
            <a:pPr marL="301943" lvl="1" indent="0">
              <a:buNone/>
            </a:pPr>
            <a:r>
              <a:rPr lang="it-IT" i="1" dirty="0" smtClean="0"/>
              <a:t>}</a:t>
            </a:r>
          </a:p>
          <a:p>
            <a:r>
              <a:rPr lang="it-IT" dirty="0" smtClean="0"/>
              <a:t>U</a:t>
            </a:r>
            <a:r>
              <a:rPr lang="it-IT" i="1" dirty="0" smtClean="0"/>
              <a:t>s</a:t>
            </a:r>
            <a:r>
              <a:rPr lang="it-IT" dirty="0" smtClean="0"/>
              <a:t>ando quindi direttamente come parametro di ingresso un oggetto </a:t>
            </a:r>
            <a:r>
              <a:rPr lang="it-IT" i="1" dirty="0" err="1" smtClean="0"/>
              <a:t>obj</a:t>
            </a:r>
            <a:r>
              <a:rPr lang="it-IT" dirty="0" smtClean="0"/>
              <a:t> di classe </a:t>
            </a:r>
            <a:r>
              <a:rPr lang="it-IT" i="1" dirty="0" smtClean="0"/>
              <a:t>Implementazione1 </a:t>
            </a:r>
            <a:r>
              <a:rPr lang="it-IT" dirty="0" smtClean="0"/>
              <a:t>(quella con la somma)</a:t>
            </a:r>
            <a:endParaRPr lang="it-IT" dirty="0"/>
          </a:p>
        </p:txBody>
      </p:sp>
      <p:sp>
        <p:nvSpPr>
          <p:cNvPr id="3" name="Segnaposto numero diapositiva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16</a:t>
            </a:fld>
            <a:endParaRPr lang="it-IT"/>
          </a:p>
        </p:txBody>
      </p:sp>
      <p:sp>
        <p:nvSpPr>
          <p:cNvPr id="4" name="Titolo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Interfacce - approccio sbagliato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0227474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contenuto 1"/>
          <p:cNvSpPr>
            <a:spLocks noGrp="1"/>
          </p:cNvSpPr>
          <p:nvPr>
            <p:ph idx="1"/>
          </p:nvPr>
        </p:nvSpPr>
        <p:spPr>
          <a:xfrm>
            <a:off x="872067" y="1844824"/>
            <a:ext cx="7408333" cy="4281339"/>
          </a:xfrm>
        </p:spPr>
        <p:txBody>
          <a:bodyPr>
            <a:normAutofit fontScale="92500" lnSpcReduction="20000"/>
          </a:bodyPr>
          <a:lstStyle/>
          <a:p>
            <a:r>
              <a:rPr lang="it-IT" dirty="0" smtClean="0"/>
              <a:t>Considerato che nel metodo </a:t>
            </a:r>
            <a:r>
              <a:rPr lang="it-IT" i="1" dirty="0" smtClean="0"/>
              <a:t>prova</a:t>
            </a:r>
            <a:r>
              <a:rPr lang="it-IT" dirty="0" smtClean="0"/>
              <a:t> uso soltanto il metodo </a:t>
            </a:r>
            <a:r>
              <a:rPr lang="it-IT" i="1" dirty="0" smtClean="0"/>
              <a:t>operate</a:t>
            </a:r>
            <a:r>
              <a:rPr lang="it-IT" dirty="0" smtClean="0"/>
              <a:t> che essendo dichiarato nell’interfaccia </a:t>
            </a:r>
            <a:r>
              <a:rPr lang="it-IT" i="1" dirty="0" err="1" smtClean="0"/>
              <a:t>EsempioInterfaccia</a:t>
            </a:r>
            <a:r>
              <a:rPr lang="it-IT" dirty="0" smtClean="0"/>
              <a:t> è comune a tutte le implementazioni dell’interfaccia, uso come tipo del parametro di ingresso </a:t>
            </a:r>
            <a:r>
              <a:rPr lang="it-IT" i="1" dirty="0" err="1" smtClean="0"/>
              <a:t>obj</a:t>
            </a:r>
            <a:r>
              <a:rPr lang="it-IT" i="1" dirty="0" smtClean="0"/>
              <a:t> </a:t>
            </a:r>
            <a:r>
              <a:rPr lang="it-IT" dirty="0" smtClean="0"/>
              <a:t>del metodo </a:t>
            </a:r>
            <a:r>
              <a:rPr lang="it-IT" i="1" dirty="0" smtClean="0"/>
              <a:t>prova</a:t>
            </a:r>
            <a:r>
              <a:rPr lang="it-IT" dirty="0" smtClean="0"/>
              <a:t> l’interfaccia:</a:t>
            </a:r>
          </a:p>
          <a:p>
            <a:pPr marL="301943" lvl="1" indent="0">
              <a:buNone/>
            </a:pPr>
            <a:r>
              <a:rPr lang="it-IT" i="1" dirty="0"/>
              <a:t>public </a:t>
            </a:r>
            <a:r>
              <a:rPr lang="it-IT" i="1" dirty="0" smtClean="0"/>
              <a:t>prova(</a:t>
            </a:r>
            <a:r>
              <a:rPr lang="it-IT" i="1" dirty="0" err="1" smtClean="0"/>
              <a:t>EsempioInterfaccia</a:t>
            </a:r>
            <a:r>
              <a:rPr lang="it-IT" i="1" dirty="0" smtClean="0"/>
              <a:t> </a:t>
            </a:r>
            <a:r>
              <a:rPr lang="it-IT" i="1" dirty="0" err="1"/>
              <a:t>obj,int</a:t>
            </a:r>
            <a:r>
              <a:rPr lang="it-IT" i="1" dirty="0"/>
              <a:t> </a:t>
            </a:r>
            <a:r>
              <a:rPr lang="it-IT" i="1" dirty="0" err="1"/>
              <a:t>x,int</a:t>
            </a:r>
            <a:r>
              <a:rPr lang="it-IT" i="1" dirty="0"/>
              <a:t> y) {</a:t>
            </a:r>
          </a:p>
          <a:p>
            <a:pPr marL="581343" lvl="2" indent="0">
              <a:buNone/>
            </a:pPr>
            <a:r>
              <a:rPr lang="it-IT" i="1" dirty="0" err="1"/>
              <a:t>int</a:t>
            </a:r>
            <a:r>
              <a:rPr lang="it-IT" i="1" dirty="0"/>
              <a:t> z = </a:t>
            </a:r>
            <a:r>
              <a:rPr lang="it-IT" i="1" dirty="0" err="1"/>
              <a:t>obj.operate</a:t>
            </a:r>
            <a:r>
              <a:rPr lang="it-IT" i="1" dirty="0"/>
              <a:t>(</a:t>
            </a:r>
            <a:r>
              <a:rPr lang="it-IT" i="1" dirty="0" err="1"/>
              <a:t>x,y</a:t>
            </a:r>
            <a:r>
              <a:rPr lang="it-IT" i="1" dirty="0"/>
              <a:t>);</a:t>
            </a:r>
          </a:p>
          <a:p>
            <a:pPr marL="581343" lvl="2" indent="0">
              <a:buNone/>
            </a:pPr>
            <a:r>
              <a:rPr lang="it-IT" i="1" dirty="0" err="1"/>
              <a:t>System.out.println</a:t>
            </a:r>
            <a:r>
              <a:rPr lang="it-IT" i="1" dirty="0"/>
              <a:t>(z);</a:t>
            </a:r>
          </a:p>
          <a:p>
            <a:pPr marL="301943" lvl="1" indent="0">
              <a:buNone/>
            </a:pPr>
            <a:r>
              <a:rPr lang="it-IT" i="1" dirty="0" smtClean="0"/>
              <a:t>}</a:t>
            </a:r>
          </a:p>
          <a:p>
            <a:pPr marL="301943" lvl="1" indent="0">
              <a:buNone/>
            </a:pPr>
            <a:r>
              <a:rPr lang="it-IT" sz="2400" dirty="0" smtClean="0"/>
              <a:t>Così facendo, se un domani voglio cambiare implementazione, perché nel metodo </a:t>
            </a:r>
            <a:r>
              <a:rPr lang="it-IT" sz="2400" i="1" dirty="0" smtClean="0"/>
              <a:t>prova </a:t>
            </a:r>
            <a:r>
              <a:rPr lang="it-IT" sz="2400" dirty="0" smtClean="0"/>
              <a:t>mi serve il prodotto anziché la somma, non devo cambiare il codice del metodo </a:t>
            </a:r>
            <a:r>
              <a:rPr lang="it-IT" sz="2400" i="1" dirty="0" smtClean="0"/>
              <a:t>prova</a:t>
            </a:r>
            <a:r>
              <a:rPr lang="it-IT" sz="2400" dirty="0" smtClean="0"/>
              <a:t> (cambia solo il chiamante che ovviamente dovrà scegliere quale implementazione usare)</a:t>
            </a:r>
            <a:endParaRPr lang="it-IT" sz="2400" dirty="0"/>
          </a:p>
          <a:p>
            <a:endParaRPr lang="it-IT" i="1" dirty="0"/>
          </a:p>
        </p:txBody>
      </p:sp>
      <p:sp>
        <p:nvSpPr>
          <p:cNvPr id="3" name="Segnaposto numero diapositiva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17</a:t>
            </a:fld>
            <a:endParaRPr lang="it-IT"/>
          </a:p>
        </p:txBody>
      </p:sp>
      <p:sp>
        <p:nvSpPr>
          <p:cNvPr id="4" name="Titolo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t-IT" dirty="0" smtClean="0"/>
              <a:t>Interfacce - approccio corretto (1/2)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4794744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contenuto 1"/>
          <p:cNvSpPr>
            <a:spLocks noGrp="1"/>
          </p:cNvSpPr>
          <p:nvPr>
            <p:ph idx="1"/>
          </p:nvPr>
        </p:nvSpPr>
        <p:spPr>
          <a:xfrm>
            <a:off x="872067" y="1916832"/>
            <a:ext cx="7408333" cy="4209331"/>
          </a:xfrm>
        </p:spPr>
        <p:txBody>
          <a:bodyPr>
            <a:normAutofit/>
          </a:bodyPr>
          <a:lstStyle/>
          <a:p>
            <a:r>
              <a:rPr lang="it-IT" sz="2200" dirty="0" smtClean="0"/>
              <a:t>Con l’approccio corretto, nel codice chiamante posso cambiare quante volte voglio l’implementazione dell’interfaccia che voglio usare senza dover mai cambiare il codice del metodo </a:t>
            </a:r>
            <a:r>
              <a:rPr lang="it-IT" sz="2200" i="1" dirty="0" smtClean="0"/>
              <a:t>prova</a:t>
            </a:r>
            <a:r>
              <a:rPr lang="it-IT" sz="2200" dirty="0" smtClean="0"/>
              <a:t>:</a:t>
            </a:r>
          </a:p>
          <a:p>
            <a:pPr marL="301943" lvl="1" indent="0">
              <a:buNone/>
            </a:pPr>
            <a:r>
              <a:rPr lang="it-IT" sz="1800" i="1" dirty="0" smtClean="0"/>
              <a:t>A </a:t>
            </a:r>
            <a:r>
              <a:rPr lang="it-IT" sz="1800" i="1" dirty="0" err="1" smtClean="0"/>
              <a:t>oggettoA</a:t>
            </a:r>
            <a:r>
              <a:rPr lang="it-IT" sz="1800" i="1" dirty="0" smtClean="0"/>
              <a:t> = new A();</a:t>
            </a:r>
          </a:p>
          <a:p>
            <a:pPr marL="301943" lvl="1" indent="0">
              <a:buNone/>
            </a:pPr>
            <a:r>
              <a:rPr lang="it-IT" sz="1800" i="1" dirty="0" smtClean="0"/>
              <a:t>Interfaccia oggetto = new Implementazione1();</a:t>
            </a:r>
          </a:p>
          <a:p>
            <a:pPr marL="301943" lvl="1" indent="0">
              <a:buNone/>
            </a:pPr>
            <a:r>
              <a:rPr lang="it-IT" sz="1800" i="1" dirty="0" err="1" smtClean="0"/>
              <a:t>oggettoA.prova</a:t>
            </a:r>
            <a:r>
              <a:rPr lang="it-IT" sz="1800" i="1" dirty="0" smtClean="0"/>
              <a:t>(oggetto); // versione di operate di Implementazione1</a:t>
            </a:r>
          </a:p>
          <a:p>
            <a:pPr marL="301943" lvl="1" indent="0">
              <a:buNone/>
            </a:pPr>
            <a:r>
              <a:rPr lang="it-IT" sz="1800" i="1" dirty="0" smtClean="0"/>
              <a:t>Interfaccia oggetto = new Implementazione2()</a:t>
            </a:r>
          </a:p>
          <a:p>
            <a:pPr marL="301943" lvl="1" indent="0">
              <a:buNone/>
            </a:pPr>
            <a:r>
              <a:rPr lang="it-IT" sz="1800" i="1" dirty="0" err="1" smtClean="0"/>
              <a:t>oggettoA.prova</a:t>
            </a:r>
            <a:r>
              <a:rPr lang="it-IT" sz="1800" i="1" dirty="0" smtClean="0"/>
              <a:t>(oggetto2); // versione di operate di Implementazione2</a:t>
            </a:r>
          </a:p>
        </p:txBody>
      </p:sp>
      <p:sp>
        <p:nvSpPr>
          <p:cNvPr id="3" name="Segnaposto numero diapositiva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18</a:t>
            </a:fld>
            <a:endParaRPr lang="it-IT"/>
          </a:p>
        </p:txBody>
      </p:sp>
      <p:sp>
        <p:nvSpPr>
          <p:cNvPr id="4" name="Titolo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t-IT" dirty="0"/>
              <a:t>Interfacce - approccio corretto </a:t>
            </a:r>
            <a:r>
              <a:rPr lang="it-IT" dirty="0" smtClean="0"/>
              <a:t>(2/2</a:t>
            </a:r>
            <a:r>
              <a:rPr lang="it-IT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06150403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nde">
  <a:themeElements>
    <a:clrScheme name="Onde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Onde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nde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Waveform</Template>
  <TotalTime>430</TotalTime>
  <Words>896</Words>
  <Application>Microsoft Office PowerPoint</Application>
  <PresentationFormat>Presentazione su schermo (4:3)</PresentationFormat>
  <Paragraphs>139</Paragraphs>
  <Slides>18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18</vt:i4>
      </vt:variant>
    </vt:vector>
  </HeadingPairs>
  <TitlesOfParts>
    <vt:vector size="22" baseType="lpstr">
      <vt:lpstr>Calibri</vt:lpstr>
      <vt:lpstr>Candara</vt:lpstr>
      <vt:lpstr>Symbol</vt:lpstr>
      <vt:lpstr>Onde</vt:lpstr>
      <vt:lpstr>Classi e oggetti concetti avanzati (parte C – Interfacce e Astratte)</vt:lpstr>
      <vt:lpstr>Interfacce (1/3)</vt:lpstr>
      <vt:lpstr>Interfacce (2/3)</vt:lpstr>
      <vt:lpstr>Interfacce (3/3)</vt:lpstr>
      <vt:lpstr>Interfacce: regole sintattiche (1/3)</vt:lpstr>
      <vt:lpstr>Interfacce: regole sintattiche (2/3)</vt:lpstr>
      <vt:lpstr>Interfacce: regole sintattiche (3/3)</vt:lpstr>
      <vt:lpstr>Interfacce Esempio (1/2)</vt:lpstr>
      <vt:lpstr>Interfacce Esempio (2/2)</vt:lpstr>
      <vt:lpstr>Esempio Interfaccia Una prima implementazione</vt:lpstr>
      <vt:lpstr>Esempio Interfaccia Una seconda implementazione</vt:lpstr>
      <vt:lpstr>Esempio interfaccia Caso d’uso</vt:lpstr>
      <vt:lpstr>Esempio Interfaccia Output a console</vt:lpstr>
      <vt:lpstr>Interfacce  best-practice (1/2)</vt:lpstr>
      <vt:lpstr>Interfacce  best-practice (2/2)</vt:lpstr>
      <vt:lpstr>Interfacce - approccio sbagliato</vt:lpstr>
      <vt:lpstr>Interfacce - approccio corretto (1/2)</vt:lpstr>
      <vt:lpstr>Interfacce - approccio corretto (2/2)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Classi e oggetti (parte II)</dc:title>
  <dc:creator>Roberto Santoro</dc:creator>
  <cp:lastModifiedBy>Roberto Santoro</cp:lastModifiedBy>
  <cp:revision>98</cp:revision>
  <dcterms:created xsi:type="dcterms:W3CDTF">2020-03-12T08:56:57Z</dcterms:created>
  <dcterms:modified xsi:type="dcterms:W3CDTF">2023-05-23T06:55:46Z</dcterms:modified>
</cp:coreProperties>
</file>