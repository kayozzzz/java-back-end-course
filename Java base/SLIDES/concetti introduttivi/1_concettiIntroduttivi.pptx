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BA6B4-E7E4-496F-890F-5A1322EECB15}" type="datetimeFigureOut">
              <a:rPr lang="it-IT" smtClean="0"/>
              <a:t>11/02/2025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D3821-AFBB-43C5-AE0D-0653991435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973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2DBB-315A-4A27-9388-71B4F342404F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DA69-A664-463B-89B2-87DAAD2773BE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E1B2-02BD-4740-A790-178019228E74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FA7A-1EA7-4AF8-94FC-EE568EFD4D9C}" type="datetime1">
              <a:rPr lang="it-IT" smtClean="0"/>
              <a:t>11/02/2025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BEBCE-B7DD-4582-8B0E-58FA0CD82C6C}" type="datetime1">
              <a:rPr lang="it-IT" smtClean="0"/>
              <a:t>11/02/2025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5F71-44B7-4A4A-82C9-008A594F4F3F}" type="datetime1">
              <a:rPr lang="it-IT" smtClean="0"/>
              <a:t>11/02/2025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1FB0-6D37-4EDA-A85E-555F0C833C69}" type="datetime1">
              <a:rPr lang="it-IT" smtClean="0"/>
              <a:t>11/02/2025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1ED8-76B5-4CED-9E84-5AD573D76E78}" type="datetime1">
              <a:rPr lang="it-IT" smtClean="0"/>
              <a:t>11/02/2025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C26A4-7557-4C11-9E99-ECBA427A7C46}" type="datetime1">
              <a:rPr lang="it-IT" smtClean="0"/>
              <a:t>11/02/2025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004-5C09-46A4-90DC-F366658DF513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63781-E3A4-4CC5-A224-3C6CE6230245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DCD4559-80C3-4738-837E-E08300D04A73}" type="datetime1">
              <a:rPr lang="it-IT" smtClean="0"/>
              <a:t>11/02/2025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Java - base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606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/>
          <a:lstStyle/>
          <a:p>
            <a:endParaRPr lang="it-IT" dirty="0" smtClean="0"/>
          </a:p>
          <a:p>
            <a:r>
              <a:rPr lang="it-IT" dirty="0" smtClean="0"/>
              <a:t>Java è un linguaggio di programmazione:</a:t>
            </a:r>
          </a:p>
          <a:p>
            <a:pPr lvl="1"/>
            <a:r>
              <a:rPr lang="it-IT" dirty="0" smtClean="0"/>
              <a:t>di alto livello</a:t>
            </a:r>
          </a:p>
          <a:p>
            <a:pPr lvl="1"/>
            <a:r>
              <a:rPr lang="it-IT" dirty="0" smtClean="0"/>
              <a:t>compilato</a:t>
            </a:r>
          </a:p>
          <a:p>
            <a:pPr lvl="1"/>
            <a:r>
              <a:rPr lang="it-IT" dirty="0" err="1" smtClean="0"/>
              <a:t>platform</a:t>
            </a:r>
            <a:r>
              <a:rPr lang="it-IT" dirty="0" smtClean="0"/>
              <a:t> </a:t>
            </a:r>
            <a:r>
              <a:rPr lang="it-IT" dirty="0" err="1" smtClean="0"/>
              <a:t>independent</a:t>
            </a:r>
            <a:r>
              <a:rPr lang="it-IT" dirty="0" smtClean="0"/>
              <a:t>/portabile</a:t>
            </a:r>
          </a:p>
          <a:p>
            <a:pPr lvl="1"/>
            <a:r>
              <a:rPr lang="it-IT" dirty="0" err="1" smtClean="0"/>
              <a:t>object</a:t>
            </a:r>
            <a:r>
              <a:rPr lang="it-IT" dirty="0" smtClean="0"/>
              <a:t> </a:t>
            </a:r>
            <a:r>
              <a:rPr lang="it-IT" dirty="0" err="1" smtClean="0"/>
              <a:t>oriented</a:t>
            </a:r>
            <a:endParaRPr lang="it-IT" dirty="0" smtClean="0"/>
          </a:p>
          <a:p>
            <a:pPr lvl="1"/>
            <a:r>
              <a:rPr lang="it-IT" dirty="0" smtClean="0"/>
              <a:t>multi-</a:t>
            </a:r>
            <a:r>
              <a:rPr lang="it-IT" dirty="0" err="1" smtClean="0"/>
              <a:t>thread</a:t>
            </a:r>
            <a:r>
              <a:rPr lang="it-IT" dirty="0" smtClean="0"/>
              <a:t>/concorrente</a:t>
            </a:r>
          </a:p>
          <a:p>
            <a:pPr lvl="1"/>
            <a:endParaRPr lang="it-IT" dirty="0" smtClean="0"/>
          </a:p>
          <a:p>
            <a:pPr lvl="1"/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Cos’è Java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91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SE :  standard </a:t>
            </a:r>
            <a:r>
              <a:rPr lang="it-IT" dirty="0" err="1" smtClean="0"/>
              <a:t>edition</a:t>
            </a:r>
            <a:endParaRPr lang="it-IT" dirty="0" smtClean="0"/>
          </a:p>
          <a:p>
            <a:r>
              <a:rPr lang="it-IT" dirty="0" smtClean="0"/>
              <a:t>EE: </a:t>
            </a:r>
            <a:r>
              <a:rPr lang="it-IT" dirty="0" err="1" smtClean="0"/>
              <a:t>enterprise</a:t>
            </a:r>
            <a:r>
              <a:rPr lang="it-IT" dirty="0" smtClean="0"/>
              <a:t> </a:t>
            </a:r>
            <a:r>
              <a:rPr lang="it-IT" dirty="0" err="1" smtClean="0"/>
              <a:t>edition</a:t>
            </a:r>
            <a:endParaRPr lang="it-IT" dirty="0" smtClean="0"/>
          </a:p>
          <a:p>
            <a:r>
              <a:rPr lang="it-IT" dirty="0" smtClean="0"/>
              <a:t>ME: micro-</a:t>
            </a:r>
            <a:r>
              <a:rPr lang="it-IT" dirty="0" err="1" smtClean="0"/>
              <a:t>edition</a:t>
            </a:r>
            <a:endParaRPr lang="it-IT" dirty="0" smtClean="0"/>
          </a:p>
          <a:p>
            <a:r>
              <a:rPr lang="it-IT" dirty="0" smtClean="0"/>
              <a:t>FX: </a:t>
            </a:r>
            <a:r>
              <a:rPr lang="it-IT" dirty="0" err="1" smtClean="0"/>
              <a:t>rich</a:t>
            </a:r>
            <a:r>
              <a:rPr lang="it-IT" dirty="0" smtClean="0"/>
              <a:t> internet </a:t>
            </a:r>
            <a:r>
              <a:rPr lang="it-IT" dirty="0" err="1" smtClean="0"/>
              <a:t>application</a:t>
            </a:r>
            <a:endParaRPr lang="it-IT" dirty="0" smtClean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Java Edition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147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>
            <a:normAutofit lnSpcReduction="10000"/>
          </a:bodyPr>
          <a:lstStyle/>
          <a:p>
            <a:r>
              <a:rPr lang="it-IT" dirty="0" smtClean="0"/>
              <a:t>JDK e JRE: Java Development Kit e Java Runtime Environment</a:t>
            </a:r>
          </a:p>
          <a:p>
            <a:r>
              <a:rPr lang="it-IT" dirty="0" smtClean="0"/>
              <a:t>JVM: java </a:t>
            </a:r>
            <a:r>
              <a:rPr lang="it-IT" dirty="0" err="1" smtClean="0"/>
              <a:t>virtual</a:t>
            </a:r>
            <a:r>
              <a:rPr lang="it-IT" dirty="0" smtClean="0"/>
              <a:t> machine</a:t>
            </a:r>
          </a:p>
          <a:p>
            <a:pPr lvl="1"/>
            <a:r>
              <a:rPr lang="it-IT" dirty="0" smtClean="0"/>
              <a:t>Virtualizzazione del sistema operativo sottostante -&gt; indipendenza dalla piattaforma</a:t>
            </a:r>
          </a:p>
          <a:p>
            <a:r>
              <a:rPr lang="it-IT" dirty="0" smtClean="0"/>
              <a:t>Directory principali dell’installazione del JDK, versione 8:</a:t>
            </a:r>
          </a:p>
          <a:p>
            <a:pPr lvl="1"/>
            <a:r>
              <a:rPr lang="it-IT" dirty="0" smtClean="0"/>
              <a:t>bin</a:t>
            </a:r>
          </a:p>
          <a:p>
            <a:pPr lvl="1"/>
            <a:r>
              <a:rPr lang="it-IT" dirty="0" err="1" smtClean="0"/>
              <a:t>lib</a:t>
            </a:r>
            <a:endParaRPr lang="it-IT" dirty="0" smtClean="0"/>
          </a:p>
          <a:p>
            <a:pPr lvl="1"/>
            <a:r>
              <a:rPr lang="it-IT" dirty="0" err="1" smtClean="0"/>
              <a:t>jre</a:t>
            </a:r>
            <a:endParaRPr lang="it-IT" dirty="0" smtClean="0"/>
          </a:p>
          <a:p>
            <a:pPr lvl="1"/>
            <a:endParaRPr lang="it-IT" dirty="0" smtClean="0"/>
          </a:p>
          <a:p>
            <a:pPr lvl="1"/>
            <a:endParaRPr lang="it-IT" dirty="0" smtClean="0"/>
          </a:p>
          <a:p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Java SE (8) - struttura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51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348880"/>
            <a:ext cx="7408333" cy="3777283"/>
          </a:xfrm>
        </p:spPr>
        <p:txBody>
          <a:bodyPr/>
          <a:lstStyle/>
          <a:p>
            <a:r>
              <a:rPr lang="it-IT" dirty="0" smtClean="0"/>
              <a:t>Il comando </a:t>
            </a:r>
            <a:r>
              <a:rPr lang="it-IT" dirty="0" err="1" smtClean="0"/>
              <a:t>javac</a:t>
            </a:r>
            <a:r>
              <a:rPr lang="it-IT" dirty="0" smtClean="0"/>
              <a:t>: compila il codice sorgente e genera il byte-code, ovvero il codice compilato con le istruzioni in linguaggio macchina della JVM</a:t>
            </a:r>
          </a:p>
          <a:p>
            <a:endParaRPr lang="it-IT" dirty="0" smtClean="0"/>
          </a:p>
          <a:p>
            <a:r>
              <a:rPr lang="it-IT" dirty="0" smtClean="0"/>
              <a:t>Il comando java: esegue il byte-code generato dalla compilazione (da </a:t>
            </a:r>
            <a:r>
              <a:rPr lang="it-IT" dirty="0" err="1" smtClean="0"/>
              <a:t>javac</a:t>
            </a:r>
            <a:r>
              <a:rPr lang="it-IT" dirty="0" smtClean="0"/>
              <a:t>) </a:t>
            </a:r>
          </a:p>
          <a:p>
            <a:endParaRPr lang="it-IT" dirty="0"/>
          </a:p>
          <a:p>
            <a:r>
              <a:rPr lang="it-IT" dirty="0" smtClean="0"/>
              <a:t>N.B.: il byte-code è eseguibile da qualsiasi JVM -&gt; portabilità di Java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Compilazione ed esecuzione in Java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635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 fontScale="85000" lnSpcReduction="20000"/>
          </a:bodyPr>
          <a:lstStyle/>
          <a:p>
            <a:r>
              <a:rPr lang="it-IT" dirty="0" smtClean="0"/>
              <a:t>creare un file di nome Hello.java con il seguente contenuto:</a:t>
            </a:r>
          </a:p>
          <a:p>
            <a:pPr marL="301943" lvl="1" indent="0">
              <a:buNone/>
            </a:pPr>
            <a:r>
              <a:rPr lang="it-IT" b="1" i="1" dirty="0"/>
              <a:t>public </a:t>
            </a:r>
            <a:r>
              <a:rPr lang="it-IT" b="1" i="1" dirty="0" err="1"/>
              <a:t>class</a:t>
            </a:r>
            <a:r>
              <a:rPr lang="it-IT" b="1" i="1" dirty="0"/>
              <a:t> Hello {</a:t>
            </a:r>
          </a:p>
          <a:p>
            <a:pPr marL="301943" lvl="1" indent="0">
              <a:buNone/>
            </a:pPr>
            <a:r>
              <a:rPr lang="it-IT" b="1" i="1" dirty="0"/>
              <a:t>	public </a:t>
            </a:r>
            <a:r>
              <a:rPr lang="it-IT" b="1" i="1" dirty="0" err="1"/>
              <a:t>static</a:t>
            </a:r>
            <a:r>
              <a:rPr lang="it-IT" b="1" i="1" dirty="0"/>
              <a:t> </a:t>
            </a:r>
            <a:r>
              <a:rPr lang="it-IT" b="1" i="1" dirty="0" err="1"/>
              <a:t>void</a:t>
            </a:r>
            <a:r>
              <a:rPr lang="it-IT" b="1" i="1" dirty="0"/>
              <a:t> </a:t>
            </a:r>
            <a:r>
              <a:rPr lang="it-IT" b="1" i="1" dirty="0" err="1"/>
              <a:t>main</a:t>
            </a:r>
            <a:r>
              <a:rPr lang="it-IT" b="1" i="1" dirty="0"/>
              <a:t>(</a:t>
            </a:r>
            <a:r>
              <a:rPr lang="it-IT" b="1" i="1" dirty="0" err="1"/>
              <a:t>String</a:t>
            </a:r>
            <a:r>
              <a:rPr lang="it-IT" b="1" i="1" dirty="0"/>
              <a:t> </a:t>
            </a:r>
            <a:r>
              <a:rPr lang="it-IT" b="1" i="1" dirty="0" err="1"/>
              <a:t>args</a:t>
            </a:r>
            <a:r>
              <a:rPr lang="it-IT" b="1" i="1" dirty="0"/>
              <a:t>[]){</a:t>
            </a:r>
          </a:p>
          <a:p>
            <a:pPr marL="301943" lvl="1" indent="0">
              <a:buNone/>
            </a:pPr>
            <a:r>
              <a:rPr lang="it-IT" b="1" i="1" dirty="0"/>
              <a:t>		</a:t>
            </a:r>
            <a:r>
              <a:rPr lang="it-IT" b="1" i="1" dirty="0" err="1"/>
              <a:t>System.out.println</a:t>
            </a:r>
            <a:r>
              <a:rPr lang="it-IT" b="1" i="1" dirty="0"/>
              <a:t>("Ciao</a:t>
            </a:r>
            <a:r>
              <a:rPr lang="it-IT" b="1" i="1" dirty="0" smtClean="0"/>
              <a:t>!");</a:t>
            </a:r>
            <a:endParaRPr lang="it-IT" b="1" i="1" dirty="0"/>
          </a:p>
          <a:p>
            <a:pPr marL="301943" lvl="1" indent="0">
              <a:buNone/>
            </a:pPr>
            <a:r>
              <a:rPr lang="it-IT" b="1" i="1" dirty="0"/>
              <a:t>	}</a:t>
            </a:r>
          </a:p>
          <a:p>
            <a:pPr marL="301943" lvl="1" indent="0">
              <a:buNone/>
            </a:pPr>
            <a:r>
              <a:rPr lang="it-IT" b="1" i="1" dirty="0"/>
              <a:t>}</a:t>
            </a:r>
          </a:p>
          <a:p>
            <a:r>
              <a:rPr lang="it-IT" dirty="0" smtClean="0"/>
              <a:t>Compilazione -&gt; aprire una </a:t>
            </a:r>
            <a:r>
              <a:rPr lang="it-IT" dirty="0" err="1" smtClean="0"/>
              <a:t>shell</a:t>
            </a:r>
            <a:r>
              <a:rPr lang="it-IT" dirty="0" smtClean="0"/>
              <a:t> </a:t>
            </a:r>
            <a:r>
              <a:rPr lang="it-IT" dirty="0" err="1" smtClean="0"/>
              <a:t>Dos</a:t>
            </a:r>
            <a:r>
              <a:rPr lang="it-IT" dirty="0" smtClean="0"/>
              <a:t> sulla directory in cui si trova Hello.java e lanciare il seguente comando per compilare il codice</a:t>
            </a:r>
          </a:p>
          <a:p>
            <a:pPr marL="301943" lvl="1" indent="0">
              <a:buNone/>
            </a:pPr>
            <a:r>
              <a:rPr lang="it-IT" dirty="0" smtClean="0"/>
              <a:t>	</a:t>
            </a:r>
            <a:r>
              <a:rPr lang="it-IT" b="1" i="1" dirty="0" err="1" smtClean="0"/>
              <a:t>javac</a:t>
            </a:r>
            <a:r>
              <a:rPr lang="it-IT" b="1" i="1" dirty="0" smtClean="0"/>
              <a:t> Hello.java</a:t>
            </a:r>
          </a:p>
          <a:p>
            <a:pPr marL="301943" lvl="1" indent="0">
              <a:buNone/>
            </a:pPr>
            <a:r>
              <a:rPr lang="it-IT" dirty="0" smtClean="0"/>
              <a:t>Il comando, se non si verificano problemi, genera il compilato o </a:t>
            </a:r>
            <a:r>
              <a:rPr lang="it-IT" i="1" dirty="0" err="1" smtClean="0"/>
              <a:t>bytecode</a:t>
            </a:r>
            <a:r>
              <a:rPr lang="it-IT" i="1" dirty="0" smtClean="0"/>
              <a:t>, </a:t>
            </a:r>
            <a:r>
              <a:rPr lang="it-IT" dirty="0" smtClean="0"/>
              <a:t>ovvero il file </a:t>
            </a:r>
            <a:r>
              <a:rPr lang="it-IT" dirty="0" err="1" smtClean="0"/>
              <a:t>Hello.class</a:t>
            </a:r>
            <a:endParaRPr lang="it-IT" dirty="0"/>
          </a:p>
          <a:p>
            <a:r>
              <a:rPr lang="it-IT" dirty="0" smtClean="0"/>
              <a:t>Esecuzione -&gt; all’interno della </a:t>
            </a:r>
            <a:r>
              <a:rPr lang="it-IT" dirty="0" err="1" smtClean="0"/>
              <a:t>shell</a:t>
            </a:r>
            <a:r>
              <a:rPr lang="it-IT" dirty="0" smtClean="0"/>
              <a:t> </a:t>
            </a:r>
            <a:r>
              <a:rPr lang="it-IT" dirty="0" err="1" smtClean="0"/>
              <a:t>Dos</a:t>
            </a:r>
            <a:r>
              <a:rPr lang="it-IT" dirty="0" smtClean="0"/>
              <a:t>, lanciare il seguente comando per eseguire il codice:</a:t>
            </a:r>
          </a:p>
          <a:p>
            <a:pPr marL="868680" lvl="3" indent="0">
              <a:buNone/>
            </a:pPr>
            <a:r>
              <a:rPr lang="it-IT" sz="2200" b="1" i="1" dirty="0" smtClean="0"/>
              <a:t>java Hello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Compilazione ed esecuzione – Esempio pratico (1/2)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744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Attenzione:</a:t>
            </a:r>
          </a:p>
          <a:p>
            <a:pPr lvl="1"/>
            <a:r>
              <a:rPr lang="it-IT" dirty="0" smtClean="0"/>
              <a:t>il compilatore, </a:t>
            </a:r>
            <a:r>
              <a:rPr lang="it-IT" i="1" dirty="0" err="1" smtClean="0"/>
              <a:t>javac</a:t>
            </a:r>
            <a:r>
              <a:rPr lang="it-IT" dirty="0" smtClean="0"/>
              <a:t>, vuole in input il nome del file con l’estensione </a:t>
            </a:r>
            <a:r>
              <a:rPr lang="it-IT" i="1" dirty="0" smtClean="0"/>
              <a:t>.java, </a:t>
            </a:r>
            <a:r>
              <a:rPr lang="it-IT" dirty="0" smtClean="0"/>
              <a:t>nel nostro esempio </a:t>
            </a:r>
            <a:r>
              <a:rPr lang="it-IT" i="1" dirty="0" smtClean="0"/>
              <a:t>Hello.java</a:t>
            </a:r>
            <a:endParaRPr lang="it-IT" dirty="0" smtClean="0"/>
          </a:p>
          <a:p>
            <a:pPr lvl="1"/>
            <a:r>
              <a:rPr lang="it-IT" dirty="0" smtClean="0"/>
              <a:t>il </a:t>
            </a:r>
            <a:r>
              <a:rPr lang="it-IT" i="1" dirty="0" err="1" smtClean="0"/>
              <a:t>runtime</a:t>
            </a:r>
            <a:r>
              <a:rPr lang="it-IT" dirty="0" smtClean="0"/>
              <a:t> o esecutore, </a:t>
            </a:r>
            <a:r>
              <a:rPr lang="it-IT" i="1" dirty="0" smtClean="0"/>
              <a:t>java</a:t>
            </a:r>
            <a:r>
              <a:rPr lang="it-IT" dirty="0" smtClean="0"/>
              <a:t>, vuole il nome del file senza estensione , nel nostro esempio </a:t>
            </a:r>
            <a:r>
              <a:rPr lang="it-IT" i="1" dirty="0" smtClean="0"/>
              <a:t>Hello </a:t>
            </a:r>
            <a:r>
              <a:rPr lang="it-IT" dirty="0" smtClean="0"/>
              <a:t>(e non </a:t>
            </a:r>
            <a:r>
              <a:rPr lang="it-IT" i="1" dirty="0" err="1" smtClean="0"/>
              <a:t>Hello.class</a:t>
            </a:r>
            <a:r>
              <a:rPr lang="it-IT" dirty="0" smtClean="0"/>
              <a:t>)</a:t>
            </a:r>
            <a:endParaRPr lang="it-IT" dirty="0"/>
          </a:p>
          <a:p>
            <a:pPr lvl="1"/>
            <a:r>
              <a:rPr lang="it-IT" sz="2400" dirty="0" smtClean="0"/>
              <a:t>un </a:t>
            </a:r>
            <a:r>
              <a:rPr lang="it-IT" sz="2400" dirty="0"/>
              <a:t>codice Java per essere eseguibile deve presentare un metodo/funzione </a:t>
            </a:r>
            <a:r>
              <a:rPr lang="it-IT" sz="2400" b="1" i="1" dirty="0" err="1"/>
              <a:t>main</a:t>
            </a:r>
            <a:r>
              <a:rPr lang="it-IT" sz="2400" i="1" dirty="0"/>
              <a:t> </a:t>
            </a:r>
            <a:r>
              <a:rPr lang="it-IT" sz="2400" dirty="0"/>
              <a:t>così come quello illustrato sopra (concetto su cui torneremo)</a:t>
            </a:r>
          </a:p>
          <a:p>
            <a:pPr lvl="1"/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Compilazione ed esecuzione – Esempio pratico </a:t>
            </a:r>
            <a:r>
              <a:rPr lang="it-IT" dirty="0" smtClean="0"/>
              <a:t>(2/2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1896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nde">
  <a:themeElements>
    <a:clrScheme name="Onde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nde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nde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208</TotalTime>
  <Words>248</Words>
  <Application>Microsoft Office PowerPoint</Application>
  <PresentationFormat>Presentazione su schermo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Calibri</vt:lpstr>
      <vt:lpstr>Candara</vt:lpstr>
      <vt:lpstr>Symbol</vt:lpstr>
      <vt:lpstr>Onde</vt:lpstr>
      <vt:lpstr>Java - base</vt:lpstr>
      <vt:lpstr>Cos’è Java</vt:lpstr>
      <vt:lpstr>Java Edition</vt:lpstr>
      <vt:lpstr>Java SE (8) - struttura</vt:lpstr>
      <vt:lpstr>Compilazione ed esecuzione in Java</vt:lpstr>
      <vt:lpstr>Compilazione ed esecuzione – Esempio pratico (1/2)</vt:lpstr>
      <vt:lpstr>Compilazione ed esecuzione – Esempio pratico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- base</dc:title>
  <dc:creator>Roberto Santoro</dc:creator>
  <cp:lastModifiedBy>Roberto Santoro</cp:lastModifiedBy>
  <cp:revision>16</cp:revision>
  <dcterms:created xsi:type="dcterms:W3CDTF">2020-03-05T11:49:54Z</dcterms:created>
  <dcterms:modified xsi:type="dcterms:W3CDTF">2025-02-11T08:26:20Z</dcterms:modified>
</cp:coreProperties>
</file>