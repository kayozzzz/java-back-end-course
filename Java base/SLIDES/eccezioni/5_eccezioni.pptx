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6858000" cy="9144000"/>
  <p:embeddedFontLst>
    <p:embeddedFont>
      <p:font typeface="Candara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gFFGwzrxqnZzK22vMp59PLgh0O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andara-bold.fntdata"/><Relationship Id="rId41" Type="http://schemas.openxmlformats.org/officeDocument/2006/relationships/font" Target="fonts/Candara-regular.fntdata"/><Relationship Id="rId22" Type="http://schemas.openxmlformats.org/officeDocument/2006/relationships/slide" Target="slides/slide17.xml"/><Relationship Id="rId44" Type="http://schemas.openxmlformats.org/officeDocument/2006/relationships/font" Target="fonts/Candara-boldItalic.fntdata"/><Relationship Id="rId21" Type="http://schemas.openxmlformats.org/officeDocument/2006/relationships/slide" Target="slides/slide16.xml"/><Relationship Id="rId43" Type="http://schemas.openxmlformats.org/officeDocument/2006/relationships/font" Target="fonts/Candara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7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37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3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3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3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37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3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39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862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39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39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39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39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39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9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3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40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41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41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41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4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43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4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4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4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4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43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4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4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44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44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4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4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4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4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4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44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4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45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4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4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4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4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45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45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4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45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6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4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7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4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47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4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4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4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4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47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47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7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36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3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3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36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ocs.oracle.com/javase/8/docs/ap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Eccezioni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eccezioni in Java sono errori che si presentano durante l’esecuzione del codice, ovvero a run-time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Sono lo strumento che Java ci mette a disposizione per gestire gli errori: se scriviamo il nostro codice in modo </a:t>
            </a:r>
            <a:r>
              <a:rPr i="1" lang="it-IT"/>
              <a:t>corretto </a:t>
            </a:r>
            <a:r>
              <a:rPr lang="it-IT"/>
              <a:t>(dal punto di vista della gestione delle eccezioni) qualora si verifichi un errore a run-time, Java incapsulerà l’errore all’interno di un oggetto (con una serie di metodi quindi da poter invocare) e lo metterà a disposizione del nostro codice</a:t>
            </a:r>
            <a:endParaRPr b="1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eccezioni appartengono alla categoria delle istruzioni che modificano il normale flusso sequenziale di esecuzione del codice sorgente</a:t>
            </a:r>
            <a:endParaRPr/>
          </a:p>
        </p:txBody>
      </p:sp>
      <p:sp>
        <p:nvSpPr>
          <p:cNvPr id="143" name="Google Shape;143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Eccezioni – cosa sono</a:t>
            </a:r>
            <a:endParaRPr/>
          </a:p>
        </p:txBody>
      </p:sp>
      <p:sp>
        <p:nvSpPr>
          <p:cNvPr id="144" name="Google Shape;144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1628800"/>
            <a:ext cx="7408333" cy="44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package com.azienda.progetto.eccezioni;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 public class EsempioEccezioni1 {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static void main(String args[]) {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try {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int x = 3;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int y = 0;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int z = x/y;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System.out.println("z=" + z);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catch (Exception ex) {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System.out.println("Verificata eccezione");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ex.printStackTrace();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Eccezioni – esempio introduttivo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Ed ecco l’ouput prodotto a video:</a:t>
            </a:r>
            <a:endParaRPr b="1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Verificata eccezione 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 u="sng"/>
              <a:t>java.lang.ArithmeticException</a:t>
            </a:r>
            <a:r>
              <a:rPr i="1" lang="it-IT" sz="1800"/>
              <a:t>: / by zero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at com.azienda.progetto.eccezioni.EsempioEccezioni1.main(</a:t>
            </a:r>
            <a:r>
              <a:rPr i="1" lang="it-IT" sz="1800" u="sng"/>
              <a:t>EsempioEccezioni1.java:11</a:t>
            </a:r>
            <a:r>
              <a:rPr i="1" lang="it-IT" sz="1800"/>
              <a:t>)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– esempio introduttivo</a:t>
            </a:r>
            <a:br>
              <a:rPr lang="it-IT"/>
            </a:br>
            <a:r>
              <a:rPr lang="it-IT"/>
              <a:t>Output a console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72067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L’interpretazione del codice mostrato è: prova (</a:t>
            </a:r>
            <a:r>
              <a:rPr i="1" lang="it-IT"/>
              <a:t>try</a:t>
            </a:r>
            <a:r>
              <a:rPr lang="it-IT"/>
              <a:t>) ad eseguire il blocco di codice (istruzioni comprese tra le parentesi graffe) relative alla parola chiave </a:t>
            </a:r>
            <a:r>
              <a:rPr i="1" lang="it-IT"/>
              <a:t>try: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tutto va bene il blocco di istruzione relative alla parola chiave c</a:t>
            </a:r>
            <a:r>
              <a:rPr i="1" lang="it-IT"/>
              <a:t>atch</a:t>
            </a:r>
            <a:r>
              <a:rPr lang="it-IT"/>
              <a:t> viene saltato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invece una qualsiasi istruzione del blocco </a:t>
            </a:r>
            <a:r>
              <a:rPr i="1" lang="it-IT"/>
              <a:t>try</a:t>
            </a:r>
            <a:r>
              <a:rPr lang="it-IT"/>
              <a:t> va in errore, il flusso di esecuzione salta direttamente al blocco di istruzione del </a:t>
            </a:r>
            <a:r>
              <a:rPr i="1" lang="it-IT"/>
              <a:t>catch</a:t>
            </a:r>
            <a:r>
              <a:rPr lang="it-IT"/>
              <a:t>. In questo caso l’errore che si è verificato viene incapsulato all’interno di un oggetto della classe java.lang.Exception e viene passato come parametro di ingresso al blocco di istruzioni del </a:t>
            </a:r>
            <a:r>
              <a:rPr i="1" lang="it-IT"/>
              <a:t>catch</a:t>
            </a:r>
            <a:r>
              <a:rPr lang="it-IT"/>
              <a:t>. Tra i metodo più utili che il blocco di istruzioni </a:t>
            </a:r>
            <a:r>
              <a:rPr i="1" lang="it-IT"/>
              <a:t>catch </a:t>
            </a:r>
            <a:r>
              <a:rPr lang="it-IT"/>
              <a:t>può richiamare sulla Exception ricevuta in ingresso c’è sicuramente il metodo </a:t>
            </a:r>
            <a:r>
              <a:rPr i="1" lang="it-IT"/>
              <a:t>printStackTrace()</a:t>
            </a:r>
            <a:endParaRPr i="1"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– esempio introduttivo</a:t>
            </a:r>
            <a:br>
              <a:rPr lang="it-IT"/>
            </a:br>
            <a:r>
              <a:rPr lang="it-IT"/>
              <a:t>analisi dell’esempio (1/2)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Quindi nel codice mostrato precedentemente vengono eseguite le prime 3 istruzioni del blocco </a:t>
            </a:r>
            <a:r>
              <a:rPr i="1" lang="it-IT"/>
              <a:t>try</a:t>
            </a:r>
            <a:r>
              <a:rPr lang="it-IT"/>
              <a:t>, la terza (x/y) va in eccezione, per cui la quarta (la System.out.println) non viene eseguita e invece l’esecuzione passa al blocco </a:t>
            </a:r>
            <a:r>
              <a:rPr i="1" lang="it-IT"/>
              <a:t>catch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blocco </a:t>
            </a:r>
            <a:r>
              <a:rPr i="1" lang="it-IT"/>
              <a:t>catch</a:t>
            </a:r>
            <a:r>
              <a:rPr lang="it-IT"/>
              <a:t> riceve in ingresso l’eccezione che si è verificata (in questo caso una </a:t>
            </a:r>
            <a:r>
              <a:rPr i="1" lang="it-IT"/>
              <a:t>ArithmeticException</a:t>
            </a:r>
            <a:r>
              <a:rPr lang="it-IT"/>
              <a:t>) nel parametro di ingresso </a:t>
            </a:r>
            <a:r>
              <a:rPr i="1" lang="it-IT"/>
              <a:t>ex</a:t>
            </a:r>
            <a:r>
              <a:rPr lang="it-IT"/>
              <a:t>, effettua una stampa a console e poi invoca il metodo </a:t>
            </a:r>
            <a:r>
              <a:rPr i="1" lang="it-IT"/>
              <a:t>printStackTrace()</a:t>
            </a:r>
            <a:r>
              <a:rPr lang="it-IT"/>
              <a:t>, per avere a console i dettagli dell’eccezione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– esempio introduttivo</a:t>
            </a:r>
            <a:br>
              <a:rPr lang="it-IT"/>
            </a:br>
            <a:r>
              <a:rPr lang="it-IT"/>
              <a:t>analisi dell’esempio (2/2)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2067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terza clausola relativa alla gestione delle eccezioni, oltre al </a:t>
            </a:r>
            <a:r>
              <a:rPr i="1" lang="it-IT"/>
              <a:t>try</a:t>
            </a:r>
            <a:r>
              <a:rPr lang="it-IT"/>
              <a:t> ed al </a:t>
            </a:r>
            <a:r>
              <a:rPr i="1" lang="it-IT"/>
              <a:t>catch</a:t>
            </a:r>
            <a:r>
              <a:rPr lang="it-IT"/>
              <a:t>, è la clausola </a:t>
            </a:r>
            <a:r>
              <a:rPr i="1" lang="it-IT"/>
              <a:t>finally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clausola </a:t>
            </a:r>
            <a:r>
              <a:rPr i="1" lang="it-IT"/>
              <a:t>finally</a:t>
            </a:r>
            <a:r>
              <a:rPr lang="it-IT"/>
              <a:t> indica che il blocco di istruzioni che la segue deve essere eseguito sempre, a prescindere se si sia verificata o meno una eccezione nei blocchi </a:t>
            </a:r>
            <a:r>
              <a:rPr i="1" lang="it-IT"/>
              <a:t>try</a:t>
            </a:r>
            <a:r>
              <a:rPr lang="it-IT"/>
              <a:t> e </a:t>
            </a:r>
            <a:r>
              <a:rPr i="1" lang="it-IT"/>
              <a:t>catch</a:t>
            </a:r>
            <a:r>
              <a:rPr lang="it-IT"/>
              <a:t> che la precedono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clausola </a:t>
            </a:r>
            <a:r>
              <a:rPr i="1" lang="it-IT"/>
              <a:t>finally</a:t>
            </a:r>
            <a:r>
              <a:rPr lang="it-IT"/>
              <a:t> generalmente viene usata per rilasciare risorse aperte nei blocchi </a:t>
            </a:r>
            <a:r>
              <a:rPr i="1" lang="it-IT"/>
              <a:t>try</a:t>
            </a:r>
            <a:r>
              <a:rPr lang="it-IT"/>
              <a:t> e/o </a:t>
            </a:r>
            <a:r>
              <a:rPr i="1" lang="it-IT"/>
              <a:t>catch (</a:t>
            </a:r>
            <a:r>
              <a:rPr lang="it-IT"/>
              <a:t>es. file, connessioni al db etc.)</a:t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Eccezioni – clausola finally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1628800"/>
            <a:ext cx="7408333" cy="44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30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package com.azienda.progetto.eccezioni;</a:t>
            </a:r>
            <a:endParaRPr i="1" sz="30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import java.util.Scanner;</a:t>
            </a:r>
            <a:endParaRPr i="1" sz="30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public class EsempioEccezioniConFinally{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public static void main(String args[]) {</a:t>
            </a:r>
            <a:endParaRPr i="1" sz="30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Scanner sc = null; 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try {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	sc =  new Scanner(System.in);</a:t>
            </a:r>
            <a:endParaRPr i="1" sz="3000"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	int x = 3;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	int y = 0;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	int z = x/y;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	System.out.println("z=" + z);</a:t>
            </a:r>
            <a:endParaRPr/>
          </a:p>
          <a:p>
            <a:pPr indent="0" lvl="0" marL="0" rtl="0" algn="l">
              <a:spcBef>
                <a:spcPts val="420"/>
              </a:spcBef>
              <a:spcAft>
                <a:spcPts val="0"/>
              </a:spcAft>
              <a:buSzPct val="100000"/>
              <a:buNone/>
            </a:pPr>
            <a:r>
              <a:rPr i="1" lang="it-IT" sz="3000"/>
              <a:t>		}		</a:t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esempio con finally (1/3)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catch (Exception ex) {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int w = 5/0; 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sc.close();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System.out.println("eccezione nel 						catch");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finally 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System.out.println("blocco finally");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sc.close();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esempio con finally (2/3)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L’output a cosole sarà:</a:t>
            </a:r>
            <a:endParaRPr b="1"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Exception in thread "main" </a:t>
            </a:r>
            <a:r>
              <a:rPr lang="it-IT" sz="2000" u="sng"/>
              <a:t>java.lang.ArithmeticException</a:t>
            </a:r>
            <a:r>
              <a:rPr lang="it-IT" sz="2000"/>
              <a:t>: / by zero</a:t>
            </a:r>
            <a:endParaRPr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Nel blocco finally</a:t>
            </a:r>
            <a:endParaRPr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	at com.azienda.progetto.eccezioni.EsempioEccezioniConFinally.main(</a:t>
            </a:r>
            <a:r>
              <a:rPr lang="it-IT" sz="2000" u="sng"/>
              <a:t>EsempioEccezioniConFinally.java:20</a:t>
            </a:r>
            <a:r>
              <a:rPr lang="it-IT" sz="2000"/>
              <a:t>)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esempio con finally (3/3)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Quando usiamo una risorsa esterna rappresentata da una classe che implementa l’interfaccia </a:t>
            </a:r>
            <a:r>
              <a:rPr i="1" lang="it-IT"/>
              <a:t>Closeable </a:t>
            </a:r>
            <a:r>
              <a:rPr lang="it-IT"/>
              <a:t>(quindi che implementa il metodo </a:t>
            </a:r>
            <a:r>
              <a:rPr i="1" lang="it-IT"/>
              <a:t>close()</a:t>
            </a:r>
            <a:r>
              <a:rPr lang="it-IT"/>
              <a:t>) possiamo usare una sintassi alternativa rispetto al </a:t>
            </a:r>
            <a:r>
              <a:rPr i="1" lang="it-IT"/>
              <a:t>try-catch-finally</a:t>
            </a:r>
            <a:r>
              <a:rPr lang="it-IT"/>
              <a:t>:</a:t>
            </a:r>
            <a:endParaRPr/>
          </a:p>
          <a:p>
            <a:pPr indent="0" lvl="2" marL="5813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try( Scanner scanner = new Scanner(System.in) ){</a:t>
            </a:r>
            <a:endParaRPr/>
          </a:p>
          <a:p>
            <a:pPr indent="0" lvl="2" marL="5813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-285750" lvl="0" marL="28575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sintassi prevede il </a:t>
            </a:r>
            <a:r>
              <a:rPr i="1" lang="it-IT"/>
              <a:t>try </a:t>
            </a:r>
            <a:r>
              <a:rPr lang="it-IT"/>
              <a:t>seguito dalle parentesi tonde e all’interno delle tonde viene creata la risorsa esterna che poi verrà automaticamente chiusa dal compilatore alla fine del blocco </a:t>
            </a:r>
            <a:r>
              <a:rPr i="1" lang="it-IT"/>
              <a:t>try-catch</a:t>
            </a:r>
            <a:r>
              <a:rPr lang="it-IT"/>
              <a:t> in ogni caso (come se fosse in un </a:t>
            </a:r>
            <a:r>
              <a:rPr i="1" lang="it-IT"/>
              <a:t>finally</a:t>
            </a:r>
            <a:r>
              <a:rPr lang="it-IT"/>
              <a:t>)</a:t>
            </a:r>
            <a:endParaRPr i="1"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Try-with-resources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 blocchi </a:t>
            </a:r>
            <a:r>
              <a:rPr i="1" lang="it-IT"/>
              <a:t>try</a:t>
            </a:r>
            <a:r>
              <a:rPr lang="it-IT"/>
              <a:t>, </a:t>
            </a:r>
            <a:r>
              <a:rPr i="1" lang="it-IT"/>
              <a:t>catch</a:t>
            </a:r>
            <a:r>
              <a:rPr lang="it-IT"/>
              <a:t> e </a:t>
            </a:r>
            <a:r>
              <a:rPr i="1" lang="it-IT"/>
              <a:t>finally</a:t>
            </a:r>
            <a:r>
              <a:rPr lang="it-IT"/>
              <a:t> necessitano delle parentesi graffe anche se sono costituiti da una sola riga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blocco </a:t>
            </a:r>
            <a:r>
              <a:rPr i="1" lang="it-IT"/>
              <a:t>try</a:t>
            </a:r>
            <a:r>
              <a:rPr lang="it-IT"/>
              <a:t> necessita di almeno uno tra il blocco </a:t>
            </a:r>
            <a:r>
              <a:rPr i="1" lang="it-IT"/>
              <a:t>catch</a:t>
            </a:r>
            <a:r>
              <a:rPr lang="it-IT"/>
              <a:t> ed il blocco </a:t>
            </a:r>
            <a:r>
              <a:rPr i="1" lang="it-IT"/>
              <a:t>finally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si possono innestare più </a:t>
            </a:r>
            <a:r>
              <a:rPr i="1" lang="it-IT"/>
              <a:t>try/catch/finally</a:t>
            </a:r>
            <a:r>
              <a:rPr lang="it-IT"/>
              <a:t> reciprocamente</a:t>
            </a:r>
            <a:endParaRPr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Alcune regole sintattiche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0" name="Google Shape;220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La gerarchia delle eccezioni in Java</a:t>
            </a:r>
            <a:br>
              <a:rPr lang="it-IT"/>
            </a:br>
            <a:r>
              <a:rPr lang="it-IT"/>
              <a:t>(1/2)</a:t>
            </a:r>
            <a:endParaRPr/>
          </a:p>
        </p:txBody>
      </p:sp>
      <p:sp>
        <p:nvSpPr>
          <p:cNvPr id="221" name="Google Shape;221;p13"/>
          <p:cNvSpPr txBox="1"/>
          <p:nvPr>
            <p:ph idx="1" type="body"/>
          </p:nvPr>
        </p:nvSpPr>
        <p:spPr>
          <a:xfrm>
            <a:off x="872067" y="1484784"/>
            <a:ext cx="7408333" cy="4641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44" y="2564904"/>
            <a:ext cx="4896544" cy="308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Java Tutte le eccezioni sono classi che ereditano dalla classe </a:t>
            </a:r>
            <a:r>
              <a:rPr b="1" lang="it-IT"/>
              <a:t>Throwable</a:t>
            </a:r>
            <a:endParaRPr b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Scendendo nella gerarchia troviamo 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b="1" lang="it-IT"/>
              <a:t>Error: </a:t>
            </a:r>
            <a:r>
              <a:rPr lang="it-IT"/>
              <a:t>classe che rappresenta un errore di sistema come ad esempio: memoria esaurita, limite massimo di thread allocati per il processo etc.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b="1" lang="it-IT"/>
              <a:t>Exception:</a:t>
            </a:r>
            <a:r>
              <a:rPr lang="it-IT"/>
              <a:t> classe che rappresenta un qualsiasi errore applicativo, </a:t>
            </a:r>
            <a:r>
              <a:rPr b="1" lang="it-IT"/>
              <a:t>che deve essere gestito nel codice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b="1" lang="it-IT"/>
              <a:t>RuntimeException: </a:t>
            </a:r>
            <a:r>
              <a:rPr lang="it-IT"/>
              <a:t>classe figlia di Exception, rappresenta un errore applicativo del codice, gestibile dal programmatore, ma non obbligatoriamente</a:t>
            </a:r>
            <a:endParaRPr/>
          </a:p>
        </p:txBody>
      </p:sp>
      <p:sp>
        <p:nvSpPr>
          <p:cNvPr id="228" name="Google Shape;228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9" name="Google Shape;229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La gerarchia delle eccezioni in Java</a:t>
            </a:r>
            <a:br>
              <a:rPr lang="it-IT"/>
            </a:br>
            <a:r>
              <a:rPr lang="it-IT"/>
              <a:t>(2/2)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>
            <p:ph idx="1" type="body"/>
          </p:nvPr>
        </p:nvSpPr>
        <p:spPr>
          <a:xfrm>
            <a:off x="827584" y="1916832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Tutte le classi figlie di Exception, ma non di RuntimeException, sono dette eccezioni </a:t>
            </a:r>
            <a:r>
              <a:rPr b="1" lang="it-IT"/>
              <a:t>«checked», </a:t>
            </a:r>
            <a:r>
              <a:rPr lang="it-IT"/>
              <a:t>ovvero «controllate», perché devono essere obbligatoriamente gestite nel codice del nostro programma (tra poco capiremo meglio come)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Tutte le classi figlie di RuntimeException (sono quindi comunque figlie di Exception), sono dette eccezioni </a:t>
            </a:r>
            <a:r>
              <a:rPr b="1" lang="it-IT"/>
              <a:t>«unchecked»</a:t>
            </a:r>
            <a:r>
              <a:rPr lang="it-IT"/>
              <a:t>, ovvero «non controllate», in quanto non  devono essere obbligatoriamente gestite nel codice del nostro programma</a:t>
            </a:r>
            <a:endParaRPr b="1"/>
          </a:p>
        </p:txBody>
      </p:sp>
      <p:sp>
        <p:nvSpPr>
          <p:cNvPr id="235" name="Google Shape;235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6" name="Google Shape;236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«checked» e «unchecked»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metodo può dichiarare nella sua firma che «può» sollevare un’eccezione attraverso la clausola </a:t>
            </a:r>
            <a:r>
              <a:rPr i="1" lang="it-IT"/>
              <a:t>throws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void metodo1(String param1,int param2) throws Exception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void metodo2(String param1,int param2) throws RuntimeException</a:t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codice che invochi </a:t>
            </a:r>
            <a:r>
              <a:rPr i="1" lang="it-IT"/>
              <a:t>metodo1</a:t>
            </a:r>
            <a:r>
              <a:rPr lang="it-IT"/>
              <a:t> è obbligato o a gestire l’eccezione </a:t>
            </a:r>
            <a:r>
              <a:rPr i="1" lang="it-IT"/>
              <a:t>Exception</a:t>
            </a:r>
            <a:r>
              <a:rPr lang="it-IT"/>
              <a:t> (checked) in un blocco </a:t>
            </a:r>
            <a:r>
              <a:rPr i="1" lang="it-IT"/>
              <a:t>try/catch</a:t>
            </a:r>
            <a:r>
              <a:rPr lang="it-IT"/>
              <a:t> o a dichiararla nella sua firma tramite la </a:t>
            </a:r>
            <a:r>
              <a:rPr i="1" lang="it-IT"/>
              <a:t>throws </a:t>
            </a:r>
            <a:r>
              <a:rPr lang="it-IT"/>
              <a:t>(propagazione dell’eccezione) o può fare entrambe le cose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codice che invochi </a:t>
            </a:r>
            <a:r>
              <a:rPr i="1" lang="it-IT"/>
              <a:t>metodo2</a:t>
            </a:r>
            <a:r>
              <a:rPr lang="it-IT"/>
              <a:t> può decidere se gestire o meno l’eccezione  </a:t>
            </a:r>
            <a:r>
              <a:rPr i="1" lang="it-IT"/>
              <a:t>RuntimeException </a:t>
            </a:r>
            <a:r>
              <a:rPr lang="it-IT"/>
              <a:t>(unchecked)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185420" lvl="0" marL="274320" rtl="0" algn="l"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147320" lvl="0" marL="27432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3" name="Google Shape;243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Clausola throws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 la clausola </a:t>
            </a:r>
            <a:r>
              <a:rPr i="1" lang="it-IT"/>
              <a:t>throw </a:t>
            </a:r>
            <a:r>
              <a:rPr lang="it-IT"/>
              <a:t>decidiamo di lanciare esplicitamente un’eccezione (è un imperativo)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sintassi è </a:t>
            </a:r>
            <a:r>
              <a:rPr i="1" lang="it-IT"/>
              <a:t>throw obj </a:t>
            </a:r>
            <a:r>
              <a:rPr lang="it-IT"/>
              <a:t>, dove obj deve essere una eccezione, ovvero un oggetto appartenente ad una delle classi mostrate nell’immagine riportante la gerarchia delle eccezioni in Java. Es.: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if ( x == 0 ) throw new Exception();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l’eccezione che stiamo lanciando è </a:t>
            </a:r>
            <a:r>
              <a:rPr i="1" lang="it-IT"/>
              <a:t>checked</a:t>
            </a:r>
            <a:r>
              <a:rPr lang="it-IT"/>
              <a:t> siamo obbligati a dichiarare la relativa clausola </a:t>
            </a:r>
            <a:r>
              <a:rPr i="1" lang="it-IT"/>
              <a:t>throws </a:t>
            </a:r>
            <a:r>
              <a:rPr lang="it-IT"/>
              <a:t> nella firma del metodo in cui ci troviamo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0" name="Google Shape;250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Clausola throw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package com.azienda.progetto.eccezioni;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 public class EsempioEccezioni2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static int divisione(int x,int y) throws Exception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if ( y == 0 )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throw new Exception();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}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int z = x/y;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return z;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}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 </a:t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 l’uso di </a:t>
            </a:r>
            <a:r>
              <a:rPr i="1" lang="it-IT"/>
              <a:t>throw </a:t>
            </a:r>
            <a:r>
              <a:rPr lang="it-IT"/>
              <a:t>e</a:t>
            </a:r>
            <a:r>
              <a:rPr i="1" lang="it-IT"/>
              <a:t> throws </a:t>
            </a:r>
            <a:r>
              <a:rPr lang="it-IT"/>
              <a:t>con una eccezione </a:t>
            </a:r>
            <a:r>
              <a:rPr i="1" lang="it-IT"/>
              <a:t>checked</a:t>
            </a:r>
            <a:endParaRPr/>
          </a:p>
        </p:txBody>
      </p:sp>
      <p:sp>
        <p:nvSpPr>
          <p:cNvPr id="256" name="Google Shape;256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7" name="Google Shape;257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- primo esempio - con eccezione checked (1/3)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package com.azienda.progetto.eccezioni;</a:t>
            </a:r>
            <a:endParaRPr i="1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 public class UsoEccezione2  {</a:t>
            </a:r>
            <a:endParaRPr i="1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static void main(String args[]) {</a:t>
            </a:r>
            <a:endParaRPr i="1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try {</a:t>
            </a:r>
            <a:endParaRPr i="1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EsempioEccezioni2.divisione(5,0);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System.out.println("non viene eseguita");</a:t>
            </a:r>
            <a:endParaRPr i="1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catch (Exception ex)  {</a:t>
            </a:r>
            <a:endParaRPr i="1"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System.out.println("Eccezione catturata 				nella classe chiamante");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</p:txBody>
      </p:sp>
      <p:sp>
        <p:nvSpPr>
          <p:cNvPr id="263" name="Google Shape;263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4" name="Google Shape;264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primo esempio (2/3)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L’output prodotto a console sarà: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Eccezione catturata nella classe chiamante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primo esempio (3/3)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package com.azienda.progetto.eccezioni;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 public class EsempioEccezioni2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static int divisione(int x,int y)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if ( y == 0 )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throw new RuntimeException();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}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int z = x/y;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return z;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}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 </a:t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 l’assenza della</a:t>
            </a:r>
            <a:r>
              <a:rPr i="1" lang="it-IT"/>
              <a:t> throws </a:t>
            </a:r>
            <a:r>
              <a:rPr lang="it-IT"/>
              <a:t>nella firma del metodo con una eccezione </a:t>
            </a:r>
            <a:r>
              <a:rPr i="1" lang="it-IT"/>
              <a:t>unchecked</a:t>
            </a:r>
            <a:endParaRPr/>
          </a:p>
        </p:txBody>
      </p:sp>
      <p:sp>
        <p:nvSpPr>
          <p:cNvPr id="277" name="Google Shape;277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- primo esempio </a:t>
            </a:r>
            <a:br>
              <a:rPr lang="it-IT"/>
            </a:br>
            <a:r>
              <a:rPr lang="it-IT"/>
              <a:t>con eccezione unchecked (1/2)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package com.azienda.progetto.eccezioni;</a:t>
            </a:r>
            <a:endParaRPr i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 public class UsoEccezione2  {</a:t>
            </a:r>
            <a:endParaRPr i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public static void main(String args[]) {</a:t>
            </a:r>
            <a:endParaRPr i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	EsempioEccezioni2.divisione(5,0);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	System.out.println("non viene eseguita");</a:t>
            </a:r>
            <a:endParaRPr i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}</a:t>
            </a:r>
            <a:endParaRPr i="1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}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 l’assenza del try-catch con eccezione unchecked</a:t>
            </a:r>
            <a:endParaRPr/>
          </a:p>
        </p:txBody>
      </p:sp>
      <p:sp>
        <p:nvSpPr>
          <p:cNvPr id="284" name="Google Shape;284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 - primo esempio</a:t>
            </a:r>
            <a:br>
              <a:rPr lang="it-IT"/>
            </a:br>
            <a:r>
              <a:rPr lang="it-IT"/>
              <a:t>con eccezione unchecked (2/2)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package com.azienda.progetto.eccezioni;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 public class EsempioEccezioni3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static int divisione(int x,int y) throws Exception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if ( y == 0 ) {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	throw new Exception(“Dividendo 0”);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}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int z = x/y;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return z;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}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 </a:t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 l’uso di del costruttore di Exception con parametro String (costruttore overloaded) </a:t>
            </a:r>
            <a:endParaRPr/>
          </a:p>
        </p:txBody>
      </p:sp>
      <p:sp>
        <p:nvSpPr>
          <p:cNvPr id="291" name="Google Shape;291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2" name="Google Shape;292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secondo esempio (1/3)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package com.azienda.progetto.eccezioni;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 public class UsoEccezione3  {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static void main(String args[]) {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try {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EsempioEccezioni3.divisione(5,0);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System.out.println("non viene eseguita");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catch (Exception ex)  {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String msg = ex.getMessage();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System.out.println("Eccezione catturata 				nella classe chiamante. Messaggio: "  + msg);</a:t>
            </a:r>
            <a:endParaRPr i="1"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336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</p:txBody>
      </p:sp>
      <p:sp>
        <p:nvSpPr>
          <p:cNvPr id="298" name="Google Shape;298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9" name="Google Shape;299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secondo esempio (2/3)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L’output a console sarà: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Eccezione catturata nella classe chiamante. Messaggio: Il dividendo non può essere uguale a 0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 notare, nel blocco </a:t>
            </a:r>
            <a:r>
              <a:rPr i="1" lang="it-IT"/>
              <a:t>catch</a:t>
            </a:r>
            <a:r>
              <a:rPr lang="it-IT"/>
              <a:t>, l’uso del metodo </a:t>
            </a:r>
            <a:r>
              <a:rPr i="1" lang="it-IT"/>
              <a:t>getMessage()</a:t>
            </a:r>
            <a:r>
              <a:rPr lang="it-IT"/>
              <a:t> invocato sull’eccezione catturata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secondo esempio (3/3)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package com.azienda.progetto.eccezioni; 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public class EsempioEccezioni4 {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static int divisione(int x,int y) throws Exception {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int z = 0;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try {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z = x/y;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catch (ArithmeticException ex) 	{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	throw new RuntimeException("Il 				dividendo non può essere uguale a 0",ex);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}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return z;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	</a:t>
            </a:r>
            <a:endParaRPr i="1"/>
          </a:p>
          <a:p>
            <a:pPr indent="-156210" lvl="0" marL="27432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3" name="Google Shape;313;p2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terzo esempio (1/4)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Nella classe </a:t>
            </a:r>
            <a:r>
              <a:rPr i="1" lang="it-IT"/>
              <a:t>EsempioEccezioni4</a:t>
            </a:r>
            <a:r>
              <a:rPr lang="it-IT"/>
              <a:t>, stiamo catturando un’eccezione </a:t>
            </a:r>
            <a:r>
              <a:rPr i="1" lang="it-IT"/>
              <a:t>ArithmeticException </a:t>
            </a:r>
            <a:r>
              <a:rPr lang="it-IT"/>
              <a:t>e la stiamo incapsulando all’interno di un’altra eccezione </a:t>
            </a:r>
            <a:r>
              <a:rPr i="1" lang="it-IT"/>
              <a:t>RuntimeException</a:t>
            </a:r>
            <a:r>
              <a:rPr lang="it-IT"/>
              <a:t> sfruttando un altro costruttore </a:t>
            </a:r>
            <a:r>
              <a:rPr i="1" lang="it-IT"/>
              <a:t>overloaded</a:t>
            </a:r>
            <a:r>
              <a:rPr lang="it-IT"/>
              <a:t>, ovvero il costruttore con una </a:t>
            </a:r>
            <a:r>
              <a:rPr i="1" lang="it-IT"/>
              <a:t>String </a:t>
            </a:r>
            <a:r>
              <a:rPr lang="it-IT"/>
              <a:t>(il messaggio)</a:t>
            </a:r>
            <a:r>
              <a:rPr i="1" lang="it-IT"/>
              <a:t> </a:t>
            </a:r>
            <a:r>
              <a:rPr lang="it-IT"/>
              <a:t>ed un </a:t>
            </a:r>
            <a:r>
              <a:rPr i="1" lang="it-IT"/>
              <a:t>Throwable </a:t>
            </a:r>
            <a:r>
              <a:rPr lang="it-IT"/>
              <a:t>(l’eccezione originale)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codice chiamante il blocco </a:t>
            </a:r>
            <a:r>
              <a:rPr i="1" lang="it-IT"/>
              <a:t>catch</a:t>
            </a:r>
            <a:r>
              <a:rPr lang="it-IT"/>
              <a:t> avrà a disposizione sull’eccezione catturata, oltre al metodo </a:t>
            </a:r>
            <a:r>
              <a:rPr i="1" lang="it-IT"/>
              <a:t>getMessage()</a:t>
            </a:r>
            <a:r>
              <a:rPr lang="it-IT"/>
              <a:t> già visto, anche il metodo </a:t>
            </a:r>
            <a:r>
              <a:rPr i="1" lang="it-IT"/>
              <a:t>getCause()</a:t>
            </a:r>
            <a:r>
              <a:rPr lang="it-IT"/>
              <a:t> che restituirà l’eccezione originale</a:t>
            </a:r>
            <a:endParaRPr/>
          </a:p>
        </p:txBody>
      </p:sp>
      <p:sp>
        <p:nvSpPr>
          <p:cNvPr id="319" name="Google Shape;319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0" name="Google Shape;320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terzo esempio (2/4)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package com.azienda.progetto.eccezioni; 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class UsoEccezioni4 {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public static void main(String args[]) {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try{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	EsempioEccezioni4.divisione(5,0);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	System.out.println("non viene eseguita");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}catch (Exception ex) {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	String message = ex.getMessage();</a:t>
            </a:r>
            <a:endParaRPr i="1"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	Throwable throwable = ex.getCause();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	System.out.println("Eccezione catturata nella 				classe chiamante.\nMessaggio: " + message 			+  "\nEeccezione originale: " + throwable);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}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}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7" name="Google Shape;327;p2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terzo esempio (3/4)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L’output a console sarà: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it-IT" sz="1800"/>
              <a:t>Eccezione catturata nella classe chiamante.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it-IT" sz="1800"/>
              <a:t>Messaggio: Il dividendo non può essere uguale a 0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it-IT" sz="1800"/>
              <a:t>Eeccezione originale: </a:t>
            </a:r>
            <a:r>
              <a:rPr lang="it-IT" sz="1800" u="sng"/>
              <a:t>java.lang.ArithmeticException</a:t>
            </a:r>
            <a:r>
              <a:rPr lang="it-IT" sz="1800"/>
              <a:t>: / by zero</a:t>
            </a:r>
            <a:endParaRPr sz="1800"/>
          </a:p>
        </p:txBody>
      </p:sp>
      <p:sp>
        <p:nvSpPr>
          <p:cNvPr id="333" name="Google Shape;333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4" name="Google Shape;334;p2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Eccezioni</a:t>
            </a:r>
            <a:br>
              <a:rPr lang="it-IT"/>
            </a:br>
            <a:r>
              <a:rPr lang="it-IT"/>
              <a:t>terzo esempio (4/4)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Dopo un blocco </a:t>
            </a:r>
            <a:r>
              <a:rPr i="1" lang="it-IT"/>
              <a:t>try</a:t>
            </a:r>
            <a:r>
              <a:rPr lang="it-IT"/>
              <a:t> si possono anche presentare più blocchi </a:t>
            </a:r>
            <a:r>
              <a:rPr i="1" lang="it-IT"/>
              <a:t>catch </a:t>
            </a:r>
            <a:r>
              <a:rPr lang="it-IT"/>
              <a:t>per gestire in modo differenziato i diversi tipi di eccezioni che si potrebbero verificare all’interno del blocco </a:t>
            </a:r>
            <a:r>
              <a:rPr i="1" lang="it-IT"/>
              <a:t>try</a:t>
            </a:r>
            <a:r>
              <a:rPr lang="it-IT"/>
              <a:t>: in tal caso, se le eccezioni dei vari blocchi sono in legame di ereditarietà è importante rispettare un ordine, mettendo sempre prima le eccezioni più specifiche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Si possono anche catturare due eccezioni alternative, che non siano legate da legame di ereditarietà quindi, in un unico blocco catch:</a:t>
            </a:r>
            <a:endParaRPr i="1"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catch( ArithmeticException | NullpointerException ex ) {</a:t>
            </a:r>
            <a:endParaRPr i="1" sz="1800"/>
          </a:p>
        </p:txBody>
      </p:sp>
      <p:sp>
        <p:nvSpPr>
          <p:cNvPr id="340" name="Google Shape;340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Catch multipli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è una buona pratica (in gergo </a:t>
            </a:r>
            <a:r>
              <a:rPr b="1" lang="it-IT"/>
              <a:t>best practice</a:t>
            </a:r>
            <a:r>
              <a:rPr lang="it-IT"/>
              <a:t>), che all’interno di un progetto si definiscano delle classi ad-hoc per identificare le eccezioni specifiche del progetto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Si tratterà di creare delle classi figlie di </a:t>
            </a:r>
            <a:r>
              <a:rPr i="1" lang="it-IT"/>
              <a:t>Exception</a:t>
            </a:r>
            <a:r>
              <a:rPr lang="it-IT"/>
              <a:t> per le eccezioni </a:t>
            </a:r>
            <a:r>
              <a:rPr i="1" lang="it-IT"/>
              <a:t>checked </a:t>
            </a:r>
            <a:r>
              <a:rPr lang="it-IT"/>
              <a:t>personalizzate e/o classi figlie di </a:t>
            </a:r>
            <a:r>
              <a:rPr i="1" lang="it-IT"/>
              <a:t>RuntimeException</a:t>
            </a:r>
            <a:r>
              <a:rPr lang="it-IT"/>
              <a:t> per le eccezioni </a:t>
            </a:r>
            <a:r>
              <a:rPr i="1" lang="it-IT"/>
              <a:t>uncheked </a:t>
            </a:r>
            <a:r>
              <a:rPr lang="it-IT"/>
              <a:t>personalizzate</a:t>
            </a:r>
            <a:endParaRPr i="1"/>
          </a:p>
        </p:txBody>
      </p:sp>
      <p:sp>
        <p:nvSpPr>
          <p:cNvPr id="347" name="Google Shape;347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8" name="Google Shape;348;p3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Eccezioni </a:t>
            </a:r>
            <a:r>
              <a:rPr i="1" lang="it-IT"/>
              <a:t>custom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package com.azienda.progetto.eccezioni;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</a:t>
            </a:r>
            <a:r>
              <a:rPr i="1" lang="it-IT" sz="1800" u="sng"/>
              <a:t>CustomCheckedException extends Exception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CustomCheckedException(String message,Throwable cause) 	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super(message,cause);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 i="1" sz="1800"/>
          </a:p>
        </p:txBody>
      </p:sp>
      <p:sp>
        <p:nvSpPr>
          <p:cNvPr id="354" name="Google Shape;354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5" name="Google Shape;355;p3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Eccezione custom «checked»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package com.azienda.progetto.eccezioni;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</a:t>
            </a:r>
            <a:r>
              <a:rPr i="1" lang="it-IT" sz="1800" u="sng"/>
              <a:t>CustomUncheckedException extends RuntimeException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public </a:t>
            </a:r>
            <a:r>
              <a:rPr i="1" lang="it-IT" sz="1800" u="sng"/>
              <a:t>CustomUncheckedException</a:t>
            </a:r>
            <a:r>
              <a:rPr i="1" lang="it-IT" sz="1800"/>
              <a:t>(String message,Throwable 	cause) 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super(message,cause);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}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</p:txBody>
      </p:sp>
      <p:sp>
        <p:nvSpPr>
          <p:cNvPr id="361" name="Google Shape;361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Eccezione custom «unchecked»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modalità di gestione delle eccezioni, come visto, sono innumerevoli. Un’eccezione può essere: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catturata e propagata, cambiandone eventualmente il tipo, il messaggio e l’eccezione originaria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propagata senza essere catturata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catturata e non propagata (</a:t>
            </a:r>
            <a:r>
              <a:rPr b="1" lang="it-IT"/>
              <a:t>sconsigliata</a:t>
            </a:r>
            <a:r>
              <a:rPr lang="it-IT"/>
              <a:t>)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non gestita del tutto (nel caso sia </a:t>
            </a:r>
            <a:r>
              <a:rPr i="1" lang="it-IT"/>
              <a:t>unchecked</a:t>
            </a:r>
            <a:r>
              <a:rPr lang="it-IT"/>
              <a:t>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Tutto ciò determina innumerevoli possibilità nelle politiche di gestione che sono comprese tra i due estremi di: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puntuale: cattura, gestione e propagazione di ogni eccezione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generica/</a:t>
            </a:r>
            <a:r>
              <a:rPr i="1" lang="it-IT"/>
              <a:t>lascia passare</a:t>
            </a:r>
            <a:r>
              <a:rPr lang="it-IT"/>
              <a:t>: propagazione (senza cattura e gestione) di tutte le eccezioni in un unico punto centralizzato dove verranno catturate e gestite tutte</a:t>
            </a:r>
            <a:endParaRPr/>
          </a:p>
        </p:txBody>
      </p:sp>
      <p:sp>
        <p:nvSpPr>
          <p:cNvPr id="368" name="Google Shape;368;p3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69" name="Google Shape;369;p3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Politiche di gestione delle eccezioni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Java mette a disposizione del programmatore più di mille classi pronte per essere utilizzate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si vuole dare uno sguardo alla documentazione ufficiale relativa a tali classi si può aprire da browser la cosiddetta </a:t>
            </a:r>
            <a:r>
              <a:rPr i="1" lang="it-IT"/>
              <a:t>javadoc</a:t>
            </a:r>
            <a:r>
              <a:rPr lang="it-IT"/>
              <a:t>. Per esempio per la versione 8 di Java l’url di riferimento è </a:t>
            </a:r>
            <a:r>
              <a:rPr lang="it-IT" u="sng">
                <a:solidFill>
                  <a:schemeClr val="hlink"/>
                </a:solidFill>
                <a:hlinkClick r:id="rId3"/>
              </a:rPr>
              <a:t>https://docs.oracle.com/javase/8/docs/api/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 ogni caso l’url è ricavabile anche tramite una banalissima ricerca su internet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Nella javadoc troveremo per ogni classe del jdk/jre: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catena di ereditarietà di cui fa parte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descrizione dei costruttori e dei metodi invocabili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eventuali eccezioni che ogni metodo potrebbe sollevare</a:t>
            </a:r>
            <a:endParaRPr/>
          </a:p>
        </p:txBody>
      </p:sp>
      <p:sp>
        <p:nvSpPr>
          <p:cNvPr id="375" name="Google Shape;375;p3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76" name="Google Shape;376;p3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Javadoc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2020-03-13T09:05:40Z</dcterms:created>
  <dc:creator>Roberto Santoro</dc:creator>
</cp:coreProperties>
</file>