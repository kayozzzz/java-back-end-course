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6858000" cx="9144000"/>
  <p:notesSz cx="6858000" cy="9144000"/>
  <p:embeddedFontLst>
    <p:embeddedFont>
      <p:font typeface="Candara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0" roundtripDataSignature="AMtx7mg0XPmBYD1VyfeCKkmxecgMPD1u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Candara-bold.fntdata"/><Relationship Id="rId14" Type="http://schemas.openxmlformats.org/officeDocument/2006/relationships/slide" Target="slides/slide9.xml"/><Relationship Id="rId36" Type="http://schemas.openxmlformats.org/officeDocument/2006/relationships/font" Target="fonts/Candara-regular.fntdata"/><Relationship Id="rId17" Type="http://schemas.openxmlformats.org/officeDocument/2006/relationships/slide" Target="slides/slide12.xml"/><Relationship Id="rId39" Type="http://schemas.openxmlformats.org/officeDocument/2006/relationships/font" Target="fonts/Candara-boldItalic.fntdata"/><Relationship Id="rId16" Type="http://schemas.openxmlformats.org/officeDocument/2006/relationships/slide" Target="slides/slide11.xml"/><Relationship Id="rId38" Type="http://schemas.openxmlformats.org/officeDocument/2006/relationships/font" Target="fonts/Candara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2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fmla="val 1272" name="adj"/>
            </a:avLst>
          </a:prstGeom>
          <a:gradFill>
            <a:gsLst>
              <a:gs pos="0">
                <a:srgbClr val="0293E0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24" name="Google Shape;24;p32"/>
          <p:cNvGrpSpPr/>
          <p:nvPr/>
        </p:nvGrpSpPr>
        <p:grpSpPr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25" name="Google Shape;25;p32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9019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26" name="Google Shape;26;p32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28" name="Google Shape;28;p32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29" name="Google Shape;29;p32"/>
            <p:cNvSpPr/>
            <p:nvPr/>
          </p:nvSpPr>
          <p:spPr>
            <a:xfrm>
              <a:off x="-3905250" y="4294188"/>
              <a:ext cx="13011150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30" name="Google Shape;30;p32"/>
          <p:cNvSpPr txBox="1"/>
          <p:nvPr>
            <p:ph type="ctrTitle"/>
          </p:nvPr>
        </p:nvSpPr>
        <p:spPr>
          <a:xfrm>
            <a:off x="685800" y="1600200"/>
            <a:ext cx="7772400" cy="17801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  <a:defRPr sz="44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2"/>
          <p:cNvSpPr txBox="1"/>
          <p:nvPr>
            <p:ph idx="1" type="subTitle"/>
          </p:nvPr>
        </p:nvSpPr>
        <p:spPr>
          <a:xfrm>
            <a:off x="1371600" y="3556001"/>
            <a:ext cx="6400800" cy="14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FFFFF"/>
                </a:solidFill>
              </a:defRPr>
            </a:lvl1pPr>
            <a:lvl2pPr lvl="1" algn="ctr">
              <a:spcBef>
                <a:spcPts val="440"/>
              </a:spcBef>
              <a:spcAft>
                <a:spcPts val="0"/>
              </a:spcAft>
              <a:buSzPts val="22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84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84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84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84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32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2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2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3"/>
          <p:cNvSpPr txBox="1"/>
          <p:nvPr>
            <p:ph idx="1" type="body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37" name="Google Shape;37;p33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3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3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40" name="Google Shape;40;p33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showMasterSp="0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4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fmla="val 1272" name="adj"/>
            </a:avLst>
          </a:prstGeom>
          <a:gradFill>
            <a:gsLst>
              <a:gs pos="0">
                <a:srgbClr val="0293E0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3" name="Google Shape;43;p34"/>
          <p:cNvSpPr/>
          <p:nvPr/>
        </p:nvSpPr>
        <p:spPr>
          <a:xfrm>
            <a:off x="6047438" y="4203592"/>
            <a:ext cx="2876429" cy="714026"/>
          </a:xfrm>
          <a:custGeom>
            <a:rect b="b" l="l" r="r" t="t"/>
            <a:pathLst>
              <a:path extrusionOk="0" h="640" w="2706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lt2">
              <a:alpha val="29019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4" name="Google Shape;44;p34"/>
          <p:cNvSpPr/>
          <p:nvPr/>
        </p:nvSpPr>
        <p:spPr>
          <a:xfrm>
            <a:off x="2619320" y="4075290"/>
            <a:ext cx="5544515" cy="850138"/>
          </a:xfrm>
          <a:custGeom>
            <a:rect b="b" l="l" r="r" t="t"/>
            <a:pathLst>
              <a:path extrusionOk="0" h="762" w="5216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lt2">
              <a:alpha val="4000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5" name="Google Shape;45;p34"/>
          <p:cNvSpPr/>
          <p:nvPr/>
        </p:nvSpPr>
        <p:spPr>
          <a:xfrm>
            <a:off x="2828728" y="4087562"/>
            <a:ext cx="5467980" cy="774272"/>
          </a:xfrm>
          <a:custGeom>
            <a:rect b="b" l="l" r="r" t="t"/>
            <a:pathLst>
              <a:path extrusionOk="0" h="694" w="514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6" name="Google Shape;46;p34"/>
          <p:cNvSpPr/>
          <p:nvPr/>
        </p:nvSpPr>
        <p:spPr>
          <a:xfrm>
            <a:off x="5609489" y="4074174"/>
            <a:ext cx="3308000" cy="651549"/>
          </a:xfrm>
          <a:custGeom>
            <a:rect b="b" l="l" r="r" t="t"/>
            <a:pathLst>
              <a:path extrusionOk="0" h="584" w="3112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7" name="Google Shape;47;p34"/>
          <p:cNvSpPr/>
          <p:nvPr/>
        </p:nvSpPr>
        <p:spPr>
          <a:xfrm>
            <a:off x="211665" y="4058555"/>
            <a:ext cx="8723376" cy="1329874"/>
          </a:xfrm>
          <a:custGeom>
            <a:rect b="b" l="l" r="r" t="t"/>
            <a:pathLst>
              <a:path extrusionOk="0" h="1192" w="8196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8" name="Google Shape;48;p34"/>
          <p:cNvSpPr txBox="1"/>
          <p:nvPr>
            <p:ph type="title"/>
          </p:nvPr>
        </p:nvSpPr>
        <p:spPr>
          <a:xfrm>
            <a:off x="690032" y="2463560"/>
            <a:ext cx="77724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4"/>
          <p:cNvSpPr txBox="1"/>
          <p:nvPr>
            <p:ph idx="1" type="body"/>
          </p:nvPr>
        </p:nvSpPr>
        <p:spPr>
          <a:xfrm>
            <a:off x="1367365" y="1437448"/>
            <a:ext cx="6417734" cy="939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FFFFF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0" name="Google Shape;50;p34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4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4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5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5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5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5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58" name="Google Shape;58;p35"/>
          <p:cNvSpPr txBox="1"/>
          <p:nvPr>
            <p:ph idx="1" type="body"/>
          </p:nvPr>
        </p:nvSpPr>
        <p:spPr>
          <a:xfrm>
            <a:off x="676655" y="2679192"/>
            <a:ext cx="3822192" cy="3447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9" name="Google Shape;59;p35"/>
          <p:cNvSpPr txBox="1"/>
          <p:nvPr>
            <p:ph idx="2" type="body"/>
          </p:nvPr>
        </p:nvSpPr>
        <p:spPr>
          <a:xfrm>
            <a:off x="4645152" y="2679192"/>
            <a:ext cx="3822192" cy="3447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 type="twoTxTwoObj">
  <p:cSld name="TWO_OBJECTS_WITH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6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6"/>
          <p:cNvSpPr txBox="1"/>
          <p:nvPr>
            <p:ph idx="1" type="body"/>
          </p:nvPr>
        </p:nvSpPr>
        <p:spPr>
          <a:xfrm>
            <a:off x="676656" y="2678114"/>
            <a:ext cx="3822192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p36"/>
          <p:cNvSpPr txBox="1"/>
          <p:nvPr>
            <p:ph idx="2" type="body"/>
          </p:nvPr>
        </p:nvSpPr>
        <p:spPr>
          <a:xfrm>
            <a:off x="677332" y="3429000"/>
            <a:ext cx="3820055" cy="2697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SzPts val="2000"/>
              <a:buChar char="*"/>
              <a:defRPr sz="20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*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*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*"/>
              <a:defRPr sz="1400"/>
            </a:lvl5pPr>
            <a:lvl6pPr indent="-330200" lvl="5" marL="27432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6pPr>
            <a:lvl7pPr indent="-330200" lvl="6" marL="32004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8pPr>
            <a:lvl9pPr indent="-330200" lvl="8" marL="41148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9pPr>
          </a:lstStyle>
          <a:p/>
        </p:txBody>
      </p:sp>
      <p:sp>
        <p:nvSpPr>
          <p:cNvPr id="64" name="Google Shape;64;p36"/>
          <p:cNvSpPr txBox="1"/>
          <p:nvPr>
            <p:ph idx="3" type="body"/>
          </p:nvPr>
        </p:nvSpPr>
        <p:spPr>
          <a:xfrm>
            <a:off x="4648200" y="2678113"/>
            <a:ext cx="3822192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2400"/>
              <a:buNone/>
              <a:defRPr b="0" i="0" sz="24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p36"/>
          <p:cNvSpPr txBox="1"/>
          <p:nvPr>
            <p:ph idx="4" type="body"/>
          </p:nvPr>
        </p:nvSpPr>
        <p:spPr>
          <a:xfrm>
            <a:off x="4645025" y="3429000"/>
            <a:ext cx="3822192" cy="2697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SzPts val="2000"/>
              <a:buChar char="*"/>
              <a:defRPr sz="20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*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*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*"/>
              <a:defRPr sz="1400"/>
            </a:lvl5pPr>
            <a:lvl6pPr indent="-330200" lvl="5" marL="27432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6pPr>
            <a:lvl7pPr indent="-330200" lvl="6" marL="32004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8pPr>
            <a:lvl9pPr indent="-330200" lvl="8" marL="41148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9pPr>
          </a:lstStyle>
          <a:p/>
        </p:txBody>
      </p:sp>
      <p:sp>
        <p:nvSpPr>
          <p:cNvPr id="66" name="Google Shape;66;p36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6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6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7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7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7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7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 showMasterSp="0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8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fmla="val 7136" name="adj"/>
            </a:avLst>
          </a:prstGeom>
          <a:gradFill>
            <a:gsLst>
              <a:gs pos="0">
                <a:srgbClr val="0293E0"/>
              </a:gs>
              <a:gs pos="90000">
                <a:srgbClr val="81D2FE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76" name="Google Shape;76;p38"/>
          <p:cNvGrpSpPr/>
          <p:nvPr/>
        </p:nvGrpSpPr>
        <p:grpSpPr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7" name="Google Shape;77;p38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9019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78" name="Google Shape;78;p38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79" name="Google Shape;79;p38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80" name="Google Shape;80;p38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81" name="Google Shape;81;p38"/>
            <p:cNvSpPr/>
            <p:nvPr/>
          </p:nvSpPr>
          <p:spPr>
            <a:xfrm>
              <a:off x="-3905251" y="4294188"/>
              <a:ext cx="13027839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82" name="Google Shape;82;p38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8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8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showMasterSp="0" type="objTx">
  <p:cSld name="OBJECT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9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fmla="val 7136" name="adj"/>
            </a:avLst>
          </a:prstGeom>
          <a:gradFill>
            <a:gsLst>
              <a:gs pos="0">
                <a:srgbClr val="0293E0"/>
              </a:gs>
              <a:gs pos="90000">
                <a:srgbClr val="81D2FE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7" name="Google Shape;87;p39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9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9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90" name="Google Shape;90;p39"/>
          <p:cNvSpPr txBox="1"/>
          <p:nvPr>
            <p:ph idx="1" type="body"/>
          </p:nvPr>
        </p:nvSpPr>
        <p:spPr>
          <a:xfrm>
            <a:off x="914400" y="3581400"/>
            <a:ext cx="3352800" cy="1905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grpSp>
        <p:nvGrpSpPr>
          <p:cNvPr id="91" name="Google Shape;91;p39"/>
          <p:cNvGrpSpPr/>
          <p:nvPr/>
        </p:nvGrpSpPr>
        <p:grpSpPr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92" name="Google Shape;92;p39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9019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93" name="Google Shape;93;p39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94" name="Google Shape;94;p39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95" name="Google Shape;95;p39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96" name="Google Shape;96;p39"/>
            <p:cNvSpPr/>
            <p:nvPr/>
          </p:nvSpPr>
          <p:spPr>
            <a:xfrm>
              <a:off x="-3905250" y="4294188"/>
              <a:ext cx="13011150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97" name="Google Shape;97;p39"/>
          <p:cNvSpPr txBox="1"/>
          <p:nvPr>
            <p:ph type="title"/>
          </p:nvPr>
        </p:nvSpPr>
        <p:spPr>
          <a:xfrm>
            <a:off x="914400" y="2286000"/>
            <a:ext cx="33528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ndara"/>
              <a:buNone/>
              <a:defRPr sz="32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9"/>
          <p:cNvSpPr txBox="1"/>
          <p:nvPr>
            <p:ph idx="2" type="body"/>
          </p:nvPr>
        </p:nvSpPr>
        <p:spPr>
          <a:xfrm>
            <a:off x="4651962" y="1828800"/>
            <a:ext cx="3904076" cy="3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68300" lvl="0" marL="457200" algn="l"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Char char="*"/>
              <a:defRPr sz="2200">
                <a:solidFill>
                  <a:schemeClr val="dk2"/>
                </a:solidFill>
              </a:defRPr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*"/>
              <a:defRPr sz="2000">
                <a:solidFill>
                  <a:schemeClr val="dk2"/>
                </a:solidFill>
              </a:defRPr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*"/>
              <a:defRPr sz="1800">
                <a:solidFill>
                  <a:schemeClr val="dk2"/>
                </a:solidFill>
              </a:defRPr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*"/>
              <a:defRPr sz="1600">
                <a:solidFill>
                  <a:schemeClr val="dk2"/>
                </a:solidFill>
              </a:defRPr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*"/>
              <a:defRPr sz="1600">
                <a:solidFill>
                  <a:schemeClr val="dk2"/>
                </a:solidFill>
              </a:defRPr>
            </a:lvl5pPr>
            <a:lvl6pPr indent="-355600" lvl="5" marL="2743200" algn="l">
              <a:spcBef>
                <a:spcPts val="384"/>
              </a:spcBef>
              <a:spcAft>
                <a:spcPts val="0"/>
              </a:spcAft>
              <a:buSzPts val="2000"/>
              <a:buChar char="●"/>
              <a:defRPr sz="2000"/>
            </a:lvl6pPr>
            <a:lvl7pPr indent="-355600" lvl="6" marL="3200400" algn="l">
              <a:spcBef>
                <a:spcPts val="384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algn="l">
              <a:spcBef>
                <a:spcPts val="384"/>
              </a:spcBef>
              <a:spcAft>
                <a:spcPts val="0"/>
              </a:spcAft>
              <a:buSzPts val="2000"/>
              <a:buChar char="●"/>
              <a:defRPr sz="2000"/>
            </a:lvl8pPr>
            <a:lvl9pPr indent="-355600" lvl="8" marL="4114800" algn="l">
              <a:spcBef>
                <a:spcPts val="384"/>
              </a:spcBef>
              <a:spcAft>
                <a:spcPts val="0"/>
              </a:spcAft>
              <a:buSzPts val="2000"/>
              <a:buChar char="●"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showMasterSp="0" type="picTx">
  <p:cSld name="PICTURE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0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fmla="val 1272" name="adj"/>
            </a:avLst>
          </a:prstGeom>
          <a:gradFill>
            <a:gsLst>
              <a:gs pos="0">
                <a:srgbClr val="0293E0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101" name="Google Shape;101;p40"/>
          <p:cNvGrpSpPr/>
          <p:nvPr/>
        </p:nvGrpSpPr>
        <p:grpSpPr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2" name="Google Shape;102;p40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9019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03" name="Google Shape;103;p40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04" name="Google Shape;104;p40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05" name="Google Shape;105;p40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06" name="Google Shape;106;p40"/>
            <p:cNvSpPr/>
            <p:nvPr/>
          </p:nvSpPr>
          <p:spPr>
            <a:xfrm>
              <a:off x="-3905250" y="4294188"/>
              <a:ext cx="13011150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107" name="Google Shape;107;p40"/>
          <p:cNvSpPr txBox="1"/>
          <p:nvPr>
            <p:ph type="title"/>
          </p:nvPr>
        </p:nvSpPr>
        <p:spPr>
          <a:xfrm>
            <a:off x="4874155" y="338667"/>
            <a:ext cx="3812645" cy="2429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ndara"/>
              <a:buNone/>
              <a:defRPr b="0" sz="28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40"/>
          <p:cNvSpPr txBox="1"/>
          <p:nvPr>
            <p:ph idx="1" type="body"/>
          </p:nvPr>
        </p:nvSpPr>
        <p:spPr>
          <a:xfrm>
            <a:off x="4868333" y="2785533"/>
            <a:ext cx="3818467" cy="24214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9" name="Google Shape;109;p40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0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40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12" name="Google Shape;112;p40"/>
          <p:cNvSpPr/>
          <p:nvPr>
            <p:ph idx="2" type="pic"/>
          </p:nvPr>
        </p:nvSpPr>
        <p:spPr>
          <a:xfrm>
            <a:off x="838200" y="1371600"/>
            <a:ext cx="3566160" cy="2926080"/>
          </a:xfrm>
          <a:prstGeom prst="roundRect">
            <a:avLst>
              <a:gd fmla="val 3924" name="adj"/>
            </a:avLst>
          </a:prstGeom>
          <a:solidFill>
            <a:schemeClr val="accent1"/>
          </a:solidFill>
          <a:ln>
            <a:noFill/>
          </a:ln>
          <a:effectLst>
            <a:reflection blurRad="0" dir="5400000" dist="5000" endA="0" endPos="30000" kx="0" rotWithShape="0" algn="bl" stA="30000" stPos="0" sy="-100000" ky="0"/>
          </a:effectLst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1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41"/>
          <p:cNvSpPr txBox="1"/>
          <p:nvPr>
            <p:ph idx="1" type="body"/>
          </p:nvPr>
        </p:nvSpPr>
        <p:spPr>
          <a:xfrm rot="5400000">
            <a:off x="2850886" y="696648"/>
            <a:ext cx="3450696" cy="7408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*"/>
              <a:defRPr/>
            </a:lvl1pPr>
            <a:lvl2pPr indent="-368300" lvl="1" marL="914400" algn="l">
              <a:spcBef>
                <a:spcPts val="440"/>
              </a:spcBef>
              <a:spcAft>
                <a:spcPts val="0"/>
              </a:spcAft>
              <a:buSzPts val="2200"/>
              <a:buChar char="*"/>
              <a:defRPr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16" name="Google Shape;116;p41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41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41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olo e testo verticale" showMasterSp="0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2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fmla="val 7136" name="adj"/>
            </a:avLst>
          </a:prstGeom>
          <a:gradFill>
            <a:gsLst>
              <a:gs pos="0">
                <a:srgbClr val="0293E0"/>
              </a:gs>
              <a:gs pos="90000">
                <a:srgbClr val="81D2FE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1" name="Google Shape;121;p42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42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42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grpSp>
        <p:nvGrpSpPr>
          <p:cNvPr id="124" name="Google Shape;124;p42"/>
          <p:cNvGrpSpPr/>
          <p:nvPr/>
        </p:nvGrpSpPr>
        <p:grpSpPr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25" name="Google Shape;125;p42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9019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26" name="Google Shape;126;p42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27" name="Google Shape;127;p42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28" name="Google Shape;128;p42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29" name="Google Shape;129;p42"/>
            <p:cNvSpPr/>
            <p:nvPr/>
          </p:nvSpPr>
          <p:spPr>
            <a:xfrm>
              <a:off x="-3905250" y="4294188"/>
              <a:ext cx="13011150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130" name="Google Shape;130;p42"/>
          <p:cNvSpPr txBox="1"/>
          <p:nvPr>
            <p:ph type="title"/>
          </p:nvPr>
        </p:nvSpPr>
        <p:spPr>
          <a:xfrm rot="5400000">
            <a:off x="5414434" y="2662767"/>
            <a:ext cx="4487333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42"/>
          <p:cNvSpPr txBox="1"/>
          <p:nvPr>
            <p:ph idx="1" type="body"/>
          </p:nvPr>
        </p:nvSpPr>
        <p:spPr>
          <a:xfrm rot="5400000">
            <a:off x="1223433" y="681567"/>
            <a:ext cx="448733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*"/>
              <a:defRPr/>
            </a:lvl1pPr>
            <a:lvl2pPr indent="-368300" lvl="1" marL="91440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200"/>
              <a:buChar char="*"/>
              <a:defRPr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*"/>
              <a:defRPr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fmla="val 3362" name="adj"/>
            </a:avLst>
          </a:prstGeom>
          <a:gradFill>
            <a:gsLst>
              <a:gs pos="0">
                <a:srgbClr val="0293E0"/>
              </a:gs>
              <a:gs pos="90000">
                <a:srgbClr val="81D2FE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11" name="Google Shape;11;p31"/>
          <p:cNvGrpSpPr/>
          <p:nvPr/>
        </p:nvGrpSpPr>
        <p:grpSpPr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2" name="Google Shape;12;p31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9019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3" name="Google Shape;13;p31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4" name="Google Shape;14;p31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5" name="Google Shape;15;p31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6" name="Google Shape;16;p31"/>
            <p:cNvSpPr/>
            <p:nvPr/>
          </p:nvSpPr>
          <p:spPr>
            <a:xfrm>
              <a:off x="-3905251" y="4294188"/>
              <a:ext cx="13027839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17" name="Google Shape;17;p31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  <a:defRPr b="0" i="0" sz="4400" u="none" cap="none" strike="noStrike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" name="Google Shape;18;p31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/>
        </p:txBody>
      </p:sp>
      <p:sp>
        <p:nvSpPr>
          <p:cNvPr id="19" name="Google Shape;19;p31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/>
        </p:txBody>
      </p:sp>
      <p:sp>
        <p:nvSpPr>
          <p:cNvPr id="20" name="Google Shape;20;p31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0" lvl="1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0" lvl="2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0" lvl="3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0" lvl="4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0" lvl="5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0" lvl="6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0" lvl="7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0" lvl="8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1" name="Google Shape;21;p31"/>
          <p:cNvSpPr txBox="1"/>
          <p:nvPr>
            <p:ph idx="1" type="body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*"/>
              <a:defRPr b="0" i="0" sz="2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-368300" lvl="1" marL="9144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*"/>
              <a:defRPr b="0" i="0" sz="22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*"/>
              <a:defRPr b="0" i="0" sz="20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*"/>
              <a:defRPr b="0" i="0" sz="18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*"/>
              <a:defRPr b="0" i="0" sz="16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-317500" lvl="5" marL="2743200" marR="0" rtl="0" algn="l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-317500" lvl="6" marL="3200400" marR="0" rtl="0" algn="l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-317500" lvl="7" marL="3657600" marR="0" rtl="0" algn="l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-317500" lvl="8" marL="4114800" marR="0" rtl="0" algn="l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"/>
          <p:cNvSpPr txBox="1"/>
          <p:nvPr>
            <p:ph type="ctrTitle"/>
          </p:nvPr>
        </p:nvSpPr>
        <p:spPr>
          <a:xfrm>
            <a:off x="685800" y="1600200"/>
            <a:ext cx="7772400" cy="17801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Spring Rest Security</a:t>
            </a:r>
            <a:endParaRPr/>
          </a:p>
        </p:txBody>
      </p:sp>
      <p:sp>
        <p:nvSpPr>
          <p:cNvPr id="137" name="Google Shape;137;p1"/>
          <p:cNvSpPr txBox="1"/>
          <p:nvPr>
            <p:ph idx="1" type="subTitle"/>
          </p:nvPr>
        </p:nvSpPr>
        <p:spPr>
          <a:xfrm>
            <a:off x="1371600" y="3556001"/>
            <a:ext cx="6400800" cy="14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"/>
          <p:cNvSpPr txBox="1"/>
          <p:nvPr>
            <p:ph idx="1" type="body"/>
          </p:nvPr>
        </p:nvSpPr>
        <p:spPr>
          <a:xfrm>
            <a:off x="872067" y="1844824"/>
            <a:ext cx="7408333" cy="428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Java base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Concetti base di web application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Conoscenza base tecnologie web di </a:t>
            </a:r>
            <a:r>
              <a:rPr i="1" lang="it-IT"/>
              <a:t>front-end</a:t>
            </a:r>
            <a:r>
              <a:rPr lang="it-IT"/>
              <a:t>: Html5, Css3, Javascript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Java web standard: Servlet/Jsp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Java web filter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Spring core </a:t>
            </a:r>
            <a:r>
              <a:rPr i="1" lang="it-IT"/>
              <a:t>IoC container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Spring </a:t>
            </a:r>
            <a:r>
              <a:rPr i="1" lang="it-IT"/>
              <a:t>Mvc</a:t>
            </a:r>
            <a:endParaRPr i="1"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Concetti di base dei web services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Spring Rest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Spring Security</a:t>
            </a:r>
            <a:endParaRPr/>
          </a:p>
        </p:txBody>
      </p:sp>
      <p:sp>
        <p:nvSpPr>
          <p:cNvPr id="143" name="Google Shape;143;p2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44" name="Google Shape;144;p2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Prerequisiti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"/>
          <p:cNvSpPr txBox="1"/>
          <p:nvPr>
            <p:ph idx="1" type="body"/>
          </p:nvPr>
        </p:nvSpPr>
        <p:spPr>
          <a:xfrm>
            <a:off x="872067" y="2348880"/>
            <a:ext cx="7408333" cy="3777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1920" lvl="0" marL="27432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Consentire l’accesso ad alcuni servizi Rest soltanto ad utenti autenticati ed autorizzati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Gestire l’autenticazione nella modalità </a:t>
            </a:r>
            <a:r>
              <a:rPr i="1" lang="it-IT"/>
              <a:t>stateless</a:t>
            </a:r>
            <a:r>
              <a:rPr lang="it-IT"/>
              <a:t> tipica dei servizi Rest: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impossibilità di sfruttare i meccanismi di autenticazione </a:t>
            </a:r>
            <a:r>
              <a:rPr i="1" lang="it-IT"/>
              <a:t>session-based</a:t>
            </a:r>
            <a:r>
              <a:rPr lang="it-IT"/>
              <a:t> (e quindi </a:t>
            </a:r>
            <a:r>
              <a:rPr i="1" lang="it-IT"/>
              <a:t>stateful</a:t>
            </a:r>
            <a:r>
              <a:rPr lang="it-IT"/>
              <a:t>) tipici delle applicazioni Mvc</a:t>
            </a:r>
            <a:endParaRPr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50" name="Google Shape;150;p3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51" name="Google Shape;151;p3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L’esigenza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"/>
          <p:cNvSpPr txBox="1"/>
          <p:nvPr>
            <p:ph idx="1" type="body"/>
          </p:nvPr>
        </p:nvSpPr>
        <p:spPr>
          <a:xfrm>
            <a:off x="872067" y="2060848"/>
            <a:ext cx="7408333" cy="4065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Utilizzo di messaggi Json contenenti:</a:t>
            </a:r>
            <a:endParaRPr/>
          </a:p>
          <a:p>
            <a:pPr indent="-274319" lvl="1" marL="576263" rtl="0" algn="l">
              <a:spcBef>
                <a:spcPts val="407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le credenziali dell’utente</a:t>
            </a:r>
            <a:endParaRPr/>
          </a:p>
          <a:p>
            <a:pPr indent="-274319" lvl="1" marL="576263" rtl="0" algn="l">
              <a:spcBef>
                <a:spcPts val="407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la data di creazione e la data di fine validità</a:t>
            </a:r>
            <a:endParaRPr/>
          </a:p>
          <a:p>
            <a:pPr indent="-274319" lvl="1" marL="576263" rtl="0" algn="l">
              <a:spcBef>
                <a:spcPts val="407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le eventuali autorizzazioni associate all’utente</a:t>
            </a:r>
            <a:endParaRPr/>
          </a:p>
          <a:p>
            <a:pPr indent="-274319" lvl="1" marL="576263" rtl="0" algn="l">
              <a:spcBef>
                <a:spcPts val="407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altre eventuali informazioni a corredo (es. l’</a:t>
            </a:r>
            <a:r>
              <a:rPr i="1" lang="it-IT"/>
              <a:t>audit</a:t>
            </a:r>
            <a:r>
              <a:rPr lang="it-IT"/>
              <a:t> dell’utente </a:t>
            </a:r>
            <a:r>
              <a:rPr i="1" lang="it-IT"/>
              <a:t>mobile, tablet, desktop</a:t>
            </a:r>
            <a:r>
              <a:rPr lang="it-IT"/>
              <a:t>; </a:t>
            </a:r>
            <a:r>
              <a:rPr i="1" lang="it-IT"/>
              <a:t>e-mail</a:t>
            </a:r>
            <a:r>
              <a:rPr lang="it-IT"/>
              <a:t> etc.)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l’inserimento delle date, all’interno dei messaggi Json, consente anche la possibilità di gestire eventuali politiche di aggiornamento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JWT: Json Web Token, ovvero un </a:t>
            </a:r>
            <a:r>
              <a:rPr i="1" lang="it-IT"/>
              <a:t>token</a:t>
            </a:r>
            <a:r>
              <a:rPr lang="it-IT"/>
              <a:t> in formato Json contenente le informazioni descritte precedentemente</a:t>
            </a:r>
            <a:endParaRPr/>
          </a:p>
          <a:p>
            <a:pPr indent="-133350" lvl="0" marL="27432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-133350" lvl="0" marL="27432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57" name="Google Shape;157;p4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58" name="Google Shape;158;p4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La soluzione: Jwt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"/>
          <p:cNvSpPr txBox="1"/>
          <p:nvPr>
            <p:ph idx="1" type="body"/>
          </p:nvPr>
        </p:nvSpPr>
        <p:spPr>
          <a:xfrm>
            <a:off x="809112" y="2060848"/>
            <a:ext cx="7408333" cy="4065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il token JWT è un messaggio Json costituito da:</a:t>
            </a:r>
            <a:endParaRPr/>
          </a:p>
          <a:p>
            <a:pPr indent="-274319" lvl="1" marL="576263" rtl="0" algn="l">
              <a:spcBef>
                <a:spcPts val="407"/>
              </a:spcBef>
              <a:spcAft>
                <a:spcPts val="0"/>
              </a:spcAft>
              <a:buSzPct val="100000"/>
              <a:buChar char="*"/>
            </a:pPr>
            <a:r>
              <a:rPr i="1" lang="it-IT"/>
              <a:t>header</a:t>
            </a:r>
            <a:endParaRPr/>
          </a:p>
          <a:p>
            <a:pPr indent="-228600" lvl="2" marL="855663" rtl="0" algn="l">
              <a:spcBef>
                <a:spcPts val="370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"</a:t>
            </a:r>
            <a:r>
              <a:rPr i="1" lang="it-IT"/>
              <a:t>typ</a:t>
            </a:r>
            <a:r>
              <a:rPr lang="it-IT"/>
              <a:t>"</a:t>
            </a:r>
            <a:r>
              <a:rPr i="1" lang="it-IT"/>
              <a:t>:</a:t>
            </a:r>
            <a:r>
              <a:rPr lang="it-IT"/>
              <a:t>"</a:t>
            </a:r>
            <a:r>
              <a:rPr i="1" lang="it-IT"/>
              <a:t>alg</a:t>
            </a:r>
            <a:r>
              <a:rPr lang="it-IT"/>
              <a:t>"</a:t>
            </a:r>
            <a:endParaRPr i="1"/>
          </a:p>
          <a:p>
            <a:pPr indent="-228600" lvl="2" marL="855663" rtl="0" algn="l">
              <a:spcBef>
                <a:spcPts val="370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"</a:t>
            </a:r>
            <a:r>
              <a:rPr i="1" lang="it-IT"/>
              <a:t>alg</a:t>
            </a:r>
            <a:r>
              <a:rPr lang="it-IT"/>
              <a:t>"</a:t>
            </a:r>
            <a:r>
              <a:rPr i="1" lang="it-IT"/>
              <a:t>:</a:t>
            </a:r>
            <a:r>
              <a:rPr lang="it-IT"/>
              <a:t>"</a:t>
            </a:r>
            <a:r>
              <a:rPr i="1" lang="it-IT"/>
              <a:t>nome_algoritmo_hashing_usato</a:t>
            </a:r>
            <a:r>
              <a:rPr lang="it-IT"/>
              <a:t>"</a:t>
            </a:r>
            <a:endParaRPr i="1"/>
          </a:p>
          <a:p>
            <a:pPr indent="-274319" lvl="1" marL="576263" rtl="0" algn="l">
              <a:spcBef>
                <a:spcPts val="407"/>
              </a:spcBef>
              <a:spcAft>
                <a:spcPts val="0"/>
              </a:spcAft>
              <a:buSzPct val="100000"/>
              <a:buChar char="*"/>
            </a:pPr>
            <a:r>
              <a:rPr i="1" lang="it-IT"/>
              <a:t>payload</a:t>
            </a:r>
            <a:endParaRPr i="1"/>
          </a:p>
          <a:p>
            <a:pPr indent="-228600" lvl="2" marL="855663" rtl="0" algn="l">
              <a:spcBef>
                <a:spcPts val="370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"</a:t>
            </a:r>
            <a:r>
              <a:rPr i="1" lang="it-IT"/>
              <a:t>sub</a:t>
            </a:r>
            <a:r>
              <a:rPr lang="it-IT"/>
              <a:t>"</a:t>
            </a:r>
            <a:r>
              <a:rPr i="1" lang="it-IT"/>
              <a:t>:</a:t>
            </a:r>
            <a:r>
              <a:rPr lang="it-IT"/>
              <a:t>"</a:t>
            </a:r>
            <a:r>
              <a:rPr i="1" lang="it-IT"/>
              <a:t>nome_utente</a:t>
            </a:r>
            <a:r>
              <a:rPr lang="it-IT"/>
              <a:t>"</a:t>
            </a:r>
            <a:endParaRPr i="1"/>
          </a:p>
          <a:p>
            <a:pPr indent="-228600" lvl="2" marL="855663" rtl="0" algn="l">
              <a:spcBef>
                <a:spcPts val="370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"</a:t>
            </a:r>
            <a:r>
              <a:rPr i="1" lang="it-IT"/>
              <a:t>iat</a:t>
            </a:r>
            <a:r>
              <a:rPr lang="it-IT"/>
              <a:t>"</a:t>
            </a:r>
            <a:r>
              <a:rPr i="1" lang="it-IT"/>
              <a:t>:</a:t>
            </a:r>
            <a:r>
              <a:rPr lang="it-IT"/>
              <a:t>"</a:t>
            </a:r>
            <a:r>
              <a:rPr i="1" lang="it-IT"/>
              <a:t>data di creazione del token</a:t>
            </a:r>
            <a:r>
              <a:rPr lang="it-IT"/>
              <a:t>"</a:t>
            </a:r>
            <a:r>
              <a:rPr i="1" lang="it-IT"/>
              <a:t> (issued at)</a:t>
            </a:r>
            <a:endParaRPr/>
          </a:p>
          <a:p>
            <a:pPr indent="-228600" lvl="2" marL="855663" rtl="0" algn="l">
              <a:spcBef>
                <a:spcPts val="370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"</a:t>
            </a:r>
            <a:r>
              <a:rPr i="1" lang="it-IT"/>
              <a:t>expiration</a:t>
            </a:r>
            <a:r>
              <a:rPr lang="it-IT"/>
              <a:t>": "data di scadenza del token"</a:t>
            </a:r>
            <a:endParaRPr/>
          </a:p>
          <a:p>
            <a:pPr indent="-228600" lvl="2" marL="855663" rtl="0" algn="l">
              <a:spcBef>
                <a:spcPts val="370"/>
              </a:spcBef>
              <a:spcAft>
                <a:spcPts val="0"/>
              </a:spcAft>
              <a:buSzPct val="100000"/>
              <a:buChar char="*"/>
            </a:pPr>
            <a:r>
              <a:rPr i="1" lang="it-IT"/>
              <a:t>….altri campi opzionali</a:t>
            </a:r>
            <a:endParaRPr/>
          </a:p>
          <a:p>
            <a:pPr indent="-274319" lvl="1" marL="576263" rtl="0" algn="l">
              <a:spcBef>
                <a:spcPts val="407"/>
              </a:spcBef>
              <a:spcAft>
                <a:spcPts val="0"/>
              </a:spcAft>
              <a:buSzPct val="100000"/>
              <a:buChar char="*"/>
            </a:pPr>
            <a:r>
              <a:rPr i="1" lang="it-IT"/>
              <a:t>signature: firma con un algoritmo di hashing (specificato nell’header) di una stringa segreta e di [(codifica base64 dell’header) + (codifica base64 del payload)]</a:t>
            </a:r>
            <a:endParaRPr/>
          </a:p>
          <a:p>
            <a:pPr indent="-111125" lvl="2" marL="855663" rtl="0" algn="l">
              <a:spcBef>
                <a:spcPts val="37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i="1"/>
          </a:p>
        </p:txBody>
      </p:sp>
      <p:sp>
        <p:nvSpPr>
          <p:cNvPr id="164" name="Google Shape;164;p5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65" name="Google Shape;165;p5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Jwt (1/3)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"/>
          <p:cNvSpPr txBox="1"/>
          <p:nvPr>
            <p:ph idx="1" type="body"/>
          </p:nvPr>
        </p:nvSpPr>
        <p:spPr>
          <a:xfrm>
            <a:off x="872067" y="1700808"/>
            <a:ext cx="7408333" cy="44253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1920" lvl="0" marL="27432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Schema del token JWT</a:t>
            </a:r>
            <a:endParaRPr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72" name="Google Shape;172;p6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Jwt (2/3)</a:t>
            </a:r>
            <a:endParaRPr/>
          </a:p>
        </p:txBody>
      </p:sp>
      <p:pic>
        <p:nvPicPr>
          <p:cNvPr id="173" name="Google Shape;17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5348" y="2868696"/>
            <a:ext cx="3762632" cy="30805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"/>
          <p:cNvSpPr txBox="1"/>
          <p:nvPr>
            <p:ph idx="1" type="body"/>
          </p:nvPr>
        </p:nvSpPr>
        <p:spPr>
          <a:xfrm>
            <a:off x="872067" y="2060848"/>
            <a:ext cx="7408333" cy="4065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le 3 componenti sono legate tramite il carattere </a:t>
            </a:r>
            <a:r>
              <a:rPr i="1" lang="it-IT"/>
              <a:t>.</a:t>
            </a:r>
            <a:r>
              <a:rPr lang="it-IT"/>
              <a:t>(punto)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esempio di token JWT:</a:t>
            </a:r>
            <a:endParaRPr/>
          </a:p>
          <a:p>
            <a:pPr indent="-274319" lvl="1" marL="576263" rtl="0" algn="l">
              <a:spcBef>
                <a:spcPts val="320"/>
              </a:spcBef>
              <a:spcAft>
                <a:spcPts val="0"/>
              </a:spcAft>
              <a:buSzPts val="1600"/>
              <a:buChar char="*"/>
            </a:pPr>
            <a:r>
              <a:rPr lang="it-IT" sz="1600"/>
              <a:t>eyJhbGciOiJIUzUxMiJ9.eyJzdWIiOiJ1c2VyIiwiZXhwIjoxNjM3NzQyMjMyLCJpYXQiOjE2Mzc3NDIyMDJ9.sotHfLUerc6qEACwlm1MPCAyOhPi7wbAJw7-BjLAlXILj3ttDgBS6aHBB_iashR0UgPJ3BsjXCCr5EZdk2yAqA</a:t>
            </a:r>
            <a:endParaRPr/>
          </a:p>
        </p:txBody>
      </p:sp>
      <p:sp>
        <p:nvSpPr>
          <p:cNvPr id="179" name="Google Shape;179;p7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80" name="Google Shape;180;p7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Jwt (3/3)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1640" y="2070978"/>
            <a:ext cx="5760640" cy="405518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8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87" name="Google Shape;187;p8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Flusso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"/>
          <p:cNvSpPr txBox="1"/>
          <p:nvPr>
            <p:ph idx="1" type="body"/>
          </p:nvPr>
        </p:nvSpPr>
        <p:spPr>
          <a:xfrm>
            <a:off x="872067" y="2060848"/>
            <a:ext cx="7408333" cy="4065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andara"/>
              <a:buAutoNum type="arabicPeriod"/>
            </a:pPr>
            <a:r>
              <a:rPr lang="it-IT"/>
              <a:t>Classe di utilità per gestire i messaggi Jwt</a:t>
            </a:r>
            <a:endParaRPr/>
          </a:p>
          <a:p>
            <a:pPr indent="-457200" lvl="1" marL="759143" rtl="0" algn="l">
              <a:spcBef>
                <a:spcPts val="407"/>
              </a:spcBef>
              <a:spcAft>
                <a:spcPts val="0"/>
              </a:spcAft>
              <a:buSzPct val="100000"/>
              <a:buFont typeface="Candara"/>
              <a:buAutoNum type="alphaLcParenR"/>
            </a:pPr>
            <a:r>
              <a:rPr lang="it-IT"/>
              <a:t>creazione del token</a:t>
            </a:r>
            <a:endParaRPr/>
          </a:p>
          <a:p>
            <a:pPr indent="-457200" lvl="1" marL="759143" rtl="0" algn="l">
              <a:spcBef>
                <a:spcPts val="407"/>
              </a:spcBef>
              <a:spcAft>
                <a:spcPts val="0"/>
              </a:spcAft>
              <a:buSzPct val="100000"/>
              <a:buFont typeface="Candara"/>
              <a:buAutoNum type="alphaLcParenR"/>
            </a:pPr>
            <a:r>
              <a:rPr lang="it-IT"/>
              <a:t>parsing del token per estrarre le informazioni di interesse</a:t>
            </a:r>
            <a:endParaRPr/>
          </a:p>
          <a:p>
            <a:pPr indent="-457200" lvl="0" marL="457200" rtl="0" algn="l">
              <a:spcBef>
                <a:spcPts val="444"/>
              </a:spcBef>
              <a:spcAft>
                <a:spcPts val="0"/>
              </a:spcAft>
              <a:buSzPct val="100000"/>
              <a:buFont typeface="Candara"/>
              <a:buAutoNum type="arabicPeriod"/>
            </a:pPr>
            <a:r>
              <a:rPr lang="it-IT"/>
              <a:t>Filtro Web, da inserire all’interno della </a:t>
            </a:r>
            <a:r>
              <a:rPr i="1" lang="it-IT"/>
              <a:t>filter chain</a:t>
            </a:r>
            <a:r>
              <a:rPr lang="it-IT"/>
              <a:t> di Spring Security, per intercettare le url protette e:</a:t>
            </a:r>
            <a:endParaRPr/>
          </a:p>
          <a:p>
            <a:pPr indent="-457200" lvl="1" marL="759143" rtl="0" algn="l">
              <a:spcBef>
                <a:spcPts val="407"/>
              </a:spcBef>
              <a:spcAft>
                <a:spcPts val="0"/>
              </a:spcAft>
              <a:buSzPct val="100000"/>
              <a:buFont typeface="Candara"/>
              <a:buAutoNum type="alphaLcParenR"/>
            </a:pPr>
            <a:r>
              <a:rPr lang="it-IT"/>
              <a:t>verificare la presenza del token</a:t>
            </a:r>
            <a:endParaRPr/>
          </a:p>
          <a:p>
            <a:pPr indent="-457200" lvl="1" marL="759143" rtl="0" algn="l">
              <a:spcBef>
                <a:spcPts val="407"/>
              </a:spcBef>
              <a:spcAft>
                <a:spcPts val="0"/>
              </a:spcAft>
              <a:buSzPct val="100000"/>
              <a:buFont typeface="Candara"/>
              <a:buAutoNum type="alphaLcParenR"/>
            </a:pPr>
            <a:r>
              <a:rPr lang="it-IT"/>
              <a:t>validare il token:</a:t>
            </a:r>
            <a:endParaRPr/>
          </a:p>
          <a:p>
            <a:pPr indent="-457200" lvl="2" marL="1038543" rtl="0" algn="l">
              <a:spcBef>
                <a:spcPts val="37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it-IT"/>
              <a:t>estrarre dal token le credenziali dell’utente e (eventualmente) confrontarle con qualche meccanismo di autenticazione (es. interrogazione sul db)</a:t>
            </a:r>
            <a:endParaRPr/>
          </a:p>
          <a:p>
            <a:pPr indent="-457200" lvl="2" marL="1038543" rtl="0" algn="l">
              <a:spcBef>
                <a:spcPts val="37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it-IT"/>
              <a:t>verificare che il token non sia scaduto</a:t>
            </a:r>
            <a:endParaRPr/>
          </a:p>
        </p:txBody>
      </p:sp>
      <p:sp>
        <p:nvSpPr>
          <p:cNvPr id="193" name="Google Shape;193;p9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94" name="Google Shape;194;p9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Flusso implementazioni (1/3)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"/>
          <p:cNvSpPr txBox="1"/>
          <p:nvPr>
            <p:ph idx="1" type="body"/>
          </p:nvPr>
        </p:nvSpPr>
        <p:spPr>
          <a:xfrm>
            <a:off x="872067" y="1772816"/>
            <a:ext cx="7408333" cy="4353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Candara"/>
              <a:buAutoNum type="arabicPeriod" startAt="3"/>
            </a:pPr>
            <a:r>
              <a:rPr lang="it-IT"/>
              <a:t>configurazione di Spring Security che:</a:t>
            </a:r>
            <a:endParaRPr/>
          </a:p>
          <a:p>
            <a:pPr indent="-457200" lvl="1" marL="759143" rtl="0" algn="l">
              <a:spcBef>
                <a:spcPts val="440"/>
              </a:spcBef>
              <a:spcAft>
                <a:spcPts val="0"/>
              </a:spcAft>
              <a:buSzPts val="2200"/>
              <a:buFont typeface="Candara"/>
              <a:buAutoNum type="alphaLcParenR"/>
            </a:pPr>
            <a:r>
              <a:rPr lang="it-IT"/>
              <a:t>abiliti il </a:t>
            </a:r>
            <a:r>
              <a:rPr i="1" lang="it-IT"/>
              <a:t>cors</a:t>
            </a:r>
            <a:endParaRPr i="1"/>
          </a:p>
          <a:p>
            <a:pPr indent="-457200" lvl="1" marL="759143" rtl="0" algn="l">
              <a:spcBef>
                <a:spcPts val="440"/>
              </a:spcBef>
              <a:spcAft>
                <a:spcPts val="0"/>
              </a:spcAft>
              <a:buSzPts val="2200"/>
              <a:buFont typeface="Candara"/>
              <a:buAutoNum type="alphaLcParenR"/>
            </a:pPr>
            <a:r>
              <a:rPr lang="it-IT"/>
              <a:t>disabiliti il </a:t>
            </a:r>
            <a:r>
              <a:rPr i="1" lang="it-IT"/>
              <a:t>csrf</a:t>
            </a:r>
            <a:endParaRPr i="1"/>
          </a:p>
          <a:p>
            <a:pPr indent="-457200" lvl="1" marL="759143" rtl="0" algn="l">
              <a:spcBef>
                <a:spcPts val="440"/>
              </a:spcBef>
              <a:spcAft>
                <a:spcPts val="0"/>
              </a:spcAft>
              <a:buSzPts val="2200"/>
              <a:buFont typeface="Candara"/>
              <a:buAutoNum type="alphaLcParenR"/>
            </a:pPr>
            <a:r>
              <a:rPr lang="it-IT"/>
              <a:t>configuri quali url proteggere e quali no</a:t>
            </a:r>
            <a:endParaRPr/>
          </a:p>
          <a:p>
            <a:pPr indent="-457200" lvl="1" marL="759143" rtl="0" algn="l">
              <a:spcBef>
                <a:spcPts val="440"/>
              </a:spcBef>
              <a:spcAft>
                <a:spcPts val="0"/>
              </a:spcAft>
              <a:buSzPts val="2200"/>
              <a:buFont typeface="Candara"/>
              <a:buAutoNum type="alphaLcParenR"/>
            </a:pPr>
            <a:r>
              <a:rPr lang="it-IT"/>
              <a:t>imposti un </a:t>
            </a:r>
            <a:r>
              <a:rPr i="1" lang="it-IT"/>
              <a:t>exception handler</a:t>
            </a:r>
            <a:endParaRPr i="1"/>
          </a:p>
          <a:p>
            <a:pPr indent="-457200" lvl="1" marL="759143" rtl="0" algn="l">
              <a:spcBef>
                <a:spcPts val="440"/>
              </a:spcBef>
              <a:spcAft>
                <a:spcPts val="0"/>
              </a:spcAft>
              <a:buSzPts val="2200"/>
              <a:buFont typeface="Candara"/>
              <a:buAutoNum type="alphaLcParenR"/>
            </a:pPr>
            <a:r>
              <a:rPr lang="it-IT"/>
              <a:t>imposti la modalità </a:t>
            </a:r>
            <a:r>
              <a:rPr i="1" lang="it-IT"/>
              <a:t>stateless</a:t>
            </a:r>
            <a:endParaRPr/>
          </a:p>
          <a:p>
            <a:pPr indent="-457200" lvl="1" marL="759143" rtl="0" algn="l">
              <a:spcBef>
                <a:spcPts val="440"/>
              </a:spcBef>
              <a:spcAft>
                <a:spcPts val="0"/>
              </a:spcAft>
              <a:buSzPts val="2200"/>
              <a:buFont typeface="Candara"/>
              <a:buAutoNum type="alphaLcParenR"/>
            </a:pPr>
            <a:r>
              <a:rPr lang="it-IT"/>
              <a:t>inserisca il filtro per Jwt prima del filtro </a:t>
            </a:r>
            <a:r>
              <a:rPr i="1" lang="it-IT"/>
              <a:t>UsernamePasswordAuthenticationFilter</a:t>
            </a:r>
            <a:r>
              <a:rPr lang="it-IT"/>
              <a:t> di Spring Security</a:t>
            </a:r>
            <a:endParaRPr i="1"/>
          </a:p>
          <a:p>
            <a:pPr indent="-317500" lvl="1" marL="759143" rtl="0" algn="l">
              <a:spcBef>
                <a:spcPts val="440"/>
              </a:spcBef>
              <a:spcAft>
                <a:spcPts val="0"/>
              </a:spcAft>
              <a:buSzPts val="2200"/>
              <a:buFont typeface="Candara"/>
              <a:buNone/>
            </a:pPr>
            <a:r>
              <a:t/>
            </a:r>
            <a:endParaRPr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00" name="Google Shape;200;p10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01" name="Google Shape;201;p10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Flusso implementazioni (2/3)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"/>
          <p:cNvSpPr txBox="1"/>
          <p:nvPr>
            <p:ph idx="1" type="body"/>
          </p:nvPr>
        </p:nvSpPr>
        <p:spPr>
          <a:xfrm>
            <a:off x="872067" y="1988840"/>
            <a:ext cx="7408333" cy="4137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Candara"/>
              <a:buAutoNum type="arabicPeriod" startAt="4"/>
            </a:pPr>
            <a:r>
              <a:rPr lang="it-IT"/>
              <a:t>servizio Rest di autenticazione che:</a:t>
            </a:r>
            <a:endParaRPr/>
          </a:p>
          <a:p>
            <a:pPr indent="-457200" lvl="1" marL="759143" rtl="0" algn="l">
              <a:spcBef>
                <a:spcPts val="440"/>
              </a:spcBef>
              <a:spcAft>
                <a:spcPts val="0"/>
              </a:spcAft>
              <a:buSzPts val="2200"/>
              <a:buFont typeface="Candara"/>
              <a:buAutoNum type="alphaLcParenR"/>
            </a:pPr>
            <a:r>
              <a:rPr lang="it-IT"/>
              <a:t>si appoggi al meccanismo di autenticazione configurato in Spring Security (es. autenticazione su db tramite </a:t>
            </a:r>
            <a:r>
              <a:rPr i="1" lang="it-IT"/>
              <a:t>Service</a:t>
            </a:r>
            <a:r>
              <a:rPr lang="it-IT"/>
              <a:t>, </a:t>
            </a:r>
            <a:r>
              <a:rPr i="1" lang="it-IT"/>
              <a:t>Repository</a:t>
            </a:r>
            <a:r>
              <a:rPr lang="it-IT"/>
              <a:t> e </a:t>
            </a:r>
            <a:r>
              <a:rPr i="1" lang="it-IT"/>
              <a:t>UserDetails</a:t>
            </a:r>
            <a:r>
              <a:rPr lang="it-IT"/>
              <a:t>)</a:t>
            </a:r>
            <a:endParaRPr/>
          </a:p>
          <a:p>
            <a:pPr indent="-457200" lvl="1" marL="759143" rtl="0" algn="l">
              <a:spcBef>
                <a:spcPts val="440"/>
              </a:spcBef>
              <a:spcAft>
                <a:spcPts val="0"/>
              </a:spcAft>
              <a:buSzPts val="2200"/>
              <a:buFont typeface="Candara"/>
              <a:buAutoNum type="alphaLcParenR"/>
            </a:pPr>
            <a:r>
              <a:rPr lang="it-IT"/>
              <a:t>in caso di autenticazione avvenuta con successo, crei il token Jwt</a:t>
            </a:r>
            <a:endParaRPr/>
          </a:p>
        </p:txBody>
      </p:sp>
      <p:sp>
        <p:nvSpPr>
          <p:cNvPr id="207" name="Google Shape;207;p11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08" name="Google Shape;208;p11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Flusso implementazioni (3/3)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"/>
          <p:cNvSpPr txBox="1"/>
          <p:nvPr>
            <p:ph idx="1" type="body"/>
          </p:nvPr>
        </p:nvSpPr>
        <p:spPr>
          <a:xfrm>
            <a:off x="872067" y="1988840"/>
            <a:ext cx="7408333" cy="4137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21920" lvl="0" marL="27432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Le librerie necessarie, per un progetto Spring Boot creato tramite </a:t>
            </a:r>
            <a:r>
              <a:rPr i="1" lang="it-IT"/>
              <a:t>Spring Initializr</a:t>
            </a:r>
            <a:r>
              <a:rPr lang="it-IT"/>
              <a:t> sono quelle riportate dalle </a:t>
            </a:r>
            <a:r>
              <a:rPr i="1" lang="it-IT"/>
              <a:t>dependency web </a:t>
            </a:r>
            <a:r>
              <a:rPr lang="it-IT"/>
              <a:t>e </a:t>
            </a:r>
            <a:r>
              <a:rPr i="1" lang="it-IT"/>
              <a:t>security</a:t>
            </a:r>
            <a:r>
              <a:rPr lang="it-IT"/>
              <a:t>: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i="1" lang="it-IT"/>
              <a:t>spring-boot-starter-webmvc</a:t>
            </a:r>
            <a:endParaRPr i="1"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i="1" lang="it-IT"/>
              <a:t>spring-boot-starter-security</a:t>
            </a:r>
            <a:endParaRPr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in più utilizzeremo la libreria </a:t>
            </a:r>
            <a:r>
              <a:rPr i="1" lang="it-IT"/>
              <a:t>jsonwebtoken </a:t>
            </a:r>
            <a:r>
              <a:rPr lang="it-IT"/>
              <a:t>per la gestione dei messaggi Jwt</a:t>
            </a:r>
            <a:endParaRPr i="1" sz="1700"/>
          </a:p>
        </p:txBody>
      </p:sp>
      <p:sp>
        <p:nvSpPr>
          <p:cNvPr id="214" name="Google Shape;214;p12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15" name="Google Shape;215;p12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Setup librerie con Spring Boot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"/>
          <p:cNvSpPr txBox="1"/>
          <p:nvPr>
            <p:ph idx="1" type="body"/>
          </p:nvPr>
        </p:nvSpPr>
        <p:spPr>
          <a:xfrm>
            <a:off x="872067" y="1844824"/>
            <a:ext cx="7408333" cy="428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i="1" lang="it-IT"/>
              <a:t>jsonwebtoken</a:t>
            </a:r>
            <a:r>
              <a:rPr lang="it-IT"/>
              <a:t>:</a:t>
            </a:r>
            <a:endParaRPr/>
          </a:p>
          <a:p>
            <a:pPr indent="0" lvl="1" marL="301943" rtl="0" algn="l"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i="1" lang="it-IT" sz="1400"/>
              <a:t>&lt;dependency&gt;</a:t>
            </a:r>
            <a:endParaRPr/>
          </a:p>
          <a:p>
            <a:pPr indent="0" lvl="2" marL="581343" rtl="0" algn="l"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i="1" lang="it-IT" sz="1400"/>
              <a:t>&lt;groupId&gt;io.jsonwebtoken&lt;/groupId&gt;</a:t>
            </a:r>
            <a:endParaRPr/>
          </a:p>
          <a:p>
            <a:pPr indent="0" lvl="2" marL="581343" rtl="0" algn="l"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i="1" lang="it-IT" sz="1400"/>
              <a:t>&lt;artifactId&gt;jjwt-api&lt;/artifactId&gt;</a:t>
            </a:r>
            <a:endParaRPr/>
          </a:p>
          <a:p>
            <a:pPr indent="0" lvl="2" marL="581343" rtl="0" algn="l"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i="1" lang="it-IT" sz="1400"/>
              <a:t>&lt;version&gt;0.13.0&lt;/version&gt;</a:t>
            </a:r>
            <a:endParaRPr/>
          </a:p>
          <a:p>
            <a:pPr indent="0" lvl="1" marL="301943" rtl="0" algn="l"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i="1" lang="it-IT" sz="1400"/>
              <a:t>&lt;/dependency&gt;</a:t>
            </a:r>
            <a:endParaRPr/>
          </a:p>
          <a:p>
            <a:pPr indent="0" lvl="1" marL="301943" rtl="0" algn="l"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i="1" lang="it-IT" sz="1400"/>
              <a:t>&lt;dependency&gt;</a:t>
            </a:r>
            <a:endParaRPr/>
          </a:p>
          <a:p>
            <a:pPr indent="0" lvl="2" marL="581343" rtl="0" algn="l"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i="1" lang="it-IT" sz="1400"/>
              <a:t>&lt;groupId&gt;io.jsonwebtoken&lt;/groupId&gt;</a:t>
            </a:r>
            <a:endParaRPr/>
          </a:p>
          <a:p>
            <a:pPr indent="0" lvl="2" marL="581343" rtl="0" algn="l"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i="1" lang="it-IT" sz="1400"/>
              <a:t>&lt;artifactId&gt;jjwt-impl&lt;/artifactId&gt;</a:t>
            </a:r>
            <a:endParaRPr/>
          </a:p>
          <a:p>
            <a:pPr indent="0" lvl="2" marL="581343" rtl="0" algn="l"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i="1" lang="it-IT" sz="1400"/>
              <a:t>&lt;version&gt;0.13.0&lt;/version&gt;</a:t>
            </a:r>
            <a:endParaRPr/>
          </a:p>
          <a:p>
            <a:pPr indent="0" lvl="2" marL="581343" rtl="0" algn="l"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i="1" lang="it-IT" sz="1400"/>
              <a:t>&lt;scope&gt;runtime&lt;/scope&gt;</a:t>
            </a:r>
            <a:endParaRPr/>
          </a:p>
          <a:p>
            <a:pPr indent="0" lvl="1" marL="301943" rtl="0" algn="l"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i="1" lang="it-IT" sz="1400"/>
              <a:t>&lt;/dependency&gt;</a:t>
            </a:r>
            <a:endParaRPr/>
          </a:p>
          <a:p>
            <a:pPr indent="0" lvl="1" marL="301943" rtl="0" algn="l"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i="1" lang="it-IT" sz="1400"/>
              <a:t>&lt;dependency&gt;</a:t>
            </a:r>
            <a:endParaRPr/>
          </a:p>
          <a:p>
            <a:pPr indent="0" lvl="2" marL="581343" rtl="0" algn="l"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i="1" lang="it-IT" sz="1400"/>
              <a:t>&lt;groupId&gt;io.jsonwebtoken&lt;/groupId&gt;</a:t>
            </a:r>
            <a:endParaRPr/>
          </a:p>
          <a:p>
            <a:pPr indent="0" lvl="2" marL="581343" rtl="0" algn="l"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i="1" lang="it-IT" sz="1400"/>
              <a:t>&lt;artifactId&gt;jjwt-jackson&lt;/artifactId&gt;</a:t>
            </a:r>
            <a:endParaRPr/>
          </a:p>
          <a:p>
            <a:pPr indent="0" lvl="2" marL="581343" rtl="0" algn="l"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i="1" lang="it-IT" sz="1400"/>
              <a:t>&lt;version&gt;0.13.0&lt;/version&gt;</a:t>
            </a:r>
            <a:endParaRPr/>
          </a:p>
          <a:p>
            <a:pPr indent="0" lvl="2" marL="581343" rtl="0" algn="l"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i="1" lang="it-IT" sz="1400"/>
              <a:t>&lt;scope&gt;runtime&lt;/scope&gt;</a:t>
            </a:r>
            <a:endParaRPr/>
          </a:p>
          <a:p>
            <a:pPr indent="0" lvl="1" marL="301943" rtl="0" algn="l"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i="1" lang="it-IT" sz="1400"/>
              <a:t>&lt;/dependency&gt;</a:t>
            </a:r>
            <a:endParaRPr/>
          </a:p>
          <a:p>
            <a:pPr indent="0" lvl="2" marL="581343" rtl="0" algn="l">
              <a:spcBef>
                <a:spcPts val="34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i="1" sz="1700"/>
          </a:p>
        </p:txBody>
      </p:sp>
      <p:sp>
        <p:nvSpPr>
          <p:cNvPr id="221" name="Google Shape;221;p13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22" name="Google Shape;222;p13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Setup librerie con Spring Boot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"/>
          <p:cNvSpPr txBox="1"/>
          <p:nvPr>
            <p:ph idx="1" type="body"/>
          </p:nvPr>
        </p:nvSpPr>
        <p:spPr>
          <a:xfrm>
            <a:off x="872067" y="1916832"/>
            <a:ext cx="7408333" cy="4209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la classe </a:t>
            </a:r>
            <a:r>
              <a:rPr i="1" lang="it-IT"/>
              <a:t>Jwts</a:t>
            </a:r>
            <a:r>
              <a:rPr lang="it-IT"/>
              <a:t> espone il metodo statico </a:t>
            </a:r>
            <a:r>
              <a:rPr i="1" lang="it-IT"/>
              <a:t>builder()</a:t>
            </a:r>
            <a:r>
              <a:rPr lang="it-IT"/>
              <a:t> che restituisce un oggetto di classe </a:t>
            </a:r>
            <a:r>
              <a:rPr i="1" lang="it-IT"/>
              <a:t>JwtsBuilder</a:t>
            </a:r>
            <a:r>
              <a:rPr lang="it-IT"/>
              <a:t> attraverso cui poter invocare vari metodi per impostare nel Jwt: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il </a:t>
            </a:r>
            <a:r>
              <a:rPr i="1" lang="it-IT"/>
              <a:t>sub</a:t>
            </a:r>
            <a:r>
              <a:rPr lang="it-IT"/>
              <a:t> (lo username)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la </a:t>
            </a:r>
            <a:r>
              <a:rPr i="1" lang="it-IT"/>
              <a:t>iat</a:t>
            </a:r>
            <a:r>
              <a:rPr lang="it-IT"/>
              <a:t> (data creazione - </a:t>
            </a:r>
            <a:r>
              <a:rPr i="1" lang="it-IT"/>
              <a:t>issued at</a:t>
            </a:r>
            <a:r>
              <a:rPr lang="it-IT"/>
              <a:t>)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la </a:t>
            </a:r>
            <a:r>
              <a:rPr i="1" lang="it-IT"/>
              <a:t>expiration</a:t>
            </a:r>
            <a:endParaRPr i="1"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i </a:t>
            </a:r>
            <a:r>
              <a:rPr i="1" lang="it-IT"/>
              <a:t>claims </a:t>
            </a:r>
            <a:r>
              <a:rPr lang="it-IT"/>
              <a:t>(le altre </a:t>
            </a:r>
            <a:r>
              <a:rPr i="1" lang="it-IT"/>
              <a:t>property</a:t>
            </a:r>
            <a:r>
              <a:rPr lang="it-IT"/>
              <a:t> di Jwt, come ad es.: i ruoli dell’utente)</a:t>
            </a:r>
            <a:endParaRPr/>
          </a:p>
          <a:p>
            <a:pPr indent="0" lvl="1" marL="30194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Jwts.builder().claims(claims).subject(subject).issuedAt(…).expiration(…)</a:t>
            </a:r>
            <a:endParaRPr i="1" sz="1600"/>
          </a:p>
          <a:p>
            <a:pPr indent="-101600" lvl="2" marL="855663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228" name="Google Shape;228;p14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29" name="Google Shape;229;p14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Libreria </a:t>
            </a:r>
            <a:r>
              <a:rPr i="1" lang="it-IT"/>
              <a:t>jsonwebtoken</a:t>
            </a:r>
            <a:br>
              <a:rPr i="1" lang="it-IT"/>
            </a:br>
            <a:r>
              <a:rPr i="1" lang="it-IT"/>
              <a:t>g</a:t>
            </a:r>
            <a:r>
              <a:rPr lang="it-IT"/>
              <a:t>enerazione del token Jwt (1/2)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5"/>
          <p:cNvSpPr txBox="1"/>
          <p:nvPr>
            <p:ph idx="1" type="body"/>
          </p:nvPr>
        </p:nvSpPr>
        <p:spPr>
          <a:xfrm>
            <a:off x="872067" y="1988840"/>
            <a:ext cx="7408333" cy="4137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19" lvl="1" marL="576263" rtl="0" algn="l">
              <a:spcBef>
                <a:spcPts val="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inoltre, sempre sull’oggetto di classe </a:t>
            </a:r>
            <a:r>
              <a:rPr i="1" lang="it-IT"/>
              <a:t>JwtsBuilder</a:t>
            </a:r>
            <a:r>
              <a:rPr lang="it-IT"/>
              <a:t>, potremo invocare il metodo </a:t>
            </a:r>
            <a:r>
              <a:rPr i="1" lang="it-IT"/>
              <a:t>signWith</a:t>
            </a:r>
            <a:r>
              <a:rPr lang="it-IT"/>
              <a:t> per firmare il messaggio, una volta creata una chiave segreta:</a:t>
            </a:r>
            <a:endParaRPr/>
          </a:p>
          <a:p>
            <a:pPr indent="0" lvl="2" marL="58134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SecretKey key = </a:t>
            </a:r>
            <a:endParaRPr i="1" sz="1600"/>
          </a:p>
          <a:p>
            <a:pPr indent="0" lvl="2" marL="58134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Keys.hmacShaKeyFor(secretKey.getBytes(StandardCharsets.UTF_8));</a:t>
            </a:r>
            <a:endParaRPr i="1" sz="1600"/>
          </a:p>
          <a:p>
            <a:pPr indent="0" lvl="2" marL="58134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 sz="1600"/>
          </a:p>
          <a:p>
            <a:pPr indent="0" lvl="2" marL="58134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Jwts.builder(). ...... .signWith(key)</a:t>
            </a:r>
            <a:endParaRPr i="1" sz="1600"/>
          </a:p>
          <a:p>
            <a:pPr indent="-134619" lvl="1" marL="576263" rtl="0" algn="l"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infine potremo invocare il metodo </a:t>
            </a:r>
            <a:r>
              <a:rPr i="1" lang="it-IT"/>
              <a:t>compact()</a:t>
            </a:r>
            <a:r>
              <a:rPr lang="it-IT"/>
              <a:t> per farci restituire il messaggio Json finale come stringa</a:t>
            </a:r>
            <a:endParaRPr/>
          </a:p>
          <a:p>
            <a:pPr indent="-172719" lvl="1" marL="57626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 sz="1600"/>
          </a:p>
          <a:p>
            <a:pPr indent="-134619" lvl="1" marL="576263" rtl="0" algn="l"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35" name="Google Shape;235;p15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36" name="Google Shape;236;p15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Libreria </a:t>
            </a:r>
            <a:r>
              <a:rPr i="1" lang="it-IT"/>
              <a:t>jsonwebtoken</a:t>
            </a:r>
            <a:br>
              <a:rPr i="1" lang="it-IT"/>
            </a:br>
            <a:r>
              <a:rPr i="1" lang="it-IT"/>
              <a:t>g</a:t>
            </a:r>
            <a:r>
              <a:rPr lang="it-IT"/>
              <a:t>enerazione del token Jwt (2/2)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6"/>
          <p:cNvSpPr txBox="1"/>
          <p:nvPr>
            <p:ph idx="1" type="body"/>
          </p:nvPr>
        </p:nvSpPr>
        <p:spPr>
          <a:xfrm>
            <a:off x="395536" y="1772816"/>
            <a:ext cx="7884865" cy="4353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public String generateToken(UserDetails userDetails) {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Map&lt;String, Object&gt; claims = new HashMap&lt;&gt;();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List&lt;String&gt; authorities = userDetails.getAuthorities().stream().map(authority -&gt; 				authority.getAuthority()).collect(Collectors.toList());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claims.put("roles",authorities);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SecretKey key = Keys.hmacShaKeyFor(secretKey.getBytes(StandardCharsets.</a:t>
            </a:r>
            <a:r>
              <a:rPr b="1" i="1" lang="it-IT" sz="1600"/>
              <a:t>UTF_8</a:t>
            </a:r>
            <a:r>
              <a:rPr i="1" lang="it-IT" sz="1600"/>
              <a:t>));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return Jwts.builder()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.claims(claims)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.subject(userDetails.getUsername())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.issuedAt(new Date(System.currentTimeMillis()))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.expiration(new Date(System.currentTimeMillis() + (</a:t>
            </a:r>
            <a:r>
              <a:rPr b="1" i="1" lang="it-IT" sz="1600"/>
              <a:t>JWT_TOKEN_VALIDITY</a:t>
            </a:r>
            <a:r>
              <a:rPr i="1" lang="it-IT" sz="1600"/>
              <a:t> * 1000)))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.signWith(key)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.compact();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}</a:t>
            </a:r>
            <a:endParaRPr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42" name="Google Shape;242;p16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43" name="Google Shape;243;p16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Generazione del token completa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7"/>
          <p:cNvSpPr txBox="1"/>
          <p:nvPr>
            <p:ph idx="1" type="body"/>
          </p:nvPr>
        </p:nvSpPr>
        <p:spPr>
          <a:xfrm>
            <a:off x="872067" y="1988840"/>
            <a:ext cx="7408333" cy="4137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la classe </a:t>
            </a:r>
            <a:r>
              <a:rPr i="1" lang="it-IT"/>
              <a:t>Jwts</a:t>
            </a:r>
            <a:r>
              <a:rPr lang="it-IT"/>
              <a:t> espone il metodo statico </a:t>
            </a:r>
            <a:r>
              <a:rPr i="1" lang="it-IT"/>
              <a:t>parser()</a:t>
            </a:r>
            <a:r>
              <a:rPr lang="it-IT"/>
              <a:t> che restituisce un oggetto di classe </a:t>
            </a:r>
            <a:r>
              <a:rPr i="1" lang="it-IT"/>
              <a:t>JwtParser</a:t>
            </a:r>
            <a:r>
              <a:rPr lang="it-IT"/>
              <a:t> sul quale potremo invocare: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i="1" lang="it-IT"/>
              <a:t>verifyWith(key)</a:t>
            </a:r>
            <a:r>
              <a:rPr lang="it-IT"/>
              <a:t> per verificare il messaggio con la chiave privata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i="1" lang="it-IT"/>
              <a:t>parsedSignedClaims(token)</a:t>
            </a:r>
            <a:r>
              <a:rPr lang="it-IT"/>
              <a:t> per effettuare il parsing del token Jwt fornito in input al metodo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i="1" lang="it-IT"/>
              <a:t>getPayload()</a:t>
            </a:r>
            <a:r>
              <a:rPr lang="it-IT"/>
              <a:t> per ottenere un’istanza di classe </a:t>
            </a:r>
            <a:r>
              <a:rPr i="1" lang="it-IT"/>
              <a:t>Claims</a:t>
            </a:r>
            <a:r>
              <a:rPr lang="it-IT"/>
              <a:t> attraverso il quale poter andare a prelevare i campi specifici del token Jwt a cui siamo interessati</a:t>
            </a:r>
            <a:endParaRPr/>
          </a:p>
          <a:p>
            <a:pPr indent="0" lvl="2" marL="58134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Jwts.parser().verifyWith(key).build().parseSignedClaims(token).getPayload();</a:t>
            </a:r>
            <a:endParaRPr i="1" sz="1600"/>
          </a:p>
        </p:txBody>
      </p:sp>
      <p:sp>
        <p:nvSpPr>
          <p:cNvPr id="249" name="Google Shape;249;p17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50" name="Google Shape;250;p17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Libreria </a:t>
            </a:r>
            <a:r>
              <a:rPr i="1" lang="it-IT"/>
              <a:t>jsonwebtoken</a:t>
            </a:r>
            <a:br>
              <a:rPr i="1" lang="it-IT"/>
            </a:br>
            <a:r>
              <a:rPr lang="it-IT"/>
              <a:t>parsing del token Jwt (1/2)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8"/>
          <p:cNvSpPr txBox="1"/>
          <p:nvPr>
            <p:ph idx="1" type="body"/>
          </p:nvPr>
        </p:nvSpPr>
        <p:spPr>
          <a:xfrm>
            <a:off x="872067" y="2060848"/>
            <a:ext cx="7408333" cy="4065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1920" lvl="0" marL="27432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sull’oggetto di classe </a:t>
            </a:r>
            <a:r>
              <a:rPr i="1" lang="it-IT"/>
              <a:t>Claims</a:t>
            </a:r>
            <a:r>
              <a:rPr lang="it-IT"/>
              <a:t> potremo invocare: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i="1" lang="it-IT"/>
              <a:t>getSubject()</a:t>
            </a:r>
            <a:r>
              <a:rPr lang="it-IT"/>
              <a:t> per ottenere il </a:t>
            </a:r>
            <a:r>
              <a:rPr i="1" lang="it-IT"/>
              <a:t>sub</a:t>
            </a:r>
            <a:r>
              <a:rPr lang="it-IT"/>
              <a:t> ovvero l’utente associato al token Jwt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i="1" lang="it-IT"/>
              <a:t>getExpiration()</a:t>
            </a:r>
            <a:r>
              <a:rPr lang="it-IT"/>
              <a:t> per avere la data (</a:t>
            </a:r>
            <a:r>
              <a:rPr i="1" lang="it-IT"/>
              <a:t>java.util.Date</a:t>
            </a:r>
            <a:r>
              <a:rPr lang="it-IT"/>
              <a:t>) di scadenza del token Jwt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oppure potremmo estrarre un attributo custom, ad es. i </a:t>
            </a:r>
            <a:r>
              <a:rPr i="1" lang="it-IT"/>
              <a:t>roles </a:t>
            </a:r>
            <a:r>
              <a:rPr lang="it-IT"/>
              <a:t>così: </a:t>
            </a:r>
            <a:endParaRPr/>
          </a:p>
          <a:p>
            <a:pPr indent="0" lvl="1" marL="30194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it-IT" sz="1600"/>
              <a:t>	@SuppressWarnings("unchecked")</a:t>
            </a:r>
            <a:endParaRPr/>
          </a:p>
          <a:p>
            <a:pPr indent="0" lvl="1" marL="30194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it-IT" sz="1600"/>
              <a:t>	public List&lt;String&gt; extractRoles(String token) {</a:t>
            </a:r>
            <a:endParaRPr/>
          </a:p>
          <a:p>
            <a:pPr indent="0" lvl="1" marL="30194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it-IT" sz="1600"/>
              <a:t>		return getClaimsFromToken(token).get("roles", List.class); }</a:t>
            </a:r>
            <a:endParaRPr sz="1600"/>
          </a:p>
          <a:p>
            <a:pPr indent="-134619" lvl="1" marL="576263" rtl="0" algn="l"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i="1"/>
          </a:p>
          <a:p>
            <a:pPr indent="-134619" lvl="1" marL="576263" rtl="0" algn="l"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i="1"/>
          </a:p>
        </p:txBody>
      </p:sp>
      <p:sp>
        <p:nvSpPr>
          <p:cNvPr id="256" name="Google Shape;256;p18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57" name="Google Shape;257;p18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Libreria </a:t>
            </a:r>
            <a:r>
              <a:rPr i="1" lang="it-IT"/>
              <a:t>jsonwebtoken</a:t>
            </a:r>
            <a:br>
              <a:rPr i="1" lang="it-IT"/>
            </a:br>
            <a:r>
              <a:rPr lang="it-IT"/>
              <a:t>parsing del token Jwt (2/2)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9"/>
          <p:cNvSpPr txBox="1"/>
          <p:nvPr>
            <p:ph idx="1" type="body"/>
          </p:nvPr>
        </p:nvSpPr>
        <p:spPr>
          <a:xfrm>
            <a:off x="872067" y="1844824"/>
            <a:ext cx="7408333" cy="428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private Claims getClaimsFromToken(String token) {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	SecretKey key = 	Keys.hmacShaKeyFor(secretKey.getBytes(StandardCharsets.</a:t>
            </a:r>
            <a:r>
              <a:rPr b="1" i="1" lang="it-IT" sz="1600"/>
              <a:t>UTF_8</a:t>
            </a:r>
            <a:r>
              <a:rPr i="1" lang="it-IT" sz="1600"/>
              <a:t>));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	return  Jwts.parser()</a:t>
            </a:r>
            <a:endParaRPr i="1" sz="16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		.verifyWith(key)</a:t>
            </a:r>
            <a:endParaRPr i="1" sz="16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		.build()</a:t>
            </a:r>
            <a:endParaRPr i="1" sz="16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		.parseSignedClaims(token).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		.getPayload();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	...}</a:t>
            </a:r>
            <a:endParaRPr i="1" sz="16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 sz="16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public String getUsernameFromToken(String token) {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	return getClaimsFromToken(token).getSubject();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}</a:t>
            </a:r>
            <a:endParaRPr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63" name="Google Shape;263;p19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64" name="Google Shape;264;p19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Estrazione delle informazioni</a:t>
            </a:r>
            <a:br>
              <a:rPr lang="it-IT"/>
            </a:br>
            <a:r>
              <a:rPr lang="it-IT"/>
              <a:t>dal token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0"/>
          <p:cNvSpPr txBox="1"/>
          <p:nvPr>
            <p:ph idx="1" type="body"/>
          </p:nvPr>
        </p:nvSpPr>
        <p:spPr>
          <a:xfrm>
            <a:off x="872067" y="1988840"/>
            <a:ext cx="7408333" cy="4137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nel </a:t>
            </a:r>
            <a:r>
              <a:rPr i="1" lang="it-IT"/>
              <a:t>@Controller </a:t>
            </a:r>
            <a:r>
              <a:rPr lang="it-IT"/>
              <a:t>rest, all’interno del servizio di autenticazione:</a:t>
            </a:r>
            <a:endParaRPr/>
          </a:p>
          <a:p>
            <a:pPr indent="-457200" lvl="1" marL="759143" rtl="0" algn="l">
              <a:spcBef>
                <a:spcPts val="407"/>
              </a:spcBef>
              <a:spcAft>
                <a:spcPts val="0"/>
              </a:spcAft>
              <a:buSzPct val="100000"/>
              <a:buFont typeface="Candara"/>
              <a:buAutoNum type="arabicPeriod"/>
            </a:pPr>
            <a:r>
              <a:rPr lang="it-IT"/>
              <a:t>creeremo un’istanza di </a:t>
            </a:r>
            <a:r>
              <a:rPr i="1" lang="it-IT"/>
              <a:t>UsernamePasswordAuthenticationToken</a:t>
            </a:r>
            <a:r>
              <a:rPr lang="it-IT"/>
              <a:t>:</a:t>
            </a:r>
            <a:endParaRPr/>
          </a:p>
          <a:p>
            <a:pPr indent="0" lvl="2" marL="627063" rtl="0" algn="l">
              <a:spcBef>
                <a:spcPts val="351"/>
              </a:spcBef>
              <a:spcAft>
                <a:spcPts val="0"/>
              </a:spcAft>
              <a:buSzPct val="100000"/>
              <a:buNone/>
            </a:pPr>
            <a:r>
              <a:rPr i="1" lang="it-IT" sz="1900"/>
              <a:t>	UsernamePasswordAuthenticationToken upat = 	UsernamePasswordAuthenticationToken(username,password);</a:t>
            </a:r>
            <a:endParaRPr/>
          </a:p>
          <a:p>
            <a:pPr indent="-457200" lvl="1" marL="759143" rtl="0" algn="l">
              <a:spcBef>
                <a:spcPts val="407"/>
              </a:spcBef>
              <a:spcAft>
                <a:spcPts val="0"/>
              </a:spcAft>
              <a:buSzPct val="100000"/>
              <a:buFont typeface="Candara"/>
              <a:buAutoNum type="arabicPeriod"/>
            </a:pPr>
            <a:r>
              <a:rPr lang="it-IT"/>
              <a:t>autenticheremo l’utente con lo </a:t>
            </a:r>
            <a:r>
              <a:rPr i="1" lang="it-IT"/>
              <a:t>UsernamePasswordAuthenticationToken</a:t>
            </a:r>
            <a:r>
              <a:rPr lang="it-IT"/>
              <a:t> creato e tramite l’</a:t>
            </a:r>
            <a:r>
              <a:rPr i="1" lang="it-IT"/>
              <a:t>AuthenticationManager </a:t>
            </a:r>
            <a:r>
              <a:rPr lang="it-IT"/>
              <a:t> di Spring Security (configurato come </a:t>
            </a:r>
            <a:r>
              <a:rPr i="1" lang="it-IT"/>
              <a:t>@Bean</a:t>
            </a:r>
            <a:r>
              <a:rPr lang="it-IT"/>
              <a:t> nella classe di configurazione principale di Spring Security per renderlo public ed </a:t>
            </a:r>
            <a:r>
              <a:rPr i="1" lang="it-IT"/>
              <a:t>iniettabile</a:t>
            </a:r>
            <a:r>
              <a:rPr lang="it-IT"/>
              <a:t> con </a:t>
            </a:r>
            <a:r>
              <a:rPr i="1" lang="it-IT"/>
              <a:t>@Autowired</a:t>
            </a:r>
            <a:r>
              <a:rPr lang="it-IT"/>
              <a:t>):</a:t>
            </a:r>
            <a:endParaRPr/>
          </a:p>
          <a:p>
            <a:pPr indent="0" lvl="2" marL="627063" rtl="0" algn="l">
              <a:spcBef>
                <a:spcPts val="351"/>
              </a:spcBef>
              <a:spcAft>
                <a:spcPts val="0"/>
              </a:spcAft>
              <a:buSzPct val="100000"/>
              <a:buNone/>
            </a:pPr>
            <a:r>
              <a:rPr i="1" lang="it-IT" sz="1900"/>
              <a:t>	Authentication auth = authenticationManager.authenticate(upat);</a:t>
            </a:r>
            <a:endParaRPr i="1" sz="1900"/>
          </a:p>
        </p:txBody>
      </p:sp>
      <p:sp>
        <p:nvSpPr>
          <p:cNvPr id="270" name="Google Shape;270;p20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71" name="Google Shape;271;p20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Api rest di autenticazione (1/2)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1"/>
          <p:cNvSpPr txBox="1"/>
          <p:nvPr>
            <p:ph idx="1" type="body"/>
          </p:nvPr>
        </p:nvSpPr>
        <p:spPr>
          <a:xfrm>
            <a:off x="872067" y="1844824"/>
            <a:ext cx="7408333" cy="428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1" marL="759143" rtl="0" algn="l">
              <a:spcBef>
                <a:spcPts val="0"/>
              </a:spcBef>
              <a:spcAft>
                <a:spcPts val="0"/>
              </a:spcAft>
              <a:buSzPts val="2200"/>
              <a:buFont typeface="Candara"/>
              <a:buAutoNum type="arabicPeriod" startAt="3"/>
            </a:pPr>
            <a:r>
              <a:rPr lang="it-IT"/>
              <a:t>l'Authentication restituito dall'AuthenticationManager sfrutta lo UserDetailsService e pertanto contiene le informazioni dello UserDetails (anche le authorities); pertanto costruiremo lo UserDetails:</a:t>
            </a:r>
            <a:endParaRPr/>
          </a:p>
          <a:p>
            <a:pPr indent="0" lvl="3" marL="86868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/>
              <a:t>UserDetails userDetails = new User(auth.getName(), "inutile", auth.getAuthorities());</a:t>
            </a:r>
            <a:endParaRPr/>
          </a:p>
          <a:p>
            <a:pPr indent="-457200" lvl="1" marL="759143" rtl="0" algn="l">
              <a:spcBef>
                <a:spcPts val="440"/>
              </a:spcBef>
              <a:spcAft>
                <a:spcPts val="0"/>
              </a:spcAft>
              <a:buSzPts val="2200"/>
              <a:buFont typeface="Candara"/>
              <a:buAutoNum type="arabicPeriod" startAt="3"/>
            </a:pPr>
            <a:r>
              <a:rPr lang="it-IT"/>
              <a:t>genereremo il token Jwt, per mezzo della classe di utilità creata precedentemente, a partire dallo UserDetails:</a:t>
            </a:r>
            <a:endParaRPr/>
          </a:p>
          <a:p>
            <a:pPr indent="0" lvl="3" marL="86868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/>
              <a:t>String token = jwtTokenUtil.generateToken(userDetails);</a:t>
            </a:r>
            <a:endParaRPr i="1"/>
          </a:p>
          <a:p>
            <a:pPr indent="-457200" lvl="1" marL="759143" rtl="0" algn="l">
              <a:spcBef>
                <a:spcPts val="440"/>
              </a:spcBef>
              <a:spcAft>
                <a:spcPts val="0"/>
              </a:spcAft>
              <a:buSzPts val="2200"/>
              <a:buFont typeface="Candara"/>
              <a:buAutoNum type="arabicPeriod" startAt="3"/>
            </a:pPr>
            <a:r>
              <a:rPr lang="it-IT"/>
              <a:t>invieremo il token come risposta all’utente:</a:t>
            </a:r>
            <a:endParaRPr/>
          </a:p>
          <a:p>
            <a:pPr indent="0" lvl="3" marL="86868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/>
              <a:t>return ResponseEntity.ok(new JwtResponse(token));</a:t>
            </a:r>
            <a:endParaRPr i="1"/>
          </a:p>
          <a:p>
            <a:pPr indent="-330200" lvl="2" marL="1038543" rtl="0" algn="l">
              <a:spcBef>
                <a:spcPts val="400"/>
              </a:spcBef>
              <a:spcAft>
                <a:spcPts val="0"/>
              </a:spcAft>
              <a:buSzPts val="2000"/>
              <a:buFont typeface="Candara"/>
              <a:buNone/>
            </a:pPr>
            <a:r>
              <a:t/>
            </a:r>
            <a:endParaRPr/>
          </a:p>
        </p:txBody>
      </p:sp>
      <p:sp>
        <p:nvSpPr>
          <p:cNvPr id="277" name="Google Shape;277;p21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78" name="Google Shape;278;p21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Api rest di autenticazione (2/2)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2"/>
          <p:cNvSpPr txBox="1"/>
          <p:nvPr>
            <p:ph idx="1" type="body"/>
          </p:nvPr>
        </p:nvSpPr>
        <p:spPr>
          <a:xfrm>
            <a:off x="872067" y="1988840"/>
            <a:ext cx="7408333" cy="4137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1920" lvl="0" marL="27432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Il filtro per verificare la presenza del token Jwt deve estendere </a:t>
            </a:r>
            <a:r>
              <a:rPr i="1" lang="it-IT"/>
              <a:t>OncePerRequestFilter</a:t>
            </a:r>
            <a:r>
              <a:rPr lang="it-IT"/>
              <a:t> di Spring Security, in modo da scattare una sola volta per ogni richiesta indirizzata verso un url protetta: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public class JwtFilter extends OncePerRequestFilter</a:t>
            </a:r>
            <a:endParaRPr i="1" sz="1800"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e nel metodo </a:t>
            </a:r>
            <a:r>
              <a:rPr i="1" lang="it-IT"/>
              <a:t>doFilterInternal</a:t>
            </a:r>
            <a:r>
              <a:rPr lang="it-IT"/>
              <a:t> dovrà</a:t>
            </a:r>
            <a:endParaRPr/>
          </a:p>
          <a:p>
            <a:pPr indent="-457200" lvl="1" marL="759143" rtl="0" algn="l">
              <a:spcBef>
                <a:spcPts val="440"/>
              </a:spcBef>
              <a:spcAft>
                <a:spcPts val="0"/>
              </a:spcAft>
              <a:buSzPts val="2200"/>
              <a:buFont typeface="Candara"/>
              <a:buAutoNum type="arabicPeriod"/>
            </a:pPr>
            <a:r>
              <a:rPr lang="it-IT"/>
              <a:t>verificare la presenza dell’</a:t>
            </a:r>
            <a:r>
              <a:rPr i="1" lang="it-IT"/>
              <a:t>header authorization</a:t>
            </a:r>
            <a:r>
              <a:rPr lang="it-IT"/>
              <a:t>:</a:t>
            </a:r>
            <a:endParaRPr/>
          </a:p>
          <a:p>
            <a:pPr indent="0" lvl="2" marL="5813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String requestTokenHeader = request.getHeader("Authorization");</a:t>
            </a:r>
            <a:endParaRPr i="1" sz="1800"/>
          </a:p>
        </p:txBody>
      </p:sp>
      <p:sp>
        <p:nvSpPr>
          <p:cNvPr id="284" name="Google Shape;284;p22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85" name="Google Shape;285;p22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Filtro (1/3)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3"/>
          <p:cNvSpPr txBox="1"/>
          <p:nvPr>
            <p:ph idx="1" type="body"/>
          </p:nvPr>
        </p:nvSpPr>
        <p:spPr>
          <a:xfrm>
            <a:off x="872067" y="1988840"/>
            <a:ext cx="7408333" cy="4137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1" marL="759143" rtl="0" algn="l">
              <a:spcBef>
                <a:spcPts val="0"/>
              </a:spcBef>
              <a:spcAft>
                <a:spcPts val="0"/>
              </a:spcAft>
              <a:buSzPts val="2200"/>
              <a:buFont typeface="Candara"/>
              <a:buAutoNum type="arabicPeriod" startAt="2"/>
            </a:pPr>
            <a:r>
              <a:rPr lang="it-IT"/>
              <a:t>verificare che il valore dell’</a:t>
            </a:r>
            <a:r>
              <a:rPr i="1" lang="it-IT"/>
              <a:t>header</a:t>
            </a:r>
            <a:r>
              <a:rPr lang="it-IT"/>
              <a:t> </a:t>
            </a:r>
            <a:r>
              <a:rPr i="1" lang="it-IT"/>
              <a:t>authorization </a:t>
            </a:r>
            <a:r>
              <a:rPr lang="it-IT"/>
              <a:t>inizi con "</a:t>
            </a:r>
            <a:r>
              <a:rPr i="1" lang="it-IT"/>
              <a:t>Bearer</a:t>
            </a:r>
            <a:r>
              <a:rPr lang="it-IT"/>
              <a:t>" seguito da uno spazio e dal token Jwt:</a:t>
            </a:r>
            <a:endParaRPr/>
          </a:p>
          <a:p>
            <a:pPr indent="0" lvl="2" marL="5813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requestTokenHeader.startsWith("Bearer ")</a:t>
            </a:r>
            <a:endParaRPr i="1" sz="1800"/>
          </a:p>
          <a:p>
            <a:pPr indent="-457200" lvl="1" marL="759143" rtl="0" algn="l">
              <a:spcBef>
                <a:spcPts val="440"/>
              </a:spcBef>
              <a:spcAft>
                <a:spcPts val="0"/>
              </a:spcAft>
              <a:buSzPts val="2200"/>
              <a:buFont typeface="Candara"/>
              <a:buAutoNum type="arabicPeriod" startAt="2"/>
            </a:pPr>
            <a:r>
              <a:rPr lang="it-IT"/>
              <a:t>verificare che l’utente non sia già autenticato:</a:t>
            </a:r>
            <a:endParaRPr/>
          </a:p>
          <a:p>
            <a:pPr indent="0" lvl="2" marL="5813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SecurityContextHolder.getContext().getAuthentication() == </a:t>
            </a:r>
            <a:r>
              <a:rPr b="1" i="1" lang="it-IT" sz="1800"/>
              <a:t>null)</a:t>
            </a:r>
            <a:endParaRPr i="1" sz="1800"/>
          </a:p>
          <a:p>
            <a:pPr indent="-457200" lvl="1" marL="759143" rtl="0" algn="l">
              <a:spcBef>
                <a:spcPts val="440"/>
              </a:spcBef>
              <a:spcAft>
                <a:spcPts val="0"/>
              </a:spcAft>
              <a:buSzPts val="2200"/>
              <a:buFont typeface="Candara"/>
              <a:buAutoNum type="arabicPeriod" startAt="2"/>
            </a:pPr>
            <a:r>
              <a:rPr lang="it-IT"/>
              <a:t>estrarre, tramite la classe di utilità per la gestione dei messaggi Jwt, il nome utente dal token Jwt, le authorities e verificare che il token non sia scaduto</a:t>
            </a:r>
            <a:endParaRPr/>
          </a:p>
          <a:p>
            <a:pPr indent="0" lvl="2" marL="5813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username = jwtTokenUtil.getUsernameFromToken(jwtToken);</a:t>
            </a:r>
            <a:endParaRPr/>
          </a:p>
          <a:p>
            <a:pPr indent="0" lvl="2" marL="5813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List&lt;SimpleGrantedAuthority&gt; authorities = 					jwtTokenUtil.getAuthorites(jwtToken);</a:t>
            </a:r>
            <a:endParaRPr i="1" sz="1800"/>
          </a:p>
        </p:txBody>
      </p:sp>
      <p:sp>
        <p:nvSpPr>
          <p:cNvPr id="291" name="Google Shape;291;p23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92" name="Google Shape;292;p23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Filtro (2/3)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4"/>
          <p:cNvSpPr txBox="1"/>
          <p:nvPr>
            <p:ph idx="1" type="body"/>
          </p:nvPr>
        </p:nvSpPr>
        <p:spPr>
          <a:xfrm>
            <a:off x="872067" y="1844824"/>
            <a:ext cx="7408333" cy="428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1" marL="759143" rtl="0" algn="l">
              <a:spcBef>
                <a:spcPts val="0"/>
              </a:spcBef>
              <a:spcAft>
                <a:spcPts val="0"/>
              </a:spcAft>
              <a:buSzPts val="2200"/>
              <a:buFont typeface="Candara"/>
              <a:buNone/>
            </a:pPr>
            <a:r>
              <a:t/>
            </a:r>
            <a:endParaRPr/>
          </a:p>
          <a:p>
            <a:pPr indent="-457200" lvl="1" marL="759143" rtl="0" algn="l">
              <a:spcBef>
                <a:spcPts val="440"/>
              </a:spcBef>
              <a:spcAft>
                <a:spcPts val="0"/>
              </a:spcAft>
              <a:buSzPts val="2200"/>
              <a:buFont typeface="Candara"/>
              <a:buAutoNum type="arabicPeriod" startAt="5"/>
            </a:pPr>
            <a:r>
              <a:rPr lang="it-IT"/>
              <a:t>se i controlli precedenti passano, dovrà indicare al modulo di autenticazione di Spring Security, l’avvenuta autenticazione:</a:t>
            </a:r>
            <a:endParaRPr/>
          </a:p>
          <a:p>
            <a:pPr indent="0" lvl="2" marL="581343" rtl="0" algn="l"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i="1" lang="it-IT" sz="1400"/>
              <a:t>UsernamePasswordAuthenticationToken usernamePasswordAuthenticationToken = new UsernamePasswordAuthenticationToken(username, null, authorities);</a:t>
            </a:r>
            <a:endParaRPr i="1" sz="1400"/>
          </a:p>
          <a:p>
            <a:pPr indent="0" lvl="2" marL="581343" rtl="0" algn="l"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i="1" lang="it-IT" sz="1400"/>
              <a:t>SecurityContextHolder.getContext().setAuthentication(usernamePasswordAuthenticationToken);</a:t>
            </a:r>
            <a:endParaRPr i="1" sz="1400"/>
          </a:p>
        </p:txBody>
      </p:sp>
      <p:sp>
        <p:nvSpPr>
          <p:cNvPr id="298" name="Google Shape;298;p24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99" name="Google Shape;299;p24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Filtro (3/3)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5"/>
          <p:cNvSpPr txBox="1"/>
          <p:nvPr>
            <p:ph idx="1" type="body"/>
          </p:nvPr>
        </p:nvSpPr>
        <p:spPr>
          <a:xfrm>
            <a:off x="457200" y="1916832"/>
            <a:ext cx="8291263" cy="4209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String requestTokenHeader = request.getHeader("Authorization");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if (requestTokenHeader != null &amp;&amp; requestTokenHeader.startsWith("Bearer ") &amp;&amp; SecurityContextHolder.getContext().getAuthentication() == null) {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jwtToken = requestTokenHeader.substring(7);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username = jwtTokenUtil.getUsernameFromToken(jwtToken);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List&lt;SimpleGrantedAuthority&gt; authorities = 							jwtTokenUtil.getAuthorites(jwtToken);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UsernamePasswordAuthenticationToken upat = new 	UsernamePasswordAuthenticationToken(username, null, authorities);	SecurityContextHolder.getContext().setAuthentication(upat</a:t>
            </a:r>
            <a:r>
              <a:rPr lang="it-IT"/>
              <a:t>);</a:t>
            </a:r>
            <a:endParaRPr/>
          </a:p>
        </p:txBody>
      </p:sp>
      <p:sp>
        <p:nvSpPr>
          <p:cNvPr id="305" name="Google Shape;305;p25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06" name="Google Shape;306;p25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Codice del Filtro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6"/>
          <p:cNvSpPr txBox="1"/>
          <p:nvPr>
            <p:ph idx="1" type="body"/>
          </p:nvPr>
        </p:nvSpPr>
        <p:spPr>
          <a:xfrm>
            <a:off x="872067" y="1844824"/>
            <a:ext cx="7408333" cy="428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1920" lvl="0" marL="27432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La classe principale di configurazione di Spring Security dovrà avere le classiche configurazioni già viste per la security di base di Spring, ovvero: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essere annotata con </a:t>
            </a:r>
            <a:r>
              <a:rPr i="1" lang="it-IT"/>
              <a:t>@Configuration, @EnableWebSecurity </a:t>
            </a:r>
            <a:r>
              <a:rPr lang="it-IT"/>
              <a:t>e </a:t>
            </a:r>
            <a:r>
              <a:rPr i="1" lang="it-IT"/>
              <a:t>@EnableMethodSecurity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creare i </a:t>
            </a:r>
            <a:r>
              <a:rPr i="1" lang="it-IT"/>
              <a:t>@Bean</a:t>
            </a:r>
            <a:r>
              <a:rPr lang="it-IT"/>
              <a:t> </a:t>
            </a:r>
            <a:r>
              <a:rPr i="1" lang="it-IT"/>
              <a:t>BCryptPasswordEncoder, AuthenticationManager </a:t>
            </a:r>
            <a:r>
              <a:rPr lang="it-IT"/>
              <a:t>e </a:t>
            </a:r>
            <a:r>
              <a:rPr i="1" lang="it-IT"/>
              <a:t>SecurityFilterChain</a:t>
            </a:r>
            <a:endParaRPr i="1"/>
          </a:p>
        </p:txBody>
      </p:sp>
      <p:sp>
        <p:nvSpPr>
          <p:cNvPr id="312" name="Google Shape;312;p26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13" name="Google Shape;313;p26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ndara"/>
              <a:buNone/>
            </a:pPr>
            <a:r>
              <a:rPr lang="it-IT" sz="3600"/>
              <a:t>Configurazione di Spring Security (1/4)</a:t>
            </a:r>
            <a:endParaRPr sz="36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7"/>
          <p:cNvSpPr txBox="1"/>
          <p:nvPr>
            <p:ph idx="1" type="body"/>
          </p:nvPr>
        </p:nvSpPr>
        <p:spPr>
          <a:xfrm>
            <a:off x="872067" y="1772816"/>
            <a:ext cx="7408333" cy="4353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1" marL="301943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i="1" sz="1800"/>
          </a:p>
          <a:p>
            <a:pPr indent="0" lvl="1" marL="301943" rtl="0" algn="l">
              <a:spcBef>
                <a:spcPts val="333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@Bean</a:t>
            </a:r>
            <a:endParaRPr/>
          </a:p>
          <a:p>
            <a:pPr indent="0" lvl="1" marL="301943" rtl="0" algn="l">
              <a:spcBef>
                <a:spcPts val="333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public BCryptPasswordEncoder passwordEncoder()….</a:t>
            </a:r>
            <a:endParaRPr i="1" sz="1800"/>
          </a:p>
          <a:p>
            <a:pPr indent="0" lvl="1" marL="301943" rtl="0" algn="l">
              <a:spcBef>
                <a:spcPts val="333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	</a:t>
            </a:r>
            <a:endParaRPr i="1" sz="1800"/>
          </a:p>
          <a:p>
            <a:pPr indent="0" lvl="1" marL="301943" rtl="0" algn="l">
              <a:spcBef>
                <a:spcPts val="333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@Bean</a:t>
            </a:r>
            <a:endParaRPr/>
          </a:p>
          <a:p>
            <a:pPr indent="0" lvl="1" marL="301943" rtl="0" algn="l">
              <a:spcBef>
                <a:spcPts val="333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public AuthenticationManager authenticationManager() </a:t>
            </a:r>
            <a:endParaRPr/>
          </a:p>
          <a:p>
            <a:pPr indent="0" lvl="1" marL="301943" rtl="0" algn="l">
              <a:spcBef>
                <a:spcPts val="333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i="1" sz="1800"/>
          </a:p>
          <a:p>
            <a:pPr indent="0" lvl="1" marL="301943" rtl="0" algn="l">
              <a:spcBef>
                <a:spcPts val="333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@Bean</a:t>
            </a:r>
            <a:endParaRPr/>
          </a:p>
          <a:p>
            <a:pPr indent="0" lvl="1" marL="301943" rtl="0" algn="l">
              <a:spcBef>
                <a:spcPts val="333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public SecurityFilterChain filterChain(HttpSecurity http) ….</a:t>
            </a:r>
            <a:endParaRPr i="1" sz="1800"/>
          </a:p>
          <a:p>
            <a:pPr indent="0" lvl="1" marL="301943" rtl="0" algn="l">
              <a:spcBef>
                <a:spcPts val="333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i="1" sz="1800"/>
          </a:p>
          <a:p>
            <a:pPr indent="-133350" lvl="0" marL="27432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319" name="Google Shape;319;p27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20" name="Google Shape;320;p27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ndara"/>
              <a:buNone/>
            </a:pPr>
            <a:r>
              <a:rPr lang="it-IT" sz="3600"/>
              <a:t>Configurazione di Spring Security (2/4)</a:t>
            </a:r>
            <a:endParaRPr sz="36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8"/>
          <p:cNvSpPr txBox="1"/>
          <p:nvPr>
            <p:ph idx="1" type="body"/>
          </p:nvPr>
        </p:nvSpPr>
        <p:spPr>
          <a:xfrm>
            <a:off x="872067" y="1844824"/>
            <a:ext cx="7408333" cy="428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nella configurazione del </a:t>
            </a:r>
            <a:r>
              <a:rPr i="1" lang="it-IT"/>
              <a:t>SecurityFilterChain</a:t>
            </a:r>
            <a:r>
              <a:rPr lang="it-IT"/>
              <a:t>: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disabiliteremo il </a:t>
            </a:r>
            <a:r>
              <a:rPr i="1" lang="it-IT"/>
              <a:t>cors: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http.cors( corsCustomizer -&gt; corsCustomizer.disable())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disabiliteremo il </a:t>
            </a:r>
            <a:r>
              <a:rPr i="1" lang="it-IT"/>
              <a:t>csrf</a:t>
            </a:r>
            <a:r>
              <a:rPr lang="it-IT"/>
              <a:t>: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.csrf( csrfCustomizer -&gt; csrfCustomizer.disable())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configureremo gli accessi alle url: 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.authorizeHttpRequests( registry -&gt; 	registry.requestMatchers(mvc.pattern("/…"))….</a:t>
            </a:r>
            <a:endParaRPr i="1" sz="1800"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eventualmente gestiremo le eccezioni:</a:t>
            </a:r>
            <a:endParaRPr/>
          </a:p>
          <a:p>
            <a:pPr indent="0" lvl="3" marL="86868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/>
              <a:t>.exceptionHandling(…</a:t>
            </a:r>
            <a:endParaRPr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134619" lvl="1" marL="576263" rtl="0" algn="l"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i="1"/>
          </a:p>
          <a:p>
            <a:pPr indent="-134619" lvl="1" marL="576263" rtl="0" algn="l"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3" marL="86868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/>
          </a:p>
          <a:p>
            <a:pPr indent="-317500" lvl="1" marL="759143" rtl="0" algn="l">
              <a:spcBef>
                <a:spcPts val="440"/>
              </a:spcBef>
              <a:spcAft>
                <a:spcPts val="0"/>
              </a:spcAft>
              <a:buSzPts val="2200"/>
              <a:buFont typeface="Candara"/>
              <a:buNone/>
            </a:pPr>
            <a:r>
              <a:t/>
            </a:r>
            <a:endParaRPr/>
          </a:p>
        </p:txBody>
      </p:sp>
      <p:sp>
        <p:nvSpPr>
          <p:cNvPr id="326" name="Google Shape;326;p28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27" name="Google Shape;327;p28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ndara"/>
              <a:buNone/>
            </a:pPr>
            <a:r>
              <a:rPr lang="it-IT" sz="3600"/>
              <a:t>Configurazione di Spring Security (3/4)</a:t>
            </a:r>
            <a:endParaRPr sz="36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9"/>
          <p:cNvSpPr txBox="1"/>
          <p:nvPr>
            <p:ph idx="1" type="body"/>
          </p:nvPr>
        </p:nvSpPr>
        <p:spPr>
          <a:xfrm>
            <a:off x="872067" y="1988840"/>
            <a:ext cx="7408333" cy="4137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4619" lvl="1" marL="576263" rtl="0" algn="l"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imposteremo la </a:t>
            </a:r>
            <a:r>
              <a:rPr i="1" lang="it-IT"/>
              <a:t>session</a:t>
            </a:r>
            <a:r>
              <a:rPr lang="it-IT"/>
              <a:t> come </a:t>
            </a:r>
            <a:r>
              <a:rPr i="1" lang="it-IT"/>
              <a:t>stateless</a:t>
            </a:r>
            <a:r>
              <a:rPr lang="it-IT"/>
              <a:t>:</a:t>
            </a:r>
            <a:endParaRPr/>
          </a:p>
          <a:p>
            <a:pPr indent="0" lvl="3" marL="86868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/>
              <a:t>sessionManagement( sessionConfigurer -&gt; sessionConfigurer.sessionCreationPolicy(SessionCreationPolicy.STATELESS)).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inseriremo il filtro </a:t>
            </a:r>
            <a:r>
              <a:rPr i="1" lang="it-IT"/>
              <a:t>JwtFilter</a:t>
            </a:r>
            <a:r>
              <a:rPr lang="it-IT"/>
              <a:t> nella catena dei filtri di prima dello </a:t>
            </a:r>
            <a:r>
              <a:rPr i="1" lang="it-IT"/>
              <a:t>UsernamePasswordAuthenticationFilter</a:t>
            </a:r>
            <a:r>
              <a:rPr lang="it-IT"/>
              <a:t>:</a:t>
            </a:r>
            <a:endParaRPr/>
          </a:p>
          <a:p>
            <a:pPr indent="0" lvl="3" marL="86868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/>
              <a:t>.addFilterBefore(jwtFilter, UsernamePasswordAuthenticationFilter.class)</a:t>
            </a:r>
            <a:endParaRPr i="1"/>
          </a:p>
          <a:p>
            <a:pPr indent="-134619" lvl="1" marL="576263" rtl="0" algn="l"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333" name="Google Shape;333;p29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34" name="Google Shape;334;p29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ndara"/>
              <a:buNone/>
            </a:pPr>
            <a:r>
              <a:rPr lang="it-IT" sz="3600"/>
              <a:t>Configurazione di Spring Security (4/4)</a:t>
            </a:r>
            <a:endParaRPr sz="36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0"/>
          <p:cNvSpPr txBox="1"/>
          <p:nvPr>
            <p:ph idx="1" type="body"/>
          </p:nvPr>
        </p:nvSpPr>
        <p:spPr>
          <a:xfrm>
            <a:off x="872067" y="1844824"/>
            <a:ext cx="7408333" cy="428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1920" lvl="0" marL="27432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Per le autorizzazioni vale tutto quanto detto nel modulo Spring Security: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le </a:t>
            </a:r>
            <a:r>
              <a:rPr i="1" lang="it-IT"/>
              <a:t>authorities</a:t>
            </a:r>
            <a:r>
              <a:rPr lang="it-IT"/>
              <a:t> dell’utente</a:t>
            </a:r>
            <a:r>
              <a:rPr i="1" lang="it-IT"/>
              <a:t> </a:t>
            </a:r>
            <a:r>
              <a:rPr lang="it-IT"/>
              <a:t>(eventulamente definite su db)</a:t>
            </a:r>
            <a:r>
              <a:rPr i="1" lang="it-IT"/>
              <a:t> </a:t>
            </a:r>
            <a:r>
              <a:rPr lang="it-IT"/>
              <a:t>possono infatti essere riportate nel token Jwt e quindi poi riconosciute dal filtro Jwt in fase di validazione del token Jwt. Di conseguenza l’utente </a:t>
            </a:r>
            <a:r>
              <a:rPr i="1" lang="it-IT"/>
              <a:t>accettato </a:t>
            </a:r>
            <a:r>
              <a:rPr lang="it-IT"/>
              <a:t>dal filtro Jwt si porta dietro le </a:t>
            </a:r>
            <a:r>
              <a:rPr i="1" lang="it-IT"/>
              <a:t>authorities</a:t>
            </a:r>
            <a:r>
              <a:rPr lang="it-IT"/>
              <a:t> a lui attribuite sul db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potremo quindi usare, ad es., l’ annotation </a:t>
            </a:r>
            <a:r>
              <a:rPr i="1" lang="it-IT"/>
              <a:t>@Preauthorize </a:t>
            </a:r>
            <a:r>
              <a:rPr lang="it-IT"/>
              <a:t>a livello di metodi</a:t>
            </a:r>
            <a:endParaRPr/>
          </a:p>
          <a:p>
            <a:pPr indent="-134619" lvl="1" marL="576263" rtl="0" algn="l"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340" name="Google Shape;340;p30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Autorizzazioni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nde">
  <a:themeElements>
    <a:clrScheme name="Onde">
      <a:dk1>
        <a:srgbClr val="000000"/>
      </a:dk1>
      <a:lt1>
        <a:srgbClr val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2020-10-19T09:44:59Z</dcterms:created>
  <dc:creator>Roberto Santoro</dc:creator>
</cp:coreProperties>
</file>