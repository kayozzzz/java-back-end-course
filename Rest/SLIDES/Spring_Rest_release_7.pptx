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6858000" cx="9144000"/>
  <p:notesSz cx="6858000" cy="9144000"/>
  <p:embeddedFontLst>
    <p:embeddedFont>
      <p:font typeface="Candara"/>
      <p:regular r:id="rId56"/>
      <p:bold r:id="rId57"/>
      <p:italic r:id="rId58"/>
      <p:boldItalic r:id="rId5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0" roundtripDataSignature="AMtx7miYvkyxti0/791uHeufT8GsmuS5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customschemas.google.com/relationships/presentationmetadata" Target="meta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Candara-bold.fntdata"/><Relationship Id="rId12" Type="http://schemas.openxmlformats.org/officeDocument/2006/relationships/slide" Target="slides/slide7.xml"/><Relationship Id="rId56" Type="http://schemas.openxmlformats.org/officeDocument/2006/relationships/font" Target="fonts/Candara-regular.fntdata"/><Relationship Id="rId15" Type="http://schemas.openxmlformats.org/officeDocument/2006/relationships/slide" Target="slides/slide10.xml"/><Relationship Id="rId59" Type="http://schemas.openxmlformats.org/officeDocument/2006/relationships/font" Target="fonts/Candara-boldItalic.fntdata"/><Relationship Id="rId14" Type="http://schemas.openxmlformats.org/officeDocument/2006/relationships/slide" Target="slides/slide9.xml"/><Relationship Id="rId58" Type="http://schemas.openxmlformats.org/officeDocument/2006/relationships/font" Target="fonts/Candara-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6" name="Google Shape;336;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3" name="Google Shape;34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4" name="Google Shape;364;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5" name="Google Shape;38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3" name="Google Shape;413;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4" name="Google Shape;434;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8" name="Google Shape;448;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type="title">
  <p:cSld name="TITLE">
    <p:spTree>
      <p:nvGrpSpPr>
        <p:cNvPr id="22" name="Shape 22"/>
        <p:cNvGrpSpPr/>
        <p:nvPr/>
      </p:nvGrpSpPr>
      <p:grpSpPr>
        <a:xfrm>
          <a:off x="0" y="0"/>
          <a:ext cx="0" cy="0"/>
          <a:chOff x="0" y="0"/>
          <a:chExt cx="0" cy="0"/>
        </a:xfrm>
      </p:grpSpPr>
      <p:sp>
        <p:nvSpPr>
          <p:cNvPr id="23" name="Google Shape;23;p52"/>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24" name="Google Shape;24;p52"/>
          <p:cNvGrpSpPr/>
          <p:nvPr/>
        </p:nvGrpSpPr>
        <p:grpSpPr>
          <a:xfrm>
            <a:off x="211665" y="5353963"/>
            <a:ext cx="8723376" cy="1331580"/>
            <a:chOff x="-3905250" y="4294188"/>
            <a:chExt cx="13011150" cy="1892300"/>
          </a:xfrm>
        </p:grpSpPr>
        <p:sp>
          <p:nvSpPr>
            <p:cNvPr id="25" name="Google Shape;25;p52"/>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6" name="Google Shape;26;p52"/>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7" name="Google Shape;27;p52"/>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8" name="Google Shape;28;p52"/>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9" name="Google Shape;29;p52"/>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30" name="Google Shape;30;p52"/>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FFFFFF"/>
              </a:buClr>
              <a:buSzPts val="4400"/>
              <a:buFont typeface="Candara"/>
              <a:buNone/>
              <a:defRPr sz="4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2"/>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SzPts val="2000"/>
              <a:buNone/>
              <a:defRPr sz="2000">
                <a:solidFill>
                  <a:srgbClr val="FFFFFF"/>
                </a:solidFill>
              </a:defRPr>
            </a:lvl1pPr>
            <a:lvl2pPr lvl="1" algn="ctr">
              <a:spcBef>
                <a:spcPts val="440"/>
              </a:spcBef>
              <a:spcAft>
                <a:spcPts val="0"/>
              </a:spcAft>
              <a:buSzPts val="22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384"/>
              </a:spcBef>
              <a:spcAft>
                <a:spcPts val="0"/>
              </a:spcAft>
              <a:buSzPts val="1400"/>
              <a:buNone/>
              <a:defRPr>
                <a:solidFill>
                  <a:srgbClr val="888888"/>
                </a:solidFill>
              </a:defRPr>
            </a:lvl6pPr>
            <a:lvl7pPr lvl="6" algn="ctr">
              <a:spcBef>
                <a:spcPts val="384"/>
              </a:spcBef>
              <a:spcAft>
                <a:spcPts val="0"/>
              </a:spcAft>
              <a:buSzPts val="1400"/>
              <a:buNone/>
              <a:defRPr>
                <a:solidFill>
                  <a:srgbClr val="888888"/>
                </a:solidFill>
              </a:defRPr>
            </a:lvl7pPr>
            <a:lvl8pPr lvl="7" algn="ctr">
              <a:spcBef>
                <a:spcPts val="384"/>
              </a:spcBef>
              <a:spcAft>
                <a:spcPts val="0"/>
              </a:spcAft>
              <a:buSzPts val="1400"/>
              <a:buNone/>
              <a:defRPr>
                <a:solidFill>
                  <a:srgbClr val="888888"/>
                </a:solidFill>
              </a:defRPr>
            </a:lvl8pPr>
            <a:lvl9pPr lvl="8" algn="ctr">
              <a:spcBef>
                <a:spcPts val="384"/>
              </a:spcBef>
              <a:spcAft>
                <a:spcPts val="0"/>
              </a:spcAft>
              <a:buSzPts val="1400"/>
              <a:buNone/>
              <a:defRPr>
                <a:solidFill>
                  <a:srgbClr val="888888"/>
                </a:solidFill>
              </a:defRPr>
            </a:lvl9pPr>
          </a:lstStyle>
          <a:p/>
        </p:txBody>
      </p:sp>
      <p:sp>
        <p:nvSpPr>
          <p:cNvPr id="32" name="Google Shape;32;p52"/>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2"/>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35" name="Shape 35"/>
        <p:cNvGrpSpPr/>
        <p:nvPr/>
      </p:nvGrpSpPr>
      <p:grpSpPr>
        <a:xfrm>
          <a:off x="0" y="0"/>
          <a:ext cx="0" cy="0"/>
          <a:chOff x="0" y="0"/>
          <a:chExt cx="0" cy="0"/>
        </a:xfrm>
      </p:grpSpPr>
      <p:sp>
        <p:nvSpPr>
          <p:cNvPr id="36" name="Google Shape;36;p53"/>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37" name="Google Shape;37;p53"/>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3"/>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40" name="Google Shape;40;p5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showMasterSp="0" type="secHead">
  <p:cSld name="SECTION_HEADER">
    <p:spTree>
      <p:nvGrpSpPr>
        <p:cNvPr id="41" name="Shape 41"/>
        <p:cNvGrpSpPr/>
        <p:nvPr/>
      </p:nvGrpSpPr>
      <p:grpSpPr>
        <a:xfrm>
          <a:off x="0" y="0"/>
          <a:ext cx="0" cy="0"/>
          <a:chOff x="0" y="0"/>
          <a:chExt cx="0" cy="0"/>
        </a:xfrm>
      </p:grpSpPr>
      <p:sp>
        <p:nvSpPr>
          <p:cNvPr id="42" name="Google Shape;42;p54"/>
          <p:cNvSpPr/>
          <p:nvPr/>
        </p:nvSpPr>
        <p:spPr>
          <a:xfrm>
            <a:off x="228600" y="228600"/>
            <a:ext cx="8695944" cy="4736592"/>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43" name="Google Shape;43;p54"/>
          <p:cNvSpPr/>
          <p:nvPr/>
        </p:nvSpPr>
        <p:spPr>
          <a:xfrm>
            <a:off x="6047438" y="4203592"/>
            <a:ext cx="2876429" cy="714026"/>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4" name="Google Shape;44;p54"/>
          <p:cNvSpPr/>
          <p:nvPr/>
        </p:nvSpPr>
        <p:spPr>
          <a:xfrm>
            <a:off x="2619320" y="4075290"/>
            <a:ext cx="5544515" cy="850138"/>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5" name="Google Shape;45;p54"/>
          <p:cNvSpPr/>
          <p:nvPr/>
        </p:nvSpPr>
        <p:spPr>
          <a:xfrm>
            <a:off x="2828728" y="4087562"/>
            <a:ext cx="5467980" cy="774272"/>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6" name="Google Shape;46;p54"/>
          <p:cNvSpPr/>
          <p:nvPr/>
        </p:nvSpPr>
        <p:spPr>
          <a:xfrm>
            <a:off x="5609489" y="4074174"/>
            <a:ext cx="3308000" cy="651549"/>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7" name="Google Shape;47;p54"/>
          <p:cNvSpPr/>
          <p:nvPr/>
        </p:nvSpPr>
        <p:spPr>
          <a:xfrm>
            <a:off x="211665" y="4058555"/>
            <a:ext cx="8723376" cy="1329874"/>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8" name="Google Shape;48;p54"/>
          <p:cNvSpPr txBox="1"/>
          <p:nvPr>
            <p:ph type="title"/>
          </p:nvPr>
        </p:nvSpPr>
        <p:spPr>
          <a:xfrm>
            <a:off x="690032" y="2463560"/>
            <a:ext cx="7772400" cy="15240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FFFFFF"/>
              </a:buClr>
              <a:buSzPts val="4400"/>
              <a:buFont typeface="Candara"/>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4"/>
          <p:cNvSpPr txBox="1"/>
          <p:nvPr>
            <p:ph idx="1" type="body"/>
          </p:nvPr>
        </p:nvSpPr>
        <p:spPr>
          <a:xfrm>
            <a:off x="1367365" y="1437448"/>
            <a:ext cx="6417734" cy="939801"/>
          </a:xfrm>
          <a:prstGeom prst="rect">
            <a:avLst/>
          </a:prstGeom>
          <a:noFill/>
          <a:ln>
            <a:noFill/>
          </a:ln>
        </p:spPr>
        <p:txBody>
          <a:bodyPr anchorCtr="0" anchor="b" bIns="45700" lIns="91425" spcFirstLastPara="1" rIns="91425" wrap="square" tIns="45700">
            <a:normAutofit/>
          </a:bodyPr>
          <a:lstStyle>
            <a:lvl1pPr indent="-228600" lvl="0" marL="457200" algn="ctr">
              <a:spcBef>
                <a:spcPts val="400"/>
              </a:spcBef>
              <a:spcAft>
                <a:spcPts val="0"/>
              </a:spcAft>
              <a:buSzPts val="2000"/>
              <a:buNone/>
              <a:defRPr sz="2000">
                <a:solidFill>
                  <a:srgbClr val="FFFFFF"/>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384"/>
              </a:spcBef>
              <a:spcAft>
                <a:spcPts val="0"/>
              </a:spcAft>
              <a:buSzPts val="1400"/>
              <a:buNone/>
              <a:defRPr sz="1400">
                <a:solidFill>
                  <a:srgbClr val="888888"/>
                </a:solidFill>
              </a:defRPr>
            </a:lvl6pPr>
            <a:lvl7pPr indent="-228600" lvl="6" marL="3200400" algn="l">
              <a:spcBef>
                <a:spcPts val="384"/>
              </a:spcBef>
              <a:spcAft>
                <a:spcPts val="0"/>
              </a:spcAft>
              <a:buSzPts val="1400"/>
              <a:buNone/>
              <a:defRPr sz="1400">
                <a:solidFill>
                  <a:srgbClr val="888888"/>
                </a:solidFill>
              </a:defRPr>
            </a:lvl7pPr>
            <a:lvl8pPr indent="-228600" lvl="7" marL="3657600" algn="l">
              <a:spcBef>
                <a:spcPts val="384"/>
              </a:spcBef>
              <a:spcAft>
                <a:spcPts val="0"/>
              </a:spcAft>
              <a:buSzPts val="1400"/>
              <a:buNone/>
              <a:defRPr sz="1400">
                <a:solidFill>
                  <a:srgbClr val="888888"/>
                </a:solidFill>
              </a:defRPr>
            </a:lvl8pPr>
            <a:lvl9pPr indent="-228600" lvl="8" marL="4114800" algn="l">
              <a:spcBef>
                <a:spcPts val="384"/>
              </a:spcBef>
              <a:spcAft>
                <a:spcPts val="0"/>
              </a:spcAft>
              <a:buSzPts val="1400"/>
              <a:buNone/>
              <a:defRPr sz="1400">
                <a:solidFill>
                  <a:srgbClr val="888888"/>
                </a:solidFill>
              </a:defRPr>
            </a:lvl9pPr>
          </a:lstStyle>
          <a:p/>
        </p:txBody>
      </p:sp>
      <p:sp>
        <p:nvSpPr>
          <p:cNvPr id="50" name="Google Shape;50;p54"/>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4"/>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53" name="Shape 53"/>
        <p:cNvGrpSpPr/>
        <p:nvPr/>
      </p:nvGrpSpPr>
      <p:grpSpPr>
        <a:xfrm>
          <a:off x="0" y="0"/>
          <a:ext cx="0" cy="0"/>
          <a:chOff x="0" y="0"/>
          <a:chExt cx="0" cy="0"/>
        </a:xfrm>
      </p:grpSpPr>
      <p:sp>
        <p:nvSpPr>
          <p:cNvPr id="54" name="Google Shape;54;p5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55"/>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5"/>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58" name="Google Shape;58;p55"/>
          <p:cNvSpPr txBox="1"/>
          <p:nvPr>
            <p:ph idx="1" type="body"/>
          </p:nvPr>
        </p:nvSpPr>
        <p:spPr>
          <a:xfrm>
            <a:off x="676655"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59" name="Google Shape;59;p55"/>
          <p:cNvSpPr txBox="1"/>
          <p:nvPr>
            <p:ph idx="2" type="body"/>
          </p:nvPr>
        </p:nvSpPr>
        <p:spPr>
          <a:xfrm>
            <a:off x="4645152"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60" name="Shape 60"/>
        <p:cNvGrpSpPr/>
        <p:nvPr/>
      </p:nvGrpSpPr>
      <p:grpSpPr>
        <a:xfrm>
          <a:off x="0" y="0"/>
          <a:ext cx="0" cy="0"/>
          <a:chOff x="0" y="0"/>
          <a:chExt cx="0" cy="0"/>
        </a:xfrm>
      </p:grpSpPr>
      <p:sp>
        <p:nvSpPr>
          <p:cNvPr id="61" name="Google Shape;61;p5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4400"/>
              <a:buFont typeface="Candar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56"/>
          <p:cNvSpPr txBox="1"/>
          <p:nvPr>
            <p:ph idx="1" type="body"/>
          </p:nvPr>
        </p:nvSpPr>
        <p:spPr>
          <a:xfrm>
            <a:off x="676656" y="2678114"/>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3" name="Google Shape;63;p56"/>
          <p:cNvSpPr txBox="1"/>
          <p:nvPr>
            <p:ph idx="2" type="body"/>
          </p:nvPr>
        </p:nvSpPr>
        <p:spPr>
          <a:xfrm>
            <a:off x="677332" y="3429000"/>
            <a:ext cx="3820055"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4" name="Google Shape;64;p56"/>
          <p:cNvSpPr txBox="1"/>
          <p:nvPr>
            <p:ph idx="3" type="body"/>
          </p:nvPr>
        </p:nvSpPr>
        <p:spPr>
          <a:xfrm>
            <a:off x="4648200" y="2678113"/>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i="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5" name="Google Shape;65;p56"/>
          <p:cNvSpPr txBox="1"/>
          <p:nvPr>
            <p:ph idx="4" type="body"/>
          </p:nvPr>
        </p:nvSpPr>
        <p:spPr>
          <a:xfrm>
            <a:off x="4645025" y="3429000"/>
            <a:ext cx="3822192"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6" name="Google Shape;66;p56"/>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56"/>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5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9" name="Shape 69"/>
        <p:cNvGrpSpPr/>
        <p:nvPr/>
      </p:nvGrpSpPr>
      <p:grpSpPr>
        <a:xfrm>
          <a:off x="0" y="0"/>
          <a:ext cx="0" cy="0"/>
          <a:chOff x="0" y="0"/>
          <a:chExt cx="0" cy="0"/>
        </a:xfrm>
      </p:grpSpPr>
      <p:sp>
        <p:nvSpPr>
          <p:cNvPr id="70" name="Google Shape;70;p5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57"/>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57"/>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5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showMasterSp="0" type="blank">
  <p:cSld name="BLANK">
    <p:spTree>
      <p:nvGrpSpPr>
        <p:cNvPr id="74" name="Shape 74"/>
        <p:cNvGrpSpPr/>
        <p:nvPr/>
      </p:nvGrpSpPr>
      <p:grpSpPr>
        <a:xfrm>
          <a:off x="0" y="0"/>
          <a:ext cx="0" cy="0"/>
          <a:chOff x="0" y="0"/>
          <a:chExt cx="0" cy="0"/>
        </a:xfrm>
      </p:grpSpPr>
      <p:sp>
        <p:nvSpPr>
          <p:cNvPr id="75" name="Google Shape;75;p58"/>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76" name="Google Shape;76;p58"/>
          <p:cNvGrpSpPr/>
          <p:nvPr/>
        </p:nvGrpSpPr>
        <p:grpSpPr>
          <a:xfrm>
            <a:off x="211665" y="714191"/>
            <a:ext cx="8723376" cy="1329874"/>
            <a:chOff x="-3905251" y="4294188"/>
            <a:chExt cx="13027839" cy="1892300"/>
          </a:xfrm>
        </p:grpSpPr>
        <p:sp>
          <p:nvSpPr>
            <p:cNvPr id="77" name="Google Shape;77;p58"/>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8" name="Google Shape;78;p58"/>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9" name="Google Shape;79;p58"/>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0" name="Google Shape;80;p58"/>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1" name="Google Shape;81;p58"/>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82" name="Google Shape;82;p58"/>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58"/>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showMasterSp="0" type="objTx">
  <p:cSld name="OBJECT_WITH_CAPTION_TEXT">
    <p:spTree>
      <p:nvGrpSpPr>
        <p:cNvPr id="85" name="Shape 85"/>
        <p:cNvGrpSpPr/>
        <p:nvPr/>
      </p:nvGrpSpPr>
      <p:grpSpPr>
        <a:xfrm>
          <a:off x="0" y="0"/>
          <a:ext cx="0" cy="0"/>
          <a:chOff x="0" y="0"/>
          <a:chExt cx="0" cy="0"/>
        </a:xfrm>
      </p:grpSpPr>
      <p:sp>
        <p:nvSpPr>
          <p:cNvPr id="86" name="Google Shape;86;p59"/>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87" name="Google Shape;87;p59"/>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9"/>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5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90" name="Google Shape;90;p59"/>
          <p:cNvSpPr txBox="1"/>
          <p:nvPr>
            <p:ph idx="1" type="body"/>
          </p:nvPr>
        </p:nvSpPr>
        <p:spPr>
          <a:xfrm>
            <a:off x="914400" y="3581400"/>
            <a:ext cx="3352800" cy="1905001"/>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solidFill>
                  <a:schemeClr val="dk2"/>
                </a:solidFill>
              </a:defRPr>
            </a:lvl1pPr>
            <a:lvl2pPr indent="-228600" lvl="1" marL="914400" algn="l">
              <a:spcBef>
                <a:spcPts val="60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grpSp>
        <p:nvGrpSpPr>
          <p:cNvPr id="91" name="Google Shape;91;p59"/>
          <p:cNvGrpSpPr/>
          <p:nvPr/>
        </p:nvGrpSpPr>
        <p:grpSpPr>
          <a:xfrm>
            <a:off x="211665" y="714191"/>
            <a:ext cx="8723376" cy="1331580"/>
            <a:chOff x="-3905250" y="4294188"/>
            <a:chExt cx="13011150" cy="1892300"/>
          </a:xfrm>
        </p:grpSpPr>
        <p:sp>
          <p:nvSpPr>
            <p:cNvPr id="92" name="Google Shape;92;p59"/>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3" name="Google Shape;93;p59"/>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4" name="Google Shape;94;p59"/>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5" name="Google Shape;95;p59"/>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6" name="Google Shape;96;p59"/>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97" name="Google Shape;97;p59"/>
          <p:cNvSpPr txBox="1"/>
          <p:nvPr>
            <p:ph type="title"/>
          </p:nvPr>
        </p:nvSpPr>
        <p:spPr>
          <a:xfrm>
            <a:off x="914400" y="2286000"/>
            <a:ext cx="3352800" cy="125272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3200"/>
              <a:buFont typeface="Candara"/>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59"/>
          <p:cNvSpPr txBox="1"/>
          <p:nvPr>
            <p:ph idx="2" type="body"/>
          </p:nvPr>
        </p:nvSpPr>
        <p:spPr>
          <a:xfrm>
            <a:off x="4651962" y="1828800"/>
            <a:ext cx="3904076" cy="3810000"/>
          </a:xfrm>
          <a:prstGeom prst="rect">
            <a:avLst/>
          </a:prstGeom>
          <a:noFill/>
          <a:ln>
            <a:noFill/>
          </a:ln>
        </p:spPr>
        <p:txBody>
          <a:bodyPr anchorCtr="0" anchor="ctr" bIns="45700" lIns="91425" spcFirstLastPara="1" rIns="91425" wrap="square" tIns="45700">
            <a:normAutofit/>
          </a:bodyPr>
          <a:lstStyle>
            <a:lvl1pPr indent="-368300" lvl="0" marL="457200" algn="l">
              <a:spcBef>
                <a:spcPts val="440"/>
              </a:spcBef>
              <a:spcAft>
                <a:spcPts val="0"/>
              </a:spcAft>
              <a:buClr>
                <a:schemeClr val="lt1"/>
              </a:buClr>
              <a:buSzPts val="2200"/>
              <a:buChar char="*"/>
              <a:defRPr sz="2200">
                <a:solidFill>
                  <a:schemeClr val="dk2"/>
                </a:solidFill>
              </a:defRPr>
            </a:lvl1pPr>
            <a:lvl2pPr indent="-355600" lvl="1" marL="914400" algn="l">
              <a:spcBef>
                <a:spcPts val="400"/>
              </a:spcBef>
              <a:spcAft>
                <a:spcPts val="0"/>
              </a:spcAft>
              <a:buClr>
                <a:schemeClr val="lt1"/>
              </a:buClr>
              <a:buSzPts val="2000"/>
              <a:buChar char="*"/>
              <a:defRPr sz="2000">
                <a:solidFill>
                  <a:schemeClr val="dk2"/>
                </a:solidFill>
              </a:defRPr>
            </a:lvl2pPr>
            <a:lvl3pPr indent="-342900" lvl="2" marL="1371600" algn="l">
              <a:spcBef>
                <a:spcPts val="360"/>
              </a:spcBef>
              <a:spcAft>
                <a:spcPts val="0"/>
              </a:spcAft>
              <a:buClr>
                <a:schemeClr val="lt1"/>
              </a:buClr>
              <a:buSzPts val="1800"/>
              <a:buChar char="*"/>
              <a:defRPr sz="1800">
                <a:solidFill>
                  <a:schemeClr val="dk2"/>
                </a:solidFill>
              </a:defRPr>
            </a:lvl3pPr>
            <a:lvl4pPr indent="-330200" lvl="3" marL="1828800" algn="l">
              <a:spcBef>
                <a:spcPts val="320"/>
              </a:spcBef>
              <a:spcAft>
                <a:spcPts val="0"/>
              </a:spcAft>
              <a:buClr>
                <a:schemeClr val="lt1"/>
              </a:buClr>
              <a:buSzPts val="1600"/>
              <a:buChar char="*"/>
              <a:defRPr sz="1600">
                <a:solidFill>
                  <a:schemeClr val="dk2"/>
                </a:solidFill>
              </a:defRPr>
            </a:lvl4pPr>
            <a:lvl5pPr indent="-330200" lvl="4" marL="2286000" algn="l">
              <a:spcBef>
                <a:spcPts val="320"/>
              </a:spcBef>
              <a:spcAft>
                <a:spcPts val="0"/>
              </a:spcAft>
              <a:buClr>
                <a:schemeClr val="lt1"/>
              </a:buClr>
              <a:buSzPts val="1600"/>
              <a:buChar char="*"/>
              <a:defRPr sz="1600">
                <a:solidFill>
                  <a:schemeClr val="dk2"/>
                </a:solidFill>
              </a:defRPr>
            </a:lvl5pPr>
            <a:lvl6pPr indent="-355600" lvl="5" marL="2743200" algn="l">
              <a:spcBef>
                <a:spcPts val="384"/>
              </a:spcBef>
              <a:spcAft>
                <a:spcPts val="0"/>
              </a:spcAft>
              <a:buSzPts val="2000"/>
              <a:buChar char="●"/>
              <a:defRPr sz="2000"/>
            </a:lvl6pPr>
            <a:lvl7pPr indent="-355600" lvl="6" marL="3200400" algn="l">
              <a:spcBef>
                <a:spcPts val="384"/>
              </a:spcBef>
              <a:spcAft>
                <a:spcPts val="0"/>
              </a:spcAft>
              <a:buSzPts val="2000"/>
              <a:buChar char="●"/>
              <a:defRPr sz="2000"/>
            </a:lvl7pPr>
            <a:lvl8pPr indent="-355600" lvl="7" marL="3657600" algn="l">
              <a:spcBef>
                <a:spcPts val="384"/>
              </a:spcBef>
              <a:spcAft>
                <a:spcPts val="0"/>
              </a:spcAft>
              <a:buSzPts val="2000"/>
              <a:buChar char="●"/>
              <a:defRPr sz="2000"/>
            </a:lvl8pPr>
            <a:lvl9pPr indent="-355600" lvl="8" marL="4114800" algn="l">
              <a:spcBef>
                <a:spcPts val="384"/>
              </a:spcBef>
              <a:spcAft>
                <a:spcPts val="0"/>
              </a:spcAft>
              <a:buSzPts val="2000"/>
              <a:buChar char="●"/>
              <a:defRPr sz="2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showMasterSp="0" type="picTx">
  <p:cSld name="PICTURE_WITH_CAPTION_TEXT">
    <p:spTree>
      <p:nvGrpSpPr>
        <p:cNvPr id="99" name="Shape 99"/>
        <p:cNvGrpSpPr/>
        <p:nvPr/>
      </p:nvGrpSpPr>
      <p:grpSpPr>
        <a:xfrm>
          <a:off x="0" y="0"/>
          <a:ext cx="0" cy="0"/>
          <a:chOff x="0" y="0"/>
          <a:chExt cx="0" cy="0"/>
        </a:xfrm>
      </p:grpSpPr>
      <p:sp>
        <p:nvSpPr>
          <p:cNvPr id="100" name="Google Shape;100;p60"/>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101" name="Google Shape;101;p60"/>
          <p:cNvGrpSpPr/>
          <p:nvPr/>
        </p:nvGrpSpPr>
        <p:grpSpPr>
          <a:xfrm>
            <a:off x="211665" y="5353963"/>
            <a:ext cx="8723376" cy="1331580"/>
            <a:chOff x="-3905250" y="4294188"/>
            <a:chExt cx="13011150" cy="1892300"/>
          </a:xfrm>
        </p:grpSpPr>
        <p:sp>
          <p:nvSpPr>
            <p:cNvPr id="102" name="Google Shape;102;p60"/>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3" name="Google Shape;103;p60"/>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4" name="Google Shape;104;p60"/>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5" name="Google Shape;105;p60"/>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6" name="Google Shape;106;p60"/>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07" name="Google Shape;107;p60"/>
          <p:cNvSpPr txBox="1"/>
          <p:nvPr>
            <p:ph type="title"/>
          </p:nvPr>
        </p:nvSpPr>
        <p:spPr>
          <a:xfrm>
            <a:off x="4874155" y="338667"/>
            <a:ext cx="3812645" cy="242993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FFFF"/>
              </a:buClr>
              <a:buSzPts val="2800"/>
              <a:buFont typeface="Candara"/>
              <a:buNone/>
              <a:defRPr b="0" sz="28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60"/>
          <p:cNvSpPr txBox="1"/>
          <p:nvPr>
            <p:ph idx="1" type="body"/>
          </p:nvPr>
        </p:nvSpPr>
        <p:spPr>
          <a:xfrm>
            <a:off x="4868333" y="2785533"/>
            <a:ext cx="3818467" cy="2421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rgbClr val="FFFFFF"/>
                </a:solidFill>
              </a:defRPr>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sp>
        <p:nvSpPr>
          <p:cNvPr id="109" name="Google Shape;109;p60"/>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60"/>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6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112" name="Google Shape;112;p60"/>
          <p:cNvSpPr/>
          <p:nvPr>
            <p:ph idx="2" type="pic"/>
          </p:nvPr>
        </p:nvSpPr>
        <p:spPr>
          <a:xfrm>
            <a:off x="838200" y="1371600"/>
            <a:ext cx="3566160" cy="2926080"/>
          </a:xfrm>
          <a:prstGeom prst="roundRect">
            <a:avLst>
              <a:gd fmla="val 3924" name="adj"/>
            </a:avLst>
          </a:prstGeom>
          <a:solidFill>
            <a:schemeClr val="accent1"/>
          </a:solidFill>
          <a:ln>
            <a:noFill/>
          </a:ln>
          <a:effectLst>
            <a:reflection blurRad="0" dir="5400000" dist="5000" endA="0" endPos="30000" kx="0" rotWithShape="0" algn="bl" stA="30000" stPos="0" sy="-100000" ky="0"/>
          </a:effectLst>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13" name="Shape 113"/>
        <p:cNvGrpSpPr/>
        <p:nvPr/>
      </p:nvGrpSpPr>
      <p:grpSpPr>
        <a:xfrm>
          <a:off x="0" y="0"/>
          <a:ext cx="0" cy="0"/>
          <a:chOff x="0" y="0"/>
          <a:chExt cx="0" cy="0"/>
        </a:xfrm>
      </p:grpSpPr>
      <p:sp>
        <p:nvSpPr>
          <p:cNvPr id="114" name="Google Shape;114;p6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61"/>
          <p:cNvSpPr txBox="1"/>
          <p:nvPr>
            <p:ph idx="1" type="body"/>
          </p:nvPr>
        </p:nvSpPr>
        <p:spPr>
          <a:xfrm rot="5400000">
            <a:off x="2850886" y="696648"/>
            <a:ext cx="3450696" cy="7408333"/>
          </a:xfrm>
          <a:prstGeom prst="rect">
            <a:avLst/>
          </a:prstGeom>
          <a:noFill/>
          <a:ln>
            <a:noFill/>
          </a:ln>
        </p:spPr>
        <p:txBody>
          <a:bodyPr anchorCtr="0" anchor="ctr" bIns="45700" lIns="91425" spcFirstLastPara="1" rIns="91425" wrap="square" tIns="45700">
            <a:normAutofit/>
          </a:bodyPr>
          <a:lstStyle>
            <a:lvl1pPr indent="-381000" lvl="0" marL="457200" algn="l">
              <a:spcBef>
                <a:spcPts val="480"/>
              </a:spcBef>
              <a:spcAft>
                <a:spcPts val="0"/>
              </a:spcAft>
              <a:buSzPts val="2400"/>
              <a:buChar char="*"/>
              <a:defRPr/>
            </a:lvl1pPr>
            <a:lvl2pPr indent="-368300" lvl="1" marL="914400" algn="l">
              <a:spcBef>
                <a:spcPts val="440"/>
              </a:spcBef>
              <a:spcAft>
                <a:spcPts val="0"/>
              </a:spcAft>
              <a:buSzPts val="2200"/>
              <a:buChar char="*"/>
              <a:defRPr/>
            </a:lvl2pPr>
            <a:lvl3pPr indent="-355600" lvl="2" marL="1371600" algn="l">
              <a:spcBef>
                <a:spcPts val="400"/>
              </a:spcBef>
              <a:spcAft>
                <a:spcPts val="0"/>
              </a:spcAft>
              <a:buSzPts val="2000"/>
              <a:buChar char="*"/>
              <a:defRPr/>
            </a:lvl3pPr>
            <a:lvl4pPr indent="-342900" lvl="3" marL="1828800" algn="l">
              <a:spcBef>
                <a:spcPts val="360"/>
              </a:spcBef>
              <a:spcAft>
                <a:spcPts val="0"/>
              </a:spcAft>
              <a:buSzPts val="1800"/>
              <a:buChar char="*"/>
              <a:defRPr/>
            </a:lvl4pPr>
            <a:lvl5pPr indent="-330200" lvl="4" marL="2286000" algn="l">
              <a:spcBef>
                <a:spcPts val="320"/>
              </a:spcBef>
              <a:spcAft>
                <a:spcPts val="0"/>
              </a:spcAft>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116" name="Google Shape;116;p61"/>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61"/>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6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showMasterSp="0" type="vertTitleAndTx">
  <p:cSld name="VERTICAL_TITLE_AND_VERTICAL_TEXT">
    <p:spTree>
      <p:nvGrpSpPr>
        <p:cNvPr id="119" name="Shape 119"/>
        <p:cNvGrpSpPr/>
        <p:nvPr/>
      </p:nvGrpSpPr>
      <p:grpSpPr>
        <a:xfrm>
          <a:off x="0" y="0"/>
          <a:ext cx="0" cy="0"/>
          <a:chOff x="0" y="0"/>
          <a:chExt cx="0" cy="0"/>
        </a:xfrm>
      </p:grpSpPr>
      <p:sp>
        <p:nvSpPr>
          <p:cNvPr id="120" name="Google Shape;120;p62"/>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121" name="Google Shape;121;p62"/>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62"/>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6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grpSp>
        <p:nvGrpSpPr>
          <p:cNvPr id="124" name="Google Shape;124;p62"/>
          <p:cNvGrpSpPr/>
          <p:nvPr/>
        </p:nvGrpSpPr>
        <p:grpSpPr>
          <a:xfrm>
            <a:off x="211665" y="714191"/>
            <a:ext cx="8723376" cy="1331580"/>
            <a:chOff x="-3905250" y="4294188"/>
            <a:chExt cx="13011150" cy="1892300"/>
          </a:xfrm>
        </p:grpSpPr>
        <p:sp>
          <p:nvSpPr>
            <p:cNvPr id="125" name="Google Shape;125;p62"/>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6" name="Google Shape;126;p62"/>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7" name="Google Shape;127;p62"/>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8" name="Google Shape;128;p62"/>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9" name="Google Shape;129;p62"/>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30" name="Google Shape;130;p62"/>
          <p:cNvSpPr txBox="1"/>
          <p:nvPr>
            <p:ph type="title"/>
          </p:nvPr>
        </p:nvSpPr>
        <p:spPr>
          <a:xfrm rot="5400000">
            <a:off x="5414434" y="2662767"/>
            <a:ext cx="4487333"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Candara"/>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62"/>
          <p:cNvSpPr txBox="1"/>
          <p:nvPr>
            <p:ph idx="1" type="body"/>
          </p:nvPr>
        </p:nvSpPr>
        <p:spPr>
          <a:xfrm rot="5400000">
            <a:off x="1223433" y="681567"/>
            <a:ext cx="4487334" cy="6019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accent1"/>
              </a:buClr>
              <a:buSzPts val="2400"/>
              <a:buChar char="*"/>
              <a:defRPr/>
            </a:lvl1pPr>
            <a:lvl2pPr indent="-368300" lvl="1" marL="914400" algn="l">
              <a:spcBef>
                <a:spcPts val="440"/>
              </a:spcBef>
              <a:spcAft>
                <a:spcPts val="0"/>
              </a:spcAft>
              <a:buClr>
                <a:schemeClr val="accent1"/>
              </a:buClr>
              <a:buSzPts val="2200"/>
              <a:buChar char="*"/>
              <a:defRPr/>
            </a:lvl2pPr>
            <a:lvl3pPr indent="-355600" lvl="2" marL="1371600" algn="l">
              <a:spcBef>
                <a:spcPts val="400"/>
              </a:spcBef>
              <a:spcAft>
                <a:spcPts val="0"/>
              </a:spcAft>
              <a:buClr>
                <a:schemeClr val="accent1"/>
              </a:buClr>
              <a:buSzPts val="2000"/>
              <a:buChar char="*"/>
              <a:defRPr/>
            </a:lvl3pPr>
            <a:lvl4pPr indent="-342900" lvl="3" marL="1828800" algn="l">
              <a:spcBef>
                <a:spcPts val="360"/>
              </a:spcBef>
              <a:spcAft>
                <a:spcPts val="0"/>
              </a:spcAft>
              <a:buClr>
                <a:schemeClr val="accent1"/>
              </a:buClr>
              <a:buSzPts val="1800"/>
              <a:buChar char="*"/>
              <a:defRPr/>
            </a:lvl4pPr>
            <a:lvl5pPr indent="-330200" lvl="4" marL="2286000" algn="l">
              <a:spcBef>
                <a:spcPts val="320"/>
              </a:spcBef>
              <a:spcAft>
                <a:spcPts val="0"/>
              </a:spcAft>
              <a:buClr>
                <a:schemeClr val="accent1"/>
              </a:buClr>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p:nvPr/>
        </p:nvSpPr>
        <p:spPr>
          <a:xfrm>
            <a:off x="228600" y="228600"/>
            <a:ext cx="8695944" cy="2468880"/>
          </a:xfrm>
          <a:prstGeom prst="roundRect">
            <a:avLst>
              <a:gd fmla="val 3362"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grpSp>
        <p:nvGrpSpPr>
          <p:cNvPr id="11" name="Google Shape;11;p51"/>
          <p:cNvGrpSpPr/>
          <p:nvPr/>
        </p:nvGrpSpPr>
        <p:grpSpPr>
          <a:xfrm>
            <a:off x="211665" y="1679429"/>
            <a:ext cx="8723376" cy="1329874"/>
            <a:chOff x="-3905251" y="4294188"/>
            <a:chExt cx="13027839" cy="1892300"/>
          </a:xfrm>
        </p:grpSpPr>
        <p:sp>
          <p:nvSpPr>
            <p:cNvPr id="12" name="Google Shape;12;p51"/>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3" name="Google Shape;13;p51"/>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4" name="Google Shape;14;p51"/>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5" name="Google Shape;15;p51"/>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6" name="Google Shape;16;p51"/>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7" name="Google Shape;17;p5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FFFFFF"/>
              </a:buClr>
              <a:buSzPts val="4400"/>
              <a:buFont typeface="Candara"/>
              <a:buNone/>
              <a:defRPr b="0" i="0" sz="4400" u="none" cap="none" strike="noStrike">
                <a:solidFill>
                  <a:srgbClr val="FFFFFF"/>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51"/>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19" name="Google Shape;19;p51"/>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20" name="Google Shape;20;p5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sz="1000" u="none">
                <a:solidFill>
                  <a:schemeClr val="dk2"/>
                </a:solidFill>
                <a:latin typeface="Candara"/>
                <a:ea typeface="Candara"/>
                <a:cs typeface="Candara"/>
                <a:sym typeface="Candara"/>
              </a:defRPr>
            </a:lvl1pPr>
            <a:lvl2pPr indent="0" lvl="1" marL="0" marR="0" rtl="0" algn="ctr">
              <a:spcBef>
                <a:spcPts val="0"/>
              </a:spcBef>
              <a:buNone/>
              <a:defRPr b="0" sz="1000" u="none">
                <a:solidFill>
                  <a:schemeClr val="dk2"/>
                </a:solidFill>
                <a:latin typeface="Candara"/>
                <a:ea typeface="Candara"/>
                <a:cs typeface="Candara"/>
                <a:sym typeface="Candara"/>
              </a:defRPr>
            </a:lvl2pPr>
            <a:lvl3pPr indent="0" lvl="2" marL="0" marR="0" rtl="0" algn="ctr">
              <a:spcBef>
                <a:spcPts val="0"/>
              </a:spcBef>
              <a:buNone/>
              <a:defRPr b="0" sz="1000" u="none">
                <a:solidFill>
                  <a:schemeClr val="dk2"/>
                </a:solidFill>
                <a:latin typeface="Candara"/>
                <a:ea typeface="Candara"/>
                <a:cs typeface="Candara"/>
                <a:sym typeface="Candara"/>
              </a:defRPr>
            </a:lvl3pPr>
            <a:lvl4pPr indent="0" lvl="3" marL="0" marR="0" rtl="0" algn="ctr">
              <a:spcBef>
                <a:spcPts val="0"/>
              </a:spcBef>
              <a:buNone/>
              <a:defRPr b="0" sz="1000" u="none">
                <a:solidFill>
                  <a:schemeClr val="dk2"/>
                </a:solidFill>
                <a:latin typeface="Candara"/>
                <a:ea typeface="Candara"/>
                <a:cs typeface="Candara"/>
                <a:sym typeface="Candara"/>
              </a:defRPr>
            </a:lvl4pPr>
            <a:lvl5pPr indent="0" lvl="4" marL="0" marR="0" rtl="0" algn="ctr">
              <a:spcBef>
                <a:spcPts val="0"/>
              </a:spcBef>
              <a:buNone/>
              <a:defRPr b="0" sz="1000" u="none">
                <a:solidFill>
                  <a:schemeClr val="dk2"/>
                </a:solidFill>
                <a:latin typeface="Candara"/>
                <a:ea typeface="Candara"/>
                <a:cs typeface="Candara"/>
                <a:sym typeface="Candara"/>
              </a:defRPr>
            </a:lvl5pPr>
            <a:lvl6pPr indent="0" lvl="5" marL="0" marR="0" rtl="0" algn="ctr">
              <a:spcBef>
                <a:spcPts val="0"/>
              </a:spcBef>
              <a:buNone/>
              <a:defRPr b="0" sz="1000" u="none">
                <a:solidFill>
                  <a:schemeClr val="dk2"/>
                </a:solidFill>
                <a:latin typeface="Candara"/>
                <a:ea typeface="Candara"/>
                <a:cs typeface="Candara"/>
                <a:sym typeface="Candara"/>
              </a:defRPr>
            </a:lvl6pPr>
            <a:lvl7pPr indent="0" lvl="6" marL="0" marR="0" rtl="0" algn="ctr">
              <a:spcBef>
                <a:spcPts val="0"/>
              </a:spcBef>
              <a:buNone/>
              <a:defRPr b="0" sz="1000" u="none">
                <a:solidFill>
                  <a:schemeClr val="dk2"/>
                </a:solidFill>
                <a:latin typeface="Candara"/>
                <a:ea typeface="Candara"/>
                <a:cs typeface="Candara"/>
                <a:sym typeface="Candara"/>
              </a:defRPr>
            </a:lvl7pPr>
            <a:lvl8pPr indent="0" lvl="7" marL="0" marR="0" rtl="0" algn="ctr">
              <a:spcBef>
                <a:spcPts val="0"/>
              </a:spcBef>
              <a:buNone/>
              <a:defRPr b="0" sz="1000" u="none">
                <a:solidFill>
                  <a:schemeClr val="dk2"/>
                </a:solidFill>
                <a:latin typeface="Candara"/>
                <a:ea typeface="Candara"/>
                <a:cs typeface="Candara"/>
                <a:sym typeface="Candara"/>
              </a:defRPr>
            </a:lvl8pPr>
            <a:lvl9pPr indent="0" lvl="8" marL="0" marR="0" rtl="0" algn="ctr">
              <a:spcBef>
                <a:spcPts val="0"/>
              </a:spcBef>
              <a:buNone/>
              <a:defRPr b="0" sz="1000" u="none">
                <a:solidFill>
                  <a:schemeClr val="dk2"/>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it-IT"/>
              <a:t>‹#›</a:t>
            </a:fld>
            <a:endParaRPr/>
          </a:p>
        </p:txBody>
      </p:sp>
      <p:sp>
        <p:nvSpPr>
          <p:cNvPr id="21" name="Google Shape;21;p51"/>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Candara"/>
                <a:ea typeface="Candara"/>
                <a:cs typeface="Candara"/>
                <a:sym typeface="Candara"/>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Candara"/>
                <a:ea typeface="Candara"/>
                <a:cs typeface="Candara"/>
                <a:sym typeface="Candara"/>
              </a:defRPr>
            </a:lvl2pPr>
            <a:lvl3pPr indent="-355600" lvl="2" marL="13716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Candara"/>
                <a:ea typeface="Candara"/>
                <a:cs typeface="Candara"/>
                <a:sym typeface="Candara"/>
              </a:defRPr>
            </a:lvl3pPr>
            <a:lvl4pPr indent="-342900" lvl="3" marL="1828800" marR="0" rtl="0" algn="l">
              <a:spcBef>
                <a:spcPts val="360"/>
              </a:spcBef>
              <a:spcAft>
                <a:spcPts val="0"/>
              </a:spcAft>
              <a:buClr>
                <a:schemeClr val="accent1"/>
              </a:buClr>
              <a:buSzPts val="1800"/>
              <a:buFont typeface="Noto Sans Symbols"/>
              <a:buChar char="*"/>
              <a:defRPr b="0" i="0" sz="1800" u="none" cap="none" strike="noStrike">
                <a:solidFill>
                  <a:schemeClr val="dk2"/>
                </a:solidFill>
                <a:latin typeface="Candara"/>
                <a:ea typeface="Candara"/>
                <a:cs typeface="Candara"/>
                <a:sym typeface="Candara"/>
              </a:defRPr>
            </a:lvl4pPr>
            <a:lvl5pPr indent="-330200" lvl="4" marL="2286000" marR="0" rtl="0" algn="l">
              <a:spcBef>
                <a:spcPts val="320"/>
              </a:spcBef>
              <a:spcAft>
                <a:spcPts val="0"/>
              </a:spcAft>
              <a:buClr>
                <a:schemeClr val="accent1"/>
              </a:buClr>
              <a:buSzPts val="1600"/>
              <a:buFont typeface="Noto Sans Symbols"/>
              <a:buChar char="*"/>
              <a:defRPr b="0" i="0" sz="1600" u="none" cap="none" strike="noStrike">
                <a:solidFill>
                  <a:schemeClr val="dk2"/>
                </a:solidFill>
                <a:latin typeface="Candara"/>
                <a:ea typeface="Candara"/>
                <a:cs typeface="Candara"/>
                <a:sym typeface="Candara"/>
              </a:defRPr>
            </a:lvl5pPr>
            <a:lvl6pPr indent="-317500" lvl="5" marL="27432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6pPr>
            <a:lvl7pPr indent="-317500" lvl="6" marL="32004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7pPr>
            <a:lvl8pPr indent="-317500" lvl="7" marL="36576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8pPr>
            <a:lvl9pPr indent="-317500" lvl="8" marL="41148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hyperlink" Target="http://localhost:8080/v3/api-docs"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7.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Spring Rest</a:t>
            </a:r>
            <a:endParaRPr/>
          </a:p>
        </p:txBody>
      </p:sp>
      <p:sp>
        <p:nvSpPr>
          <p:cNvPr id="137" name="Google Shape;137;p1"/>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Java base</a:t>
            </a:r>
            <a:endParaRPr/>
          </a:p>
          <a:p>
            <a:pPr indent="-274320" lvl="0" marL="274320" rtl="0" algn="l">
              <a:spcBef>
                <a:spcPts val="480"/>
              </a:spcBef>
              <a:spcAft>
                <a:spcPts val="0"/>
              </a:spcAft>
              <a:buSzPts val="2400"/>
              <a:buChar char="*"/>
            </a:pPr>
            <a:r>
              <a:rPr lang="it-IT"/>
              <a:t>Concetti base di web application</a:t>
            </a:r>
            <a:endParaRPr/>
          </a:p>
          <a:p>
            <a:pPr indent="-274320" lvl="0" marL="274320" rtl="0" algn="l">
              <a:spcBef>
                <a:spcPts val="480"/>
              </a:spcBef>
              <a:spcAft>
                <a:spcPts val="0"/>
              </a:spcAft>
              <a:buSzPts val="2400"/>
              <a:buChar char="*"/>
            </a:pPr>
            <a:r>
              <a:rPr lang="it-IT"/>
              <a:t>Conoscenza base tecnologie web di </a:t>
            </a:r>
            <a:r>
              <a:rPr i="1" lang="it-IT"/>
              <a:t>front-end</a:t>
            </a:r>
            <a:r>
              <a:rPr lang="it-IT"/>
              <a:t>: Html5, Css3, Javascript</a:t>
            </a:r>
            <a:endParaRPr/>
          </a:p>
          <a:p>
            <a:pPr indent="-274320" lvl="0" marL="274320" rtl="0" algn="l">
              <a:spcBef>
                <a:spcPts val="480"/>
              </a:spcBef>
              <a:spcAft>
                <a:spcPts val="0"/>
              </a:spcAft>
              <a:buSzPts val="2400"/>
              <a:buChar char="*"/>
            </a:pPr>
            <a:r>
              <a:rPr lang="it-IT"/>
              <a:t>Java web standard: Servlet/Jsp</a:t>
            </a:r>
            <a:endParaRPr/>
          </a:p>
          <a:p>
            <a:pPr indent="-274320" lvl="0" marL="274320" rtl="0" algn="l">
              <a:spcBef>
                <a:spcPts val="480"/>
              </a:spcBef>
              <a:spcAft>
                <a:spcPts val="0"/>
              </a:spcAft>
              <a:buSzPts val="2400"/>
              <a:buChar char="*"/>
            </a:pPr>
            <a:r>
              <a:rPr lang="it-IT"/>
              <a:t>Java web filter</a:t>
            </a:r>
            <a:endParaRPr/>
          </a:p>
          <a:p>
            <a:pPr indent="-274320" lvl="0" marL="274320" rtl="0" algn="l">
              <a:spcBef>
                <a:spcPts val="480"/>
              </a:spcBef>
              <a:spcAft>
                <a:spcPts val="0"/>
              </a:spcAft>
              <a:buSzPts val="2400"/>
              <a:buChar char="*"/>
            </a:pPr>
            <a:r>
              <a:rPr lang="it-IT"/>
              <a:t>Spring core </a:t>
            </a:r>
            <a:r>
              <a:rPr i="1" lang="it-IT"/>
              <a:t>IoC container</a:t>
            </a:r>
            <a:endParaRPr/>
          </a:p>
          <a:p>
            <a:pPr indent="-274320" lvl="0" marL="274320" rtl="0" algn="l">
              <a:spcBef>
                <a:spcPts val="480"/>
              </a:spcBef>
              <a:spcAft>
                <a:spcPts val="0"/>
              </a:spcAft>
              <a:buSzPts val="2400"/>
              <a:buChar char="*"/>
            </a:pPr>
            <a:r>
              <a:rPr lang="it-IT"/>
              <a:t>Spring </a:t>
            </a:r>
            <a:r>
              <a:rPr i="1" lang="it-IT"/>
              <a:t>Mvc</a:t>
            </a:r>
            <a:endParaRPr i="1"/>
          </a:p>
          <a:p>
            <a:pPr indent="-274320" lvl="0" marL="274320" rtl="0" algn="l">
              <a:spcBef>
                <a:spcPts val="480"/>
              </a:spcBef>
              <a:spcAft>
                <a:spcPts val="0"/>
              </a:spcAft>
              <a:buSzPts val="2400"/>
              <a:buChar char="*"/>
            </a:pPr>
            <a:r>
              <a:rPr lang="it-IT"/>
              <a:t>Concetti di base dei web services</a:t>
            </a:r>
            <a:endParaRPr/>
          </a:p>
        </p:txBody>
      </p:sp>
      <p:sp>
        <p:nvSpPr>
          <p:cNvPr id="143" name="Google Shape;143;p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44" name="Google Shape;144;p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Prerequisiti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txBox="1"/>
          <p:nvPr>
            <p:ph idx="1" type="body"/>
          </p:nvPr>
        </p:nvSpPr>
        <p:spPr>
          <a:xfrm>
            <a:off x="872067" y="2276872"/>
            <a:ext cx="7408333" cy="384929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Servizi applicativi fruibili da altri applicativi tramite chiamate remote (API remote)</a:t>
            </a:r>
            <a:endParaRPr/>
          </a:p>
          <a:p>
            <a:pPr indent="-274320" lvl="0" marL="274320" rtl="0" algn="l">
              <a:spcBef>
                <a:spcPts val="480"/>
              </a:spcBef>
              <a:spcAft>
                <a:spcPts val="0"/>
              </a:spcAft>
              <a:buSzPts val="2400"/>
              <a:buChar char="*"/>
            </a:pPr>
            <a:r>
              <a:rPr lang="it-IT"/>
              <a:t>Rispetto alle Servlet/Jsp viste nelle web application cambia il target: dall’utente/client connesso tramite browser, il target adesso diventano le applicazioni software remote, indipendentemente dal linguaggio in cui sono scritte</a:t>
            </a:r>
            <a:endParaRPr/>
          </a:p>
          <a:p>
            <a:pPr indent="-274320" lvl="0" marL="274320" rtl="0" algn="l">
              <a:spcBef>
                <a:spcPts val="480"/>
              </a:spcBef>
              <a:spcAft>
                <a:spcPts val="0"/>
              </a:spcAft>
              <a:buSzPts val="2400"/>
              <a:buChar char="*"/>
            </a:pPr>
            <a:r>
              <a:rPr lang="it-IT"/>
              <a:t>Interoperabilità tra applicazioni software distribuite sulla rete</a:t>
            </a:r>
            <a:endParaRPr/>
          </a:p>
        </p:txBody>
      </p:sp>
      <p:sp>
        <p:nvSpPr>
          <p:cNvPr id="150" name="Google Shape;150;p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Web Service</a:t>
            </a:r>
            <a:endParaRPr/>
          </a:p>
        </p:txBody>
      </p:sp>
      <p:sp>
        <p:nvSpPr>
          <p:cNvPr id="151" name="Google Shape;151;p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92500"/>
          </a:bodyPr>
          <a:lstStyle/>
          <a:p>
            <a:pPr indent="-133350" lvl="0" marL="274320" rtl="0" algn="l">
              <a:spcBef>
                <a:spcPts val="0"/>
              </a:spcBef>
              <a:spcAft>
                <a:spcPts val="0"/>
              </a:spcAft>
              <a:buSzPct val="100000"/>
              <a:buNone/>
            </a:pPr>
            <a:r>
              <a:t/>
            </a:r>
            <a:endParaRPr/>
          </a:p>
          <a:p>
            <a:pPr indent="-274320" lvl="0" marL="274320" rtl="0" algn="l">
              <a:spcBef>
                <a:spcPts val="444"/>
              </a:spcBef>
              <a:spcAft>
                <a:spcPts val="0"/>
              </a:spcAft>
              <a:buSzPct val="100000"/>
              <a:buChar char="*"/>
            </a:pPr>
            <a:r>
              <a:rPr lang="it-IT"/>
              <a:t>I messaggi scambiati tra le applicazioni remote devono seguire le specifiche del protocollo SOAP: Simple Object Access Protocol e sono generalmente inviati su Http</a:t>
            </a:r>
            <a:endParaRPr/>
          </a:p>
          <a:p>
            <a:pPr indent="-274320" lvl="0" marL="274320" rtl="0" algn="l">
              <a:spcBef>
                <a:spcPts val="444"/>
              </a:spcBef>
              <a:spcAft>
                <a:spcPts val="0"/>
              </a:spcAft>
              <a:buSzPct val="100000"/>
              <a:buChar char="*"/>
            </a:pPr>
            <a:r>
              <a:rPr lang="it-IT"/>
              <a:t>I messaggi sono in formato Xml e sono costituiti da una busta (envelope) che contiene un header ed un body</a:t>
            </a:r>
            <a:endParaRPr/>
          </a:p>
          <a:p>
            <a:pPr indent="-274320" lvl="0" marL="274320" rtl="0" algn="l">
              <a:spcBef>
                <a:spcPts val="444"/>
              </a:spcBef>
              <a:spcAft>
                <a:spcPts val="0"/>
              </a:spcAft>
              <a:buSzPct val="100000"/>
              <a:buChar char="*"/>
            </a:pPr>
            <a:r>
              <a:rPr lang="it-IT"/>
              <a:t>Forte accoppiamento tra server e client: regole ben definite e basate sul Wsdl del server (web service descriptor language)</a:t>
            </a:r>
            <a:endParaRPr/>
          </a:p>
          <a:p>
            <a:pPr indent="-274320" lvl="0" marL="274320" rtl="0" algn="l">
              <a:spcBef>
                <a:spcPts val="444"/>
              </a:spcBef>
              <a:spcAft>
                <a:spcPts val="0"/>
              </a:spcAft>
              <a:buSzPct val="100000"/>
              <a:buChar char="*"/>
            </a:pPr>
            <a:r>
              <a:rPr lang="it-IT"/>
              <a:t>Possibilità di automatizzare la creazione dei client (stub) a partire dal wsdl</a:t>
            </a:r>
            <a:endParaRPr/>
          </a:p>
          <a:p>
            <a:pPr indent="-133350" lvl="0" marL="274320" rtl="0" algn="l">
              <a:spcBef>
                <a:spcPts val="444"/>
              </a:spcBef>
              <a:spcAft>
                <a:spcPts val="0"/>
              </a:spcAft>
              <a:buSzPct val="100000"/>
              <a:buNone/>
            </a:pPr>
            <a:r>
              <a:t/>
            </a:r>
            <a:endParaRPr/>
          </a:p>
        </p:txBody>
      </p:sp>
      <p:sp>
        <p:nvSpPr>
          <p:cNvPr id="157" name="Google Shape;157;p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Web Service SOAP</a:t>
            </a:r>
            <a:endParaRPr/>
          </a:p>
        </p:txBody>
      </p:sp>
      <p:sp>
        <p:nvSpPr>
          <p:cNvPr id="158" name="Google Shape;158;p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REpresentational State Transfer: modello architetturale e non un protocollo con specifiche formali come il Soap</a:t>
            </a:r>
            <a:endParaRPr/>
          </a:p>
          <a:p>
            <a:pPr indent="-274320" lvl="0" marL="274320" rtl="0" algn="l">
              <a:spcBef>
                <a:spcPts val="480"/>
              </a:spcBef>
              <a:spcAft>
                <a:spcPts val="0"/>
              </a:spcAft>
              <a:buSzPts val="2400"/>
              <a:buChar char="*"/>
            </a:pPr>
            <a:r>
              <a:rPr lang="it-IT"/>
              <a:t>Modello incentrato sulle risorse e non sui servizi</a:t>
            </a:r>
            <a:endParaRPr/>
          </a:p>
          <a:p>
            <a:pPr indent="-274320" lvl="0" marL="274320" rtl="0" algn="l">
              <a:spcBef>
                <a:spcPts val="480"/>
              </a:spcBef>
              <a:spcAft>
                <a:spcPts val="0"/>
              </a:spcAft>
              <a:buSzPts val="2400"/>
              <a:buChar char="*"/>
            </a:pPr>
            <a:r>
              <a:rPr lang="it-IT"/>
              <a:t>Non viene creato un nuovo protocollo (come Soap) che si aggiunge al protocollo Http ma viene sfruttato unicamente il protocollo Http (get-post-put-delete)</a:t>
            </a:r>
            <a:endParaRPr/>
          </a:p>
          <a:p>
            <a:pPr indent="-274320" lvl="0" marL="274320" rtl="0" algn="l">
              <a:spcBef>
                <a:spcPts val="480"/>
              </a:spcBef>
              <a:spcAft>
                <a:spcPts val="0"/>
              </a:spcAft>
              <a:buSzPts val="2400"/>
              <a:buChar char="*"/>
            </a:pPr>
            <a:r>
              <a:rPr lang="it-IT"/>
              <a:t>Non c’è un accoppiamento forte tra client e server</a:t>
            </a:r>
            <a:endParaRPr/>
          </a:p>
          <a:p>
            <a:pPr indent="-274320" lvl="0" marL="274320" rtl="0" algn="l">
              <a:spcBef>
                <a:spcPts val="480"/>
              </a:spcBef>
              <a:spcAft>
                <a:spcPts val="0"/>
              </a:spcAft>
              <a:buSzPts val="2400"/>
              <a:buChar char="*"/>
            </a:pPr>
            <a:r>
              <a:rPr lang="it-IT"/>
              <a:t>Il formato di scambio non deve essere per forza Xml (come per Soap), anzi generalmente è Json</a:t>
            </a:r>
            <a:endParaRPr/>
          </a:p>
          <a:p>
            <a:pPr indent="-274320" lvl="0" marL="274320" rtl="0" algn="l">
              <a:spcBef>
                <a:spcPts val="480"/>
              </a:spcBef>
              <a:spcAft>
                <a:spcPts val="0"/>
              </a:spcAft>
              <a:buSzPts val="2400"/>
              <a:buChar char="*"/>
            </a:pPr>
            <a:r>
              <a:rPr lang="it-IT"/>
              <a:t>Un servizio Rest è legato ad un indirizzo/url web</a:t>
            </a:r>
            <a:endParaRPr/>
          </a:p>
        </p:txBody>
      </p:sp>
      <p:sp>
        <p:nvSpPr>
          <p:cNvPr id="164" name="Google Shape;164;p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65" name="Google Shape;165;p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Web Services Rest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idx="1" type="body"/>
          </p:nvPr>
        </p:nvSpPr>
        <p:spPr>
          <a:xfrm>
            <a:off x="872067" y="2492896"/>
            <a:ext cx="7408333" cy="3633267"/>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b="1" i="1" lang="it-IT"/>
              <a:t>GET</a:t>
            </a:r>
            <a:r>
              <a:rPr lang="it-IT"/>
              <a:t>: lettura dati dal server</a:t>
            </a:r>
            <a:endParaRPr/>
          </a:p>
          <a:p>
            <a:pPr indent="-274320" lvl="0" marL="274320" rtl="0" algn="l">
              <a:spcBef>
                <a:spcPts val="480"/>
              </a:spcBef>
              <a:spcAft>
                <a:spcPts val="0"/>
              </a:spcAft>
              <a:buSzPts val="2400"/>
              <a:buChar char="*"/>
            </a:pPr>
            <a:r>
              <a:rPr b="1" i="1" lang="it-IT"/>
              <a:t>POST</a:t>
            </a:r>
            <a:r>
              <a:rPr lang="it-IT"/>
              <a:t>: inserimento dati sul server</a:t>
            </a:r>
            <a:endParaRPr/>
          </a:p>
          <a:p>
            <a:pPr indent="-274320" lvl="0" marL="274320" rtl="0" algn="l">
              <a:spcBef>
                <a:spcPts val="480"/>
              </a:spcBef>
              <a:spcAft>
                <a:spcPts val="0"/>
              </a:spcAft>
              <a:buSzPts val="2400"/>
              <a:buChar char="*"/>
            </a:pPr>
            <a:r>
              <a:rPr b="1" i="1" lang="it-IT"/>
              <a:t>PUT</a:t>
            </a:r>
            <a:r>
              <a:rPr lang="it-IT"/>
              <a:t>: aggiornamento completo dati sul server</a:t>
            </a:r>
            <a:endParaRPr/>
          </a:p>
          <a:p>
            <a:pPr indent="-274320" lvl="0" marL="274320" rtl="0" algn="l">
              <a:spcBef>
                <a:spcPts val="480"/>
              </a:spcBef>
              <a:spcAft>
                <a:spcPts val="0"/>
              </a:spcAft>
              <a:buSzPts val="2400"/>
              <a:buChar char="*"/>
            </a:pPr>
            <a:r>
              <a:rPr b="1" i="1" lang="it-IT"/>
              <a:t>PATCH</a:t>
            </a:r>
            <a:r>
              <a:rPr lang="it-IT"/>
              <a:t>: aggiornamento parziale dati sul server</a:t>
            </a:r>
            <a:endParaRPr/>
          </a:p>
          <a:p>
            <a:pPr indent="-274320" lvl="0" marL="274320" rtl="0" algn="l">
              <a:spcBef>
                <a:spcPts val="480"/>
              </a:spcBef>
              <a:spcAft>
                <a:spcPts val="0"/>
              </a:spcAft>
              <a:buSzPts val="2400"/>
              <a:buChar char="*"/>
            </a:pPr>
            <a:r>
              <a:rPr b="1" i="1" lang="it-IT"/>
              <a:t>DELETE</a:t>
            </a:r>
            <a:r>
              <a:rPr lang="it-IT"/>
              <a:t>: cancellazione dati dal server</a:t>
            </a:r>
            <a:endParaRPr/>
          </a:p>
          <a:p>
            <a:pPr indent="-121920" lvl="0" marL="274320" rtl="0" algn="l">
              <a:spcBef>
                <a:spcPts val="480"/>
              </a:spcBef>
              <a:spcAft>
                <a:spcPts val="0"/>
              </a:spcAft>
              <a:buSzPts val="2400"/>
              <a:buNone/>
            </a:pPr>
            <a:r>
              <a:t/>
            </a:r>
            <a:endParaRPr/>
          </a:p>
        </p:txBody>
      </p:sp>
      <p:sp>
        <p:nvSpPr>
          <p:cNvPr id="171" name="Google Shape;171;p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2" name="Google Shape;172;p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I metodi del protocollo HTTP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
          <p:cNvSpPr txBox="1"/>
          <p:nvPr>
            <p:ph idx="1" type="body"/>
          </p:nvPr>
        </p:nvSpPr>
        <p:spPr>
          <a:xfrm>
            <a:off x="872067" y="2348880"/>
            <a:ext cx="7408333" cy="3777283"/>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Per utilizzare i servizi Rest con Spring tramite lo </a:t>
            </a:r>
            <a:r>
              <a:rPr i="1" lang="it-IT"/>
              <a:t>Spring Initialzr </a:t>
            </a:r>
            <a:r>
              <a:rPr lang="it-IT"/>
              <a:t>è sufficiente impostare la </a:t>
            </a:r>
            <a:r>
              <a:rPr i="1" lang="it-IT"/>
              <a:t>dependency web</a:t>
            </a:r>
            <a:r>
              <a:rPr lang="it-IT"/>
              <a:t> (come per i progetti Spring Mvc) che porta lo </a:t>
            </a:r>
            <a:r>
              <a:rPr i="1" lang="it-IT"/>
              <a:t>starter-pom</a:t>
            </a:r>
            <a:r>
              <a:rPr lang="it-IT"/>
              <a:t>:</a:t>
            </a:r>
            <a:endParaRPr/>
          </a:p>
          <a:p>
            <a:pPr indent="0" lvl="2" marL="581343" rtl="0" algn="l">
              <a:spcBef>
                <a:spcPts val="400"/>
              </a:spcBef>
              <a:spcAft>
                <a:spcPts val="0"/>
              </a:spcAft>
              <a:buSzPts val="2000"/>
              <a:buNone/>
            </a:pPr>
            <a:r>
              <a:rPr i="1" lang="it-IT"/>
              <a:t>spring-boot-starter-webmvc</a:t>
            </a:r>
            <a:endParaRPr i="1"/>
          </a:p>
        </p:txBody>
      </p:sp>
      <p:sp>
        <p:nvSpPr>
          <p:cNvPr id="178" name="Google Shape;178;p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9" name="Google Shape;179;p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Spring Rest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L’annotation </a:t>
            </a:r>
            <a:r>
              <a:rPr i="1" lang="it-IT"/>
              <a:t>@RestController</a:t>
            </a:r>
            <a:r>
              <a:rPr lang="it-IT"/>
              <a:t> è uno </a:t>
            </a:r>
            <a:r>
              <a:rPr i="1" lang="it-IT"/>
              <a:t>stereotype</a:t>
            </a:r>
            <a:r>
              <a:rPr lang="it-IT"/>
              <a:t> di Spring che, posizionato davanti alla dichiarazione di una classe, indica che:</a:t>
            </a:r>
            <a:endParaRPr/>
          </a:p>
          <a:p>
            <a:pPr indent="-274319" lvl="1" marL="576263" rtl="0" algn="l">
              <a:spcBef>
                <a:spcPts val="440"/>
              </a:spcBef>
              <a:spcAft>
                <a:spcPts val="0"/>
              </a:spcAft>
              <a:buSzPts val="2200"/>
              <a:buChar char="*"/>
            </a:pPr>
            <a:r>
              <a:rPr lang="it-IT"/>
              <a:t>la classe è un </a:t>
            </a:r>
            <a:r>
              <a:rPr i="1" lang="it-IT"/>
              <a:t>@Component</a:t>
            </a:r>
            <a:r>
              <a:rPr lang="it-IT"/>
              <a:t> per l’</a:t>
            </a:r>
            <a:r>
              <a:rPr i="1" lang="it-IT"/>
              <a:t>IoC</a:t>
            </a:r>
            <a:r>
              <a:rPr lang="it-IT"/>
              <a:t> </a:t>
            </a:r>
            <a:r>
              <a:rPr i="1" lang="it-IT"/>
              <a:t>container </a:t>
            </a:r>
            <a:r>
              <a:rPr lang="it-IT"/>
              <a:t>di Spring</a:t>
            </a:r>
            <a:endParaRPr/>
          </a:p>
          <a:p>
            <a:pPr indent="-274319" lvl="1" marL="576263" rtl="0" algn="l">
              <a:spcBef>
                <a:spcPts val="440"/>
              </a:spcBef>
              <a:spcAft>
                <a:spcPts val="0"/>
              </a:spcAft>
              <a:buSzPts val="2200"/>
              <a:buChar char="*"/>
            </a:pPr>
            <a:r>
              <a:rPr lang="it-IT"/>
              <a:t>la classe è una specializzazione di </a:t>
            </a:r>
            <a:r>
              <a:rPr i="1" lang="it-IT"/>
              <a:t>@Controller</a:t>
            </a:r>
            <a:r>
              <a:rPr lang="it-IT"/>
              <a:t> che implicitamente imposta il valore di ritorno dei propri metodi all’interno della </a:t>
            </a:r>
            <a:r>
              <a:rPr i="1" lang="it-IT"/>
              <a:t>response </a:t>
            </a:r>
            <a:r>
              <a:rPr lang="it-IT"/>
              <a:t>Http, ovvero i metodi della classe sono implicitamente annotati con </a:t>
            </a:r>
            <a:r>
              <a:rPr i="1" lang="it-IT"/>
              <a:t>@ResponseBody</a:t>
            </a:r>
            <a:endParaRPr/>
          </a:p>
        </p:txBody>
      </p:sp>
      <p:sp>
        <p:nvSpPr>
          <p:cNvPr id="185" name="Google Shape;185;p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86" name="Google Shape;186;p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@RestController</a:t>
            </a:r>
            <a:endParaRPr i="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Per ogni annotation </a:t>
            </a:r>
            <a:r>
              <a:rPr i="1" lang="it-IT"/>
              <a:t>@RequestMapping</a:t>
            </a:r>
            <a:r>
              <a:rPr lang="it-IT"/>
              <a:t> (e per le derivate </a:t>
            </a:r>
            <a:r>
              <a:rPr i="1" lang="it-IT"/>
              <a:t>@GetMapping</a:t>
            </a:r>
            <a:r>
              <a:rPr lang="it-IT"/>
              <a:t>, </a:t>
            </a:r>
            <a:r>
              <a:rPr i="1" lang="it-IT"/>
              <a:t>@PostMapping</a:t>
            </a:r>
            <a:r>
              <a:rPr lang="it-IT"/>
              <a:t> etc.):</a:t>
            </a:r>
            <a:endParaRPr/>
          </a:p>
          <a:p>
            <a:pPr indent="-274319" lvl="1" marL="576263" rtl="0" algn="l">
              <a:spcBef>
                <a:spcPts val="440"/>
              </a:spcBef>
              <a:spcAft>
                <a:spcPts val="0"/>
              </a:spcAft>
              <a:buSzPts val="2200"/>
              <a:buChar char="*"/>
            </a:pPr>
            <a:r>
              <a:rPr lang="it-IT"/>
              <a:t>l’attributo </a:t>
            </a:r>
            <a:r>
              <a:rPr i="1" lang="it-IT"/>
              <a:t>produces</a:t>
            </a:r>
            <a:r>
              <a:rPr lang="it-IT"/>
              <a:t> indica che il metodo produce in output soltanto dati nel formato specificato (si può usare un array di valori). Es.: </a:t>
            </a:r>
            <a:r>
              <a:rPr i="1" lang="it-IT"/>
              <a:t>produces="application/json"</a:t>
            </a:r>
            <a:r>
              <a:rPr lang="it-IT"/>
              <a:t>. In termini tecnici, la </a:t>
            </a:r>
            <a:r>
              <a:rPr i="1" lang="it-IT"/>
              <a:t>request</a:t>
            </a:r>
            <a:r>
              <a:rPr lang="it-IT"/>
              <a:t> Http deve avere l’</a:t>
            </a:r>
            <a:r>
              <a:rPr i="1" lang="it-IT"/>
              <a:t>header accept</a:t>
            </a:r>
            <a:r>
              <a:rPr lang="it-IT"/>
              <a:t> impostato con i valori specificati</a:t>
            </a:r>
            <a:endParaRPr/>
          </a:p>
          <a:p>
            <a:pPr indent="-274319" lvl="1" marL="576263" rtl="0" algn="l">
              <a:spcBef>
                <a:spcPts val="440"/>
              </a:spcBef>
              <a:spcAft>
                <a:spcPts val="0"/>
              </a:spcAft>
              <a:buSzPts val="2200"/>
              <a:buChar char="*"/>
            </a:pPr>
            <a:r>
              <a:rPr lang="it-IT"/>
              <a:t>l’attributo </a:t>
            </a:r>
            <a:r>
              <a:rPr i="1" lang="it-IT"/>
              <a:t>consumes</a:t>
            </a:r>
            <a:r>
              <a:rPr lang="it-IT"/>
              <a:t> indica che il metodo accetta in input soltanto dati nel formato specificato (si può usare un array di valori). Es.: </a:t>
            </a:r>
            <a:r>
              <a:rPr i="1" lang="it-IT"/>
              <a:t>consumes="application/json"</a:t>
            </a:r>
            <a:r>
              <a:rPr lang="it-IT"/>
              <a:t>. In termini tecnici, la </a:t>
            </a:r>
            <a:r>
              <a:rPr i="1" lang="it-IT"/>
              <a:t>request</a:t>
            </a:r>
            <a:r>
              <a:rPr lang="it-IT"/>
              <a:t> Http deve avere il </a:t>
            </a:r>
            <a:r>
              <a:rPr i="1" lang="it-IT"/>
              <a:t>Content-type </a:t>
            </a:r>
            <a:r>
              <a:rPr lang="it-IT"/>
              <a:t>impostato con i valori specificati</a:t>
            </a:r>
            <a:endParaRPr i="1"/>
          </a:p>
        </p:txBody>
      </p:sp>
      <p:sp>
        <p:nvSpPr>
          <p:cNvPr id="192" name="Google Shape;192;p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93" name="Google Shape;193;p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produces</a:t>
            </a:r>
            <a:r>
              <a:rPr lang="it-IT"/>
              <a:t> e </a:t>
            </a:r>
            <a:r>
              <a:rPr i="1" lang="it-IT"/>
              <a:t>consumes</a:t>
            </a:r>
            <a:endParaRPr i="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i="1" lang="it-IT"/>
              <a:t>Cors</a:t>
            </a:r>
            <a:r>
              <a:rPr lang="it-IT"/>
              <a:t>, acronimo di </a:t>
            </a:r>
            <a:r>
              <a:rPr i="1" lang="it-IT"/>
              <a:t>Cross-Origin-Resource-Sharing</a:t>
            </a:r>
            <a:r>
              <a:rPr lang="it-IT"/>
              <a:t>, è un’opzione che consente di rendere </a:t>
            </a:r>
            <a:r>
              <a:rPr i="1" lang="it-IT"/>
              <a:t>url</a:t>
            </a:r>
            <a:r>
              <a:rPr lang="it-IT"/>
              <a:t>, in generale </a:t>
            </a:r>
            <a:r>
              <a:rPr i="1" lang="it-IT"/>
              <a:t>risorse</a:t>
            </a:r>
            <a:r>
              <a:rPr lang="it-IT"/>
              <a:t>, invocabili anche da host e/o porte differenti rispetto a quelle su cui è in esecuzione il codice client (comportamento bloccato, di </a:t>
            </a:r>
            <a:r>
              <a:rPr i="1" lang="it-IT"/>
              <a:t>default</a:t>
            </a:r>
            <a:r>
              <a:rPr lang="it-IT"/>
              <a:t>, dai browser)</a:t>
            </a:r>
            <a:endParaRPr/>
          </a:p>
          <a:p>
            <a:pPr indent="-274320" lvl="0" marL="274320" rtl="0" algn="l">
              <a:spcBef>
                <a:spcPts val="480"/>
              </a:spcBef>
              <a:spcAft>
                <a:spcPts val="0"/>
              </a:spcAft>
              <a:buSzPts val="2400"/>
              <a:buChar char="*"/>
            </a:pPr>
            <a:r>
              <a:rPr lang="it-IT"/>
              <a:t>l’annotation </a:t>
            </a:r>
            <a:r>
              <a:rPr i="1" lang="it-IT"/>
              <a:t>@CrossOrigin(origins=</a:t>
            </a:r>
            <a:r>
              <a:rPr lang="it-IT"/>
              <a:t>"</a:t>
            </a:r>
            <a:r>
              <a:rPr i="1" lang="it-IT"/>
              <a:t>*</a:t>
            </a:r>
            <a:r>
              <a:rPr lang="it-IT"/>
              <a:t>"</a:t>
            </a:r>
            <a:r>
              <a:rPr i="1" lang="it-IT"/>
              <a:t>)</a:t>
            </a:r>
            <a:r>
              <a:rPr lang="it-IT"/>
              <a:t> ci consente di specificare che i nostri servizi </a:t>
            </a:r>
            <a:r>
              <a:rPr i="1" lang="it-IT"/>
              <a:t>rest</a:t>
            </a:r>
            <a:r>
              <a:rPr lang="it-IT"/>
              <a:t> sono invocabili anche da richieste provenienti da qualsiasi host e/o porta (scenario tipico per i servizi </a:t>
            </a:r>
            <a:r>
              <a:rPr i="1" lang="it-IT"/>
              <a:t>rest</a:t>
            </a:r>
            <a:r>
              <a:rPr lang="it-IT"/>
              <a:t>)</a:t>
            </a:r>
            <a:endParaRPr/>
          </a:p>
        </p:txBody>
      </p:sp>
      <p:sp>
        <p:nvSpPr>
          <p:cNvPr id="199" name="Google Shape;199;p1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0" name="Google Shape;200;p1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@CrossOrigin(</a:t>
            </a:r>
            <a:r>
              <a:rPr lang="it-IT"/>
              <a:t>origins = "*")</a:t>
            </a:r>
            <a:endParaRPr i="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Nelle slide successive si farà riferimento a:</a:t>
            </a:r>
            <a:endParaRPr/>
          </a:p>
          <a:p>
            <a:pPr indent="-274319" lvl="1" marL="576263" rtl="0" algn="l">
              <a:spcBef>
                <a:spcPts val="440"/>
              </a:spcBef>
              <a:spcAft>
                <a:spcPts val="0"/>
              </a:spcAft>
              <a:buSzPts val="2200"/>
              <a:buChar char="*"/>
            </a:pPr>
            <a:r>
              <a:rPr i="1" lang="it-IT"/>
              <a:t>PersonaBean</a:t>
            </a:r>
            <a:r>
              <a:rPr lang="it-IT"/>
              <a:t>: </a:t>
            </a:r>
            <a:r>
              <a:rPr i="1" lang="it-IT"/>
              <a:t>bean</a:t>
            </a:r>
            <a:r>
              <a:rPr lang="it-IT"/>
              <a:t> con i seguenti attributi:</a:t>
            </a:r>
            <a:endParaRPr/>
          </a:p>
          <a:p>
            <a:pPr indent="-228600" lvl="2" marL="855663" rtl="0" algn="l">
              <a:spcBef>
                <a:spcPts val="360"/>
              </a:spcBef>
              <a:spcAft>
                <a:spcPts val="0"/>
              </a:spcAft>
              <a:buSzPts val="1800"/>
              <a:buChar char="*"/>
            </a:pPr>
            <a:r>
              <a:rPr i="1" lang="it-IT" sz="1800"/>
              <a:t>private Integer id;</a:t>
            </a:r>
            <a:endParaRPr i="1" sz="1800"/>
          </a:p>
          <a:p>
            <a:pPr indent="-228600" lvl="2" marL="855663" rtl="0" algn="l">
              <a:spcBef>
                <a:spcPts val="360"/>
              </a:spcBef>
              <a:spcAft>
                <a:spcPts val="0"/>
              </a:spcAft>
              <a:buSzPts val="1800"/>
              <a:buChar char="*"/>
            </a:pPr>
            <a:r>
              <a:rPr i="1" lang="it-IT" sz="1800"/>
              <a:t>private String nome;</a:t>
            </a:r>
            <a:endParaRPr i="1" sz="1800"/>
          </a:p>
          <a:p>
            <a:pPr indent="-228600" lvl="2" marL="855663" rtl="0" algn="l">
              <a:spcBef>
                <a:spcPts val="360"/>
              </a:spcBef>
              <a:spcAft>
                <a:spcPts val="0"/>
              </a:spcAft>
              <a:buSzPts val="1800"/>
              <a:buChar char="*"/>
            </a:pPr>
            <a:r>
              <a:rPr i="1" lang="it-IT" sz="1800"/>
              <a:t>private String cognome;</a:t>
            </a:r>
            <a:endParaRPr/>
          </a:p>
          <a:p>
            <a:pPr indent="-114300" lvl="2" marL="855663" rtl="0" algn="l">
              <a:spcBef>
                <a:spcPts val="360"/>
              </a:spcBef>
              <a:spcAft>
                <a:spcPts val="0"/>
              </a:spcAft>
              <a:buSzPts val="1800"/>
              <a:buNone/>
            </a:pPr>
            <a:r>
              <a:t/>
            </a:r>
            <a:endParaRPr i="1" sz="1800"/>
          </a:p>
          <a:p>
            <a:pPr indent="-274319" lvl="1" marL="576263" rtl="0" algn="l">
              <a:spcBef>
                <a:spcPts val="440"/>
              </a:spcBef>
              <a:spcAft>
                <a:spcPts val="0"/>
              </a:spcAft>
              <a:buSzPts val="2200"/>
              <a:buChar char="*"/>
            </a:pPr>
            <a:r>
              <a:rPr i="1" lang="it-IT"/>
              <a:t>PersonaBeanRestController</a:t>
            </a:r>
            <a:r>
              <a:rPr lang="it-IT"/>
              <a:t>:</a:t>
            </a:r>
            <a:endParaRPr/>
          </a:p>
          <a:p>
            <a:pPr indent="-228600" lvl="2" marL="855663" rtl="0" algn="l">
              <a:spcBef>
                <a:spcPts val="360"/>
              </a:spcBef>
              <a:spcAft>
                <a:spcPts val="0"/>
              </a:spcAft>
              <a:buSzPts val="1800"/>
              <a:buChar char="*"/>
            </a:pPr>
            <a:r>
              <a:rPr i="1" lang="it-IT" sz="1800"/>
              <a:t>@RestController</a:t>
            </a:r>
            <a:endParaRPr i="1" sz="1800"/>
          </a:p>
          <a:p>
            <a:pPr indent="-228600" lvl="2" marL="855663" rtl="0" algn="l">
              <a:spcBef>
                <a:spcPts val="360"/>
              </a:spcBef>
              <a:spcAft>
                <a:spcPts val="0"/>
              </a:spcAft>
              <a:buSzPts val="1800"/>
              <a:buChar char="*"/>
            </a:pPr>
            <a:r>
              <a:rPr i="1" lang="it-IT" sz="1800"/>
              <a:t>@RequestMapping(path = "/rest/persons", produces = "application/json")</a:t>
            </a:r>
            <a:endParaRPr/>
          </a:p>
          <a:p>
            <a:pPr indent="-228600" lvl="2" marL="855663" rtl="0" algn="l">
              <a:spcBef>
                <a:spcPts val="360"/>
              </a:spcBef>
              <a:spcAft>
                <a:spcPts val="0"/>
              </a:spcAft>
              <a:buSzPts val="1800"/>
              <a:buChar char="*"/>
            </a:pPr>
            <a:r>
              <a:rPr i="1" lang="it-IT" sz="1800"/>
              <a:t>@CrossOrigin(origins = "*")</a:t>
            </a:r>
            <a:endParaRPr/>
          </a:p>
          <a:p>
            <a:pPr indent="-228600" lvl="2" marL="855663" rtl="0" algn="l">
              <a:spcBef>
                <a:spcPts val="360"/>
              </a:spcBef>
              <a:spcAft>
                <a:spcPts val="0"/>
              </a:spcAft>
              <a:buSzPts val="1800"/>
              <a:buChar char="*"/>
            </a:pPr>
            <a:r>
              <a:rPr i="1" lang="it-IT" sz="1800"/>
              <a:t>public class PersonaBeanRestController {</a:t>
            </a:r>
            <a:endParaRPr/>
          </a:p>
          <a:p>
            <a:pPr indent="-127000" lvl="2" marL="855663" rtl="0" algn="l">
              <a:spcBef>
                <a:spcPts val="320"/>
              </a:spcBef>
              <a:spcAft>
                <a:spcPts val="0"/>
              </a:spcAft>
              <a:buSzPts val="1600"/>
              <a:buNone/>
            </a:pPr>
            <a:r>
              <a:t/>
            </a:r>
            <a:endParaRPr i="1" sz="1600"/>
          </a:p>
        </p:txBody>
      </p:sp>
      <p:sp>
        <p:nvSpPr>
          <p:cNvPr id="206" name="Google Shape;206;p1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7" name="Google Shape;207;p1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Classi di esempio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un metodo come il seguente:</a:t>
            </a:r>
            <a:endParaRPr/>
          </a:p>
          <a:p>
            <a:pPr indent="0" lvl="1" marL="301943" rtl="0" algn="l">
              <a:spcBef>
                <a:spcPts val="360"/>
              </a:spcBef>
              <a:spcAft>
                <a:spcPts val="0"/>
              </a:spcAft>
              <a:buSzPts val="1800"/>
              <a:buNone/>
            </a:pPr>
            <a:r>
              <a:rPr i="1" lang="it-IT" sz="1800"/>
              <a:t>@GetMapping("/getAll")</a:t>
            </a:r>
            <a:endParaRPr/>
          </a:p>
          <a:p>
            <a:pPr indent="0" lvl="1" marL="301943" rtl="0" algn="l">
              <a:spcBef>
                <a:spcPts val="360"/>
              </a:spcBef>
              <a:spcAft>
                <a:spcPts val="0"/>
              </a:spcAft>
              <a:buSzPts val="1800"/>
              <a:buNone/>
            </a:pPr>
            <a:r>
              <a:rPr i="1" lang="it-IT" sz="1800"/>
              <a:t>public List&lt;PersonaBean&gt; ricercaTutti() {</a:t>
            </a:r>
            <a:endParaRPr/>
          </a:p>
          <a:p>
            <a:pPr indent="0" lvl="1" marL="301943" rtl="0" algn="l">
              <a:spcBef>
                <a:spcPts val="360"/>
              </a:spcBef>
              <a:spcAft>
                <a:spcPts val="0"/>
              </a:spcAft>
              <a:buSzPts val="1800"/>
              <a:buNone/>
            </a:pPr>
            <a:r>
              <a:rPr i="1" lang="it-IT" sz="1800"/>
              <a:t>	return data;</a:t>
            </a:r>
            <a:endParaRPr/>
          </a:p>
          <a:p>
            <a:pPr indent="0" lvl="1" marL="301943" rtl="0" algn="l">
              <a:spcBef>
                <a:spcPts val="360"/>
              </a:spcBef>
              <a:spcAft>
                <a:spcPts val="0"/>
              </a:spcAft>
              <a:buSzPts val="1800"/>
              <a:buNone/>
            </a:pPr>
            <a:r>
              <a:rPr i="1" lang="it-IT" sz="1800"/>
              <a:t>}</a:t>
            </a:r>
            <a:endParaRPr i="1" sz="1800"/>
          </a:p>
          <a:p>
            <a:pPr indent="-274320" lvl="0" marL="274320" rtl="0" algn="l">
              <a:spcBef>
                <a:spcPts val="480"/>
              </a:spcBef>
              <a:spcAft>
                <a:spcPts val="0"/>
              </a:spcAft>
              <a:buSzPts val="2400"/>
              <a:buChar char="*"/>
            </a:pPr>
            <a:r>
              <a:rPr lang="it-IT"/>
              <a:t>risponderebbe su chiamate </a:t>
            </a:r>
            <a:r>
              <a:rPr i="1" lang="it-IT"/>
              <a:t>Http </a:t>
            </a:r>
            <a:r>
              <a:rPr lang="it-IT"/>
              <a:t>di tipo Get indirizzate ad </a:t>
            </a:r>
            <a:r>
              <a:rPr i="1" lang="it-IT"/>
              <a:t>url </a:t>
            </a:r>
            <a:r>
              <a:rPr lang="it-IT"/>
              <a:t>del tipo </a:t>
            </a:r>
            <a:r>
              <a:rPr i="1" lang="it-IT"/>
              <a:t>http://localhost:8080/rest/persons/getAll</a:t>
            </a:r>
            <a:r>
              <a:rPr lang="it-IT"/>
              <a:t> producendo una lista di oggetti </a:t>
            </a:r>
            <a:r>
              <a:rPr i="1" lang="it-IT"/>
              <a:t>Json</a:t>
            </a:r>
            <a:r>
              <a:rPr b="1" lang="it-IT"/>
              <a:t> </a:t>
            </a:r>
            <a:r>
              <a:rPr lang="it-IT"/>
              <a:t>contenenti i dati degli oggetti </a:t>
            </a:r>
            <a:r>
              <a:rPr i="1" lang="it-IT"/>
              <a:t>PersonaBean</a:t>
            </a:r>
            <a:r>
              <a:rPr lang="it-IT"/>
              <a:t> presenti nella lista </a:t>
            </a:r>
            <a:r>
              <a:rPr i="1" lang="it-IT"/>
              <a:t>data</a:t>
            </a:r>
            <a:endParaRPr/>
          </a:p>
          <a:p>
            <a:pPr indent="-274320" lvl="0" marL="274320" rtl="0" algn="l">
              <a:spcBef>
                <a:spcPts val="480"/>
              </a:spcBef>
              <a:spcAft>
                <a:spcPts val="0"/>
              </a:spcAft>
              <a:buSzPts val="2400"/>
              <a:buChar char="*"/>
            </a:pPr>
            <a:r>
              <a:rPr lang="it-IT"/>
              <a:t>come </a:t>
            </a:r>
            <a:r>
              <a:rPr i="1" lang="it-IT"/>
              <a:t>client </a:t>
            </a:r>
            <a:r>
              <a:rPr lang="it-IT"/>
              <a:t>si potrebbe utilizzare </a:t>
            </a:r>
            <a:r>
              <a:rPr i="1" lang="it-IT"/>
              <a:t>Postman </a:t>
            </a:r>
            <a:r>
              <a:rPr lang="it-IT"/>
              <a:t>o </a:t>
            </a:r>
            <a:r>
              <a:rPr i="1" lang="it-IT"/>
              <a:t>curl</a:t>
            </a:r>
            <a:r>
              <a:rPr lang="it-IT"/>
              <a:t> o anche direttamente il browser in questo caso</a:t>
            </a:r>
            <a:endParaRPr/>
          </a:p>
        </p:txBody>
      </p:sp>
      <p:sp>
        <p:nvSpPr>
          <p:cNvPr id="213" name="Google Shape;213;p1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14" name="Google Shape;214;p1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a:t>
            </a:r>
            <a:r>
              <a:rPr i="1" lang="it-IT"/>
              <a:t>GetMapping </a:t>
            </a:r>
            <a:br>
              <a:rPr i="1" lang="it-IT"/>
            </a:br>
            <a:r>
              <a:rPr lang="it-IT"/>
              <a:t>con risposte in formato Json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p13"/>
          <p:cNvPicPr preferRelativeResize="0"/>
          <p:nvPr>
            <p:ph idx="1" type="body"/>
          </p:nvPr>
        </p:nvPicPr>
        <p:blipFill rotWithShape="1">
          <a:blip r:embed="rId3">
            <a:alphaModFix/>
          </a:blip>
          <a:srcRect b="0" l="0" r="0" t="0"/>
          <a:stretch/>
        </p:blipFill>
        <p:spPr>
          <a:xfrm>
            <a:off x="611560" y="2924944"/>
            <a:ext cx="7848872" cy="1296144"/>
          </a:xfrm>
          <a:prstGeom prst="rect">
            <a:avLst/>
          </a:prstGeom>
          <a:noFill/>
          <a:ln>
            <a:noFill/>
          </a:ln>
        </p:spPr>
      </p:pic>
      <p:sp>
        <p:nvSpPr>
          <p:cNvPr id="220" name="Google Shape;220;p1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1" name="Google Shape;221;p1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@GetMapping</a:t>
            </a:r>
            <a:br>
              <a:rPr i="1" lang="it-IT"/>
            </a:br>
            <a:r>
              <a:rPr lang="it-IT"/>
              <a:t>browser client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14"/>
          <p:cNvPicPr preferRelativeResize="0"/>
          <p:nvPr>
            <p:ph idx="1" type="body"/>
          </p:nvPr>
        </p:nvPicPr>
        <p:blipFill rotWithShape="1">
          <a:blip r:embed="rId3">
            <a:alphaModFix/>
          </a:blip>
          <a:srcRect b="0" l="0" r="0" t="0"/>
          <a:stretch/>
        </p:blipFill>
        <p:spPr>
          <a:xfrm>
            <a:off x="251521" y="1686363"/>
            <a:ext cx="8568952" cy="4814847"/>
          </a:xfrm>
          <a:prstGeom prst="rect">
            <a:avLst/>
          </a:prstGeom>
          <a:noFill/>
          <a:ln>
            <a:noFill/>
          </a:ln>
        </p:spPr>
      </p:pic>
      <p:sp>
        <p:nvSpPr>
          <p:cNvPr id="227" name="Google Shape;227;p1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8" name="Google Shape;228;p1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@GetMapping</a:t>
            </a:r>
            <a:br>
              <a:rPr i="1" lang="it-IT"/>
            </a:br>
            <a:r>
              <a:rPr i="1" lang="it-IT"/>
              <a:t>Postman </a:t>
            </a:r>
            <a:r>
              <a:rPr lang="it-IT"/>
              <a:t>client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id="233" name="Google Shape;233;p15"/>
          <p:cNvPicPr preferRelativeResize="0"/>
          <p:nvPr>
            <p:ph idx="1" type="body"/>
          </p:nvPr>
        </p:nvPicPr>
        <p:blipFill rotWithShape="1">
          <a:blip r:embed="rId3">
            <a:alphaModFix/>
          </a:blip>
          <a:srcRect b="0" l="0" r="0" t="0"/>
          <a:stretch/>
        </p:blipFill>
        <p:spPr>
          <a:xfrm>
            <a:off x="179512" y="3284984"/>
            <a:ext cx="8712968" cy="635625"/>
          </a:xfrm>
          <a:prstGeom prst="rect">
            <a:avLst/>
          </a:prstGeom>
          <a:noFill/>
          <a:ln>
            <a:noFill/>
          </a:ln>
        </p:spPr>
      </p:pic>
      <p:sp>
        <p:nvSpPr>
          <p:cNvPr id="234" name="Google Shape;234;p1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35" name="Google Shape;235;p1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@GetMapping</a:t>
            </a:r>
            <a:br>
              <a:rPr i="1" lang="it-IT"/>
            </a:br>
            <a:r>
              <a:rPr i="1" lang="it-IT"/>
              <a:t>curl </a:t>
            </a:r>
            <a:r>
              <a:rPr lang="it-IT"/>
              <a:t>client</a:t>
            </a:r>
            <a:endParaRPr i="1"/>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6"/>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analogamente potremmo fare chiamate in lettura per avere una </a:t>
            </a:r>
            <a:r>
              <a:rPr i="1" lang="it-IT"/>
              <a:t>PersonaBean</a:t>
            </a:r>
            <a:r>
              <a:rPr lang="it-IT"/>
              <a:t> specifica, anzichè una lista:</a:t>
            </a:r>
            <a:endParaRPr/>
          </a:p>
          <a:p>
            <a:pPr indent="0" lvl="1" marL="301943" rtl="0" algn="l">
              <a:spcBef>
                <a:spcPts val="360"/>
              </a:spcBef>
              <a:spcAft>
                <a:spcPts val="0"/>
              </a:spcAft>
              <a:buSzPts val="1800"/>
              <a:buNone/>
            </a:pPr>
            <a:r>
              <a:t/>
            </a:r>
            <a:endParaRPr i="1" sz="1800"/>
          </a:p>
          <a:p>
            <a:pPr indent="0" lvl="1" marL="301943" rtl="0" algn="l">
              <a:spcBef>
                <a:spcPts val="360"/>
              </a:spcBef>
              <a:spcAft>
                <a:spcPts val="0"/>
              </a:spcAft>
              <a:buSzPts val="1800"/>
              <a:buNone/>
            </a:pPr>
            <a:r>
              <a:rPr i="1" lang="it-IT" sz="1800"/>
              <a:t>@GetMapping("/getById/{id}")</a:t>
            </a:r>
            <a:endParaRPr/>
          </a:p>
          <a:p>
            <a:pPr indent="0" lvl="1" marL="301943" rtl="0" algn="l">
              <a:spcBef>
                <a:spcPts val="360"/>
              </a:spcBef>
              <a:spcAft>
                <a:spcPts val="0"/>
              </a:spcAft>
              <a:buSzPts val="1800"/>
              <a:buNone/>
            </a:pPr>
            <a:r>
              <a:rPr i="1" lang="it-IT" sz="1800"/>
              <a:t>public PersonaBean ricercaPerId(@PathVariable("id") Integer id) {</a:t>
            </a:r>
            <a:endParaRPr/>
          </a:p>
          <a:p>
            <a:pPr indent="0" lvl="1" marL="301943" rtl="0" algn="l">
              <a:spcBef>
                <a:spcPts val="360"/>
              </a:spcBef>
              <a:spcAft>
                <a:spcPts val="0"/>
              </a:spcAft>
              <a:buSzPts val="1800"/>
              <a:buNone/>
            </a:pPr>
            <a:r>
              <a:t/>
            </a:r>
            <a:endParaRPr i="1" sz="1800"/>
          </a:p>
        </p:txBody>
      </p:sp>
      <p:sp>
        <p:nvSpPr>
          <p:cNvPr id="241" name="Google Shape;241;p1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42" name="Google Shape;242;p1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@GetMapping</a:t>
            </a:r>
            <a:r>
              <a:rPr lang="it-IT"/>
              <a:t> con @</a:t>
            </a:r>
            <a:r>
              <a:rPr i="1" lang="it-IT"/>
              <a:t>PathVariable</a:t>
            </a:r>
            <a:endParaRPr i="1"/>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7"/>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I metodi </a:t>
            </a:r>
            <a:r>
              <a:rPr i="1" lang="it-IT"/>
              <a:t>rest </a:t>
            </a:r>
            <a:r>
              <a:rPr lang="it-IT"/>
              <a:t>visti nelle slide precedenti se non trovano risultati non tornano alcun oggetto </a:t>
            </a:r>
            <a:r>
              <a:rPr i="1" lang="it-IT"/>
              <a:t>Json</a:t>
            </a:r>
            <a:r>
              <a:rPr lang="it-IT"/>
              <a:t> ma il codice </a:t>
            </a:r>
            <a:r>
              <a:rPr i="1" lang="it-IT"/>
              <a:t>Http </a:t>
            </a:r>
            <a:r>
              <a:rPr lang="it-IT"/>
              <a:t>di risposta sarà sempre il 200, corrispondente all’</a:t>
            </a:r>
            <a:r>
              <a:rPr i="1" lang="it-IT"/>
              <a:t>OK </a:t>
            </a:r>
            <a:r>
              <a:rPr lang="it-IT"/>
              <a:t>-&gt; il client può essere ingannato</a:t>
            </a:r>
            <a:endParaRPr/>
          </a:p>
          <a:p>
            <a:pPr indent="-274320" lvl="0" marL="274320" rtl="0" algn="l">
              <a:spcBef>
                <a:spcPts val="480"/>
              </a:spcBef>
              <a:spcAft>
                <a:spcPts val="0"/>
              </a:spcAft>
              <a:buSzPts val="2400"/>
              <a:buChar char="*"/>
            </a:pPr>
            <a:r>
              <a:rPr lang="it-IT"/>
              <a:t>se la ricerca non trova nulla è più corretto tornare al client il codice di risposta </a:t>
            </a:r>
            <a:r>
              <a:rPr i="1" lang="it-IT"/>
              <a:t>http</a:t>
            </a:r>
            <a:r>
              <a:rPr lang="it-IT"/>
              <a:t> </a:t>
            </a:r>
            <a:r>
              <a:rPr i="1" lang="it-IT"/>
              <a:t>NOT_FOUND</a:t>
            </a:r>
            <a:r>
              <a:rPr lang="it-IT"/>
              <a:t> e per fare questo possiamo usare la classe </a:t>
            </a:r>
            <a:r>
              <a:rPr i="1" lang="it-IT"/>
              <a:t>ResponseEntity</a:t>
            </a:r>
            <a:r>
              <a:rPr lang="it-IT"/>
              <a:t> che </a:t>
            </a:r>
            <a:r>
              <a:rPr i="1" lang="it-IT"/>
              <a:t>wrappa</a:t>
            </a:r>
            <a:r>
              <a:rPr lang="it-IT"/>
              <a:t> la nostra risposta insieme al codice di stato </a:t>
            </a:r>
            <a:r>
              <a:rPr i="1" lang="it-IT"/>
              <a:t>Http</a:t>
            </a:r>
            <a:endParaRPr i="1"/>
          </a:p>
        </p:txBody>
      </p:sp>
      <p:sp>
        <p:nvSpPr>
          <p:cNvPr id="248" name="Google Shape;248;p1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49" name="Google Shape;249;p1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HttpStatus</a:t>
            </a:r>
            <a:r>
              <a:rPr lang="it-IT"/>
              <a:t> e @</a:t>
            </a:r>
            <a:r>
              <a:rPr i="1" lang="it-IT"/>
              <a:t>ResponseEntity</a:t>
            </a:r>
            <a:endParaRPr i="1"/>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8"/>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Potremmo quindi trasformare il metodo di ricerca per id nel seguente modo:</a:t>
            </a:r>
            <a:endParaRPr/>
          </a:p>
          <a:p>
            <a:pPr indent="0" lvl="1" marL="301943" rtl="0" algn="l">
              <a:spcBef>
                <a:spcPts val="320"/>
              </a:spcBef>
              <a:spcAft>
                <a:spcPts val="0"/>
              </a:spcAft>
              <a:buSzPts val="1600"/>
              <a:buNone/>
            </a:pPr>
            <a:r>
              <a:t/>
            </a:r>
            <a:endParaRPr i="1" sz="1600"/>
          </a:p>
          <a:p>
            <a:pPr indent="0" lvl="1" marL="301943" rtl="0" algn="l">
              <a:spcBef>
                <a:spcPts val="320"/>
              </a:spcBef>
              <a:spcAft>
                <a:spcPts val="0"/>
              </a:spcAft>
              <a:buSzPts val="1600"/>
              <a:buNone/>
            </a:pPr>
            <a:r>
              <a:rPr i="1" lang="it-IT" sz="1600"/>
              <a:t>@GetMapping("/getById2/{id}")</a:t>
            </a:r>
            <a:endParaRPr/>
          </a:p>
          <a:p>
            <a:pPr indent="0" lvl="1" marL="301943" rtl="0" algn="l">
              <a:spcBef>
                <a:spcPts val="320"/>
              </a:spcBef>
              <a:spcAft>
                <a:spcPts val="0"/>
              </a:spcAft>
              <a:buSzPts val="1600"/>
              <a:buNone/>
            </a:pPr>
            <a:r>
              <a:rPr i="1" lang="it-IT" sz="1600"/>
              <a:t>public ResponseEntity&lt;PersonaBean&gt; ricercaPerId2(@PathVariable("id") Integer id) {</a:t>
            </a:r>
            <a:endParaRPr/>
          </a:p>
          <a:p>
            <a:pPr indent="0" lvl="1" marL="301943" rtl="0" algn="l">
              <a:spcBef>
                <a:spcPts val="320"/>
              </a:spcBef>
              <a:spcAft>
                <a:spcPts val="0"/>
              </a:spcAft>
              <a:buSzPts val="1600"/>
              <a:buNone/>
            </a:pPr>
            <a:r>
              <a:rPr i="1" lang="it-IT" sz="1600"/>
              <a:t>	try{</a:t>
            </a:r>
            <a:endParaRPr/>
          </a:p>
          <a:p>
            <a:pPr indent="0" lvl="1" marL="301943" rtl="0" algn="l">
              <a:spcBef>
                <a:spcPts val="320"/>
              </a:spcBef>
              <a:spcAft>
                <a:spcPts val="0"/>
              </a:spcAft>
              <a:buSzPts val="1600"/>
              <a:buNone/>
            </a:pPr>
            <a:r>
              <a:rPr i="1" lang="it-IT" sz="1600"/>
              <a:t>		PersonaBean personaBean = ricercaPerId(id);</a:t>
            </a:r>
            <a:endParaRPr/>
          </a:p>
          <a:p>
            <a:pPr indent="0" lvl="1" marL="301943" rtl="0" algn="l">
              <a:spcBef>
                <a:spcPts val="320"/>
              </a:spcBef>
              <a:spcAft>
                <a:spcPts val="0"/>
              </a:spcAft>
              <a:buSzPts val="1600"/>
              <a:buNone/>
            </a:pPr>
            <a:r>
              <a:rPr i="1" lang="it-IT" sz="1600"/>
              <a:t>		HttpStatus httpStatus = personaBean != null ? 			HttpStatus.OK : HttpStatus.NOT_FOUND;</a:t>
            </a:r>
            <a:endParaRPr/>
          </a:p>
          <a:p>
            <a:pPr indent="0" lvl="1" marL="301943" rtl="0" algn="l">
              <a:spcBef>
                <a:spcPts val="320"/>
              </a:spcBef>
              <a:spcAft>
                <a:spcPts val="0"/>
              </a:spcAft>
              <a:buSzPts val="1600"/>
              <a:buNone/>
            </a:pPr>
            <a:r>
              <a:rPr i="1" lang="it-IT" sz="1600"/>
              <a:t>		return new 						ResponseEntity&lt;PersonaBean&gt;(personaBean,httpStatus);</a:t>
            </a:r>
            <a:endParaRPr/>
          </a:p>
          <a:p>
            <a:pPr indent="0" lvl="1" marL="301943" rtl="0" algn="l">
              <a:spcBef>
                <a:spcPts val="320"/>
              </a:spcBef>
              <a:spcAft>
                <a:spcPts val="0"/>
              </a:spcAft>
              <a:buSzPts val="1600"/>
              <a:buNone/>
            </a:pPr>
            <a:r>
              <a:rPr i="1" lang="it-IT" sz="1600"/>
              <a:t>		….</a:t>
            </a:r>
            <a:endParaRPr i="1" sz="1600"/>
          </a:p>
        </p:txBody>
      </p:sp>
      <p:sp>
        <p:nvSpPr>
          <p:cNvPr id="255" name="Google Shape;255;p1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56" name="Google Shape;256;p1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Esempio con </a:t>
            </a:r>
            <a:r>
              <a:rPr i="1" lang="it-IT"/>
              <a:t>@ResponseEntity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9"/>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se dobbiamo fare un inserimento di un nuovo oggetto dovremo usare il metodo </a:t>
            </a:r>
            <a:r>
              <a:rPr i="1" lang="it-IT"/>
              <a:t>Http Post</a:t>
            </a:r>
            <a:r>
              <a:rPr lang="it-IT"/>
              <a:t> e quindi </a:t>
            </a:r>
            <a:r>
              <a:rPr i="1" lang="it-IT"/>
              <a:t>@PostMapping</a:t>
            </a:r>
            <a:endParaRPr i="1"/>
          </a:p>
          <a:p>
            <a:pPr indent="-274320" lvl="0" marL="274320" rtl="0" algn="l">
              <a:spcBef>
                <a:spcPts val="480"/>
              </a:spcBef>
              <a:spcAft>
                <a:spcPts val="0"/>
              </a:spcAft>
              <a:buSzPts val="2400"/>
              <a:buChar char="*"/>
            </a:pPr>
            <a:r>
              <a:rPr lang="it-IT"/>
              <a:t>se vogliamo accettare in input solo oggetti </a:t>
            </a:r>
            <a:r>
              <a:rPr i="1" lang="it-IT"/>
              <a:t>Json</a:t>
            </a:r>
            <a:r>
              <a:rPr lang="it-IT"/>
              <a:t> potremo usare su </a:t>
            </a:r>
            <a:r>
              <a:rPr i="1" lang="it-IT"/>
              <a:t>@PostMapping </a:t>
            </a:r>
            <a:r>
              <a:rPr lang="it-IT"/>
              <a:t>l’attributo </a:t>
            </a:r>
            <a:r>
              <a:rPr i="1" lang="it-IT"/>
              <a:t>consumes=</a:t>
            </a:r>
            <a:r>
              <a:rPr lang="it-IT"/>
              <a:t> </a:t>
            </a:r>
            <a:r>
              <a:rPr i="1" lang="it-IT"/>
              <a:t>"application/json" </a:t>
            </a:r>
            <a:r>
              <a:rPr lang="it-IT"/>
              <a:t>e in input al metodo usare </a:t>
            </a:r>
            <a:r>
              <a:rPr i="1" lang="it-IT"/>
              <a:t>@RequestBody</a:t>
            </a:r>
            <a:r>
              <a:rPr lang="it-IT"/>
              <a:t> per farci convertire in automatico l’oggetto </a:t>
            </a:r>
            <a:r>
              <a:rPr i="1" lang="it-IT"/>
              <a:t>Json </a:t>
            </a:r>
            <a:r>
              <a:rPr lang="it-IT"/>
              <a:t>nel nostro oggetto Java</a:t>
            </a:r>
            <a:endParaRPr/>
          </a:p>
          <a:p>
            <a:pPr indent="-274320" lvl="0" marL="274320" rtl="0" algn="l">
              <a:spcBef>
                <a:spcPts val="480"/>
              </a:spcBef>
              <a:spcAft>
                <a:spcPts val="0"/>
              </a:spcAft>
              <a:buSzPts val="2400"/>
              <a:buChar char="*"/>
            </a:pPr>
            <a:r>
              <a:rPr lang="it-IT"/>
              <a:t>in output la creazione dovrebbe rispondere sempre col codice </a:t>
            </a:r>
            <a:r>
              <a:rPr i="1" lang="it-IT"/>
              <a:t>Http</a:t>
            </a:r>
            <a:r>
              <a:rPr lang="it-IT"/>
              <a:t> </a:t>
            </a:r>
            <a:r>
              <a:rPr i="1" lang="it-IT"/>
              <a:t>CREATED </a:t>
            </a:r>
            <a:r>
              <a:rPr lang="it-IT"/>
              <a:t>(codice 201) se non ci sono stati errori</a:t>
            </a:r>
            <a:endParaRPr/>
          </a:p>
        </p:txBody>
      </p:sp>
      <p:sp>
        <p:nvSpPr>
          <p:cNvPr id="262" name="Google Shape;262;p1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63" name="Google Shape;263;p1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t>
            </a:r>
            <a:r>
              <a:rPr i="1" lang="it-IT"/>
              <a:t>PostMapping – </a:t>
            </a:r>
            <a:r>
              <a:rPr lang="it-IT"/>
              <a:t>inserimento (1/2)</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0"/>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quindi per gestire l’inserimento potremo scrivere nel </a:t>
            </a:r>
            <a:r>
              <a:rPr i="1" lang="it-IT"/>
              <a:t>rest controller </a:t>
            </a:r>
            <a:r>
              <a:rPr lang="it-IT"/>
              <a:t>un metodo così:</a:t>
            </a:r>
            <a:endParaRPr/>
          </a:p>
          <a:p>
            <a:pPr indent="0" lvl="1" marL="301943" rtl="0" algn="l">
              <a:spcBef>
                <a:spcPts val="320"/>
              </a:spcBef>
              <a:spcAft>
                <a:spcPts val="0"/>
              </a:spcAft>
              <a:buSzPts val="1600"/>
              <a:buNone/>
            </a:pPr>
            <a:r>
              <a:t/>
            </a:r>
            <a:endParaRPr i="1" sz="1600"/>
          </a:p>
          <a:p>
            <a:pPr indent="0" lvl="1" marL="301943" rtl="0" algn="l">
              <a:spcBef>
                <a:spcPts val="320"/>
              </a:spcBef>
              <a:spcAft>
                <a:spcPts val="0"/>
              </a:spcAft>
              <a:buSzPts val="1600"/>
              <a:buNone/>
            </a:pPr>
            <a:r>
              <a:rPr i="1" lang="it-IT" sz="1600"/>
              <a:t>@PostMapping(path = "/registraPersona",consumes = "application/json" )</a:t>
            </a:r>
            <a:endParaRPr/>
          </a:p>
          <a:p>
            <a:pPr indent="0" lvl="1" marL="301943" rtl="0" algn="l">
              <a:spcBef>
                <a:spcPts val="320"/>
              </a:spcBef>
              <a:spcAft>
                <a:spcPts val="0"/>
              </a:spcAft>
              <a:buSzPts val="1600"/>
              <a:buNone/>
            </a:pPr>
            <a:r>
              <a:rPr i="1" lang="it-IT" sz="1600"/>
              <a:t>@ResponseStatus( HttpStatus.CREATED )</a:t>
            </a:r>
            <a:endParaRPr/>
          </a:p>
          <a:p>
            <a:pPr indent="0" lvl="1" marL="301943" rtl="0" algn="l">
              <a:spcBef>
                <a:spcPts val="320"/>
              </a:spcBef>
              <a:spcAft>
                <a:spcPts val="0"/>
              </a:spcAft>
              <a:buSzPts val="1600"/>
              <a:buNone/>
            </a:pPr>
            <a:r>
              <a:rPr i="1" lang="it-IT" sz="1600"/>
              <a:t>public PersonaBean registraPersona(@RequestBody PersonaBean personaBean) {</a:t>
            </a:r>
            <a:endParaRPr/>
          </a:p>
        </p:txBody>
      </p:sp>
      <p:sp>
        <p:nvSpPr>
          <p:cNvPr id="269" name="Google Shape;269;p2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0" name="Google Shape;270;p2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a:t>
            </a:r>
            <a:r>
              <a:rPr i="1" lang="it-IT"/>
              <a:t>PostMapping – </a:t>
            </a:r>
            <a:r>
              <a:rPr lang="it-IT"/>
              <a:t>inserimento (2/2)</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21"/>
          <p:cNvPicPr preferRelativeResize="0"/>
          <p:nvPr>
            <p:ph idx="1" type="body"/>
          </p:nvPr>
        </p:nvPicPr>
        <p:blipFill rotWithShape="1">
          <a:blip r:embed="rId3">
            <a:alphaModFix/>
          </a:blip>
          <a:srcRect b="0" l="0" r="0" t="0"/>
          <a:stretch/>
        </p:blipFill>
        <p:spPr>
          <a:xfrm>
            <a:off x="457200" y="1651157"/>
            <a:ext cx="8229600" cy="4804272"/>
          </a:xfrm>
          <a:prstGeom prst="rect">
            <a:avLst/>
          </a:prstGeom>
          <a:noFill/>
          <a:ln>
            <a:noFill/>
          </a:ln>
        </p:spPr>
      </p:pic>
      <p:sp>
        <p:nvSpPr>
          <p:cNvPr id="276" name="Google Shape;276;p2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7" name="Google Shape;277;p2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Chiamata </a:t>
            </a:r>
            <a:r>
              <a:rPr i="1" lang="it-IT"/>
              <a:t>Http Post</a:t>
            </a:r>
            <a:r>
              <a:rPr lang="it-IT"/>
              <a:t> in formato </a:t>
            </a:r>
            <a:r>
              <a:rPr i="1" lang="it-IT"/>
              <a:t>Json</a:t>
            </a:r>
            <a:br>
              <a:rPr i="1" lang="it-IT"/>
            </a:br>
            <a:r>
              <a:rPr lang="it-IT"/>
              <a:t>tramite </a:t>
            </a:r>
            <a:r>
              <a:rPr i="1" lang="it-IT"/>
              <a:t>Postman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2"/>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sz="2600"/>
              <a:t>Per indicare che vogliamo effettuare un aggiornamento complessivo, ovvero prendendo i dati del client e riversandoli interamente, così come sono, sul server dovremo usare </a:t>
            </a:r>
            <a:r>
              <a:rPr i="1" lang="it-IT" sz="2600"/>
              <a:t>@PutMapping</a:t>
            </a:r>
            <a:r>
              <a:rPr lang="it-IT" sz="2600"/>
              <a:t>:</a:t>
            </a:r>
            <a:endParaRPr/>
          </a:p>
          <a:p>
            <a:pPr indent="0" lvl="1" marL="301943" rtl="0" algn="l">
              <a:spcBef>
                <a:spcPts val="351"/>
              </a:spcBef>
              <a:spcAft>
                <a:spcPts val="0"/>
              </a:spcAft>
              <a:buSzPct val="100000"/>
              <a:buNone/>
            </a:pPr>
            <a:r>
              <a:t/>
            </a:r>
            <a:endParaRPr i="1" sz="1900"/>
          </a:p>
          <a:p>
            <a:pPr indent="0" lvl="1" marL="301943" rtl="0" algn="l">
              <a:spcBef>
                <a:spcPts val="314"/>
              </a:spcBef>
              <a:spcAft>
                <a:spcPts val="0"/>
              </a:spcAft>
              <a:buSzPct val="100000"/>
              <a:buNone/>
            </a:pPr>
            <a:r>
              <a:rPr i="1" lang="it-IT" sz="1700"/>
              <a:t>@PutMapping( path = "/aggiornamentoCompleto", consumes = "application/json")</a:t>
            </a:r>
            <a:endParaRPr i="1" sz="1700"/>
          </a:p>
          <a:p>
            <a:pPr indent="0" lvl="1" marL="301943" rtl="0" algn="l">
              <a:spcBef>
                <a:spcPts val="314"/>
              </a:spcBef>
              <a:spcAft>
                <a:spcPts val="0"/>
              </a:spcAft>
              <a:buSzPct val="100000"/>
              <a:buNone/>
            </a:pPr>
            <a:r>
              <a:rPr i="1" lang="it-IT" sz="1700"/>
              <a:t>public PersonaBean aggiornamentoCompleto(@RequestBody PersonaBean personaBean) {</a:t>
            </a:r>
            <a:endParaRPr/>
          </a:p>
          <a:p>
            <a:pPr indent="0" lvl="1" marL="301943" rtl="0" algn="l">
              <a:spcBef>
                <a:spcPts val="314"/>
              </a:spcBef>
              <a:spcAft>
                <a:spcPts val="0"/>
              </a:spcAft>
              <a:buSzPct val="100000"/>
              <a:buNone/>
            </a:pPr>
            <a:r>
              <a:rPr i="1" lang="it-IT" sz="1700"/>
              <a:t>	PersonaBean personaToUpdate = ricercaPerId(personaBean.getId());</a:t>
            </a:r>
            <a:endParaRPr/>
          </a:p>
          <a:p>
            <a:pPr indent="0" lvl="1" marL="301943" rtl="0" algn="l">
              <a:spcBef>
                <a:spcPts val="314"/>
              </a:spcBef>
              <a:spcAft>
                <a:spcPts val="0"/>
              </a:spcAft>
              <a:buSzPct val="100000"/>
              <a:buNone/>
            </a:pPr>
            <a:r>
              <a:rPr i="1" lang="it-IT" sz="1700"/>
              <a:t>	if ( personaToUpdate != null ) {</a:t>
            </a:r>
            <a:endParaRPr/>
          </a:p>
          <a:p>
            <a:pPr indent="0" lvl="1" marL="301943" rtl="0" algn="l">
              <a:spcBef>
                <a:spcPts val="314"/>
              </a:spcBef>
              <a:spcAft>
                <a:spcPts val="0"/>
              </a:spcAft>
              <a:buSzPct val="100000"/>
              <a:buNone/>
            </a:pPr>
            <a:r>
              <a:rPr i="1" lang="it-IT" sz="1700"/>
              <a:t>		data.remove(personaToUpdate);</a:t>
            </a:r>
            <a:endParaRPr/>
          </a:p>
          <a:p>
            <a:pPr indent="0" lvl="1" marL="301943" rtl="0" algn="l">
              <a:spcBef>
                <a:spcPts val="314"/>
              </a:spcBef>
              <a:spcAft>
                <a:spcPts val="0"/>
              </a:spcAft>
              <a:buSzPct val="100000"/>
              <a:buNone/>
            </a:pPr>
            <a:r>
              <a:rPr i="1" lang="it-IT" sz="1700"/>
              <a:t>		data.add(personaBean);</a:t>
            </a:r>
            <a:endParaRPr/>
          </a:p>
          <a:p>
            <a:pPr indent="0" lvl="1" marL="301943" rtl="0" algn="l">
              <a:spcBef>
                <a:spcPts val="314"/>
              </a:spcBef>
              <a:spcAft>
                <a:spcPts val="0"/>
              </a:spcAft>
              <a:buSzPct val="100000"/>
              <a:buNone/>
            </a:pPr>
            <a:r>
              <a:rPr i="1" lang="it-IT" sz="1700"/>
              <a:t>	}</a:t>
            </a:r>
            <a:endParaRPr i="1" sz="1700"/>
          </a:p>
          <a:p>
            <a:pPr indent="0" lvl="1" marL="301943" rtl="0" algn="l">
              <a:spcBef>
                <a:spcPts val="314"/>
              </a:spcBef>
              <a:spcAft>
                <a:spcPts val="0"/>
              </a:spcAft>
              <a:buSzPct val="100000"/>
              <a:buNone/>
            </a:pPr>
            <a:r>
              <a:rPr i="1" lang="it-IT" sz="1700"/>
              <a:t>	return personaBean;</a:t>
            </a:r>
            <a:endParaRPr/>
          </a:p>
          <a:p>
            <a:pPr indent="0" lvl="1" marL="301943" rtl="0" algn="l">
              <a:spcBef>
                <a:spcPts val="314"/>
              </a:spcBef>
              <a:spcAft>
                <a:spcPts val="0"/>
              </a:spcAft>
              <a:buSzPct val="100000"/>
              <a:buNone/>
            </a:pPr>
            <a:r>
              <a:rPr i="1" lang="it-IT" sz="1700"/>
              <a:t>}</a:t>
            </a:r>
            <a:endParaRPr/>
          </a:p>
        </p:txBody>
      </p:sp>
      <p:sp>
        <p:nvSpPr>
          <p:cNvPr id="283" name="Google Shape;283;p2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84" name="Google Shape;284;p2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@PutMapping</a:t>
            </a:r>
            <a:r>
              <a:rPr lang="it-IT"/>
              <a:t> – aggiornamenti totali</a:t>
            </a:r>
            <a:endParaRPr i="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62500" lnSpcReduction="20000"/>
          </a:bodyPr>
          <a:lstStyle/>
          <a:p>
            <a:pPr indent="-274351" lvl="0" marL="274320" rtl="0" algn="l">
              <a:spcBef>
                <a:spcPts val="0"/>
              </a:spcBef>
              <a:spcAft>
                <a:spcPts val="0"/>
              </a:spcAft>
              <a:buSzPct val="100000"/>
              <a:buChar char="*"/>
            </a:pPr>
            <a:r>
              <a:rPr lang="it-IT" sz="2900"/>
              <a:t>se vogliamo, invece, aggiornare solo parzialmente il nostro oggetto Java, per esempio solo con i valori diversi da </a:t>
            </a:r>
            <a:r>
              <a:rPr i="1" lang="it-IT" sz="2900"/>
              <a:t>null</a:t>
            </a:r>
            <a:r>
              <a:rPr lang="it-IT" sz="2900"/>
              <a:t> provenienti dal client, dovremo usare </a:t>
            </a:r>
            <a:r>
              <a:rPr i="1" lang="it-IT" sz="2900"/>
              <a:t>@PatchMapping</a:t>
            </a:r>
            <a:r>
              <a:rPr lang="it-IT" sz="2900"/>
              <a:t>:</a:t>
            </a:r>
            <a:endParaRPr/>
          </a:p>
          <a:p>
            <a:pPr indent="-179070" lvl="0" marL="274320" rtl="0" algn="l">
              <a:spcBef>
                <a:spcPts val="300"/>
              </a:spcBef>
              <a:spcAft>
                <a:spcPts val="0"/>
              </a:spcAft>
              <a:buSzPct val="100000"/>
              <a:buNone/>
            </a:pPr>
            <a:r>
              <a:t/>
            </a:r>
            <a:endParaRPr/>
          </a:p>
          <a:p>
            <a:pPr indent="0" lvl="1" marL="301943" rtl="0" algn="l">
              <a:spcBef>
                <a:spcPts val="275"/>
              </a:spcBef>
              <a:spcAft>
                <a:spcPts val="0"/>
              </a:spcAft>
              <a:buSzPct val="100000"/>
              <a:buNone/>
            </a:pPr>
            <a:r>
              <a:rPr i="1" lang="it-IT"/>
              <a:t>@PatchMapping( path = "/aggiornamentoParziale", consumes = "application/json" )</a:t>
            </a:r>
            <a:endParaRPr/>
          </a:p>
          <a:p>
            <a:pPr indent="0" lvl="1" marL="301943" rtl="0" algn="l">
              <a:spcBef>
                <a:spcPts val="275"/>
              </a:spcBef>
              <a:spcAft>
                <a:spcPts val="0"/>
              </a:spcAft>
              <a:buSzPct val="100000"/>
              <a:buNone/>
            </a:pPr>
            <a:r>
              <a:rPr i="1" lang="it-IT"/>
              <a:t>public PersonaBean aggiornamentoParziale(@RequestBody PersonaBean personaBean) {</a:t>
            </a:r>
            <a:endParaRPr/>
          </a:p>
          <a:p>
            <a:pPr indent="0" lvl="1" marL="301943" rtl="0" algn="l">
              <a:spcBef>
                <a:spcPts val="275"/>
              </a:spcBef>
              <a:spcAft>
                <a:spcPts val="0"/>
              </a:spcAft>
              <a:buSzPct val="100000"/>
              <a:buNone/>
            </a:pPr>
            <a:r>
              <a:rPr i="1" lang="it-IT"/>
              <a:t>	PersonaBean personaToUpdate = ricercaPerId(personaBean.getId());</a:t>
            </a:r>
            <a:endParaRPr/>
          </a:p>
          <a:p>
            <a:pPr indent="0" lvl="1" marL="301943" rtl="0" algn="l">
              <a:spcBef>
                <a:spcPts val="275"/>
              </a:spcBef>
              <a:spcAft>
                <a:spcPts val="0"/>
              </a:spcAft>
              <a:buSzPct val="100000"/>
              <a:buNone/>
            </a:pPr>
            <a:r>
              <a:rPr i="1" lang="it-IT"/>
              <a:t>	if ( personaToUpdate != null ) {</a:t>
            </a:r>
            <a:endParaRPr/>
          </a:p>
          <a:p>
            <a:pPr indent="0" lvl="1" marL="301943" rtl="0" algn="l">
              <a:spcBef>
                <a:spcPts val="275"/>
              </a:spcBef>
              <a:spcAft>
                <a:spcPts val="0"/>
              </a:spcAft>
              <a:buSzPct val="100000"/>
              <a:buNone/>
            </a:pPr>
            <a:r>
              <a:rPr i="1" lang="it-IT"/>
              <a:t>		if ( personaBean.getNome() != null ) {</a:t>
            </a:r>
            <a:endParaRPr/>
          </a:p>
          <a:p>
            <a:pPr indent="0" lvl="1" marL="301943" rtl="0" algn="l">
              <a:spcBef>
                <a:spcPts val="275"/>
              </a:spcBef>
              <a:spcAft>
                <a:spcPts val="0"/>
              </a:spcAft>
              <a:buSzPct val="100000"/>
              <a:buNone/>
            </a:pPr>
            <a:r>
              <a:rPr i="1" lang="it-IT"/>
              <a:t>			personaToUpdate.setNome(personaBean.getNome());</a:t>
            </a:r>
            <a:endParaRPr/>
          </a:p>
          <a:p>
            <a:pPr indent="0" lvl="1" marL="301943" rtl="0" algn="l">
              <a:spcBef>
                <a:spcPts val="275"/>
              </a:spcBef>
              <a:spcAft>
                <a:spcPts val="0"/>
              </a:spcAft>
              <a:buSzPct val="100000"/>
              <a:buNone/>
            </a:pPr>
            <a:r>
              <a:rPr i="1" lang="it-IT"/>
              <a:t>		}</a:t>
            </a:r>
            <a:endParaRPr i="1"/>
          </a:p>
          <a:p>
            <a:pPr indent="0" lvl="1" marL="301943" rtl="0" algn="l">
              <a:spcBef>
                <a:spcPts val="275"/>
              </a:spcBef>
              <a:spcAft>
                <a:spcPts val="0"/>
              </a:spcAft>
              <a:buSzPct val="100000"/>
              <a:buNone/>
            </a:pPr>
            <a:r>
              <a:rPr i="1" lang="it-IT"/>
              <a:t>		if ( personaBean.getCognome() != null ) {</a:t>
            </a:r>
            <a:endParaRPr/>
          </a:p>
          <a:p>
            <a:pPr indent="0" lvl="1" marL="301943" rtl="0" algn="l">
              <a:spcBef>
                <a:spcPts val="275"/>
              </a:spcBef>
              <a:spcAft>
                <a:spcPts val="0"/>
              </a:spcAft>
              <a:buSzPct val="100000"/>
              <a:buNone/>
            </a:pPr>
            <a:r>
              <a:rPr i="1" lang="it-IT"/>
              <a:t>personaToUpdate.setCognome(personaBean.getCognome());</a:t>
            </a:r>
            <a:endParaRPr/>
          </a:p>
          <a:p>
            <a:pPr indent="0" lvl="1" marL="301943" rtl="0" algn="l">
              <a:spcBef>
                <a:spcPts val="275"/>
              </a:spcBef>
              <a:spcAft>
                <a:spcPts val="0"/>
              </a:spcAft>
              <a:buSzPct val="100000"/>
              <a:buNone/>
            </a:pPr>
            <a:r>
              <a:rPr i="1" lang="it-IT"/>
              <a:t>		}</a:t>
            </a:r>
            <a:endParaRPr i="1"/>
          </a:p>
          <a:p>
            <a:pPr indent="0" lvl="1" marL="301943" rtl="0" algn="l">
              <a:spcBef>
                <a:spcPts val="275"/>
              </a:spcBef>
              <a:spcAft>
                <a:spcPts val="0"/>
              </a:spcAft>
              <a:buSzPct val="100000"/>
              <a:buNone/>
            </a:pPr>
            <a:r>
              <a:rPr i="1" lang="it-IT"/>
              <a:t>	}</a:t>
            </a:r>
            <a:endParaRPr i="1"/>
          </a:p>
          <a:p>
            <a:pPr indent="0" lvl="1" marL="301943" rtl="0" algn="l">
              <a:spcBef>
                <a:spcPts val="275"/>
              </a:spcBef>
              <a:spcAft>
                <a:spcPts val="0"/>
              </a:spcAft>
              <a:buSzPct val="100000"/>
              <a:buNone/>
            </a:pPr>
            <a:r>
              <a:rPr i="1" lang="it-IT"/>
              <a:t>	return personaBean;</a:t>
            </a:r>
            <a:endParaRPr/>
          </a:p>
          <a:p>
            <a:pPr indent="0" lvl="1" marL="301943" rtl="0" algn="l">
              <a:spcBef>
                <a:spcPts val="275"/>
              </a:spcBef>
              <a:spcAft>
                <a:spcPts val="0"/>
              </a:spcAft>
              <a:buSzPct val="100000"/>
              <a:buNone/>
            </a:pPr>
            <a:r>
              <a:rPr i="1" lang="it-IT"/>
              <a:t>}</a:t>
            </a:r>
            <a:endParaRPr/>
          </a:p>
        </p:txBody>
      </p:sp>
      <p:sp>
        <p:nvSpPr>
          <p:cNvPr id="290" name="Google Shape;290;p2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1" name="Google Shape;291;p2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@PatchMapping</a:t>
            </a:r>
            <a:r>
              <a:rPr lang="it-IT"/>
              <a:t>  </a:t>
            </a:r>
            <a:br>
              <a:rPr lang="it-IT"/>
            </a:br>
            <a:r>
              <a:rPr lang="it-IT"/>
              <a:t>aggiornamenti parziali</a:t>
            </a:r>
            <a:endParaRPr i="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24"/>
          <p:cNvSpPr txBox="1"/>
          <p:nvPr>
            <p:ph idx="1" type="body"/>
          </p:nvPr>
        </p:nvSpPr>
        <p:spPr>
          <a:xfrm>
            <a:off x="872067" y="2420888"/>
            <a:ext cx="7408333" cy="370527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Da notare che la differenza tra i metodi </a:t>
            </a:r>
            <a:r>
              <a:rPr i="1" lang="it-IT"/>
              <a:t>Http Put </a:t>
            </a:r>
            <a:r>
              <a:rPr lang="it-IT"/>
              <a:t>e</a:t>
            </a:r>
            <a:r>
              <a:rPr i="1" lang="it-IT"/>
              <a:t> Patch </a:t>
            </a:r>
            <a:r>
              <a:rPr lang="it-IT"/>
              <a:t>è solo semantica: è sempre in carico al codice l’implementazione corretta. Rimane ad esempio in carico al programmatore la logica implementativa per distinguere come permettere di distinguere i valori </a:t>
            </a:r>
            <a:r>
              <a:rPr i="1" lang="it-IT"/>
              <a:t>null</a:t>
            </a:r>
            <a:r>
              <a:rPr lang="it-IT"/>
              <a:t> che indicano che un campo non vada aggiornato dai valori </a:t>
            </a:r>
            <a:r>
              <a:rPr i="1" lang="it-IT"/>
              <a:t>null</a:t>
            </a:r>
            <a:r>
              <a:rPr lang="it-IT"/>
              <a:t> che invece indicano che il campo vada </a:t>
            </a:r>
            <a:r>
              <a:rPr i="1" lang="it-IT"/>
              <a:t>resettato</a:t>
            </a:r>
            <a:endParaRPr/>
          </a:p>
        </p:txBody>
      </p:sp>
      <p:sp>
        <p:nvSpPr>
          <p:cNvPr id="297" name="Google Shape;297;p2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8" name="Google Shape;298;p2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Put vs Patch</a:t>
            </a:r>
            <a:endParaRPr i="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5"/>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per cancellare una risorsa dal server dovremo usare il metodo </a:t>
            </a:r>
            <a:r>
              <a:rPr i="1" lang="it-IT"/>
              <a:t>Http delete</a:t>
            </a:r>
            <a:r>
              <a:rPr lang="it-IT"/>
              <a:t> e quindi </a:t>
            </a:r>
            <a:r>
              <a:rPr i="1" lang="it-IT"/>
              <a:t>@DeleteMapping. </a:t>
            </a:r>
            <a:r>
              <a:rPr lang="it-IT"/>
              <a:t>Sarebbe, inoltre, corretto inviare come codice di risposta </a:t>
            </a:r>
            <a:r>
              <a:rPr i="1" lang="it-IT"/>
              <a:t>Http No_Content </a:t>
            </a:r>
            <a:r>
              <a:rPr lang="it-IT"/>
              <a:t>(codice 204):</a:t>
            </a:r>
            <a:endParaRPr/>
          </a:p>
          <a:p>
            <a:pPr indent="-121920" lvl="0" marL="274320" rtl="0" algn="l">
              <a:spcBef>
                <a:spcPts val="480"/>
              </a:spcBef>
              <a:spcAft>
                <a:spcPts val="0"/>
              </a:spcAft>
              <a:buSzPts val="2400"/>
              <a:buNone/>
            </a:pPr>
            <a:r>
              <a:t/>
            </a:r>
            <a:endParaRPr/>
          </a:p>
          <a:p>
            <a:pPr indent="0" lvl="1" marL="301943" rtl="0" algn="l">
              <a:spcBef>
                <a:spcPts val="360"/>
              </a:spcBef>
              <a:spcAft>
                <a:spcPts val="0"/>
              </a:spcAft>
              <a:buSzPts val="1800"/>
              <a:buNone/>
            </a:pPr>
            <a:r>
              <a:rPr i="1" lang="it-IT" sz="1800"/>
              <a:t>@DeleteMapping(path="/cancellazione/{id}")</a:t>
            </a:r>
            <a:endParaRPr/>
          </a:p>
          <a:p>
            <a:pPr indent="0" lvl="1" marL="301943" rtl="0" algn="l">
              <a:spcBef>
                <a:spcPts val="360"/>
              </a:spcBef>
              <a:spcAft>
                <a:spcPts val="0"/>
              </a:spcAft>
              <a:buSzPts val="1800"/>
              <a:buNone/>
            </a:pPr>
            <a:r>
              <a:rPr i="1" lang="it-IT" sz="1800"/>
              <a:t>@ResponseStatus( HttpStatus.NO_CONTENT )</a:t>
            </a:r>
            <a:endParaRPr/>
          </a:p>
          <a:p>
            <a:pPr indent="0" lvl="1" marL="301943" rtl="0" algn="l">
              <a:spcBef>
                <a:spcPts val="360"/>
              </a:spcBef>
              <a:spcAft>
                <a:spcPts val="0"/>
              </a:spcAft>
              <a:buSzPts val="1800"/>
              <a:buNone/>
            </a:pPr>
            <a:r>
              <a:rPr i="1" lang="it-IT" sz="1800"/>
              <a:t>public void delete(@PathVariable("id") Integer id) {</a:t>
            </a:r>
            <a:endParaRPr/>
          </a:p>
          <a:p>
            <a:pPr indent="0" lvl="1" marL="301943" rtl="0" algn="l">
              <a:spcBef>
                <a:spcPts val="360"/>
              </a:spcBef>
              <a:spcAft>
                <a:spcPts val="0"/>
              </a:spcAft>
              <a:buSzPts val="1800"/>
              <a:buNone/>
            </a:pPr>
            <a:r>
              <a:rPr i="1" lang="it-IT" sz="1800"/>
              <a:t>	….</a:t>
            </a:r>
            <a:endParaRPr i="1" sz="1800"/>
          </a:p>
        </p:txBody>
      </p:sp>
      <p:sp>
        <p:nvSpPr>
          <p:cNvPr id="304" name="Google Shape;304;p2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05" name="Google Shape;305;p2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@DeleteMapping</a:t>
            </a:r>
            <a:r>
              <a:rPr lang="it-IT"/>
              <a:t> - cancellazioni</a:t>
            </a:r>
            <a:endParaRPr i="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26"/>
          <p:cNvPicPr preferRelativeResize="0"/>
          <p:nvPr>
            <p:ph idx="1" type="body"/>
          </p:nvPr>
        </p:nvPicPr>
        <p:blipFill rotWithShape="1">
          <a:blip r:embed="rId3">
            <a:alphaModFix/>
          </a:blip>
          <a:srcRect b="0" l="0" r="0" t="0"/>
          <a:stretch/>
        </p:blipFill>
        <p:spPr>
          <a:xfrm>
            <a:off x="272197" y="1700808"/>
            <a:ext cx="8476267" cy="4549355"/>
          </a:xfrm>
          <a:prstGeom prst="rect">
            <a:avLst/>
          </a:prstGeom>
          <a:noFill/>
          <a:ln>
            <a:noFill/>
          </a:ln>
        </p:spPr>
      </p:pic>
      <p:sp>
        <p:nvSpPr>
          <p:cNvPr id="311" name="Google Shape;311;p2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12" name="Google Shape;312;p2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Esempio di </a:t>
            </a:r>
            <a:r>
              <a:rPr i="1" lang="it-IT"/>
              <a:t>delete</a:t>
            </a:r>
            <a:r>
              <a:rPr lang="it-IT"/>
              <a:t> con </a:t>
            </a:r>
            <a:r>
              <a:rPr i="1" lang="it-IT"/>
              <a:t>Postman</a:t>
            </a:r>
            <a:endParaRPr i="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7"/>
          <p:cNvSpPr txBox="1"/>
          <p:nvPr>
            <p:ph idx="1" type="body"/>
          </p:nvPr>
        </p:nvSpPr>
        <p:spPr>
          <a:xfrm>
            <a:off x="872067" y="2204864"/>
            <a:ext cx="7408333" cy="3921299"/>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Se abbiamo bisogno di lavorare con gli header del messaggio Http, possiamo farci iniettare da Spring, nei parametri di input del metodo del </a:t>
            </a:r>
            <a:r>
              <a:rPr i="1" lang="it-IT"/>
              <a:t>@Controller</a:t>
            </a:r>
            <a:r>
              <a:rPr lang="it-IT"/>
              <a:t>, un oggetto di classe </a:t>
            </a:r>
            <a:r>
              <a:rPr i="1" lang="it-IT"/>
              <a:t>HttpHeaders</a:t>
            </a:r>
            <a:r>
              <a:rPr lang="it-IT"/>
              <a:t> tramite l’annotation </a:t>
            </a:r>
            <a:r>
              <a:rPr i="1" lang="it-IT"/>
              <a:t>@HttpHeaders:</a:t>
            </a:r>
            <a:endParaRPr/>
          </a:p>
          <a:p>
            <a:pPr indent="0" lvl="2" marL="627063" rtl="0" algn="l">
              <a:spcBef>
                <a:spcPts val="360"/>
              </a:spcBef>
              <a:spcAft>
                <a:spcPts val="0"/>
              </a:spcAft>
              <a:buSzPts val="1800"/>
              <a:buNone/>
            </a:pPr>
            <a:r>
              <a:rPr i="1" lang="it-IT" sz="1800"/>
              <a:t>@GetMapping("/getWithHeader ") public ResponseEntity&lt;PersonaBean&gt; getWithHeader(</a:t>
            </a:r>
            <a:r>
              <a:rPr b="1" i="1" lang="it-IT" sz="1800"/>
              <a:t>@RequestHeader HttpHeaders httpHeaders</a:t>
            </a:r>
            <a:r>
              <a:rPr i="1" lang="it-IT" sz="1800"/>
              <a:t>)</a:t>
            </a:r>
            <a:endParaRPr i="1" sz="1800"/>
          </a:p>
          <a:p>
            <a:pPr indent="-274320" lvl="0" marL="274320" rtl="0" algn="l">
              <a:spcBef>
                <a:spcPts val="480"/>
              </a:spcBef>
              <a:spcAft>
                <a:spcPts val="0"/>
              </a:spcAft>
              <a:buSzPts val="2400"/>
              <a:buChar char="*"/>
            </a:pPr>
            <a:r>
              <a:rPr lang="it-IT"/>
              <a:t>poi, possiamo recuperare un valore associato ad una chiave specifica degli header Http:</a:t>
            </a:r>
            <a:endParaRPr/>
          </a:p>
          <a:p>
            <a:pPr indent="0" lvl="2" marL="627063" rtl="0" algn="l">
              <a:spcBef>
                <a:spcPts val="360"/>
              </a:spcBef>
              <a:spcAft>
                <a:spcPts val="0"/>
              </a:spcAft>
              <a:buSzPts val="1800"/>
              <a:buNone/>
            </a:pPr>
            <a:r>
              <a:rPr i="1" lang="it-IT" sz="1800"/>
              <a:t>String headerValue = httpHeaders.getFirst("headerChiave");</a:t>
            </a:r>
            <a:endParaRPr i="1" sz="1800"/>
          </a:p>
        </p:txBody>
      </p:sp>
      <p:sp>
        <p:nvSpPr>
          <p:cNvPr id="318" name="Google Shape;318;p2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19" name="Google Shape;319;p2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@RequestHeader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8"/>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Le eccezioni che si verificano quando un client invoca un servizio rest e che non siano direttamente gestite all’interno del codice dello stesso servizio rest, vengono gestite in automatico da Spring che prevede di default una risposta Json con alcuni dettagli informativi sull’eccezione che si è verificata</a:t>
            </a:r>
            <a:endParaRPr/>
          </a:p>
          <a:p>
            <a:pPr indent="-274320" lvl="0" marL="274320" rtl="0" algn="l">
              <a:spcBef>
                <a:spcPts val="480"/>
              </a:spcBef>
              <a:spcAft>
                <a:spcPts val="0"/>
              </a:spcAft>
              <a:buSzPts val="2400"/>
              <a:buChar char="*"/>
            </a:pPr>
            <a:r>
              <a:rPr lang="it-IT"/>
              <a:t>E’ possibile modificare il comportamento di default di Spring in base a tutti i meccanismi disponibili in Spring Mvc (la </a:t>
            </a:r>
            <a:r>
              <a:rPr i="1" lang="it-IT"/>
              <a:t>starter dependency</a:t>
            </a:r>
            <a:r>
              <a:rPr lang="it-IT"/>
              <a:t> è la stessa)</a:t>
            </a:r>
            <a:endParaRPr/>
          </a:p>
        </p:txBody>
      </p:sp>
      <p:sp>
        <p:nvSpPr>
          <p:cNvPr id="325" name="Google Shape;325;p2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26" name="Google Shape;326;p2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(1/11)</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9"/>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nel caso di servizi rest in cui vogliamo modificare il comportamento assunto di default da Spring per la gestione delle eccezioni, i punti principali su cui concentrare la nostra attenzione sono:</a:t>
            </a:r>
            <a:endParaRPr/>
          </a:p>
          <a:p>
            <a:pPr indent="-274319" lvl="1" marL="576263" rtl="0" algn="l">
              <a:spcBef>
                <a:spcPts val="440"/>
              </a:spcBef>
              <a:spcAft>
                <a:spcPts val="0"/>
              </a:spcAft>
              <a:buSzPts val="2200"/>
              <a:buChar char="*"/>
            </a:pPr>
            <a:r>
              <a:rPr lang="it-IT"/>
              <a:t>le property dell’</a:t>
            </a:r>
            <a:r>
              <a:rPr i="1" lang="it-IT"/>
              <a:t>application.properties</a:t>
            </a:r>
            <a:r>
              <a:rPr lang="it-IT"/>
              <a:t> tramite cui possiamo richiedere maggiori informazioni sulle eccezioni (principalmente agendo sui messaggi delle eccezioni)</a:t>
            </a:r>
            <a:endParaRPr/>
          </a:p>
          <a:p>
            <a:pPr indent="-274319" lvl="1" marL="576263" rtl="0" algn="l">
              <a:spcBef>
                <a:spcPts val="440"/>
              </a:spcBef>
              <a:spcAft>
                <a:spcPts val="0"/>
              </a:spcAft>
              <a:buSzPts val="2200"/>
              <a:buChar char="*"/>
            </a:pPr>
            <a:r>
              <a:rPr lang="it-IT"/>
              <a:t>controllo da codice tramite </a:t>
            </a:r>
            <a:r>
              <a:rPr i="1" lang="it-IT"/>
              <a:t>@ExceptionHandler</a:t>
            </a:r>
            <a:r>
              <a:rPr lang="it-IT"/>
              <a:t> creati ad-hoc per un determinato servizio rest, o addirittura globali (quindi validi per tutti i nostri servizi rest) tramite </a:t>
            </a:r>
            <a:r>
              <a:rPr i="1" lang="it-IT"/>
              <a:t>@ControllerAdvice </a:t>
            </a:r>
            <a:r>
              <a:rPr lang="it-IT"/>
              <a:t>o </a:t>
            </a:r>
            <a:r>
              <a:rPr i="1" lang="it-IT"/>
              <a:t>@RestControllerAdvice</a:t>
            </a:r>
            <a:endParaRPr/>
          </a:p>
        </p:txBody>
      </p:sp>
      <p:sp>
        <p:nvSpPr>
          <p:cNvPr id="332" name="Google Shape;332;p2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33" name="Google Shape;333;p2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(2/11)</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0"/>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nell’</a:t>
            </a:r>
            <a:r>
              <a:rPr i="1" lang="it-IT"/>
              <a:t>application.properties</a:t>
            </a:r>
            <a:r>
              <a:rPr lang="it-IT"/>
              <a:t> impostando la property</a:t>
            </a:r>
            <a:endParaRPr/>
          </a:p>
          <a:p>
            <a:pPr indent="0" lvl="2" marL="627063" rtl="0" algn="l">
              <a:spcBef>
                <a:spcPts val="333"/>
              </a:spcBef>
              <a:spcAft>
                <a:spcPts val="0"/>
              </a:spcAft>
              <a:buSzPct val="100000"/>
              <a:buNone/>
            </a:pPr>
            <a:r>
              <a:rPr i="1" lang="it-IT" sz="1800"/>
              <a:t>server.error.include-message=always</a:t>
            </a:r>
            <a:endParaRPr i="1" sz="1800"/>
          </a:p>
          <a:p>
            <a:pPr indent="-274320" lvl="0" marL="274320" rtl="0" algn="l">
              <a:spcBef>
                <a:spcPts val="444"/>
              </a:spcBef>
              <a:spcAft>
                <a:spcPts val="0"/>
              </a:spcAft>
              <a:buSzPct val="100000"/>
              <a:buChar char="*"/>
            </a:pPr>
            <a:r>
              <a:rPr lang="it-IT"/>
              <a:t>possiamo avere nella risposta Json anche i messaggi specifici dell’eccezione che si è verificata</a:t>
            </a:r>
            <a:endParaRPr/>
          </a:p>
          <a:p>
            <a:pPr indent="-133350" lvl="0" marL="274320" rtl="0" algn="l">
              <a:spcBef>
                <a:spcPts val="444"/>
              </a:spcBef>
              <a:spcAft>
                <a:spcPts val="0"/>
              </a:spcAft>
              <a:buSzPct val="100000"/>
              <a:buNone/>
            </a:pPr>
            <a:r>
              <a:t/>
            </a:r>
            <a:endParaRPr/>
          </a:p>
          <a:p>
            <a:pPr indent="-274320" lvl="0" marL="274320" rtl="0" algn="l">
              <a:spcBef>
                <a:spcPts val="444"/>
              </a:spcBef>
              <a:spcAft>
                <a:spcPts val="0"/>
              </a:spcAft>
              <a:buSzPct val="100000"/>
              <a:buChar char="*"/>
            </a:pPr>
            <a:r>
              <a:rPr lang="it-IT"/>
              <a:t>Tuttavia quando vogliamo un maggior controllo dobbiamo gestire le eccezioni ad-hoc nel nostro codice e/o ricorrere ad un </a:t>
            </a:r>
            <a:r>
              <a:rPr i="1" lang="it-IT"/>
              <a:t>@ExceptionHandler</a:t>
            </a:r>
            <a:endParaRPr i="1"/>
          </a:p>
          <a:p>
            <a:pPr indent="-274320" lvl="0" marL="274320" rtl="0" algn="l">
              <a:spcBef>
                <a:spcPts val="444"/>
              </a:spcBef>
              <a:spcAft>
                <a:spcPts val="0"/>
              </a:spcAft>
              <a:buSzPct val="100000"/>
              <a:buChar char="*"/>
            </a:pPr>
            <a:r>
              <a:rPr lang="it-IT"/>
              <a:t>Tipicamente l’</a:t>
            </a:r>
            <a:r>
              <a:rPr i="1" lang="it-IT"/>
              <a:t>@ExceptionHandler</a:t>
            </a:r>
            <a:r>
              <a:rPr lang="it-IT"/>
              <a:t> diventa indispensabile quando usiamo le validazioni (sui parametri o sul body della request) ed il nostro codice potrebbe non essere proprio invocato in quanto </a:t>
            </a:r>
            <a:r>
              <a:rPr i="1" lang="it-IT"/>
              <a:t>bloccato a monte</a:t>
            </a:r>
            <a:r>
              <a:rPr lang="it-IT"/>
              <a:t> da Spring</a:t>
            </a:r>
            <a:endParaRPr/>
          </a:p>
        </p:txBody>
      </p:sp>
      <p:sp>
        <p:nvSpPr>
          <p:cNvPr id="339" name="Google Shape;339;p3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40" name="Google Shape;340;p3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(3/11)</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1"/>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per usare le validazioni inseriamo nel pom.xml lo </a:t>
            </a:r>
            <a:r>
              <a:rPr i="1" lang="it-IT"/>
              <a:t>starter:</a:t>
            </a:r>
            <a:endParaRPr/>
          </a:p>
          <a:p>
            <a:pPr indent="0" lvl="2" marL="581343" rtl="0" algn="l">
              <a:spcBef>
                <a:spcPts val="360"/>
              </a:spcBef>
              <a:spcAft>
                <a:spcPts val="0"/>
              </a:spcAft>
              <a:buSzPts val="1800"/>
              <a:buNone/>
            </a:pPr>
            <a:r>
              <a:rPr i="1" lang="it-IT" sz="1800"/>
              <a:t>spring-boot-starter-validation</a:t>
            </a:r>
            <a:endParaRPr i="1" sz="1800"/>
          </a:p>
          <a:p>
            <a:pPr indent="-285750" lvl="0" marL="285750" rtl="0" algn="l">
              <a:spcBef>
                <a:spcPts val="440"/>
              </a:spcBef>
              <a:spcAft>
                <a:spcPts val="0"/>
              </a:spcAft>
              <a:buSzPts val="2200"/>
              <a:buChar char="*"/>
            </a:pPr>
            <a:r>
              <a:rPr lang="it-IT" sz="2200"/>
              <a:t>se vogliamo validare un parametro dell’url relativa ad un servizio rest dovremo:</a:t>
            </a:r>
            <a:endParaRPr/>
          </a:p>
          <a:p>
            <a:pPr indent="-285750" lvl="1" marL="587693" rtl="0" algn="l">
              <a:spcBef>
                <a:spcPts val="400"/>
              </a:spcBef>
              <a:spcAft>
                <a:spcPts val="0"/>
              </a:spcAft>
              <a:buSzPts val="2000"/>
              <a:buChar char="*"/>
            </a:pPr>
            <a:r>
              <a:rPr lang="it-IT" sz="2000"/>
              <a:t>annotare il rest-controller con </a:t>
            </a:r>
            <a:r>
              <a:rPr i="1" lang="it-IT" sz="2000"/>
              <a:t>@Validated</a:t>
            </a:r>
            <a:r>
              <a:rPr lang="it-IT" sz="2000"/>
              <a:t>:</a:t>
            </a:r>
            <a:endParaRPr/>
          </a:p>
          <a:p>
            <a:pPr indent="0" lvl="3" marL="914400" rtl="0" algn="l">
              <a:spcBef>
                <a:spcPts val="320"/>
              </a:spcBef>
              <a:spcAft>
                <a:spcPts val="0"/>
              </a:spcAft>
              <a:buSzPts val="1600"/>
              <a:buNone/>
            </a:pPr>
            <a:r>
              <a:rPr i="1" lang="it-IT" sz="1600"/>
              <a:t>@RestController ….</a:t>
            </a:r>
            <a:endParaRPr i="1" sz="1600"/>
          </a:p>
          <a:p>
            <a:pPr indent="0" lvl="3" marL="914400" rtl="0" algn="l">
              <a:spcBef>
                <a:spcPts val="320"/>
              </a:spcBef>
              <a:spcAft>
                <a:spcPts val="0"/>
              </a:spcAft>
              <a:buSzPts val="1600"/>
              <a:buNone/>
            </a:pPr>
            <a:r>
              <a:rPr b="1" i="1" lang="it-IT" sz="1600"/>
              <a:t>@Validated</a:t>
            </a:r>
            <a:endParaRPr b="1" i="1" sz="1600"/>
          </a:p>
          <a:p>
            <a:pPr indent="0" lvl="3" marL="914400" rtl="0" algn="l">
              <a:spcBef>
                <a:spcPts val="320"/>
              </a:spcBef>
              <a:spcAft>
                <a:spcPts val="0"/>
              </a:spcAft>
              <a:buSzPts val="1600"/>
              <a:buNone/>
            </a:pPr>
            <a:r>
              <a:rPr i="1" lang="it-IT" sz="1600"/>
              <a:t>public class PersonaRestController{ ….</a:t>
            </a:r>
            <a:endParaRPr/>
          </a:p>
          <a:p>
            <a:pPr indent="-285750" lvl="1" marL="587693" rtl="0" algn="l">
              <a:spcBef>
                <a:spcPts val="400"/>
              </a:spcBef>
              <a:spcAft>
                <a:spcPts val="0"/>
              </a:spcAft>
              <a:buSzPts val="2000"/>
              <a:buChar char="*"/>
            </a:pPr>
            <a:r>
              <a:rPr lang="it-IT" sz="2000"/>
              <a:t>annotare il parametro dell’url, recuperato tramite </a:t>
            </a:r>
            <a:r>
              <a:rPr i="1" lang="it-IT" sz="2000"/>
              <a:t>PathVariable</a:t>
            </a:r>
            <a:r>
              <a:rPr lang="it-IT" sz="2000"/>
              <a:t>, con il </a:t>
            </a:r>
            <a:r>
              <a:rPr i="1" lang="it-IT" sz="2000"/>
              <a:t>constraint</a:t>
            </a:r>
            <a:r>
              <a:rPr lang="it-IT" sz="2000"/>
              <a:t> a cui siamo interessati:</a:t>
            </a:r>
            <a:endParaRPr/>
          </a:p>
          <a:p>
            <a:pPr indent="0" lvl="3" marL="914400" rtl="0" algn="l">
              <a:spcBef>
                <a:spcPts val="340"/>
              </a:spcBef>
              <a:spcAft>
                <a:spcPts val="0"/>
              </a:spcAft>
              <a:buSzPts val="1700"/>
              <a:buNone/>
            </a:pPr>
            <a:r>
              <a:rPr i="1" lang="it-IT" sz="1700"/>
              <a:t>@GetMapping("/getByIdValidated/{id}")</a:t>
            </a:r>
            <a:endParaRPr/>
          </a:p>
          <a:p>
            <a:pPr indent="0" lvl="3" marL="914400" rtl="0" algn="l">
              <a:spcBef>
                <a:spcPts val="340"/>
              </a:spcBef>
              <a:spcAft>
                <a:spcPts val="0"/>
              </a:spcAft>
              <a:buSzPts val="1700"/>
              <a:buNone/>
            </a:pPr>
            <a:r>
              <a:rPr i="1" lang="it-IT" sz="1700"/>
              <a:t>public ResponseEntity&lt;PersonaBean&gt; byId(</a:t>
            </a:r>
            <a:r>
              <a:rPr b="1" i="1" lang="it-IT" sz="1700"/>
              <a:t>@Positive(message ="solo valori positivi")</a:t>
            </a:r>
            <a:r>
              <a:rPr i="1" lang="it-IT" sz="1700"/>
              <a:t> @PathVariable("id")  Integer </a:t>
            </a:r>
            <a:r>
              <a:rPr i="1" lang="it-IT" sz="1700" u="sng"/>
              <a:t>id) {…</a:t>
            </a:r>
            <a:r>
              <a:rPr i="1" lang="it-IT" sz="1700"/>
              <a:t> </a:t>
            </a:r>
            <a:endParaRPr/>
          </a:p>
          <a:p>
            <a:pPr indent="-146050" lvl="0" marL="285750" rtl="0" algn="l">
              <a:spcBef>
                <a:spcPts val="440"/>
              </a:spcBef>
              <a:spcAft>
                <a:spcPts val="0"/>
              </a:spcAft>
              <a:buSzPts val="2200"/>
              <a:buNone/>
            </a:pPr>
            <a:r>
              <a:t/>
            </a:r>
            <a:endParaRPr sz="2200"/>
          </a:p>
        </p:txBody>
      </p:sp>
      <p:sp>
        <p:nvSpPr>
          <p:cNvPr id="346" name="Google Shape;346;p3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47" name="Google Shape;347;p3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(4/11)</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2"/>
          <p:cNvSpPr txBox="1"/>
          <p:nvPr>
            <p:ph idx="1" type="body"/>
          </p:nvPr>
        </p:nvSpPr>
        <p:spPr>
          <a:xfrm>
            <a:off x="872067" y="2204864"/>
            <a:ext cx="7408333" cy="392129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una validazione sul parametro dell’url come quella mostrata nella slide precedente, in caso di url non con un </a:t>
            </a:r>
            <a:r>
              <a:rPr i="1" lang="it-IT"/>
              <a:t>id</a:t>
            </a:r>
            <a:r>
              <a:rPr lang="it-IT"/>
              <a:t>&lt;=0</a:t>
            </a:r>
            <a:r>
              <a:rPr i="1" lang="it-IT"/>
              <a:t> </a:t>
            </a:r>
            <a:r>
              <a:rPr lang="it-IT"/>
              <a:t>genererebbe una risposta Json con codice Http 400 ed il messaggio usato in </a:t>
            </a:r>
            <a:r>
              <a:rPr i="1" lang="it-IT"/>
              <a:t>@Positive</a:t>
            </a:r>
            <a:endParaRPr/>
          </a:p>
          <a:p>
            <a:pPr indent="-274320" lvl="0" marL="274320" rtl="0" algn="l">
              <a:spcBef>
                <a:spcPts val="480"/>
              </a:spcBef>
              <a:spcAft>
                <a:spcPts val="0"/>
              </a:spcAft>
              <a:buSzPts val="2400"/>
              <a:buChar char="*"/>
            </a:pPr>
            <a:r>
              <a:rPr lang="it-IT"/>
              <a:t>se invece volessimo validare il body di una request, dovremmo impostare i </a:t>
            </a:r>
            <a:r>
              <a:rPr i="1" lang="it-IT"/>
              <a:t>constraint</a:t>
            </a:r>
            <a:r>
              <a:rPr lang="it-IT"/>
              <a:t> nell’oggetto mappato da </a:t>
            </a:r>
            <a:r>
              <a:rPr i="1" lang="it-IT"/>
              <a:t>@RequestBody</a:t>
            </a:r>
            <a:r>
              <a:rPr lang="it-IT"/>
              <a:t> ed annotare con </a:t>
            </a:r>
            <a:r>
              <a:rPr i="1" lang="it-IT"/>
              <a:t>@Valid</a:t>
            </a:r>
            <a:r>
              <a:rPr lang="it-IT"/>
              <a:t> la stessa </a:t>
            </a:r>
            <a:r>
              <a:rPr i="1" lang="it-IT"/>
              <a:t>@RequestBody</a:t>
            </a:r>
            <a:endParaRPr/>
          </a:p>
        </p:txBody>
      </p:sp>
      <p:sp>
        <p:nvSpPr>
          <p:cNvPr id="353" name="Google Shape;353;p3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54" name="Google Shape;354;p3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(5/11)</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3"/>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ad esempio, in </a:t>
            </a:r>
            <a:r>
              <a:rPr i="1" lang="it-IT"/>
              <a:t>PersonaBean</a:t>
            </a:r>
            <a:r>
              <a:rPr lang="it-IT"/>
              <a:t>:</a:t>
            </a:r>
            <a:endParaRPr/>
          </a:p>
          <a:p>
            <a:pPr indent="0" lvl="2" marL="627063" rtl="0" algn="l">
              <a:spcBef>
                <a:spcPts val="360"/>
              </a:spcBef>
              <a:spcAft>
                <a:spcPts val="0"/>
              </a:spcAft>
              <a:buSzPts val="1800"/>
              <a:buNone/>
            </a:pPr>
            <a:r>
              <a:rPr i="1" lang="it-IT" sz="1800"/>
              <a:t>public class PersonaBean {</a:t>
            </a:r>
            <a:endParaRPr/>
          </a:p>
          <a:p>
            <a:pPr indent="0" lvl="2" marL="627063" rtl="0" algn="l">
              <a:spcBef>
                <a:spcPts val="360"/>
              </a:spcBef>
              <a:spcAft>
                <a:spcPts val="0"/>
              </a:spcAft>
              <a:buSzPts val="1800"/>
              <a:buNone/>
            </a:pPr>
            <a:r>
              <a:rPr i="1" lang="it-IT" sz="1800"/>
              <a:t>	private Integer id = null;</a:t>
            </a:r>
            <a:endParaRPr/>
          </a:p>
          <a:p>
            <a:pPr indent="0" lvl="2" marL="627063" rtl="0" algn="l">
              <a:spcBef>
                <a:spcPts val="360"/>
              </a:spcBef>
              <a:spcAft>
                <a:spcPts val="0"/>
              </a:spcAft>
              <a:buSzPts val="1800"/>
              <a:buNone/>
            </a:pPr>
            <a:r>
              <a:rPr i="1" lang="it-IT" sz="1800"/>
              <a:t>	</a:t>
            </a:r>
            <a:r>
              <a:rPr b="1" i="1" lang="it-IT" sz="1800"/>
              <a:t>@NotBlank(message="Il nome non può essere vuoto")</a:t>
            </a:r>
            <a:endParaRPr/>
          </a:p>
          <a:p>
            <a:pPr indent="0" lvl="2" marL="627063" rtl="0" algn="l">
              <a:spcBef>
                <a:spcPts val="360"/>
              </a:spcBef>
              <a:spcAft>
                <a:spcPts val="0"/>
              </a:spcAft>
              <a:buSzPts val="1800"/>
              <a:buNone/>
            </a:pPr>
            <a:r>
              <a:rPr i="1" lang="it-IT" sz="1800"/>
              <a:t>	private String nome = null;</a:t>
            </a:r>
            <a:endParaRPr/>
          </a:p>
          <a:p>
            <a:pPr indent="0" lvl="2" marL="627063" rtl="0" algn="l">
              <a:spcBef>
                <a:spcPts val="360"/>
              </a:spcBef>
              <a:spcAft>
                <a:spcPts val="0"/>
              </a:spcAft>
              <a:buSzPts val="1800"/>
              <a:buNone/>
            </a:pPr>
            <a:r>
              <a:rPr i="1" lang="it-IT" sz="1800"/>
              <a:t>	</a:t>
            </a:r>
            <a:r>
              <a:rPr b="1" i="1" lang="it-IT" sz="1800"/>
              <a:t>@NotBlank(message="Il cognome non può essere vuoto")</a:t>
            </a:r>
            <a:endParaRPr/>
          </a:p>
          <a:p>
            <a:pPr indent="0" lvl="2" marL="627063" rtl="0" algn="l">
              <a:spcBef>
                <a:spcPts val="360"/>
              </a:spcBef>
              <a:spcAft>
                <a:spcPts val="0"/>
              </a:spcAft>
              <a:buSzPts val="1800"/>
              <a:buNone/>
            </a:pPr>
            <a:r>
              <a:rPr i="1" lang="it-IT" sz="1800"/>
              <a:t>	private String cognome = null;</a:t>
            </a:r>
            <a:endParaRPr/>
          </a:p>
          <a:p>
            <a:pPr indent="-274320" lvl="0" marL="274320" rtl="0" algn="l">
              <a:spcBef>
                <a:spcPts val="440"/>
              </a:spcBef>
              <a:spcAft>
                <a:spcPts val="0"/>
              </a:spcAft>
              <a:buSzPts val="2200"/>
              <a:buChar char="*"/>
            </a:pPr>
            <a:r>
              <a:rPr lang="it-IT" sz="2200"/>
              <a:t>e nel </a:t>
            </a:r>
            <a:r>
              <a:rPr i="1" lang="it-IT" sz="2200"/>
              <a:t>@Controller</a:t>
            </a:r>
            <a:r>
              <a:rPr lang="it-IT" sz="2200"/>
              <a:t>:</a:t>
            </a:r>
            <a:endParaRPr/>
          </a:p>
          <a:p>
            <a:pPr indent="0" lvl="2" marL="627063" rtl="0" algn="l">
              <a:spcBef>
                <a:spcPts val="360"/>
              </a:spcBef>
              <a:spcAft>
                <a:spcPts val="0"/>
              </a:spcAft>
              <a:buSzPts val="1800"/>
              <a:buNone/>
            </a:pPr>
            <a:r>
              <a:rPr i="1" lang="it-IT" sz="1800"/>
              <a:t>@PostMapping(path = "/registraPersonaValidated",consumes = "application/json" ) </a:t>
            </a:r>
            <a:endParaRPr/>
          </a:p>
          <a:p>
            <a:pPr indent="0" lvl="2" marL="627063" rtl="0" algn="l">
              <a:spcBef>
                <a:spcPts val="360"/>
              </a:spcBef>
              <a:spcAft>
                <a:spcPts val="0"/>
              </a:spcAft>
              <a:buSzPts val="1800"/>
              <a:buNone/>
            </a:pPr>
            <a:r>
              <a:rPr i="1" lang="it-IT" sz="1800"/>
              <a:t>public PersonaBean registraPersonaValidated(</a:t>
            </a:r>
            <a:r>
              <a:rPr b="1" i="1" lang="it-IT" sz="1800"/>
              <a:t>@Valid</a:t>
            </a:r>
            <a:r>
              <a:rPr i="1" lang="it-IT" sz="1800"/>
              <a:t> @RequestBody PersonaBean </a:t>
            </a:r>
            <a:r>
              <a:rPr i="1" lang="it-IT" sz="1800" u="sng"/>
              <a:t>personaBean)</a:t>
            </a:r>
            <a:endParaRPr i="1" sz="1800"/>
          </a:p>
        </p:txBody>
      </p:sp>
      <p:sp>
        <p:nvSpPr>
          <p:cNvPr id="360" name="Google Shape;360;p3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61" name="Google Shape;361;p3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(6/11)</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4"/>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a questo punto se provassimo a invocare la </a:t>
            </a:r>
            <a:r>
              <a:rPr i="1" lang="it-IT"/>
              <a:t>post</a:t>
            </a:r>
            <a:r>
              <a:rPr lang="it-IT"/>
              <a:t> con un body Json che contiene il campo </a:t>
            </a:r>
            <a:r>
              <a:rPr i="1" lang="it-IT"/>
              <a:t>nome </a:t>
            </a:r>
            <a:r>
              <a:rPr lang="it-IT"/>
              <a:t>e/o il campo </a:t>
            </a:r>
            <a:r>
              <a:rPr i="1" lang="it-IT"/>
              <a:t>cognome </a:t>
            </a:r>
            <a:r>
              <a:rPr lang="it-IT"/>
              <a:t>vuoto otterremo una risposta Json con codice Http 400 ed un messaggio di errore (se nell’</a:t>
            </a:r>
            <a:r>
              <a:rPr i="1" lang="it-IT"/>
              <a:t>application.properties </a:t>
            </a:r>
            <a:r>
              <a:rPr lang="it-IT"/>
              <a:t>abbiamo impostato la property </a:t>
            </a:r>
            <a:r>
              <a:rPr i="1" lang="it-IT"/>
              <a:t>server.error.include-message=always</a:t>
            </a:r>
            <a:r>
              <a:rPr lang="it-IT"/>
              <a:t>)</a:t>
            </a:r>
            <a:endParaRPr/>
          </a:p>
          <a:p>
            <a:pPr indent="-121920" lvl="0" marL="274320" rtl="0" algn="l">
              <a:spcBef>
                <a:spcPts val="480"/>
              </a:spcBef>
              <a:spcAft>
                <a:spcPts val="0"/>
              </a:spcAft>
              <a:buSzPts val="2400"/>
              <a:buNone/>
            </a:pPr>
            <a:r>
              <a:t/>
            </a:r>
            <a:endParaRPr/>
          </a:p>
        </p:txBody>
      </p:sp>
      <p:sp>
        <p:nvSpPr>
          <p:cNvPr id="367" name="Google Shape;367;p3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68" name="Google Shape;368;p3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(7/11)</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5"/>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se volessimo gestire in modo più puntuale la risposta Json in caso di validazioni fallite, potremmo aggiungere nel </a:t>
            </a:r>
            <a:r>
              <a:rPr i="1" lang="it-IT"/>
              <a:t>@Controller</a:t>
            </a:r>
            <a:r>
              <a:rPr lang="it-IT"/>
              <a:t> un metodo annotato con </a:t>
            </a:r>
            <a:r>
              <a:rPr i="1" lang="it-IT"/>
              <a:t>@ExceptionHandler</a:t>
            </a:r>
            <a:r>
              <a:rPr lang="it-IT"/>
              <a:t> per ciascun tipo di eccezione</a:t>
            </a:r>
            <a:endParaRPr/>
          </a:p>
          <a:p>
            <a:pPr indent="-274320" lvl="0" marL="274320" rtl="0" algn="l">
              <a:spcBef>
                <a:spcPts val="480"/>
              </a:spcBef>
              <a:spcAft>
                <a:spcPts val="0"/>
              </a:spcAft>
              <a:buSzPts val="2400"/>
              <a:buChar char="*"/>
            </a:pPr>
            <a:r>
              <a:rPr lang="it-IT"/>
              <a:t>ad esempio, in caso di validazione fallita sui parametri dell’url Spring genera una </a:t>
            </a:r>
            <a:r>
              <a:rPr i="1" lang="it-IT"/>
              <a:t>ConstraintViolationException</a:t>
            </a:r>
            <a:r>
              <a:rPr lang="it-IT"/>
              <a:t>, quindi potremmo scrivere un metodo che tramite </a:t>
            </a:r>
            <a:r>
              <a:rPr i="1" lang="it-IT"/>
              <a:t>@ExceptionHandler</a:t>
            </a:r>
            <a:r>
              <a:rPr lang="it-IT"/>
              <a:t> intercetta questa eccezione ed imposta il codice Http e/o i messaggi che desideriamo</a:t>
            </a:r>
            <a:endParaRPr i="1"/>
          </a:p>
        </p:txBody>
      </p:sp>
      <p:sp>
        <p:nvSpPr>
          <p:cNvPr id="374" name="Google Shape;374;p3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75" name="Google Shape;375;p3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(8/11)</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6"/>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ad esempio:</a:t>
            </a:r>
            <a:endParaRPr/>
          </a:p>
          <a:p>
            <a:pPr indent="0" lvl="2" marL="627063" rtl="0" algn="l">
              <a:spcBef>
                <a:spcPts val="380"/>
              </a:spcBef>
              <a:spcAft>
                <a:spcPts val="0"/>
              </a:spcAft>
              <a:buSzPts val="1900"/>
              <a:buNone/>
            </a:pPr>
            <a:r>
              <a:rPr b="1" i="1" lang="it-IT" sz="1900"/>
              <a:t>@ExceptionHandler(ConstraintViolationException.class)</a:t>
            </a:r>
            <a:endParaRPr/>
          </a:p>
          <a:p>
            <a:pPr indent="0" lvl="2" marL="627063" rtl="0" algn="l">
              <a:spcBef>
                <a:spcPts val="380"/>
              </a:spcBef>
              <a:spcAft>
                <a:spcPts val="0"/>
              </a:spcAft>
              <a:buSzPts val="1900"/>
              <a:buNone/>
            </a:pPr>
            <a:r>
              <a:rPr i="1" lang="it-IT" sz="1900"/>
              <a:t>@ResponseStatus(HttpStatus.BAD_REQUEST)</a:t>
            </a:r>
            <a:endParaRPr/>
          </a:p>
          <a:p>
            <a:pPr indent="0" lvl="2" marL="627063" rtl="0" algn="l">
              <a:spcBef>
                <a:spcPts val="380"/>
              </a:spcBef>
              <a:spcAft>
                <a:spcPts val="0"/>
              </a:spcAft>
              <a:buSzPts val="1900"/>
              <a:buNone/>
            </a:pPr>
            <a:r>
              <a:rPr i="1" lang="it-IT" sz="1900"/>
              <a:t>public Map&lt;String,String&gt; handleConstraintViolationException(ConstraintViolationException e){</a:t>
            </a:r>
            <a:endParaRPr/>
          </a:p>
          <a:p>
            <a:pPr indent="0" lvl="2" marL="627063" rtl="0" algn="l">
              <a:spcBef>
                <a:spcPts val="380"/>
              </a:spcBef>
              <a:spcAft>
                <a:spcPts val="0"/>
              </a:spcAft>
              <a:buSzPts val="1900"/>
              <a:buNone/>
            </a:pPr>
            <a:r>
              <a:rPr i="1" lang="it-IT" sz="1900"/>
              <a:t>	Map&lt;String,</a:t>
            </a:r>
            <a:r>
              <a:rPr i="1" lang="it-IT" sz="1900" u="sng"/>
              <a:t>String&gt; result = new HashMap&lt;String, String&gt;();</a:t>
            </a:r>
            <a:endParaRPr/>
          </a:p>
          <a:p>
            <a:pPr indent="0" lvl="2" marL="627063" rtl="0" algn="l">
              <a:spcBef>
                <a:spcPts val="380"/>
              </a:spcBef>
              <a:spcAft>
                <a:spcPts val="0"/>
              </a:spcAft>
              <a:buSzPts val="1900"/>
              <a:buNone/>
            </a:pPr>
            <a:r>
              <a:rPr i="1" lang="it-IT" sz="1900"/>
              <a:t>	</a:t>
            </a:r>
            <a:r>
              <a:rPr b="1" i="1" lang="it-IT" sz="1900"/>
              <a:t>e.getConstraintViolations().</a:t>
            </a:r>
            <a:r>
              <a:rPr i="1" lang="it-IT" sz="1900"/>
              <a:t>forEach( ce -&gt; {</a:t>
            </a:r>
            <a:endParaRPr/>
          </a:p>
          <a:p>
            <a:pPr indent="0" lvl="2" marL="627063" rtl="0" algn="l">
              <a:spcBef>
                <a:spcPts val="380"/>
              </a:spcBef>
              <a:spcAft>
                <a:spcPts val="0"/>
              </a:spcAft>
              <a:buSzPts val="1900"/>
              <a:buNone/>
            </a:pPr>
            <a:r>
              <a:rPr i="1" lang="it-IT" sz="1900"/>
              <a:t>	result.put(</a:t>
            </a:r>
            <a:r>
              <a:rPr b="1" i="1" lang="it-IT" sz="1900"/>
              <a:t>ce.getPropertyPath()</a:t>
            </a:r>
            <a:r>
              <a:rPr i="1" lang="it-IT" sz="1900"/>
              <a:t>.toString(),</a:t>
            </a:r>
            <a:r>
              <a:rPr b="1" i="1" lang="it-IT" sz="1900"/>
              <a:t>ce.getMessage()</a:t>
            </a:r>
            <a:r>
              <a:rPr i="1" lang="it-IT" sz="1900"/>
              <a:t>);</a:t>
            </a:r>
            <a:endParaRPr/>
          </a:p>
          <a:p>
            <a:pPr indent="0" lvl="2" marL="627063" rtl="0" algn="l">
              <a:spcBef>
                <a:spcPts val="380"/>
              </a:spcBef>
              <a:spcAft>
                <a:spcPts val="0"/>
              </a:spcAft>
              <a:buSzPts val="1900"/>
              <a:buNone/>
            </a:pPr>
            <a:r>
              <a:rPr i="1" lang="it-IT" sz="1900"/>
              <a:t>	});</a:t>
            </a:r>
            <a:endParaRPr i="1" sz="1900"/>
          </a:p>
          <a:p>
            <a:pPr indent="0" lvl="2" marL="627063" rtl="0" algn="l">
              <a:spcBef>
                <a:spcPts val="380"/>
              </a:spcBef>
              <a:spcAft>
                <a:spcPts val="0"/>
              </a:spcAft>
              <a:buSzPts val="1900"/>
              <a:buNone/>
            </a:pPr>
            <a:r>
              <a:rPr i="1" lang="it-IT" sz="1900"/>
              <a:t>	return result;</a:t>
            </a:r>
            <a:endParaRPr/>
          </a:p>
          <a:p>
            <a:pPr indent="0" lvl="2" marL="627063" rtl="0" algn="l">
              <a:spcBef>
                <a:spcPts val="380"/>
              </a:spcBef>
              <a:spcAft>
                <a:spcPts val="0"/>
              </a:spcAft>
              <a:buSzPts val="1900"/>
              <a:buNone/>
            </a:pPr>
            <a:r>
              <a:rPr i="1" lang="it-IT" sz="1900"/>
              <a:t>}</a:t>
            </a:r>
            <a:endParaRPr/>
          </a:p>
        </p:txBody>
      </p:sp>
      <p:sp>
        <p:nvSpPr>
          <p:cNvPr id="381" name="Google Shape;381;p3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82" name="Google Shape;382;p3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(9/11)</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37"/>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in caso di validazione fallita per il body della request, Spring solleva una </a:t>
            </a:r>
            <a:r>
              <a:rPr i="1" lang="it-IT"/>
              <a:t>MethodArgumentNotValidException</a:t>
            </a:r>
            <a:r>
              <a:rPr lang="it-IT"/>
              <a:t> e quindi per gestirla potremmo scrivere:</a:t>
            </a:r>
            <a:endParaRPr/>
          </a:p>
          <a:p>
            <a:pPr indent="0" lvl="2" marL="627063" rtl="0" algn="l">
              <a:spcBef>
                <a:spcPts val="351"/>
              </a:spcBef>
              <a:spcAft>
                <a:spcPts val="0"/>
              </a:spcAft>
              <a:buSzPct val="100000"/>
              <a:buNone/>
            </a:pPr>
            <a:r>
              <a:rPr b="1" i="1" lang="it-IT" sz="1900"/>
              <a:t>@ExceptionHandler(MethodArgumentNotValidException.class)</a:t>
            </a:r>
            <a:endParaRPr/>
          </a:p>
          <a:p>
            <a:pPr indent="0" lvl="2" marL="627063" rtl="0" algn="l">
              <a:spcBef>
                <a:spcPts val="351"/>
              </a:spcBef>
              <a:spcAft>
                <a:spcPts val="0"/>
              </a:spcAft>
              <a:buSzPct val="100000"/>
              <a:buNone/>
            </a:pPr>
            <a:r>
              <a:rPr i="1" lang="it-IT" sz="1900"/>
              <a:t>@ResponseStatus(HttpStatus.BAD_REQUEST)</a:t>
            </a:r>
            <a:endParaRPr/>
          </a:p>
          <a:p>
            <a:pPr indent="0" lvl="2" marL="627063" rtl="0" algn="l">
              <a:spcBef>
                <a:spcPts val="351"/>
              </a:spcBef>
              <a:spcAft>
                <a:spcPts val="0"/>
              </a:spcAft>
              <a:buSzPct val="100000"/>
              <a:buNone/>
            </a:pPr>
            <a:r>
              <a:rPr i="1" lang="it-IT" sz="1900"/>
              <a:t>public Map&lt;String,String&gt; handleMethodArgumentException(MethodArgumentNotValidException e){</a:t>
            </a:r>
            <a:endParaRPr/>
          </a:p>
          <a:p>
            <a:pPr indent="0" lvl="2" marL="627063" rtl="0" algn="l">
              <a:spcBef>
                <a:spcPts val="351"/>
              </a:spcBef>
              <a:spcAft>
                <a:spcPts val="0"/>
              </a:spcAft>
              <a:buSzPct val="100000"/>
              <a:buNone/>
            </a:pPr>
            <a:r>
              <a:rPr i="1" lang="it-IT" sz="1900"/>
              <a:t>	Map&lt;String,String&gt; result = new HashMap&lt;String, String&gt;();</a:t>
            </a:r>
            <a:endParaRPr/>
          </a:p>
          <a:p>
            <a:pPr indent="0" lvl="2" marL="627063" rtl="0" algn="l">
              <a:spcBef>
                <a:spcPts val="351"/>
              </a:spcBef>
              <a:spcAft>
                <a:spcPts val="0"/>
              </a:spcAft>
              <a:buSzPct val="100000"/>
              <a:buNone/>
            </a:pPr>
            <a:r>
              <a:rPr i="1" lang="it-IT" sz="1900"/>
              <a:t>	</a:t>
            </a:r>
            <a:r>
              <a:rPr b="1" i="1" lang="it-IT" sz="1900"/>
              <a:t>e.getBindingResult().getFieldErrors()</a:t>
            </a:r>
            <a:r>
              <a:rPr i="1" lang="it-IT" sz="1900"/>
              <a:t>.forEach( oe -&gt; {</a:t>
            </a:r>
            <a:endParaRPr/>
          </a:p>
          <a:p>
            <a:pPr indent="0" lvl="2" marL="627063" rtl="0" algn="l">
              <a:spcBef>
                <a:spcPts val="351"/>
              </a:spcBef>
              <a:spcAft>
                <a:spcPts val="0"/>
              </a:spcAft>
              <a:buSzPct val="100000"/>
              <a:buNone/>
            </a:pPr>
            <a:r>
              <a:rPr i="1" lang="it-IT" sz="1900"/>
              <a:t>		result.put(</a:t>
            </a:r>
            <a:r>
              <a:rPr b="1" i="1" lang="it-IT" sz="1900"/>
              <a:t>oe.getField()</a:t>
            </a:r>
            <a:r>
              <a:rPr i="1" lang="it-IT" sz="1900"/>
              <a:t>,</a:t>
            </a:r>
            <a:r>
              <a:rPr b="1" i="1" lang="it-IT" sz="1900"/>
              <a:t>oe.getDefaultMessage()</a:t>
            </a:r>
            <a:r>
              <a:rPr i="1" lang="it-IT" sz="1900"/>
              <a:t>);</a:t>
            </a:r>
            <a:endParaRPr/>
          </a:p>
          <a:p>
            <a:pPr indent="0" lvl="2" marL="627063" rtl="0" algn="l">
              <a:spcBef>
                <a:spcPts val="351"/>
              </a:spcBef>
              <a:spcAft>
                <a:spcPts val="0"/>
              </a:spcAft>
              <a:buSzPct val="100000"/>
              <a:buNone/>
            </a:pPr>
            <a:r>
              <a:rPr i="1" lang="it-IT" sz="1900"/>
              <a:t>	});</a:t>
            </a:r>
            <a:endParaRPr/>
          </a:p>
          <a:p>
            <a:pPr indent="0" lvl="2" marL="627063" rtl="0" algn="l">
              <a:spcBef>
                <a:spcPts val="351"/>
              </a:spcBef>
              <a:spcAft>
                <a:spcPts val="0"/>
              </a:spcAft>
              <a:buSzPct val="100000"/>
              <a:buNone/>
            </a:pPr>
            <a:r>
              <a:rPr i="1" lang="it-IT" sz="1900"/>
              <a:t>	return result;</a:t>
            </a:r>
            <a:endParaRPr/>
          </a:p>
          <a:p>
            <a:pPr indent="0" lvl="2" marL="627063" rtl="0" algn="l">
              <a:spcBef>
                <a:spcPts val="351"/>
              </a:spcBef>
              <a:spcAft>
                <a:spcPts val="0"/>
              </a:spcAft>
              <a:buSzPct val="100000"/>
              <a:buNone/>
            </a:pPr>
            <a:r>
              <a:rPr i="1" lang="it-IT" sz="1900"/>
              <a:t>}</a:t>
            </a:r>
            <a:endParaRPr/>
          </a:p>
        </p:txBody>
      </p:sp>
      <p:sp>
        <p:nvSpPr>
          <p:cNvPr id="388" name="Google Shape;388;p3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89" name="Google Shape;389;p3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(10/11)</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8"/>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100000"/>
              <a:buChar char="*"/>
            </a:pPr>
            <a:r>
              <a:rPr lang="it-IT"/>
              <a:t>i metodi annotati con </a:t>
            </a:r>
            <a:r>
              <a:rPr i="1" lang="it-IT"/>
              <a:t>@ExceptionHandler</a:t>
            </a:r>
            <a:r>
              <a:rPr lang="it-IT"/>
              <a:t> all’interno di un controller intercettano le eccezioni generate esclusivamente dai metodi di quel controller</a:t>
            </a:r>
            <a:endParaRPr/>
          </a:p>
          <a:p>
            <a:pPr indent="-274320" lvl="0" marL="274320" rtl="0" algn="l">
              <a:spcBef>
                <a:spcPts val="444"/>
              </a:spcBef>
              <a:spcAft>
                <a:spcPts val="0"/>
              </a:spcAft>
              <a:buSzPct val="100000"/>
              <a:buChar char="*"/>
            </a:pPr>
            <a:r>
              <a:rPr lang="it-IT"/>
              <a:t>se volessimo gestire le eccezioni sollevate da qualsiasi controller della nostra app, potremmo scrivere una classe annotata con </a:t>
            </a:r>
            <a:r>
              <a:rPr i="1" lang="it-IT"/>
              <a:t>@RestControllerAdvice</a:t>
            </a:r>
            <a:r>
              <a:rPr lang="it-IT"/>
              <a:t> e all’interno di questa classe scrivere gli stessi metodi annotati con </a:t>
            </a:r>
            <a:r>
              <a:rPr i="1" lang="it-IT"/>
              <a:t>@ExceptionHandler</a:t>
            </a:r>
            <a:r>
              <a:rPr lang="it-IT"/>
              <a:t> che avremmo scritto nello specifico </a:t>
            </a:r>
            <a:r>
              <a:rPr i="1" lang="it-IT"/>
              <a:t>@Controller</a:t>
            </a:r>
            <a:endParaRPr/>
          </a:p>
          <a:p>
            <a:pPr indent="-274320" lvl="0" marL="274320" rtl="0" algn="l">
              <a:spcBef>
                <a:spcPts val="444"/>
              </a:spcBef>
              <a:spcAft>
                <a:spcPts val="0"/>
              </a:spcAft>
              <a:buSzPct val="100000"/>
              <a:buChar char="*"/>
            </a:pPr>
            <a:r>
              <a:rPr i="1" lang="it-IT"/>
              <a:t>@RestControllerAdvice</a:t>
            </a:r>
            <a:r>
              <a:rPr lang="it-IT"/>
              <a:t>, basandosi sulla tecnica </a:t>
            </a:r>
            <a:r>
              <a:rPr i="1" lang="it-IT"/>
              <a:t>Aop </a:t>
            </a:r>
            <a:r>
              <a:rPr lang="it-IT"/>
              <a:t>(</a:t>
            </a:r>
            <a:r>
              <a:rPr i="1" lang="it-IT"/>
              <a:t>Aspect oriented programming</a:t>
            </a:r>
            <a:r>
              <a:rPr lang="it-IT"/>
              <a:t>)</a:t>
            </a:r>
            <a:r>
              <a:rPr i="1" lang="it-IT"/>
              <a:t> </a:t>
            </a:r>
            <a:r>
              <a:rPr lang="it-IT"/>
              <a:t>di Spring è in grado di intercettare le eccezioni provenienti da qualsiasi </a:t>
            </a:r>
            <a:r>
              <a:rPr i="1" lang="it-IT"/>
              <a:t>@RestController</a:t>
            </a:r>
            <a:endParaRPr i="1"/>
          </a:p>
        </p:txBody>
      </p:sp>
      <p:sp>
        <p:nvSpPr>
          <p:cNvPr id="395" name="Google Shape;395;p3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96" name="Google Shape;396;p3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Validazioni e gestione delle eccezioni (11/11)</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9"/>
          <p:cNvSpPr txBox="1"/>
          <p:nvPr>
            <p:ph idx="1" type="body"/>
          </p:nvPr>
        </p:nvSpPr>
        <p:spPr>
          <a:xfrm>
            <a:off x="872067" y="2348880"/>
            <a:ext cx="7408333" cy="3777283"/>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Spring offre un modulo, Spring Doc, che consente di generare in automatico della documentazione descrittiva dei servizi rest esposti dalla nostra applicazione</a:t>
            </a:r>
            <a:endParaRPr/>
          </a:p>
          <a:p>
            <a:pPr indent="-274320" lvl="0" marL="274320" rtl="0" algn="l">
              <a:spcBef>
                <a:spcPts val="444"/>
              </a:spcBef>
              <a:spcAft>
                <a:spcPts val="0"/>
              </a:spcAft>
              <a:buSzPct val="100000"/>
              <a:buChar char="*"/>
            </a:pPr>
            <a:r>
              <a:rPr lang="it-IT"/>
              <a:t>La documentazione include una pagina web auto-generata riportante l’elenco di tutti i servizi rest della nostra applicazione e per ciascun servizio i dettagli relativi a:</a:t>
            </a:r>
            <a:endParaRPr/>
          </a:p>
          <a:p>
            <a:pPr indent="-274319" lvl="1" marL="576263" rtl="0" algn="l">
              <a:spcBef>
                <a:spcPts val="407"/>
              </a:spcBef>
              <a:spcAft>
                <a:spcPts val="0"/>
              </a:spcAft>
              <a:buSzPct val="100000"/>
              <a:buChar char="*"/>
            </a:pPr>
            <a:r>
              <a:rPr lang="it-IT"/>
              <a:t>tipo di operazione Http</a:t>
            </a:r>
            <a:endParaRPr/>
          </a:p>
          <a:p>
            <a:pPr indent="-274319" lvl="1" marL="576263" rtl="0" algn="l">
              <a:spcBef>
                <a:spcPts val="407"/>
              </a:spcBef>
              <a:spcAft>
                <a:spcPts val="0"/>
              </a:spcAft>
              <a:buSzPct val="100000"/>
              <a:buChar char="*"/>
            </a:pPr>
            <a:r>
              <a:rPr lang="it-IT"/>
              <a:t>parametri di input/output</a:t>
            </a:r>
            <a:endParaRPr/>
          </a:p>
          <a:p>
            <a:pPr indent="-274319" lvl="1" marL="576263" rtl="0" algn="l">
              <a:spcBef>
                <a:spcPts val="407"/>
              </a:spcBef>
              <a:spcAft>
                <a:spcPts val="0"/>
              </a:spcAft>
              <a:buSzPct val="100000"/>
              <a:buChar char="*"/>
            </a:pPr>
            <a:r>
              <a:rPr lang="it-IT"/>
              <a:t>formato di scambio</a:t>
            </a:r>
            <a:endParaRPr/>
          </a:p>
          <a:p>
            <a:pPr indent="-274319" lvl="1" marL="576263" rtl="0" algn="l">
              <a:spcBef>
                <a:spcPts val="407"/>
              </a:spcBef>
              <a:spcAft>
                <a:spcPts val="0"/>
              </a:spcAft>
              <a:buSzPct val="100000"/>
              <a:buChar char="*"/>
            </a:pPr>
            <a:r>
              <a:rPr lang="it-IT"/>
              <a:t>un bottone che consente di testare l’esecuzione effettiva della chiamata</a:t>
            </a:r>
            <a:endParaRPr/>
          </a:p>
          <a:p>
            <a:pPr indent="0" lvl="1" marL="301943" rtl="0" algn="l">
              <a:spcBef>
                <a:spcPts val="407"/>
              </a:spcBef>
              <a:spcAft>
                <a:spcPts val="0"/>
              </a:spcAft>
              <a:buSzPct val="100000"/>
              <a:buNone/>
            </a:pPr>
            <a:r>
              <a:t/>
            </a:r>
            <a:endParaRPr/>
          </a:p>
        </p:txBody>
      </p:sp>
      <p:sp>
        <p:nvSpPr>
          <p:cNvPr id="402" name="Google Shape;402;p3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03" name="Google Shape;403;p3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Documentazione delle Api Rest</a:t>
            </a:r>
            <a:br>
              <a:rPr lang="it-IT"/>
            </a:br>
            <a:r>
              <a:rPr lang="it-IT"/>
              <a:t>Spring Doc</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0"/>
          <p:cNvSpPr txBox="1"/>
          <p:nvPr>
            <p:ph idx="1" type="body"/>
          </p:nvPr>
        </p:nvSpPr>
        <p:spPr>
          <a:xfrm>
            <a:off x="872067" y="2276872"/>
            <a:ext cx="7408333" cy="384929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per usare Spring Doc è sufficiente impostare la </a:t>
            </a:r>
            <a:r>
              <a:rPr i="1" lang="it-IT"/>
              <a:t>Maven dependency</a:t>
            </a:r>
            <a:r>
              <a:rPr lang="it-IT"/>
              <a:t>:</a:t>
            </a:r>
            <a:endParaRPr/>
          </a:p>
          <a:p>
            <a:pPr indent="0" lvl="2" marL="581343" rtl="0" algn="l">
              <a:spcBef>
                <a:spcPts val="360"/>
              </a:spcBef>
              <a:spcAft>
                <a:spcPts val="0"/>
              </a:spcAft>
              <a:buSzPts val="1800"/>
              <a:buNone/>
            </a:pPr>
            <a:r>
              <a:t/>
            </a:r>
            <a:endParaRPr i="1" sz="1800"/>
          </a:p>
          <a:p>
            <a:pPr indent="0" lvl="1" marL="301943" rtl="0" algn="l">
              <a:spcBef>
                <a:spcPts val="360"/>
              </a:spcBef>
              <a:spcAft>
                <a:spcPts val="0"/>
              </a:spcAft>
              <a:buSzPts val="1800"/>
              <a:buNone/>
            </a:pPr>
            <a:r>
              <a:rPr i="1" lang="it-IT" sz="1800"/>
              <a:t>&lt;dependency&gt;</a:t>
            </a:r>
            <a:endParaRPr/>
          </a:p>
          <a:p>
            <a:pPr indent="0" lvl="1" marL="301943" rtl="0" algn="l">
              <a:spcBef>
                <a:spcPts val="360"/>
              </a:spcBef>
              <a:spcAft>
                <a:spcPts val="0"/>
              </a:spcAft>
              <a:buSzPts val="1800"/>
              <a:buNone/>
            </a:pPr>
            <a:r>
              <a:rPr i="1" lang="it-IT" sz="1800"/>
              <a:t>	&lt;groupId&gt;org.springdoc&lt;/groupId&gt;</a:t>
            </a:r>
            <a:endParaRPr/>
          </a:p>
          <a:p>
            <a:pPr indent="0" lvl="1" marL="301943" rtl="0" algn="l">
              <a:spcBef>
                <a:spcPts val="360"/>
              </a:spcBef>
              <a:spcAft>
                <a:spcPts val="0"/>
              </a:spcAft>
              <a:buSzPts val="1800"/>
              <a:buNone/>
            </a:pPr>
            <a:r>
              <a:rPr i="1" lang="it-IT" sz="1800"/>
              <a:t>	&lt;artifactId&gt;springdoc-openapi-starter-webmvc-ui&lt;/artifactId&gt;</a:t>
            </a:r>
            <a:endParaRPr/>
          </a:p>
          <a:p>
            <a:pPr indent="0" lvl="1" marL="301943" rtl="0" algn="l">
              <a:spcBef>
                <a:spcPts val="360"/>
              </a:spcBef>
              <a:spcAft>
                <a:spcPts val="0"/>
              </a:spcAft>
              <a:buSzPts val="1800"/>
              <a:buNone/>
            </a:pPr>
            <a:r>
              <a:rPr i="1" lang="it-IT" sz="1800"/>
              <a:t>	&lt;version&gt;3.0.0&lt;/version&gt;</a:t>
            </a:r>
            <a:endParaRPr/>
          </a:p>
          <a:p>
            <a:pPr indent="0" lvl="1" marL="301943" rtl="0" algn="l">
              <a:spcBef>
                <a:spcPts val="360"/>
              </a:spcBef>
              <a:spcAft>
                <a:spcPts val="0"/>
              </a:spcAft>
              <a:buSzPts val="1800"/>
              <a:buNone/>
            </a:pPr>
            <a:r>
              <a:rPr i="1" lang="it-IT" sz="1800"/>
              <a:t>&lt;/dependency&gt;</a:t>
            </a:r>
            <a:endParaRPr/>
          </a:p>
        </p:txBody>
      </p:sp>
      <p:sp>
        <p:nvSpPr>
          <p:cNvPr id="409" name="Google Shape;409;p4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10" name="Google Shape;410;p4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SpringDoc - Maven dependency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41"/>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Spring Doc in automatico genera una pagina di visualizzazione in formato Json dei nostri servizi rest, reperibile all’url (chiamata in  Get):</a:t>
            </a:r>
            <a:endParaRPr/>
          </a:p>
          <a:p>
            <a:pPr indent="0" lvl="1" marL="301943" rtl="0" algn="l">
              <a:spcBef>
                <a:spcPts val="360"/>
              </a:spcBef>
              <a:spcAft>
                <a:spcPts val="0"/>
              </a:spcAft>
              <a:buSzPts val="1800"/>
              <a:buNone/>
            </a:pPr>
            <a:r>
              <a:rPr i="1" lang="it-IT" sz="1800" u="sng">
                <a:solidFill>
                  <a:schemeClr val="hlink"/>
                </a:solidFill>
                <a:hlinkClick r:id="rId3"/>
              </a:rPr>
              <a:t>http://localhost:8080/v3/api-docs</a:t>
            </a:r>
            <a:endParaRPr i="1" sz="1800"/>
          </a:p>
          <a:p>
            <a:pPr indent="-274320" lvl="0" marL="274320" rtl="0" algn="l">
              <a:spcBef>
                <a:spcPts val="480"/>
              </a:spcBef>
              <a:spcAft>
                <a:spcPts val="0"/>
              </a:spcAft>
              <a:buSzPts val="2400"/>
              <a:buChar char="*"/>
            </a:pPr>
            <a:r>
              <a:rPr lang="it-IT"/>
              <a:t>la risposta Json comprende le sezioni:</a:t>
            </a:r>
            <a:endParaRPr/>
          </a:p>
          <a:p>
            <a:pPr indent="-274319" lvl="1" marL="576263" rtl="0" algn="l">
              <a:spcBef>
                <a:spcPts val="440"/>
              </a:spcBef>
              <a:spcAft>
                <a:spcPts val="0"/>
              </a:spcAft>
              <a:buSzPts val="2200"/>
              <a:buChar char="*"/>
            </a:pPr>
            <a:r>
              <a:rPr i="1" lang="it-IT"/>
              <a:t>info</a:t>
            </a:r>
            <a:r>
              <a:rPr lang="it-IT"/>
              <a:t>: informazioni sul protocollo </a:t>
            </a:r>
            <a:r>
              <a:rPr i="1" lang="it-IT"/>
              <a:t>OpenApi </a:t>
            </a:r>
            <a:r>
              <a:rPr lang="it-IT"/>
              <a:t>utilizzato</a:t>
            </a:r>
            <a:endParaRPr/>
          </a:p>
          <a:p>
            <a:pPr indent="-274319" lvl="1" marL="576263" rtl="0" algn="l">
              <a:spcBef>
                <a:spcPts val="440"/>
              </a:spcBef>
              <a:spcAft>
                <a:spcPts val="0"/>
              </a:spcAft>
              <a:buSzPts val="2200"/>
              <a:buChar char="*"/>
            </a:pPr>
            <a:r>
              <a:rPr i="1" lang="it-IT"/>
              <a:t>server:</a:t>
            </a:r>
            <a:r>
              <a:rPr lang="it-IT"/>
              <a:t> informazioni su ip e porta del server</a:t>
            </a:r>
            <a:endParaRPr/>
          </a:p>
          <a:p>
            <a:pPr indent="-274319" lvl="1" marL="576263" rtl="0" algn="l">
              <a:spcBef>
                <a:spcPts val="440"/>
              </a:spcBef>
              <a:spcAft>
                <a:spcPts val="0"/>
              </a:spcAft>
              <a:buSzPts val="2200"/>
              <a:buChar char="*"/>
            </a:pPr>
            <a:r>
              <a:rPr b="1" i="1" lang="it-IT"/>
              <a:t>paths: </a:t>
            </a:r>
            <a:r>
              <a:rPr b="1" lang="it-IT"/>
              <a:t>elenco di tutti i servizi rest con i dettagli elencati nella slide precedente</a:t>
            </a:r>
            <a:endParaRPr/>
          </a:p>
          <a:p>
            <a:pPr indent="-274319" lvl="1" marL="576263" rtl="0" algn="l">
              <a:spcBef>
                <a:spcPts val="440"/>
              </a:spcBef>
              <a:spcAft>
                <a:spcPts val="0"/>
              </a:spcAft>
              <a:buSzPts val="2200"/>
              <a:buChar char="*"/>
            </a:pPr>
            <a:r>
              <a:rPr i="1" lang="it-IT"/>
              <a:t>components:</a:t>
            </a:r>
            <a:r>
              <a:rPr lang="it-IT"/>
              <a:t> con lo schema dei messaggi Json usati dai servizi rest nello scambio dati</a:t>
            </a:r>
            <a:endParaRPr i="1"/>
          </a:p>
        </p:txBody>
      </p:sp>
      <p:sp>
        <p:nvSpPr>
          <p:cNvPr id="416" name="Google Shape;416;p4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17" name="Google Shape;417;p4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SpringDoc - </a:t>
            </a:r>
            <a:r>
              <a:rPr i="1" lang="it-IT"/>
              <a:t>OpenApi url</a:t>
            </a:r>
            <a:endParaRPr i="1"/>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42"/>
          <p:cNvPicPr preferRelativeResize="0"/>
          <p:nvPr>
            <p:ph idx="1" type="body"/>
          </p:nvPr>
        </p:nvPicPr>
        <p:blipFill rotWithShape="1">
          <a:blip r:embed="rId3">
            <a:alphaModFix/>
          </a:blip>
          <a:srcRect b="0" l="0" r="0" t="0"/>
          <a:stretch/>
        </p:blipFill>
        <p:spPr>
          <a:xfrm>
            <a:off x="525413" y="2060848"/>
            <a:ext cx="8034684" cy="4189315"/>
          </a:xfrm>
          <a:prstGeom prst="rect">
            <a:avLst/>
          </a:prstGeom>
          <a:noFill/>
          <a:ln>
            <a:noFill/>
          </a:ln>
        </p:spPr>
      </p:pic>
      <p:sp>
        <p:nvSpPr>
          <p:cNvPr id="423" name="Google Shape;423;p4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24" name="Google Shape;424;p4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lt1"/>
              </a:buClr>
              <a:buSzPct val="100000"/>
              <a:buFont typeface="Candara"/>
              <a:buNone/>
            </a:pPr>
            <a:r>
              <a:rPr lang="it-IT">
                <a:solidFill>
                  <a:schemeClr val="lt1"/>
                </a:solidFill>
              </a:rPr>
              <a:t>http://localhost:8080/v3/api-docs</a:t>
            </a:r>
            <a:br>
              <a:rPr lang="it-IT">
                <a:solidFill>
                  <a:schemeClr val="lt1"/>
                </a:solidFill>
              </a:rPr>
            </a:br>
            <a:r>
              <a:rPr lang="it-IT"/>
              <a:t>Risposta Json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43"/>
          <p:cNvSpPr txBox="1"/>
          <p:nvPr>
            <p:ph idx="1" type="body"/>
          </p:nvPr>
        </p:nvSpPr>
        <p:spPr>
          <a:xfrm>
            <a:off x="872067" y="2276872"/>
            <a:ext cx="7408333" cy="3849291"/>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Spring Doc, in automatico genera anche una pagina Html in formato </a:t>
            </a:r>
            <a:r>
              <a:rPr i="1" lang="it-IT"/>
              <a:t>Swagger UI</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l’url di default è: </a:t>
            </a:r>
            <a:endParaRPr/>
          </a:p>
          <a:p>
            <a:pPr indent="0" lvl="1" marL="301943" rtl="0" algn="l">
              <a:spcBef>
                <a:spcPts val="360"/>
              </a:spcBef>
              <a:spcAft>
                <a:spcPts val="0"/>
              </a:spcAft>
              <a:buSzPts val="1800"/>
              <a:buNone/>
            </a:pPr>
            <a:r>
              <a:rPr i="1" lang="it-IT" sz="1800"/>
              <a:t>	http://localhost:8080/swagger-ui/index.html</a:t>
            </a:r>
            <a:endParaRPr/>
          </a:p>
        </p:txBody>
      </p:sp>
      <p:sp>
        <p:nvSpPr>
          <p:cNvPr id="430" name="Google Shape;430;p4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31" name="Google Shape;431;p4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SpringDoc - Swagger UI</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pic>
        <p:nvPicPr>
          <p:cNvPr id="436" name="Google Shape;436;p44"/>
          <p:cNvPicPr preferRelativeResize="0"/>
          <p:nvPr>
            <p:ph idx="1" type="body"/>
          </p:nvPr>
        </p:nvPicPr>
        <p:blipFill rotWithShape="1">
          <a:blip r:embed="rId3">
            <a:alphaModFix/>
          </a:blip>
          <a:srcRect b="0" l="0" r="0" t="0"/>
          <a:stretch/>
        </p:blipFill>
        <p:spPr>
          <a:xfrm>
            <a:off x="871538" y="1844824"/>
            <a:ext cx="7408862" cy="4176464"/>
          </a:xfrm>
          <a:prstGeom prst="rect">
            <a:avLst/>
          </a:prstGeom>
          <a:noFill/>
          <a:ln>
            <a:noFill/>
          </a:ln>
        </p:spPr>
      </p:pic>
      <p:sp>
        <p:nvSpPr>
          <p:cNvPr id="437" name="Google Shape;437;p4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38" name="Google Shape;438;p4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Swagger UI</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5"/>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Se volessimo abilitare i servizi rest anche per il protocollo Https, ci occorrerebbe:</a:t>
            </a:r>
            <a:endParaRPr/>
          </a:p>
          <a:p>
            <a:pPr indent="-274319" lvl="1" marL="576263" rtl="0" algn="l">
              <a:spcBef>
                <a:spcPts val="440"/>
              </a:spcBef>
              <a:spcAft>
                <a:spcPts val="0"/>
              </a:spcAft>
              <a:buSzPts val="2200"/>
              <a:buChar char="*"/>
            </a:pPr>
            <a:r>
              <a:rPr lang="it-IT"/>
              <a:t>certificato Ssl</a:t>
            </a:r>
            <a:endParaRPr/>
          </a:p>
          <a:p>
            <a:pPr indent="-274319" lvl="1" marL="576263" rtl="0" algn="l">
              <a:spcBef>
                <a:spcPts val="440"/>
              </a:spcBef>
              <a:spcAft>
                <a:spcPts val="0"/>
              </a:spcAft>
              <a:buSzPts val="2200"/>
              <a:buChar char="*"/>
            </a:pPr>
            <a:r>
              <a:rPr lang="it-IT"/>
              <a:t>settare alcune configurazioni nell’</a:t>
            </a:r>
            <a:r>
              <a:rPr i="1" lang="it-IT"/>
              <a:t>application.properties</a:t>
            </a:r>
            <a:endParaRPr i="1"/>
          </a:p>
          <a:p>
            <a:pPr indent="-274319" lvl="1" marL="576263" rtl="0" algn="l">
              <a:spcBef>
                <a:spcPts val="440"/>
              </a:spcBef>
              <a:spcAft>
                <a:spcPts val="0"/>
              </a:spcAft>
              <a:buSzPts val="2200"/>
              <a:buChar char="*"/>
            </a:pPr>
            <a:r>
              <a:rPr lang="it-IT"/>
              <a:t>eventualmente effettuare una </a:t>
            </a:r>
            <a:r>
              <a:rPr i="1" lang="it-IT"/>
              <a:t>redirect</a:t>
            </a:r>
            <a:r>
              <a:rPr lang="it-IT"/>
              <a:t> dalla porta usata per il protocollo Http (di default la 8080) a quella usata per il protocollo Https (generalmente la 8443)</a:t>
            </a:r>
            <a:endParaRPr i="1"/>
          </a:p>
        </p:txBody>
      </p:sp>
      <p:sp>
        <p:nvSpPr>
          <p:cNvPr id="444" name="Google Shape;444;p4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45" name="Google Shape;445;p4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Ssl - Https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6"/>
          <p:cNvSpPr txBox="1"/>
          <p:nvPr>
            <p:ph idx="1" type="body"/>
          </p:nvPr>
        </p:nvSpPr>
        <p:spPr>
          <a:xfrm>
            <a:off x="872067" y="2420888"/>
            <a:ext cx="7408333" cy="3705275"/>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Occorrerebbe acquistare un certificato presso una </a:t>
            </a:r>
            <a:r>
              <a:rPr i="1" lang="it-IT"/>
              <a:t>Certification Authority</a:t>
            </a:r>
            <a:r>
              <a:rPr lang="it-IT"/>
              <a:t>, ma solo per la fase di sviluppo e test locale potremo farci generare da Java un certificato Ssl </a:t>
            </a:r>
            <a:r>
              <a:rPr i="1" lang="it-IT"/>
              <a:t>self-signed </a:t>
            </a:r>
            <a:r>
              <a:rPr lang="it-IT"/>
              <a:t>(e successivamente impostare un’eccezione di sicurezza nei client con cui testeremo i servizi Rest, ad es. in Postman o in un browser per le chiamate </a:t>
            </a:r>
            <a:r>
              <a:rPr i="1" lang="it-IT"/>
              <a:t>get</a:t>
            </a:r>
            <a:r>
              <a:rPr lang="it-IT"/>
              <a:t>)</a:t>
            </a:r>
            <a:endParaRPr/>
          </a:p>
          <a:p>
            <a:pPr indent="-274320" lvl="0" marL="274320" rtl="0" algn="l">
              <a:spcBef>
                <a:spcPts val="444"/>
              </a:spcBef>
              <a:spcAft>
                <a:spcPts val="0"/>
              </a:spcAft>
              <a:buSzPct val="100000"/>
              <a:buChar char="*"/>
            </a:pPr>
            <a:r>
              <a:rPr lang="it-IT"/>
              <a:t>Per generare un certiticato </a:t>
            </a:r>
            <a:r>
              <a:rPr i="1" lang="it-IT"/>
              <a:t>self signed </a:t>
            </a:r>
            <a:r>
              <a:rPr lang="it-IT"/>
              <a:t>possiamo usare il tool </a:t>
            </a:r>
            <a:r>
              <a:rPr i="1" lang="it-IT"/>
              <a:t>keytool </a:t>
            </a:r>
            <a:r>
              <a:rPr lang="it-IT"/>
              <a:t>di Java:</a:t>
            </a:r>
            <a:endParaRPr/>
          </a:p>
          <a:p>
            <a:pPr indent="0" lvl="2" marL="581343" rtl="0" algn="l">
              <a:spcBef>
                <a:spcPts val="351"/>
              </a:spcBef>
              <a:spcAft>
                <a:spcPts val="0"/>
              </a:spcAft>
              <a:buSzPct val="100000"/>
              <a:buNone/>
            </a:pPr>
            <a:r>
              <a:rPr i="1" lang="it-IT" sz="1900"/>
              <a:t>keytool -genkeypair -keyalg RSA -keysize 2048 -alias storeAlias -ext "SAN:c=DNS:localhost,IP:127.0.0.1" -validity 3650 -keystore cert.p12 -storepass roberto -keypass roberto -storetype pkcs12  </a:t>
            </a:r>
            <a:endParaRPr i="1" sz="1900"/>
          </a:p>
          <a:p>
            <a:pPr indent="-133350" lvl="0" marL="274320" rtl="0" algn="l">
              <a:spcBef>
                <a:spcPts val="444"/>
              </a:spcBef>
              <a:spcAft>
                <a:spcPts val="0"/>
              </a:spcAft>
              <a:buSzPct val="100000"/>
              <a:buNone/>
            </a:pPr>
            <a:r>
              <a:t/>
            </a:r>
            <a:endParaRPr/>
          </a:p>
        </p:txBody>
      </p:sp>
      <p:sp>
        <p:nvSpPr>
          <p:cNvPr id="451" name="Google Shape;451;p4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52" name="Google Shape;452;p4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Ssl - Https: certificato Ssl</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47"/>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Posizionando il file </a:t>
            </a:r>
            <a:r>
              <a:rPr i="1" lang="it-IT"/>
              <a:t>cert.p12 </a:t>
            </a:r>
            <a:r>
              <a:rPr lang="it-IT"/>
              <a:t>nella radice del classpath, andremo ad impostare nel file </a:t>
            </a:r>
            <a:r>
              <a:rPr i="1" lang="it-IT"/>
              <a:t>application.properties</a:t>
            </a:r>
            <a:r>
              <a:rPr lang="it-IT"/>
              <a:t>:</a:t>
            </a:r>
            <a:endParaRPr/>
          </a:p>
          <a:p>
            <a:pPr indent="0" lvl="2" marL="627063" rtl="0" algn="l">
              <a:spcBef>
                <a:spcPts val="360"/>
              </a:spcBef>
              <a:spcAft>
                <a:spcPts val="0"/>
              </a:spcAft>
              <a:buSzPts val="1800"/>
              <a:buNone/>
            </a:pPr>
            <a:r>
              <a:rPr i="1" lang="it-IT" sz="1800"/>
              <a:t>server.ssl.key-store-type=PKCS12</a:t>
            </a:r>
            <a:endParaRPr i="1" sz="1800"/>
          </a:p>
          <a:p>
            <a:pPr indent="0" lvl="2" marL="627063" rtl="0" algn="l">
              <a:spcBef>
                <a:spcPts val="360"/>
              </a:spcBef>
              <a:spcAft>
                <a:spcPts val="0"/>
              </a:spcAft>
              <a:buSzPts val="1800"/>
              <a:buNone/>
            </a:pPr>
            <a:r>
              <a:rPr i="1" lang="it-IT" sz="1800"/>
              <a:t>server.ssl.key-store=classpath:cert.p12</a:t>
            </a:r>
            <a:endParaRPr i="1" sz="1800"/>
          </a:p>
          <a:p>
            <a:pPr indent="0" lvl="2" marL="627063" rtl="0" algn="l">
              <a:spcBef>
                <a:spcPts val="360"/>
              </a:spcBef>
              <a:spcAft>
                <a:spcPts val="0"/>
              </a:spcAft>
              <a:buSzPts val="1800"/>
              <a:buNone/>
            </a:pPr>
            <a:r>
              <a:rPr i="1" lang="it-IT" sz="1800"/>
              <a:t>server.ssl.key-store-password=roberto</a:t>
            </a:r>
            <a:endParaRPr i="1" sz="1800"/>
          </a:p>
          <a:p>
            <a:pPr indent="0" lvl="2" marL="627063" rtl="0" algn="l">
              <a:spcBef>
                <a:spcPts val="360"/>
              </a:spcBef>
              <a:spcAft>
                <a:spcPts val="0"/>
              </a:spcAft>
              <a:buSzPts val="1800"/>
              <a:buNone/>
            </a:pPr>
            <a:r>
              <a:rPr i="1" lang="it-IT" sz="1800"/>
              <a:t>server.ssl.key-alias=storeAlias</a:t>
            </a:r>
            <a:endParaRPr i="1" sz="1800"/>
          </a:p>
          <a:p>
            <a:pPr indent="0" lvl="2" marL="627063" rtl="0" algn="l">
              <a:spcBef>
                <a:spcPts val="360"/>
              </a:spcBef>
              <a:spcAft>
                <a:spcPts val="0"/>
              </a:spcAft>
              <a:buSzPts val="1800"/>
              <a:buNone/>
            </a:pPr>
            <a:r>
              <a:rPr i="1" lang="it-IT" sz="1800"/>
              <a:t>server.ssl.enabled=true</a:t>
            </a:r>
            <a:endParaRPr i="1" sz="1800"/>
          </a:p>
          <a:p>
            <a:pPr indent="0" lvl="2" marL="627063" rtl="0" algn="l">
              <a:spcBef>
                <a:spcPts val="360"/>
              </a:spcBef>
              <a:spcAft>
                <a:spcPts val="0"/>
              </a:spcAft>
              <a:buSzPts val="1800"/>
              <a:buNone/>
            </a:pPr>
            <a:r>
              <a:rPr i="1" lang="it-IT" sz="1800"/>
              <a:t>server.port = 8443</a:t>
            </a:r>
            <a:endParaRPr/>
          </a:p>
          <a:p>
            <a:pPr indent="-274320" lvl="0" marL="274320" rtl="0" algn="l">
              <a:spcBef>
                <a:spcPts val="440"/>
              </a:spcBef>
              <a:spcAft>
                <a:spcPts val="0"/>
              </a:spcAft>
              <a:buSzPts val="2200"/>
              <a:buChar char="*"/>
            </a:pPr>
            <a:r>
              <a:rPr lang="it-IT" sz="2200"/>
              <a:t>a questo punto i nostri servizi rest risponderanno su url del tipo </a:t>
            </a:r>
            <a:r>
              <a:rPr i="1" lang="it-IT" sz="2200"/>
              <a:t>https://localhost:8443/....</a:t>
            </a:r>
            <a:endParaRPr sz="2200"/>
          </a:p>
        </p:txBody>
      </p:sp>
      <p:sp>
        <p:nvSpPr>
          <p:cNvPr id="458" name="Google Shape;458;p4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59" name="Google Shape;459;p4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Ssl - Http - </a:t>
            </a:r>
            <a:r>
              <a:rPr i="1" lang="it-IT"/>
              <a:t>application.properties</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8"/>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Avendo generato un certificato </a:t>
            </a:r>
            <a:r>
              <a:rPr i="1" lang="it-IT"/>
              <a:t>self-signed</a:t>
            </a:r>
            <a:r>
              <a:rPr lang="it-IT"/>
              <a:t>, quindi non legalmente valido, per provare le chiamate da Postman dovremo disabilitare la verifica del certificato</a:t>
            </a:r>
            <a:endParaRPr/>
          </a:p>
          <a:p>
            <a:pPr indent="-274320" lvl="0" marL="274320" rtl="0" algn="l">
              <a:spcBef>
                <a:spcPts val="480"/>
              </a:spcBef>
              <a:spcAft>
                <a:spcPts val="0"/>
              </a:spcAft>
              <a:buSzPts val="2400"/>
              <a:buChar char="*"/>
            </a:pPr>
            <a:r>
              <a:rPr lang="it-IT"/>
              <a:t>in Postman, selezionando una qualsiasi </a:t>
            </a:r>
            <a:r>
              <a:rPr i="1" lang="it-IT"/>
              <a:t>request</a:t>
            </a:r>
            <a:r>
              <a:rPr lang="it-IT"/>
              <a:t> andremo ad impostare:</a:t>
            </a:r>
            <a:endParaRPr/>
          </a:p>
          <a:p>
            <a:pPr indent="-121920" lvl="0" marL="274320" rtl="0" algn="l">
              <a:spcBef>
                <a:spcPts val="480"/>
              </a:spcBef>
              <a:spcAft>
                <a:spcPts val="0"/>
              </a:spcAft>
              <a:buSzPts val="2400"/>
              <a:buNone/>
            </a:pPr>
            <a:r>
              <a:t/>
            </a:r>
            <a:endParaRPr/>
          </a:p>
        </p:txBody>
      </p:sp>
      <p:sp>
        <p:nvSpPr>
          <p:cNvPr id="465" name="Google Shape;465;p4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66" name="Google Shape;466;p4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Ssl - Https: chiamata con Postman</a:t>
            </a:r>
            <a:endParaRPr/>
          </a:p>
        </p:txBody>
      </p:sp>
      <p:pic>
        <p:nvPicPr>
          <p:cNvPr id="467" name="Google Shape;467;p48"/>
          <p:cNvPicPr preferRelativeResize="0"/>
          <p:nvPr/>
        </p:nvPicPr>
        <p:blipFill rotWithShape="1">
          <a:blip r:embed="rId3">
            <a:alphaModFix/>
          </a:blip>
          <a:srcRect b="0" l="0" r="0" t="0"/>
          <a:stretch/>
        </p:blipFill>
        <p:spPr>
          <a:xfrm>
            <a:off x="1259632" y="4365104"/>
            <a:ext cx="7139136" cy="151216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49"/>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se volessimo impostare la nostra applicazione per dirigere il traffico in Http verso l’Https, potremmo creare un metodo che crea un </a:t>
            </a:r>
            <a:r>
              <a:rPr i="1" lang="it-IT"/>
              <a:t>connector</a:t>
            </a:r>
            <a:r>
              <a:rPr lang="it-IT"/>
              <a:t> di Tomcat per redirigere il traffico:</a:t>
            </a:r>
            <a:endParaRPr/>
          </a:p>
          <a:p>
            <a:pPr indent="0" lvl="2" marL="627063" rtl="0" algn="l">
              <a:spcBef>
                <a:spcPts val="351"/>
              </a:spcBef>
              <a:spcAft>
                <a:spcPts val="0"/>
              </a:spcAft>
              <a:buSzPct val="100000"/>
              <a:buNone/>
            </a:pPr>
            <a:r>
              <a:rPr i="1" lang="it-IT" sz="1900"/>
              <a:t>private Connector redirectConnector() {</a:t>
            </a:r>
            <a:endParaRPr/>
          </a:p>
          <a:p>
            <a:pPr indent="0" lvl="2" marL="627063" rtl="0" algn="l">
              <a:spcBef>
                <a:spcPts val="351"/>
              </a:spcBef>
              <a:spcAft>
                <a:spcPts val="0"/>
              </a:spcAft>
              <a:buSzPct val="100000"/>
              <a:buNone/>
            </a:pPr>
            <a:r>
              <a:rPr i="1" lang="it-IT" sz="1900"/>
              <a:t>      Connector connector = new 	Connector("org.apache.coyote.http11.Http11NioProtocol");</a:t>
            </a:r>
            <a:endParaRPr/>
          </a:p>
          <a:p>
            <a:pPr indent="0" lvl="2" marL="627063" rtl="0" algn="l">
              <a:spcBef>
                <a:spcPts val="351"/>
              </a:spcBef>
              <a:spcAft>
                <a:spcPts val="0"/>
              </a:spcAft>
              <a:buSzPct val="100000"/>
              <a:buNone/>
            </a:pPr>
            <a:r>
              <a:rPr i="1" lang="it-IT" sz="1900"/>
              <a:t>        connector.setScheme("http");</a:t>
            </a:r>
            <a:endParaRPr/>
          </a:p>
          <a:p>
            <a:pPr indent="0" lvl="2" marL="627063" rtl="0" algn="l">
              <a:spcBef>
                <a:spcPts val="351"/>
              </a:spcBef>
              <a:spcAft>
                <a:spcPts val="0"/>
              </a:spcAft>
              <a:buSzPct val="100000"/>
              <a:buNone/>
            </a:pPr>
            <a:r>
              <a:rPr i="1" lang="it-IT" sz="1900"/>
              <a:t>        connector.setPort(8080);</a:t>
            </a:r>
            <a:endParaRPr/>
          </a:p>
          <a:p>
            <a:pPr indent="0" lvl="2" marL="627063" rtl="0" algn="l">
              <a:spcBef>
                <a:spcPts val="351"/>
              </a:spcBef>
              <a:spcAft>
                <a:spcPts val="0"/>
              </a:spcAft>
              <a:buSzPct val="100000"/>
              <a:buNone/>
            </a:pPr>
            <a:r>
              <a:rPr i="1" lang="it-IT" sz="1900"/>
              <a:t>        connector.setSecure(false);</a:t>
            </a:r>
            <a:endParaRPr/>
          </a:p>
          <a:p>
            <a:pPr indent="0" lvl="2" marL="627063" rtl="0" algn="l">
              <a:spcBef>
                <a:spcPts val="351"/>
              </a:spcBef>
              <a:spcAft>
                <a:spcPts val="0"/>
              </a:spcAft>
              <a:buSzPct val="100000"/>
              <a:buNone/>
            </a:pPr>
            <a:r>
              <a:rPr i="1" lang="it-IT" sz="1900"/>
              <a:t>        connector.setRedirectPort(8443);</a:t>
            </a:r>
            <a:endParaRPr/>
          </a:p>
          <a:p>
            <a:pPr indent="0" lvl="2" marL="627063" rtl="0" algn="l">
              <a:spcBef>
                <a:spcPts val="351"/>
              </a:spcBef>
              <a:spcAft>
                <a:spcPts val="0"/>
              </a:spcAft>
              <a:buSzPct val="100000"/>
              <a:buNone/>
            </a:pPr>
            <a:r>
              <a:rPr i="1" lang="it-IT" sz="1900"/>
              <a:t>        return connector;</a:t>
            </a:r>
            <a:endParaRPr/>
          </a:p>
          <a:p>
            <a:pPr indent="0" lvl="2" marL="627063" rtl="0" algn="l">
              <a:spcBef>
                <a:spcPts val="351"/>
              </a:spcBef>
              <a:spcAft>
                <a:spcPts val="0"/>
              </a:spcAft>
              <a:buSzPct val="100000"/>
              <a:buNone/>
            </a:pPr>
            <a:r>
              <a:rPr i="1" lang="it-IT" sz="1900"/>
              <a:t>    }</a:t>
            </a:r>
            <a:endParaRPr i="1" sz="1900"/>
          </a:p>
        </p:txBody>
      </p:sp>
      <p:sp>
        <p:nvSpPr>
          <p:cNvPr id="473" name="Google Shape;473;p4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74" name="Google Shape;474;p4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Ssl - Https: redirect da Http a Https (1/2)</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50"/>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rmAutofit fontScale="25000" lnSpcReduction="20000"/>
          </a:bodyPr>
          <a:lstStyle/>
          <a:p>
            <a:pPr indent="-274320" lvl="0" marL="274320" rtl="0" algn="l">
              <a:spcBef>
                <a:spcPts val="0"/>
              </a:spcBef>
              <a:spcAft>
                <a:spcPts val="0"/>
              </a:spcAft>
              <a:buSzPct val="100000"/>
              <a:buChar char="*"/>
            </a:pPr>
            <a:r>
              <a:rPr lang="it-IT" sz="6400"/>
              <a:t>ed un metodo annotato con </a:t>
            </a:r>
            <a:r>
              <a:rPr i="1" lang="it-IT" sz="6400"/>
              <a:t>@Bean</a:t>
            </a:r>
            <a:r>
              <a:rPr lang="it-IT" sz="6400"/>
              <a:t> (da caricare nell’</a:t>
            </a:r>
            <a:r>
              <a:rPr i="1" lang="it-IT" sz="6400"/>
              <a:t>IoC container </a:t>
            </a:r>
            <a:r>
              <a:rPr lang="it-IT" sz="6400"/>
              <a:t>di Spring) che agganci il metodo della slide precedente</a:t>
            </a:r>
            <a:r>
              <a:rPr lang="it-IT" sz="5100"/>
              <a:t>:</a:t>
            </a:r>
            <a:endParaRPr sz="6400"/>
          </a:p>
          <a:p>
            <a:pPr indent="0" lvl="2" marL="581343" rtl="0" algn="l">
              <a:spcBef>
                <a:spcPts val="320"/>
              </a:spcBef>
              <a:spcAft>
                <a:spcPts val="0"/>
              </a:spcAft>
              <a:buSzPct val="100000"/>
              <a:buNone/>
            </a:pPr>
            <a:r>
              <a:rPr i="1" lang="it-IT" sz="6400"/>
              <a:t>@Bean</a:t>
            </a:r>
            <a:endParaRPr/>
          </a:p>
          <a:p>
            <a:pPr indent="0" lvl="2" marL="581343" rtl="0" algn="l">
              <a:spcBef>
                <a:spcPts val="320"/>
              </a:spcBef>
              <a:spcAft>
                <a:spcPts val="0"/>
              </a:spcAft>
              <a:buSzPct val="100000"/>
              <a:buNone/>
            </a:pPr>
            <a:r>
              <a:rPr i="1" lang="it-IT" sz="6400"/>
              <a:t> public ServletWebServerFactory servletContainer() {</a:t>
            </a:r>
            <a:endParaRPr/>
          </a:p>
          <a:p>
            <a:pPr indent="0" lvl="2" marL="581343" rtl="0" algn="l">
              <a:spcBef>
                <a:spcPts val="320"/>
              </a:spcBef>
              <a:spcAft>
                <a:spcPts val="0"/>
              </a:spcAft>
              <a:buSzPct val="100000"/>
              <a:buNone/>
            </a:pPr>
            <a:r>
              <a:rPr i="1" lang="it-IT" sz="6400"/>
              <a:t>        TomcatServletWebServerFactory tomcat = new 	TomcatServletWebServerFactory() {</a:t>
            </a:r>
            <a:endParaRPr/>
          </a:p>
          <a:p>
            <a:pPr indent="0" lvl="2" marL="581343" rtl="0" algn="l">
              <a:spcBef>
                <a:spcPts val="320"/>
              </a:spcBef>
              <a:spcAft>
                <a:spcPts val="0"/>
              </a:spcAft>
              <a:buSzPct val="100000"/>
              <a:buNone/>
            </a:pPr>
            <a:r>
              <a:rPr i="1" lang="it-IT" sz="6400"/>
              <a:t>            @Override</a:t>
            </a:r>
            <a:endParaRPr i="1" sz="6400"/>
          </a:p>
          <a:p>
            <a:pPr indent="0" lvl="2" marL="581343" rtl="0" algn="l">
              <a:spcBef>
                <a:spcPts val="320"/>
              </a:spcBef>
              <a:spcAft>
                <a:spcPts val="0"/>
              </a:spcAft>
              <a:buSzPct val="100000"/>
              <a:buNone/>
            </a:pPr>
            <a:r>
              <a:rPr i="1" lang="it-IT" sz="6400"/>
              <a:t>            protected void postProcessContext(org.apache.catalina.Context context){</a:t>
            </a:r>
            <a:endParaRPr i="1" sz="6400"/>
          </a:p>
          <a:p>
            <a:pPr indent="0" lvl="2" marL="581343" rtl="0" algn="l">
              <a:spcBef>
                <a:spcPts val="320"/>
              </a:spcBef>
              <a:spcAft>
                <a:spcPts val="0"/>
              </a:spcAft>
              <a:buSzPct val="100000"/>
              <a:buNone/>
            </a:pPr>
            <a:r>
              <a:rPr i="1" lang="it-IT" sz="6400"/>
              <a:t>                SecurityConstraint securityConstraint = new SecurityConstraint();</a:t>
            </a:r>
            <a:endParaRPr/>
          </a:p>
          <a:p>
            <a:pPr indent="0" lvl="2" marL="581343" rtl="0" algn="l">
              <a:spcBef>
                <a:spcPts val="320"/>
              </a:spcBef>
              <a:spcAft>
                <a:spcPts val="0"/>
              </a:spcAft>
              <a:buSzPct val="100000"/>
              <a:buNone/>
            </a:pPr>
            <a:r>
              <a:rPr i="1" lang="it-IT" sz="6400"/>
              <a:t>                securityConstraint.setUserConstraint("CONFIDENTIAL");</a:t>
            </a:r>
            <a:endParaRPr/>
          </a:p>
          <a:p>
            <a:pPr indent="0" lvl="2" marL="581343" rtl="0" algn="l">
              <a:spcBef>
                <a:spcPts val="320"/>
              </a:spcBef>
              <a:spcAft>
                <a:spcPts val="0"/>
              </a:spcAft>
              <a:buSzPct val="100000"/>
              <a:buNone/>
            </a:pPr>
            <a:r>
              <a:rPr i="1" lang="it-IT" sz="6400"/>
              <a:t>                SecurityCollection collection = new SecurityCollection();</a:t>
            </a:r>
            <a:endParaRPr/>
          </a:p>
          <a:p>
            <a:pPr indent="0" lvl="2" marL="581343" rtl="0" algn="l">
              <a:spcBef>
                <a:spcPts val="320"/>
              </a:spcBef>
              <a:spcAft>
                <a:spcPts val="0"/>
              </a:spcAft>
              <a:buSzPct val="100000"/>
              <a:buNone/>
            </a:pPr>
            <a:r>
              <a:rPr i="1" lang="it-IT" sz="6400"/>
              <a:t>                collection.addPattern("/*");</a:t>
            </a:r>
            <a:endParaRPr/>
          </a:p>
          <a:p>
            <a:pPr indent="0" lvl="2" marL="581343" rtl="0" algn="l">
              <a:spcBef>
                <a:spcPts val="320"/>
              </a:spcBef>
              <a:spcAft>
                <a:spcPts val="0"/>
              </a:spcAft>
              <a:buSzPct val="100000"/>
              <a:buNone/>
            </a:pPr>
            <a:r>
              <a:rPr i="1" lang="it-IT" sz="6400"/>
              <a:t>	        collection.addMethod("*");</a:t>
            </a:r>
            <a:endParaRPr i="1" sz="6400"/>
          </a:p>
          <a:p>
            <a:pPr indent="0" lvl="2" marL="581343" rtl="0" algn="l">
              <a:spcBef>
                <a:spcPts val="320"/>
              </a:spcBef>
              <a:spcAft>
                <a:spcPts val="0"/>
              </a:spcAft>
              <a:buSzPct val="100000"/>
              <a:buNone/>
            </a:pPr>
            <a:r>
              <a:rPr i="1" lang="it-IT" sz="6400"/>
              <a:t>                securityConstraint.addCollection(collection);</a:t>
            </a:r>
            <a:endParaRPr/>
          </a:p>
          <a:p>
            <a:pPr indent="0" lvl="2" marL="581343" rtl="0" algn="l">
              <a:spcBef>
                <a:spcPts val="320"/>
              </a:spcBef>
              <a:spcAft>
                <a:spcPts val="0"/>
              </a:spcAft>
              <a:buSzPct val="100000"/>
              <a:buNone/>
            </a:pPr>
            <a:r>
              <a:rPr i="1" lang="it-IT" sz="6400"/>
              <a:t>                context.addConstraint(securityConstraint);</a:t>
            </a:r>
            <a:endParaRPr/>
          </a:p>
          <a:p>
            <a:pPr indent="0" lvl="2" marL="581343" rtl="0" algn="l">
              <a:spcBef>
                <a:spcPts val="320"/>
              </a:spcBef>
              <a:spcAft>
                <a:spcPts val="0"/>
              </a:spcAft>
              <a:buSzPct val="100000"/>
              <a:buNone/>
            </a:pPr>
            <a:r>
              <a:rPr i="1" lang="it-IT" sz="6400"/>
              <a:t>            }  };</a:t>
            </a:r>
            <a:endParaRPr/>
          </a:p>
          <a:p>
            <a:pPr indent="0" lvl="2" marL="581343" rtl="0" algn="l">
              <a:spcBef>
                <a:spcPts val="320"/>
              </a:spcBef>
              <a:spcAft>
                <a:spcPts val="0"/>
              </a:spcAft>
              <a:buSzPct val="100000"/>
              <a:buNone/>
            </a:pPr>
            <a:r>
              <a:rPr i="1" lang="it-IT" sz="6400"/>
              <a:t>        tomcat.addAdditionalTomcatConnectors(redirectConnector());</a:t>
            </a:r>
            <a:endParaRPr/>
          </a:p>
          <a:p>
            <a:pPr indent="0" lvl="2" marL="581343" rtl="0" algn="l">
              <a:spcBef>
                <a:spcPts val="320"/>
              </a:spcBef>
              <a:spcAft>
                <a:spcPts val="0"/>
              </a:spcAft>
              <a:buSzPct val="100000"/>
              <a:buNone/>
            </a:pPr>
            <a:r>
              <a:rPr i="1" lang="it-IT" sz="6400"/>
              <a:t>        return tomcat;</a:t>
            </a:r>
            <a:endParaRPr/>
          </a:p>
          <a:p>
            <a:pPr indent="0" lvl="2" marL="581343" rtl="0" algn="l">
              <a:spcBef>
                <a:spcPts val="320"/>
              </a:spcBef>
              <a:spcAft>
                <a:spcPts val="0"/>
              </a:spcAft>
              <a:buSzPct val="100000"/>
              <a:buNone/>
            </a:pPr>
            <a:r>
              <a:rPr i="1" lang="it-IT" sz="6400"/>
              <a:t>    }</a:t>
            </a:r>
            <a:endParaRPr i="1" sz="6400"/>
          </a:p>
        </p:txBody>
      </p:sp>
      <p:sp>
        <p:nvSpPr>
          <p:cNvPr id="480" name="Google Shape;480;p5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481" name="Google Shape;481;p5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Ssl - Https: redirect da Http a Https (2/2)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nde">
  <a:themeElements>
    <a:clrScheme name="Onde">
      <a:dk1>
        <a:srgbClr val="000000"/>
      </a:dk1>
      <a:lt1>
        <a:srgbClr val="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2020-10-19T09:44:59Z</dcterms:created>
  <dc:creator>Roberto Santoro</dc:creator>
</cp:coreProperties>
</file>