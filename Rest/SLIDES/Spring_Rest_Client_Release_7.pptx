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embeddedFontLst>
    <p:embeddedFont>
      <p:font typeface="Candara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g2dOxXYXoC2PROHTO1WSg8Ehqj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Candara-bold.fntdata"/><Relationship Id="rId27" Type="http://schemas.openxmlformats.org/officeDocument/2006/relationships/font" Target="fonts/Candar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andar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Candara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titolo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3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24" name="Google Shape;24;p23"/>
          <p:cNvGrpSpPr/>
          <p:nvPr/>
        </p:nvGrpSpPr>
        <p:grpSpPr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25" name="Google Shape;25;p23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6" name="Google Shape;26;p23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7" name="Google Shape;27;p23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8" name="Google Shape;28;p23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29" name="Google Shape;29;p23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30" name="Google Shape;30;p23"/>
          <p:cNvSpPr txBox="1"/>
          <p:nvPr>
            <p:ph type="ctrTitle"/>
          </p:nvPr>
        </p:nvSpPr>
        <p:spPr>
          <a:xfrm>
            <a:off x="685800" y="1600200"/>
            <a:ext cx="7772400" cy="17801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sz="44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subTitle"/>
          </p:nvPr>
        </p:nvSpPr>
        <p:spPr>
          <a:xfrm>
            <a:off x="1371600" y="3556001"/>
            <a:ext cx="6400800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440"/>
              </a:spcBef>
              <a:spcAft>
                <a:spcPts val="0"/>
              </a:spcAft>
              <a:buSzPts val="22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84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23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contenuto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4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0" name="Google Shape;40;p2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stazione sezione" showMasterSp="0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5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3" name="Google Shape;43;p25"/>
          <p:cNvSpPr/>
          <p:nvPr/>
        </p:nvSpPr>
        <p:spPr>
          <a:xfrm>
            <a:off x="6047438" y="4203592"/>
            <a:ext cx="2876429" cy="714026"/>
          </a:xfrm>
          <a:custGeom>
            <a:rect b="b" l="l" r="r" t="t"/>
            <a:pathLst>
              <a:path extrusionOk="0" h="640" w="2706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lt2">
              <a:alpha val="29019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4" name="Google Shape;44;p25"/>
          <p:cNvSpPr/>
          <p:nvPr/>
        </p:nvSpPr>
        <p:spPr>
          <a:xfrm>
            <a:off x="2619320" y="4075290"/>
            <a:ext cx="5544515" cy="850138"/>
          </a:xfrm>
          <a:custGeom>
            <a:rect b="b" l="l" r="r" t="t"/>
            <a:pathLst>
              <a:path extrusionOk="0" h="762" w="5216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lt2">
              <a:alpha val="4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5" name="Google Shape;45;p25"/>
          <p:cNvSpPr/>
          <p:nvPr/>
        </p:nvSpPr>
        <p:spPr>
          <a:xfrm>
            <a:off x="2828728" y="4087562"/>
            <a:ext cx="5467980" cy="774272"/>
          </a:xfrm>
          <a:custGeom>
            <a:rect b="b" l="l" r="r" t="t"/>
            <a:pathLst>
              <a:path extrusionOk="0" h="694" w="514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6" name="Google Shape;46;p25"/>
          <p:cNvSpPr/>
          <p:nvPr/>
        </p:nvSpPr>
        <p:spPr>
          <a:xfrm>
            <a:off x="5609489" y="4074174"/>
            <a:ext cx="3308000" cy="651549"/>
          </a:xfrm>
          <a:custGeom>
            <a:rect b="b" l="l" r="r" t="t"/>
            <a:pathLst>
              <a:path extrusionOk="0" h="584" w="3112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7" name="Google Shape;47;p25"/>
          <p:cNvSpPr/>
          <p:nvPr/>
        </p:nvSpPr>
        <p:spPr>
          <a:xfrm>
            <a:off x="211665" y="4058555"/>
            <a:ext cx="8723376" cy="1329874"/>
          </a:xfrm>
          <a:custGeom>
            <a:rect b="b" l="l" r="r" t="t"/>
            <a:pathLst>
              <a:path extrusionOk="0" h="1192" w="8196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48" name="Google Shape;48;p25"/>
          <p:cNvSpPr txBox="1"/>
          <p:nvPr>
            <p:ph type="title"/>
          </p:nvPr>
        </p:nvSpPr>
        <p:spPr>
          <a:xfrm>
            <a:off x="690032" y="2463560"/>
            <a:ext cx="7772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" type="body"/>
          </p:nvPr>
        </p:nvSpPr>
        <p:spPr>
          <a:xfrm>
            <a:off x="1367365" y="1437448"/>
            <a:ext cx="6417734" cy="939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p25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e contenuti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8" name="Google Shape;58;p26"/>
          <p:cNvSpPr txBox="1"/>
          <p:nvPr>
            <p:ph idx="1" type="body"/>
          </p:nvPr>
        </p:nvSpPr>
        <p:spPr>
          <a:xfrm>
            <a:off x="676655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2" type="body"/>
          </p:nvPr>
        </p:nvSpPr>
        <p:spPr>
          <a:xfrm>
            <a:off x="4645152" y="2679192"/>
            <a:ext cx="3822192" cy="3447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ronto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7"/>
          <p:cNvSpPr txBox="1"/>
          <p:nvPr>
            <p:ph idx="1" type="body"/>
          </p:nvPr>
        </p:nvSpPr>
        <p:spPr>
          <a:xfrm>
            <a:off x="676656" y="2678114"/>
            <a:ext cx="3822192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27"/>
          <p:cNvSpPr txBox="1"/>
          <p:nvPr>
            <p:ph idx="2" type="body"/>
          </p:nvPr>
        </p:nvSpPr>
        <p:spPr>
          <a:xfrm>
            <a:off x="677332" y="3429000"/>
            <a:ext cx="3820055" cy="269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5pPr>
            <a:lvl6pPr indent="-330200" lvl="5" marL="2743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4" name="Google Shape;64;p27"/>
          <p:cNvSpPr txBox="1"/>
          <p:nvPr>
            <p:ph idx="3" type="body"/>
          </p:nvPr>
        </p:nvSpPr>
        <p:spPr>
          <a:xfrm>
            <a:off x="4648200" y="2678113"/>
            <a:ext cx="3822192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SzPts val="2400"/>
              <a:buNone/>
              <a:defRPr b="0" i="0" sz="24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27"/>
          <p:cNvSpPr txBox="1"/>
          <p:nvPr>
            <p:ph idx="4" type="body"/>
          </p:nvPr>
        </p:nvSpPr>
        <p:spPr>
          <a:xfrm>
            <a:off x="4645025" y="3429000"/>
            <a:ext cx="3822192" cy="269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 sz="20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 sz="1800"/>
            </a:lvl2pPr>
            <a:lvl3pPr indent="-330200" lvl="2" marL="13716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 sz="1600"/>
            </a:lvl3pPr>
            <a:lvl4pPr indent="-317500" lvl="3" marL="18288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SzPts val="1400"/>
              <a:buChar char="*"/>
              <a:defRPr sz="1400"/>
            </a:lvl5pPr>
            <a:lvl6pPr indent="-330200" lvl="5" marL="27432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84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6" name="Google Shape;66;p27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uota" showMasterSp="0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76" name="Google Shape;76;p29"/>
          <p:cNvGrpSpPr/>
          <p:nvPr/>
        </p:nvGrpSpPr>
        <p:grpSpPr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7" name="Google Shape;77;p29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78" name="Google Shape;78;p29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79" name="Google Shape;79;p29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80" name="Google Shape;80;p29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81" name="Google Shape;81;p29"/>
            <p:cNvSpPr/>
            <p:nvPr/>
          </p:nvSpPr>
          <p:spPr>
            <a:xfrm>
              <a:off x="-3905251" y="4294188"/>
              <a:ext cx="13027839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82" name="Google Shape;82;p29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to con didascalia" showMasterSp="0" type="objTx">
  <p:cSld name="OBJECT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0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87" name="Google Shape;87;p30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0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90" name="Google Shape;90;p30"/>
          <p:cNvSpPr txBox="1"/>
          <p:nvPr>
            <p:ph idx="1" type="body"/>
          </p:nvPr>
        </p:nvSpPr>
        <p:spPr>
          <a:xfrm>
            <a:off x="914400" y="3581400"/>
            <a:ext cx="3352800" cy="1905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grpSp>
        <p:nvGrpSpPr>
          <p:cNvPr id="91" name="Google Shape;91;p30"/>
          <p:cNvGrpSpPr/>
          <p:nvPr/>
        </p:nvGrpSpPr>
        <p:grpSpPr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92" name="Google Shape;92;p30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3" name="Google Shape;93;p30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4" name="Google Shape;94;p30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5" name="Google Shape;95;p30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96" name="Google Shape;96;p30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97" name="Google Shape;97;p30"/>
          <p:cNvSpPr txBox="1"/>
          <p:nvPr>
            <p:ph type="title"/>
          </p:nvPr>
        </p:nvSpPr>
        <p:spPr>
          <a:xfrm>
            <a:off x="914400" y="2286000"/>
            <a:ext cx="33528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ndara"/>
              <a:buNone/>
              <a:defRPr sz="32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0"/>
          <p:cNvSpPr txBox="1"/>
          <p:nvPr>
            <p:ph idx="2" type="body"/>
          </p:nvPr>
        </p:nvSpPr>
        <p:spPr>
          <a:xfrm>
            <a:off x="4651962" y="1828800"/>
            <a:ext cx="3904076" cy="3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68300" lvl="0" marL="457200" algn="l">
              <a:spcBef>
                <a:spcPts val="440"/>
              </a:spcBef>
              <a:spcAft>
                <a:spcPts val="0"/>
              </a:spcAft>
              <a:buClr>
                <a:schemeClr val="lt1"/>
              </a:buClr>
              <a:buSzPts val="2200"/>
              <a:buChar char="*"/>
              <a:defRPr sz="2200">
                <a:solidFill>
                  <a:schemeClr val="dk2"/>
                </a:solidFill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Char char="*"/>
              <a:defRPr sz="2000">
                <a:solidFill>
                  <a:schemeClr val="dk2"/>
                </a:solidFill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*"/>
              <a:defRPr sz="1800">
                <a:solidFill>
                  <a:schemeClr val="dk2"/>
                </a:solidFill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*"/>
              <a:defRPr sz="1600">
                <a:solidFill>
                  <a:schemeClr val="dk2"/>
                </a:solidFill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Char char="*"/>
              <a:defRPr sz="1600">
                <a:solidFill>
                  <a:schemeClr val="dk2"/>
                </a:solidFill>
              </a:defRPr>
            </a:lvl5pPr>
            <a:lvl6pPr indent="-355600" lvl="5" marL="27432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6pPr>
            <a:lvl7pPr indent="-355600" lvl="6" marL="32004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8pPr>
            <a:lvl9pPr indent="-355600" lvl="8" marL="4114800" algn="l">
              <a:spcBef>
                <a:spcPts val="384"/>
              </a:spcBef>
              <a:spcAft>
                <a:spcPts val="0"/>
              </a:spcAft>
              <a:buSzPts val="2000"/>
              <a:buChar char="●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magine con didascalia" showMasterSp="0" type="picTx">
  <p:cSld name="PICTURE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1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fmla="val 1272" name="adj"/>
            </a:avLst>
          </a:prstGeom>
          <a:gradFill>
            <a:gsLst>
              <a:gs pos="0">
                <a:srgbClr val="0293E0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101" name="Google Shape;101;p31"/>
          <p:cNvGrpSpPr/>
          <p:nvPr/>
        </p:nvGrpSpPr>
        <p:grpSpPr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2" name="Google Shape;102;p31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3" name="Google Shape;103;p31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4" name="Google Shape;104;p31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5" name="Google Shape;105;p31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06" name="Google Shape;106;p31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07" name="Google Shape;107;p31"/>
          <p:cNvSpPr txBox="1"/>
          <p:nvPr>
            <p:ph type="title"/>
          </p:nvPr>
        </p:nvSpPr>
        <p:spPr>
          <a:xfrm>
            <a:off x="4874155" y="338667"/>
            <a:ext cx="3812645" cy="2429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ndara"/>
              <a:buNone/>
              <a:defRPr b="0" sz="2800"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1"/>
          <p:cNvSpPr txBox="1"/>
          <p:nvPr>
            <p:ph idx="1" type="body"/>
          </p:nvPr>
        </p:nvSpPr>
        <p:spPr>
          <a:xfrm>
            <a:off x="4868333" y="2785533"/>
            <a:ext cx="3818467" cy="2421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384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9" name="Google Shape;109;p31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1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12" name="Google Shape;112;p31"/>
          <p:cNvSpPr/>
          <p:nvPr>
            <p:ph idx="2" type="pic"/>
          </p:nvPr>
        </p:nvSpPr>
        <p:spPr>
          <a:xfrm>
            <a:off x="838200" y="1371600"/>
            <a:ext cx="3566160" cy="2926080"/>
          </a:xfrm>
          <a:prstGeom prst="roundRect">
            <a:avLst>
              <a:gd fmla="val 3924" name="adj"/>
            </a:avLst>
          </a:prstGeom>
          <a:solidFill>
            <a:schemeClr val="accent1"/>
          </a:solidFill>
          <a:ln>
            <a:noFill/>
          </a:ln>
          <a:effectLst>
            <a:reflection blurRad="0" dir="5400000" dist="5000" endA="0" endPos="30000" kx="0" rotWithShape="0" algn="bl" stA="30000" stPos="0" sy="-100000" ky="0"/>
          </a:effectLst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testo verticale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2"/>
          <p:cNvSpPr txBox="1"/>
          <p:nvPr>
            <p:ph idx="1" type="body"/>
          </p:nvPr>
        </p:nvSpPr>
        <p:spPr>
          <a:xfrm rot="5400000">
            <a:off x="2850886" y="696648"/>
            <a:ext cx="3450696" cy="74083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*"/>
              <a:defRPr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SzPts val="2200"/>
              <a:buChar char="*"/>
              <a:defRPr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*"/>
              <a:defRPr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16" name="Google Shape;116;p32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2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olo e testo verticale" showMasterSp="0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3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fmla="val 7136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sp>
        <p:nvSpPr>
          <p:cNvPr id="121" name="Google Shape;121;p33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3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3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pSp>
        <p:nvGrpSpPr>
          <p:cNvPr id="124" name="Google Shape;124;p33"/>
          <p:cNvGrpSpPr/>
          <p:nvPr/>
        </p:nvGrpSpPr>
        <p:grpSpPr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25" name="Google Shape;125;p33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6" name="Google Shape;126;p33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7" name="Google Shape;127;p33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8" name="Google Shape;128;p33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29" name="Google Shape;129;p33"/>
            <p:cNvSpPr/>
            <p:nvPr/>
          </p:nvSpPr>
          <p:spPr>
            <a:xfrm>
              <a:off x="-3905250" y="4294188"/>
              <a:ext cx="13011150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30" name="Google Shape;130;p33"/>
          <p:cNvSpPr txBox="1"/>
          <p:nvPr>
            <p:ph type="title"/>
          </p:nvPr>
        </p:nvSpPr>
        <p:spPr>
          <a:xfrm rot="5400000">
            <a:off x="5414434" y="2662767"/>
            <a:ext cx="448733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Candara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3"/>
          <p:cNvSpPr txBox="1"/>
          <p:nvPr>
            <p:ph idx="1" type="body"/>
          </p:nvPr>
        </p:nvSpPr>
        <p:spPr>
          <a:xfrm rot="5400000">
            <a:off x="1223433" y="681567"/>
            <a:ext cx="448733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*"/>
              <a:defRPr/>
            </a:lvl1pPr>
            <a:lvl2pPr indent="-368300" lvl="1" marL="91440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*"/>
              <a:defRPr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*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*"/>
              <a:defRPr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Char char="*"/>
              <a:defRPr/>
            </a:lvl5pPr>
            <a:lvl6pPr indent="-342900" lvl="5" marL="27432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84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fmla="val 3362" name="adj"/>
            </a:avLst>
          </a:prstGeom>
          <a:gradFill>
            <a:gsLst>
              <a:gs pos="0">
                <a:srgbClr val="0293E0"/>
              </a:gs>
              <a:gs pos="90000">
                <a:srgbClr val="81D2FE"/>
              </a:gs>
              <a:gs pos="100000">
                <a:srgbClr val="81D2F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grpSp>
        <p:nvGrpSpPr>
          <p:cNvPr id="11" name="Google Shape;11;p22"/>
          <p:cNvGrpSpPr/>
          <p:nvPr/>
        </p:nvGrpSpPr>
        <p:grpSpPr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2" name="Google Shape;12;p22"/>
            <p:cNvSpPr/>
            <p:nvPr/>
          </p:nvSpPr>
          <p:spPr>
            <a:xfrm>
              <a:off x="4810125" y="4500563"/>
              <a:ext cx="4295775" cy="1016000"/>
            </a:xfrm>
            <a:custGeom>
              <a:rect b="b" l="l" r="r" t="t"/>
              <a:pathLst>
                <a:path extrusionOk="0" h="640" w="2706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>
                <a:alpha val="2901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3" name="Google Shape;13;p22"/>
            <p:cNvSpPr/>
            <p:nvPr/>
          </p:nvSpPr>
          <p:spPr>
            <a:xfrm>
              <a:off x="-309563" y="4318000"/>
              <a:ext cx="8280401" cy="1209675"/>
            </a:xfrm>
            <a:custGeom>
              <a:rect b="b" l="l" r="r" t="t"/>
              <a:pathLst>
                <a:path extrusionOk="0" h="762" w="5216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lt2">
                <a:alpha val="4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4" name="Google Shape;14;p22"/>
            <p:cNvSpPr/>
            <p:nvPr/>
          </p:nvSpPr>
          <p:spPr>
            <a:xfrm>
              <a:off x="3175" y="4335463"/>
              <a:ext cx="8166100" cy="1101725"/>
            </a:xfrm>
            <a:custGeom>
              <a:rect b="b" l="l" r="r" t="t"/>
              <a:pathLst>
                <a:path extrusionOk="0" h="694" w="514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5" name="Google Shape;15;p22"/>
            <p:cNvSpPr/>
            <p:nvPr/>
          </p:nvSpPr>
          <p:spPr>
            <a:xfrm>
              <a:off x="4156075" y="4316413"/>
              <a:ext cx="4940300" cy="927100"/>
            </a:xfrm>
            <a:custGeom>
              <a:rect b="b" l="l" r="r" t="t"/>
              <a:pathLst>
                <a:path extrusionOk="0" h="584" w="3112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  <p:sp>
          <p:nvSpPr>
            <p:cNvPr id="16" name="Google Shape;16;p22"/>
            <p:cNvSpPr/>
            <p:nvPr/>
          </p:nvSpPr>
          <p:spPr>
            <a:xfrm>
              <a:off x="-3905251" y="4294188"/>
              <a:ext cx="13027839" cy="1892300"/>
            </a:xfrm>
            <a:custGeom>
              <a:rect b="b" l="l" r="r" t="t"/>
              <a:pathLst>
                <a:path extrusionOk="0" h="1192" w="8196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endParaRPr>
            </a:p>
          </p:txBody>
        </p:sp>
      </p:grpSp>
      <p:sp>
        <p:nvSpPr>
          <p:cNvPr id="17" name="Google Shape;17;p2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  <a:defRPr b="0" i="0" sz="4400" u="none" cap="none" strike="noStrike">
                <a:solidFill>
                  <a:srgbClr val="FFFFFF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0" lvl="1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0" lvl="2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0" lvl="3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0" lvl="4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0" lvl="5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0" lvl="6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0" lvl="7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0" lvl="8" marL="0" marR="0" rtl="0" algn="ctr">
              <a:spcBef>
                <a:spcPts val="0"/>
              </a:spcBef>
              <a:buNone/>
              <a:defRPr b="0" sz="1000" u="non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" name="Google Shape;21;p22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*"/>
              <a:defRPr b="0" i="0" sz="2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indent="-368300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*"/>
              <a:defRPr b="0" i="0" sz="22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*"/>
              <a:defRPr b="0" i="0" sz="20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*"/>
              <a:defRPr b="0" i="0" sz="18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*"/>
              <a:defRPr b="0" i="0" sz="16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indent="-317500" lvl="5" marL="27432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indent="-317500" lvl="6" marL="32004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indent="-317500" lvl="7" marL="36576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indent="-317500" lvl="8" marL="4114800" marR="0" rtl="0" algn="l">
              <a:spcBef>
                <a:spcPts val="384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"/>
          <p:cNvSpPr txBox="1"/>
          <p:nvPr>
            <p:ph type="ctrTitle"/>
          </p:nvPr>
        </p:nvSpPr>
        <p:spPr>
          <a:xfrm>
            <a:off x="685800" y="1600200"/>
            <a:ext cx="7772400" cy="17801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Spring Rest Client</a:t>
            </a:r>
            <a:endParaRPr/>
          </a:p>
        </p:txBody>
      </p:sp>
      <p:sp>
        <p:nvSpPr>
          <p:cNvPr id="137" name="Google Shape;137;p1"/>
          <p:cNvSpPr txBox="1"/>
          <p:nvPr>
            <p:ph idx="1" type="subTitle"/>
          </p:nvPr>
        </p:nvSpPr>
        <p:spPr>
          <a:xfrm>
            <a:off x="1371600" y="3556001"/>
            <a:ext cx="6400800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Java base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Spring core </a:t>
            </a:r>
            <a:r>
              <a:rPr i="1" lang="it-IT"/>
              <a:t>IoC container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Spring </a:t>
            </a:r>
            <a:r>
              <a:rPr i="1" lang="it-IT"/>
              <a:t>Mvc</a:t>
            </a:r>
            <a:endParaRPr i="1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Concetti di base dei web services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Spring </a:t>
            </a:r>
            <a:r>
              <a:rPr i="1" lang="it-IT"/>
              <a:t>Rest</a:t>
            </a:r>
            <a:endParaRPr i="1"/>
          </a:p>
        </p:txBody>
      </p:sp>
      <p:sp>
        <p:nvSpPr>
          <p:cNvPr id="143" name="Google Shape;143;p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44" name="Google Shape;144;p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Prerequisiti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Consumare servizi </a:t>
            </a:r>
            <a:r>
              <a:rPr i="1" lang="it-IT"/>
              <a:t>Rest</a:t>
            </a:r>
            <a:r>
              <a:rPr lang="it-IT"/>
              <a:t> è possibile con qualsiasi client (es. </a:t>
            </a:r>
            <a:r>
              <a:rPr i="1" lang="it-IT"/>
              <a:t>Postman, curl</a:t>
            </a:r>
            <a:r>
              <a:rPr lang="it-IT"/>
              <a:t> etc.) ma spesso lo stesso codice sviluppato con Spring svolge la funzione di </a:t>
            </a:r>
            <a:r>
              <a:rPr i="1" lang="it-IT"/>
              <a:t>server</a:t>
            </a:r>
            <a:r>
              <a:rPr lang="it-IT"/>
              <a:t> per alcune </a:t>
            </a:r>
            <a:r>
              <a:rPr i="1" lang="it-IT"/>
              <a:t>api</a:t>
            </a:r>
            <a:r>
              <a:rPr lang="it-IT"/>
              <a:t> e di </a:t>
            </a:r>
            <a:r>
              <a:rPr i="1" lang="it-IT"/>
              <a:t>client</a:t>
            </a:r>
            <a:r>
              <a:rPr lang="it-IT"/>
              <a:t> per altre (tipico scenario dei </a:t>
            </a:r>
            <a:r>
              <a:rPr i="1" lang="it-IT"/>
              <a:t>micro-services</a:t>
            </a:r>
            <a:r>
              <a:rPr lang="it-IT"/>
              <a:t>)</a:t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per </a:t>
            </a:r>
            <a:r>
              <a:rPr i="1" lang="it-IT"/>
              <a:t>consumare</a:t>
            </a:r>
            <a:r>
              <a:rPr lang="it-IT"/>
              <a:t> servizi </a:t>
            </a:r>
            <a:r>
              <a:rPr i="1" lang="it-IT"/>
              <a:t>Spring Rest</a:t>
            </a:r>
            <a:r>
              <a:rPr lang="it-IT"/>
              <a:t> esistono diverse strade: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Spring Rest Template</a:t>
            </a:r>
            <a:endParaRPr i="1"/>
          </a:p>
          <a:p>
            <a:pPr indent="-228600" lvl="2" marL="855663" rtl="0" algn="l">
              <a:spcBef>
                <a:spcPts val="37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la strada storicamente più utilizzata per consumare servizi in modo sincrono ma diventata deprecata dal 09/2025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Spring Rest Client</a:t>
            </a:r>
            <a:endParaRPr/>
          </a:p>
          <a:p>
            <a:pPr indent="-228600" lvl="2" marL="855663" rtl="0" algn="l">
              <a:spcBef>
                <a:spcPts val="37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la versione moderna di Spring Rest Template (e strada consigliata dopo 09/2025)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Spring Web Client</a:t>
            </a:r>
            <a:endParaRPr/>
          </a:p>
          <a:p>
            <a:pPr indent="-228600" lvl="2" marL="855663" rtl="0" algn="l">
              <a:spcBef>
                <a:spcPts val="37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per consumare servizi in modo asincrono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Spring Traverson</a:t>
            </a:r>
            <a:endParaRPr i="1"/>
          </a:p>
          <a:p>
            <a:pPr indent="-228600" lvl="2" marL="855663" rtl="0" algn="l">
              <a:spcBef>
                <a:spcPts val="37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probabilmente più comoda per le operazioni di </a:t>
            </a:r>
            <a:r>
              <a:rPr i="1" lang="it-IT"/>
              <a:t>lettura </a:t>
            </a:r>
            <a:r>
              <a:rPr lang="it-IT"/>
              <a:t>(</a:t>
            </a:r>
            <a:r>
              <a:rPr i="1" lang="it-IT"/>
              <a:t>get</a:t>
            </a:r>
            <a:r>
              <a:rPr lang="it-IT"/>
              <a:t>) quando le </a:t>
            </a:r>
            <a:r>
              <a:rPr i="1" lang="it-IT"/>
              <a:t>api </a:t>
            </a:r>
            <a:r>
              <a:rPr lang="it-IT"/>
              <a:t>usano </a:t>
            </a:r>
            <a:r>
              <a:rPr i="1" lang="it-IT"/>
              <a:t>hateoas </a:t>
            </a:r>
            <a:r>
              <a:rPr lang="it-IT"/>
              <a:t>ma non utilizzabile per quelle di </a:t>
            </a:r>
            <a:r>
              <a:rPr i="1" lang="it-IT"/>
              <a:t>scrittura</a:t>
            </a:r>
            <a:endParaRPr/>
          </a:p>
          <a:p>
            <a:pPr indent="-133350" lvl="0" marL="27432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50" name="Google Shape;150;p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51" name="Google Shape;151;p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Consumare servizi </a:t>
            </a:r>
            <a:r>
              <a:rPr i="1" lang="it-IT"/>
              <a:t>Spring Rest</a:t>
            </a:r>
            <a:endParaRPr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Per usare </a:t>
            </a:r>
            <a:r>
              <a:rPr i="1" lang="it-IT"/>
              <a:t>Spring Rest Client </a:t>
            </a:r>
            <a:r>
              <a:rPr lang="it-IT"/>
              <a:t>tramite </a:t>
            </a:r>
            <a:r>
              <a:rPr i="1" lang="it-IT"/>
              <a:t>Spring Boot</a:t>
            </a:r>
            <a:r>
              <a:rPr lang="it-IT"/>
              <a:t> ci occorre solo la </a:t>
            </a:r>
            <a:r>
              <a:rPr i="1" lang="it-IT"/>
              <a:t>dependency web</a:t>
            </a:r>
            <a:r>
              <a:rPr lang="it-IT"/>
              <a:t>, ovvero lo </a:t>
            </a:r>
            <a:r>
              <a:rPr i="1" lang="it-IT"/>
              <a:t>starter</a:t>
            </a:r>
            <a:r>
              <a:rPr lang="it-IT"/>
              <a:t>:</a:t>
            </a:r>
            <a:endParaRPr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rPr i="1" lang="it-IT"/>
              <a:t>spring-boot-starter-webmvc</a:t>
            </a:r>
            <a:endParaRPr i="1"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58" name="Google Shape;158;p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i="1" lang="it-IT"/>
              <a:t>Spring Client</a:t>
            </a:r>
            <a:r>
              <a:rPr lang="it-IT"/>
              <a:t> - dependencies</a:t>
            </a:r>
            <a:endParaRPr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/>
          <p:nvPr>
            <p:ph idx="1" type="body"/>
          </p:nvPr>
        </p:nvSpPr>
        <p:spPr>
          <a:xfrm>
            <a:off x="872067" y="2060848"/>
            <a:ext cx="7408333" cy="406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la chiamata al server genera un’eccezione in tutti i casi in cui il codice Http di risposta non appartenga alla famiglia dei 20x. In particolare per: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codici Http 40x: HTTPClientErrorException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codici Http 50x: HTTPServerErrorException</a:t>
            </a:r>
            <a:endParaRPr/>
          </a:p>
          <a:p>
            <a:pPr indent="-121920" lvl="0" marL="27432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65" name="Google Shape;165;p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i="1" lang="it-IT"/>
              <a:t>Gestire le eccezioni</a:t>
            </a:r>
            <a:endParaRPr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"/>
          <p:cNvSpPr txBox="1"/>
          <p:nvPr>
            <p:ph idx="1" type="body"/>
          </p:nvPr>
        </p:nvSpPr>
        <p:spPr>
          <a:xfrm>
            <a:off x="872067" y="2060848"/>
            <a:ext cx="7408333" cy="406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21920" lvl="0" marL="27432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Chiaramente, se il client rappresenta un progetto separato rispetto al server, occorrerà avere anche lato client le classi/</a:t>
            </a:r>
            <a:r>
              <a:rPr i="1" lang="it-IT"/>
              <a:t>dto</a:t>
            </a:r>
            <a:r>
              <a:rPr lang="it-IT"/>
              <a:t> che rappresentano il </a:t>
            </a:r>
            <a:r>
              <a:rPr i="1" lang="it-IT"/>
              <a:t>model</a:t>
            </a:r>
            <a:r>
              <a:rPr lang="it-IT"/>
              <a:t> scambiato con le </a:t>
            </a:r>
            <a:r>
              <a:rPr i="1" lang="it-IT"/>
              <a:t>api</a:t>
            </a:r>
            <a:r>
              <a:rPr lang="it-IT"/>
              <a:t> del server (nel nostro esempio la classe </a:t>
            </a:r>
            <a:r>
              <a:rPr i="1" lang="it-IT"/>
              <a:t>PersonaBean</a:t>
            </a:r>
            <a:r>
              <a:rPr lang="it-IT"/>
              <a:t>)</a:t>
            </a:r>
            <a:endParaRPr/>
          </a:p>
        </p:txBody>
      </p:sp>
      <p:sp>
        <p:nvSpPr>
          <p:cNvPr id="171" name="Google Shape;171;p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72" name="Google Shape;172;p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Classi </a:t>
            </a:r>
            <a:r>
              <a:rPr i="1" lang="it-IT"/>
              <a:t>model</a:t>
            </a:r>
            <a:r>
              <a:rPr lang="it-IT"/>
              <a:t> lato client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 txBox="1"/>
          <p:nvPr>
            <p:ph idx="1" type="body"/>
          </p:nvPr>
        </p:nvSpPr>
        <p:spPr>
          <a:xfrm>
            <a:off x="872067" y="2204864"/>
            <a:ext cx="7408333" cy="3921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144780" lvl="0" marL="27432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144780" lvl="0" marL="274320" rtl="0" algn="l">
              <a:spcBef>
                <a:spcPts val="408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08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Per prima cosa dovremo creare un oggetto di classe </a:t>
            </a:r>
            <a:r>
              <a:rPr i="1" lang="it-IT"/>
              <a:t>RestClient</a:t>
            </a:r>
            <a:r>
              <a:rPr lang="it-IT"/>
              <a:t>(si può iniettare come </a:t>
            </a:r>
            <a:r>
              <a:rPr i="1" lang="it-IT"/>
              <a:t>@Bean </a:t>
            </a:r>
            <a:r>
              <a:rPr lang="it-IT"/>
              <a:t>nell</a:t>
            </a:r>
            <a:r>
              <a:rPr i="1" lang="it-IT"/>
              <a:t>’application context</a:t>
            </a:r>
            <a:r>
              <a:rPr lang="it-IT"/>
              <a:t> di Spring)</a:t>
            </a:r>
            <a:r>
              <a:rPr i="1" lang="it-IT"/>
              <a:t>:</a:t>
            </a:r>
            <a:endParaRPr/>
          </a:p>
          <a:p>
            <a:pPr indent="-144780" lvl="0" marL="274320" rtl="0" algn="l">
              <a:spcBef>
                <a:spcPts val="408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1" marL="301943" rtl="0" algn="l">
              <a:spcBef>
                <a:spcPts val="306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@Bean</a:t>
            </a:r>
            <a:endParaRPr/>
          </a:p>
          <a:p>
            <a:pPr indent="0" lvl="1" marL="301943" rtl="0" algn="l">
              <a:spcBef>
                <a:spcPts val="306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public RestClient restClient() {</a:t>
            </a:r>
            <a:endParaRPr/>
          </a:p>
          <a:p>
            <a:pPr indent="0" lvl="1" marL="301943" rtl="0" algn="l">
              <a:spcBef>
                <a:spcPts val="306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	return RestClient</a:t>
            </a:r>
            <a:endParaRPr/>
          </a:p>
          <a:p>
            <a:pPr indent="0" lvl="1" marL="301943" rtl="0" algn="l">
              <a:spcBef>
                <a:spcPts val="306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		.builder()</a:t>
            </a:r>
            <a:endParaRPr/>
          </a:p>
          <a:p>
            <a:pPr indent="0" lvl="1" marL="301943" rtl="0" algn="l">
              <a:spcBef>
                <a:spcPts val="306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		.baseUrl("http://localhost:8080/rest/persons")</a:t>
            </a:r>
            <a:endParaRPr/>
          </a:p>
          <a:p>
            <a:pPr indent="0" lvl="1" marL="301943" rtl="0" algn="l">
              <a:spcBef>
                <a:spcPts val="306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		.build();</a:t>
            </a:r>
            <a:endParaRPr/>
          </a:p>
          <a:p>
            <a:pPr indent="0" lvl="1" marL="301943" rtl="0" algn="l">
              <a:spcBef>
                <a:spcPts val="306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}</a:t>
            </a:r>
            <a:endParaRPr/>
          </a:p>
          <a:p>
            <a:pPr indent="-144780" lvl="0" marL="274320" rtl="0" algn="l">
              <a:spcBef>
                <a:spcPts val="408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79" name="Google Shape;179;p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i="1" lang="it-IT"/>
              <a:t>@Bean RestClient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 txBox="1"/>
          <p:nvPr>
            <p:ph idx="1" type="body"/>
          </p:nvPr>
        </p:nvSpPr>
        <p:spPr>
          <a:xfrm>
            <a:off x="872067" y="2204864"/>
            <a:ext cx="7408333" cy="3921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Se startiamo contemporaneamente sulla stessa macchina (per test) server e client rest, dovremo cambiare la porta di uno dei 2. Ad esempio nell'application.properties del client rest:</a:t>
            </a:r>
            <a:endParaRPr/>
          </a:p>
          <a:p>
            <a:pPr indent="0" lvl="1" marL="301943" rtl="0" algn="l">
              <a:spcBef>
                <a:spcPts val="357"/>
              </a:spcBef>
              <a:spcAft>
                <a:spcPts val="0"/>
              </a:spcAft>
              <a:buSzPct val="100000"/>
              <a:buNone/>
            </a:pPr>
            <a:r>
              <a:rPr i="1" lang="it-IT" sz="1800"/>
              <a:t>	</a:t>
            </a:r>
            <a:r>
              <a:rPr i="1" lang="it-IT" sz="2100"/>
              <a:t>sever.port = 8081</a:t>
            </a:r>
            <a:endParaRPr i="1" sz="2100"/>
          </a:p>
          <a:p>
            <a:pPr indent="-274320" lvl="0" marL="274320" rtl="0" algn="l">
              <a:spcBef>
                <a:spcPts val="408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se vogliamo rendere parametrica l'url del servizio Rest lato server, sempre nell'application.properties del client inseriremo:</a:t>
            </a:r>
            <a:endParaRPr/>
          </a:p>
          <a:p>
            <a:pPr indent="0" lvl="1" marL="301943" rtl="0" algn="l">
              <a:spcBef>
                <a:spcPts val="357"/>
              </a:spcBef>
              <a:spcAft>
                <a:spcPts val="0"/>
              </a:spcAft>
              <a:buSzPct val="100000"/>
              <a:buNone/>
            </a:pPr>
            <a:r>
              <a:rPr i="1" lang="it-IT" sz="2100"/>
              <a:t>	serverUrl = http://localhost:8080/rest/persons</a:t>
            </a:r>
            <a:endParaRPr i="1" sz="2100"/>
          </a:p>
          <a:p>
            <a:pPr indent="-274320" lvl="0" marL="274320" rtl="0" algn="l">
              <a:spcBef>
                <a:spcPts val="391"/>
              </a:spcBef>
              <a:spcAft>
                <a:spcPts val="0"/>
              </a:spcAft>
              <a:buSzPct val="100000"/>
              <a:buChar char="*"/>
            </a:pPr>
            <a:r>
              <a:rPr lang="it-IT" sz="2300"/>
              <a:t>e nel codice:</a:t>
            </a:r>
            <a:endParaRPr/>
          </a:p>
          <a:p>
            <a:pPr indent="0" lvl="1" marL="301943" rtl="0" algn="l">
              <a:spcBef>
                <a:spcPts val="323"/>
              </a:spcBef>
              <a:spcAft>
                <a:spcPts val="0"/>
              </a:spcAft>
              <a:buSzPct val="100000"/>
              <a:buNone/>
            </a:pPr>
            <a:r>
              <a:rPr i="1" lang="it-IT" sz="1900"/>
              <a:t>	@Bean</a:t>
            </a:r>
            <a:endParaRPr/>
          </a:p>
          <a:p>
            <a:pPr indent="0" lvl="1" marL="301943" rtl="0" algn="l">
              <a:spcBef>
                <a:spcPts val="323"/>
              </a:spcBef>
              <a:spcAft>
                <a:spcPts val="0"/>
              </a:spcAft>
              <a:buSzPct val="100000"/>
              <a:buNone/>
            </a:pPr>
            <a:r>
              <a:rPr i="1" lang="it-IT" sz="1900"/>
              <a:t>	public RestClient restClient(@Value("${serverUrl}") String serverUrl) {</a:t>
            </a:r>
            <a:endParaRPr/>
          </a:p>
          <a:p>
            <a:pPr indent="0" lvl="1" marL="301943" rtl="0" algn="l">
              <a:spcBef>
                <a:spcPts val="323"/>
              </a:spcBef>
              <a:spcAft>
                <a:spcPts val="0"/>
              </a:spcAft>
              <a:buSzPct val="100000"/>
              <a:buNone/>
            </a:pPr>
            <a:r>
              <a:rPr i="1" lang="it-IT" sz="1900"/>
              <a:t>		return RestClient</a:t>
            </a:r>
            <a:endParaRPr/>
          </a:p>
          <a:p>
            <a:pPr indent="0" lvl="1" marL="301943" rtl="0" algn="l">
              <a:spcBef>
                <a:spcPts val="323"/>
              </a:spcBef>
              <a:spcAft>
                <a:spcPts val="0"/>
              </a:spcAft>
              <a:buSzPct val="100000"/>
              <a:buNone/>
            </a:pPr>
            <a:r>
              <a:rPr i="1" lang="it-IT" sz="1900"/>
              <a:t>			.builder()</a:t>
            </a:r>
            <a:endParaRPr/>
          </a:p>
          <a:p>
            <a:pPr indent="0" lvl="1" marL="301943" rtl="0" algn="l">
              <a:spcBef>
                <a:spcPts val="323"/>
              </a:spcBef>
              <a:spcAft>
                <a:spcPts val="0"/>
              </a:spcAft>
              <a:buSzPct val="100000"/>
              <a:buNone/>
            </a:pPr>
            <a:r>
              <a:rPr i="1" lang="it-IT" sz="1900"/>
              <a:t>			.baseUrl(serverUrl)</a:t>
            </a:r>
            <a:endParaRPr i="1" sz="1900"/>
          </a:p>
          <a:p>
            <a:pPr indent="0" lvl="1" marL="301943" rtl="0" algn="l">
              <a:spcBef>
                <a:spcPts val="323"/>
              </a:spcBef>
              <a:spcAft>
                <a:spcPts val="0"/>
              </a:spcAft>
              <a:buSzPct val="100000"/>
              <a:buNone/>
            </a:pPr>
            <a:r>
              <a:rPr i="1" lang="it-IT" sz="1900"/>
              <a:t>			.build();</a:t>
            </a:r>
            <a:endParaRPr/>
          </a:p>
          <a:p>
            <a:pPr indent="0" lvl="1" marL="301943" rtl="0" algn="l">
              <a:spcBef>
                <a:spcPts val="323"/>
              </a:spcBef>
              <a:spcAft>
                <a:spcPts val="0"/>
              </a:spcAft>
              <a:buSzPct val="100000"/>
              <a:buNone/>
            </a:pPr>
            <a:r>
              <a:rPr i="1" lang="it-IT" sz="1900"/>
              <a:t>	}</a:t>
            </a:r>
            <a:endParaRPr i="1" sz="1900"/>
          </a:p>
          <a:p>
            <a:pPr indent="-144780" lvl="0" marL="274320" rtl="0" algn="l">
              <a:spcBef>
                <a:spcPts val="408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86" name="Google Shape;186;p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i="1" lang="it-IT"/>
              <a:t>Parametrizzare l'url del servizio server e la porta di avvio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i="1" lang="it-IT"/>
              <a:t>RestClient </a:t>
            </a:r>
            <a:r>
              <a:rPr lang="it-IT"/>
              <a:t>espone il metodo </a:t>
            </a:r>
            <a:r>
              <a:rPr i="1" lang="it-IT"/>
              <a:t>get</a:t>
            </a:r>
            <a:r>
              <a:rPr lang="it-IT"/>
              <a:t> che consente di effettuare le seguenti chiamate in catena: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i="1" lang="it-IT"/>
              <a:t>uri() </a:t>
            </a:r>
            <a:r>
              <a:rPr lang="it-IT"/>
              <a:t>per specificare l'url da invocare inserendo gli eventuali parametri dell'url come </a:t>
            </a:r>
            <a:r>
              <a:rPr i="1" lang="it-IT"/>
              <a:t>var-args</a:t>
            </a:r>
            <a:r>
              <a:rPr lang="it-IT"/>
              <a:t> o come </a:t>
            </a:r>
            <a:r>
              <a:rPr i="1" lang="it-IT"/>
              <a:t>Map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i="1" lang="it-IT"/>
              <a:t>retrieve()</a:t>
            </a:r>
            <a:r>
              <a:rPr lang="it-IT"/>
              <a:t> per recupera la response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i="1" lang="it-IT"/>
              <a:t>body()</a:t>
            </a:r>
            <a:r>
              <a:rPr lang="it-IT"/>
              <a:t> per convertire la risposta Json in oggetto Java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Esempio:</a:t>
            </a:r>
            <a:endParaRPr/>
          </a:p>
          <a:p>
            <a:pPr indent="0" lvl="2" marL="62706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personaBean = restClient</a:t>
            </a:r>
            <a:endParaRPr/>
          </a:p>
          <a:p>
            <a:pPr indent="0" lvl="2" marL="62706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.get()</a:t>
            </a:r>
            <a:endParaRPr/>
          </a:p>
          <a:p>
            <a:pPr indent="0" lvl="2" marL="62706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.uri("/getById/{id}",id)</a:t>
            </a:r>
            <a:endParaRPr/>
          </a:p>
          <a:p>
            <a:pPr indent="0" lvl="2" marL="62706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.retrieve()</a:t>
            </a:r>
            <a:endParaRPr/>
          </a:p>
          <a:p>
            <a:pPr indent="0" lvl="2" marL="62706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.body(PersonaBean.class); </a:t>
            </a:r>
            <a:endParaRPr i="1" sz="1800"/>
          </a:p>
          <a:p>
            <a:pPr indent="-134619" lvl="1" marL="57626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34619" lvl="1" marL="576263" rtl="0" algn="l">
              <a:spcBef>
                <a:spcPts val="44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93" name="Google Shape;193;p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i="1" lang="it-IT"/>
              <a:t>RestClient</a:t>
            </a:r>
            <a:r>
              <a:rPr lang="it-IT"/>
              <a:t>- </a:t>
            </a:r>
            <a:r>
              <a:rPr i="1" lang="it-IT"/>
              <a:t>Get (1/3)</a:t>
            </a:r>
            <a:endParaRPr i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personaBean = restClient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.get()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.uri("/getByIdAndNome/{id}/{nome}",id,nome)</a:t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.retrieve()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.body(PersonaBean.class);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Map&lt;String,Object&gt; requestMap = new HashMap&lt;String, Object&gt;();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requestMap.put("id",1);  requestMap.put("nome", "Mario");</a:t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personaBean = restClient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.get()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.uri("/getByIdAndNome/{id}/{nome}",requestMap)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.retrieve()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.body(PersonaBean.class);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</p:txBody>
      </p:sp>
      <p:sp>
        <p:nvSpPr>
          <p:cNvPr id="199" name="Google Shape;199;p1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00" name="Google Shape;200;p10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i="1" lang="it-IT"/>
              <a:t>RestClient</a:t>
            </a:r>
            <a:r>
              <a:rPr lang="it-IT"/>
              <a:t>- </a:t>
            </a:r>
            <a:r>
              <a:rPr i="1" lang="it-IT"/>
              <a:t>Get (2/3)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Nel caso di get che restituiscono array di oggetti Json da convertire in liste di oggetti Java, occorre utillizzare la classe </a:t>
            </a:r>
            <a:r>
              <a:rPr i="1" lang="it-IT"/>
              <a:t>ParameterizedTypeReference</a:t>
            </a:r>
            <a:r>
              <a:rPr lang="it-IT"/>
              <a:t>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List&lt;PersonaBean&gt; persone = restClient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.get()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.uri("/getAll")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.retrieve()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	.body(new ParameterizedTypeReference&lt;&gt;() {});</a:t>
            </a:r>
            <a:endParaRPr i="1" sz="1800"/>
          </a:p>
        </p:txBody>
      </p:sp>
      <p:sp>
        <p:nvSpPr>
          <p:cNvPr id="206" name="Google Shape;206;p1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07" name="Google Shape;207;p1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r>
              <a:rPr i="1" lang="it-IT"/>
              <a:t>RestClient</a:t>
            </a:r>
            <a:r>
              <a:rPr lang="it-IT"/>
              <a:t>- </a:t>
            </a:r>
            <a:r>
              <a:rPr i="1" lang="it-IT"/>
              <a:t>Get (3/3)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 txBox="1"/>
          <p:nvPr>
            <p:ph idx="1" type="body"/>
          </p:nvPr>
        </p:nvSpPr>
        <p:spPr>
          <a:xfrm>
            <a:off x="872067" y="1988840"/>
            <a:ext cx="7408333" cy="4137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i="1" lang="it-IT"/>
              <a:t>RestClient </a:t>
            </a:r>
            <a:r>
              <a:rPr lang="it-IT"/>
              <a:t>espone il metodo </a:t>
            </a:r>
            <a:r>
              <a:rPr i="1" lang="it-IT"/>
              <a:t>post</a:t>
            </a:r>
            <a:r>
              <a:rPr lang="it-IT"/>
              <a:t> che consente di effettuare le seguenti chiamate in catena: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i="1" lang="it-IT"/>
              <a:t>uri() </a:t>
            </a:r>
            <a:r>
              <a:rPr lang="it-IT"/>
              <a:t>per specificare l'url da invocare inserendo gli eventuali parametri dell'url come </a:t>
            </a:r>
            <a:r>
              <a:rPr i="1" lang="it-IT"/>
              <a:t>var-args</a:t>
            </a:r>
            <a:r>
              <a:rPr lang="it-IT"/>
              <a:t> o come </a:t>
            </a:r>
            <a:r>
              <a:rPr i="1" lang="it-IT"/>
              <a:t>Map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i="1" lang="it-IT"/>
              <a:t>body() </a:t>
            </a:r>
            <a:r>
              <a:rPr lang="it-IT"/>
              <a:t>per specificare l'oggetto Java da convertire in Json nel body della request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i="1" lang="it-IT"/>
              <a:t>retrieve()</a:t>
            </a:r>
            <a:r>
              <a:rPr lang="it-IT"/>
              <a:t> per recupera la response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i="1" lang="it-IT"/>
              <a:t>body()</a:t>
            </a:r>
            <a:r>
              <a:rPr lang="it-IT"/>
              <a:t> per convertire la risposta Json in oggetto Java</a:t>
            </a:r>
            <a:endParaRPr/>
          </a:p>
        </p:txBody>
      </p:sp>
      <p:sp>
        <p:nvSpPr>
          <p:cNvPr id="213" name="Google Shape;213;p12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4" name="Google Shape;214;p12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i="1" lang="it-IT"/>
              <a:t>Post (1/2)</a:t>
            </a:r>
            <a:endParaRPr i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 txBox="1"/>
          <p:nvPr>
            <p:ph idx="1" type="body"/>
          </p:nvPr>
        </p:nvSpPr>
        <p:spPr>
          <a:xfrm>
            <a:off x="872067" y="2060848"/>
            <a:ext cx="7408333" cy="406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PersonaBean pb = new PersonaBean("Mario","Rossi");</a:t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PersonaBean personaBeanCreated = restClient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.post()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.uri("/registraPersona")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.contentType(MediaType.APPLICATION_JSON)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.body(pb)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.retrieve()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.body(PersonaBean.class);</a:t>
            </a:r>
            <a:endParaRPr i="1" sz="1800"/>
          </a:p>
        </p:txBody>
      </p:sp>
      <p:sp>
        <p:nvSpPr>
          <p:cNvPr id="220" name="Google Shape;220;p13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21" name="Google Shape;221;p13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i="1" lang="it-IT"/>
              <a:t>Post (2/2)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i="1" lang="it-IT"/>
              <a:t>RestClient </a:t>
            </a:r>
            <a:r>
              <a:rPr lang="it-IT"/>
              <a:t>espone il metodo </a:t>
            </a:r>
            <a:r>
              <a:rPr i="1" lang="it-IT"/>
              <a:t>put</a:t>
            </a:r>
            <a:r>
              <a:rPr lang="it-IT"/>
              <a:t> che consente di effettuare le seguenti chiamate in catena: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i="1" lang="it-IT"/>
              <a:t>uri() </a:t>
            </a:r>
            <a:r>
              <a:rPr lang="it-IT"/>
              <a:t>per specificare l'url da invocare inserendo gli eventuali parametri dell'url come </a:t>
            </a:r>
            <a:r>
              <a:rPr i="1" lang="it-IT"/>
              <a:t>var-args</a:t>
            </a:r>
            <a:r>
              <a:rPr lang="it-IT"/>
              <a:t> o come </a:t>
            </a:r>
            <a:r>
              <a:rPr i="1" lang="it-IT"/>
              <a:t>Map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i="1" lang="it-IT"/>
              <a:t>body() </a:t>
            </a:r>
            <a:r>
              <a:rPr lang="it-IT"/>
              <a:t>per specificare l'oggetto Java da convertire in Json nel body della request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i="1" lang="it-IT"/>
              <a:t>retrieve()</a:t>
            </a:r>
            <a:r>
              <a:rPr lang="it-IT"/>
              <a:t> per recupera la response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i="1" lang="it-IT"/>
              <a:t>body()</a:t>
            </a:r>
            <a:r>
              <a:rPr lang="it-IT"/>
              <a:t> per convertire la risposta Json in oggetto Java</a:t>
            </a:r>
            <a:endParaRPr/>
          </a:p>
        </p:txBody>
      </p:sp>
      <p:sp>
        <p:nvSpPr>
          <p:cNvPr id="227" name="Google Shape;227;p14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28" name="Google Shape;228;p14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i="1" lang="it-IT"/>
              <a:t>Put (1/2)</a:t>
            </a:r>
            <a:endParaRPr i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"/>
          <p:cNvSpPr txBox="1"/>
          <p:nvPr>
            <p:ph idx="1" type="body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PersonaBean pb = new PersonaBean("Mario","Rossi");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Integer id = 4;</a:t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PersonaBean updated = restClient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.put()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.uri("/aggiornamentoCompleto/{id}",id)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.contentType(MediaType.APPLICATION_JSON)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.body(pb)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.retrieve()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.body(PersonaBean.class);</a:t>
            </a:r>
            <a:endParaRPr/>
          </a:p>
        </p:txBody>
      </p:sp>
      <p:sp>
        <p:nvSpPr>
          <p:cNvPr id="234" name="Google Shape;234;p15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35" name="Google Shape;235;p15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i="1" lang="it-IT"/>
              <a:t>Put (2/2)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"/>
          <p:cNvSpPr txBox="1"/>
          <p:nvPr>
            <p:ph idx="1" type="body"/>
          </p:nvPr>
        </p:nvSpPr>
        <p:spPr>
          <a:xfrm>
            <a:off x="872067" y="1772816"/>
            <a:ext cx="7408333" cy="4353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RestClient </a:t>
            </a:r>
            <a:r>
              <a:rPr lang="it-IT"/>
              <a:t>espone il metodo </a:t>
            </a:r>
            <a:r>
              <a:rPr i="1" lang="it-IT"/>
              <a:t>patch</a:t>
            </a:r>
            <a:r>
              <a:rPr lang="it-IT"/>
              <a:t> che consente di effettuare le seguenti chiamate in catena: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uri() </a:t>
            </a:r>
            <a:r>
              <a:rPr lang="it-IT"/>
              <a:t>per specificare l'url da invocare inserendo gli eventuali parametri dell'url come </a:t>
            </a:r>
            <a:r>
              <a:rPr i="1" lang="it-IT"/>
              <a:t>var-args</a:t>
            </a:r>
            <a:r>
              <a:rPr lang="it-IT"/>
              <a:t> o come </a:t>
            </a:r>
            <a:r>
              <a:rPr i="1" lang="it-IT"/>
              <a:t>Map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body() </a:t>
            </a:r>
            <a:r>
              <a:rPr lang="it-IT"/>
              <a:t>per specificare l'oggetto Java da convertire in Json nel body della request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retrieve()</a:t>
            </a:r>
            <a:r>
              <a:rPr lang="it-IT"/>
              <a:t> per recupera la response</a:t>
            </a:r>
            <a:endParaRPr/>
          </a:p>
          <a:p>
            <a:pPr indent="-274319" lvl="1" marL="576263" rtl="0" algn="l">
              <a:spcBef>
                <a:spcPts val="407"/>
              </a:spcBef>
              <a:spcAft>
                <a:spcPts val="0"/>
              </a:spcAft>
              <a:buSzPct val="100000"/>
              <a:buChar char="*"/>
            </a:pPr>
            <a:r>
              <a:rPr i="1" lang="it-IT"/>
              <a:t>body()</a:t>
            </a:r>
            <a:r>
              <a:rPr lang="it-IT"/>
              <a:t> per convertire la risposta Json in oggetto Java</a:t>
            </a:r>
            <a:endParaRPr/>
          </a:p>
          <a:p>
            <a:pPr indent="-133350" lvl="0" marL="27432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41" name="Google Shape;241;p16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42" name="Google Shape;242;p16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Patch (1/2)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7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301943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Integer id = 4;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PersonaBean pb = new PersonaBean(null,null,"Neri3");</a:t>
            </a:r>
            <a:endParaRPr/>
          </a:p>
          <a:p>
            <a:pPr indent="0" lvl="1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PersonaBean personaAggiornata = restClient</a:t>
            </a:r>
            <a:endParaRPr/>
          </a:p>
          <a:p>
            <a:pPr indent="0" lvl="1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.patch()</a:t>
            </a:r>
            <a:endParaRPr/>
          </a:p>
          <a:p>
            <a:pPr indent="0" lvl="1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.uri("/aggiornamentoParziale/{id}",id)</a:t>
            </a:r>
            <a:endParaRPr/>
          </a:p>
          <a:p>
            <a:pPr indent="0" lvl="1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.contentType(MediaType.APPLICATION_JSON)</a:t>
            </a:r>
            <a:endParaRPr/>
          </a:p>
          <a:p>
            <a:pPr indent="0" lvl="1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.body(pb)</a:t>
            </a:r>
            <a:endParaRPr/>
          </a:p>
          <a:p>
            <a:pPr indent="0" lvl="1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.retrieve()</a:t>
            </a:r>
            <a:endParaRPr/>
          </a:p>
          <a:p>
            <a:pPr indent="0" lvl="1" marL="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.body(PersonaBean.class);</a:t>
            </a:r>
            <a:endParaRPr i="1" sz="1800"/>
          </a:p>
        </p:txBody>
      </p:sp>
      <p:sp>
        <p:nvSpPr>
          <p:cNvPr id="248" name="Google Shape;248;p17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49" name="Google Shape;249;p17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Patch (2/2)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8"/>
          <p:cNvSpPr txBox="1"/>
          <p:nvPr>
            <p:ph idx="1" type="body"/>
          </p:nvPr>
        </p:nvSpPr>
        <p:spPr>
          <a:xfrm>
            <a:off x="872067" y="1916832"/>
            <a:ext cx="7408333" cy="4209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Per effettuare una cancellazione RestClient espone il metodo </a:t>
            </a:r>
            <a:r>
              <a:rPr i="1" lang="it-IT"/>
              <a:t>delete</a:t>
            </a:r>
            <a:r>
              <a:rPr lang="it-IT"/>
              <a:t> che come i precedenti consente di effettuare le seguenti chiamate in catena: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i="1" lang="it-IT"/>
              <a:t>uri() </a:t>
            </a:r>
            <a:r>
              <a:rPr lang="it-IT"/>
              <a:t>per specificare l'url da invocare inserendo gli eventuali parametri dell'url come </a:t>
            </a:r>
            <a:r>
              <a:rPr i="1" lang="it-IT"/>
              <a:t>var-args</a:t>
            </a:r>
            <a:r>
              <a:rPr lang="it-IT"/>
              <a:t> o come </a:t>
            </a:r>
            <a:r>
              <a:rPr i="1" lang="it-IT"/>
              <a:t>Map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i="1" lang="it-IT"/>
              <a:t>body() </a:t>
            </a:r>
            <a:r>
              <a:rPr lang="it-IT"/>
              <a:t>per specificare l'oggetto Java da convertire in Json nel body della request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i="1" lang="it-IT"/>
              <a:t>retrieve()</a:t>
            </a:r>
            <a:r>
              <a:rPr lang="it-IT"/>
              <a:t> per recupera la response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i="1" lang="it-IT"/>
              <a:t>body()</a:t>
            </a:r>
            <a:r>
              <a:rPr lang="it-IT"/>
              <a:t> per convertire la risposta Json in oggetto Java</a:t>
            </a:r>
            <a:endParaRPr/>
          </a:p>
          <a:p>
            <a:pPr indent="-160020" lvl="0" marL="274320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</p:txBody>
      </p:sp>
      <p:sp>
        <p:nvSpPr>
          <p:cNvPr id="255" name="Google Shape;255;p18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56" name="Google Shape;256;p18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Delete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"/>
          <p:cNvSpPr txBox="1"/>
          <p:nvPr>
            <p:ph idx="1" type="body"/>
          </p:nvPr>
        </p:nvSpPr>
        <p:spPr>
          <a:xfrm>
            <a:off x="872067" y="2060848"/>
            <a:ext cx="7408333" cy="406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Tutti i metodi visti consentono di convertire la risposta anche in </a:t>
            </a:r>
            <a:r>
              <a:rPr i="1" lang="it-IT"/>
              <a:t>ResponseEntity</a:t>
            </a:r>
            <a:r>
              <a:rPr lang="it-IT"/>
              <a:t> (quando ad es. si è interessati anche al codice di stato Http):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PersonaBean pb2 = new PersonaBean("Claudia","Bianchi");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ResponseEntity&lt;PersonaBean&gt; re = restClient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.post()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.uri("/registraPersona")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.contentType(MediaType.APPLICATION_JSON)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.body(pb2)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.retrieve()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.toEntity(PersonaBean.class);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</p:txBody>
      </p:sp>
      <p:sp>
        <p:nvSpPr>
          <p:cNvPr id="262" name="Google Shape;262;p19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63" name="Google Shape;263;p19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Risposte come Entity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"/>
          <p:cNvSpPr txBox="1"/>
          <p:nvPr>
            <p:ph idx="1" type="body"/>
          </p:nvPr>
        </p:nvSpPr>
        <p:spPr>
          <a:xfrm>
            <a:off x="872067" y="2060848"/>
            <a:ext cx="7408333" cy="406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00"/>
              <a:buChar char="*"/>
            </a:pPr>
            <a:r>
              <a:rPr lang="it-IT"/>
              <a:t>In caso di invocazione di un servizio che restituisce una body response vuota si può: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utilizzare Void.class nella chiamata finale di </a:t>
            </a:r>
            <a:r>
              <a:rPr i="1" lang="it-IT"/>
              <a:t>body()</a:t>
            </a:r>
            <a:endParaRPr/>
          </a:p>
          <a:p>
            <a:pPr indent="-274319" lvl="1" marL="576263" rtl="0" algn="l">
              <a:spcBef>
                <a:spcPts val="440"/>
              </a:spcBef>
              <a:spcAft>
                <a:spcPts val="0"/>
              </a:spcAft>
              <a:buSzPts val="2200"/>
              <a:buChar char="*"/>
            </a:pPr>
            <a:r>
              <a:rPr lang="it-IT"/>
              <a:t>utilizzare il metodo </a:t>
            </a:r>
            <a:r>
              <a:rPr i="1" lang="it-IT"/>
              <a:t>toBodylessEntity()</a:t>
            </a:r>
            <a:r>
              <a:rPr lang="it-IT"/>
              <a:t> in caso ci interessi avere comunque la ResponseEntity: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  <a:p>
            <a:pPr indent="0" lvl="1" marL="301943" rtl="0" algn="l">
              <a:spcBef>
                <a:spcPts val="44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ResponseEntity&lt;Void&gt; responseEntity </a:t>
            </a:r>
            <a:r>
              <a:rPr lang="it-IT"/>
              <a:t>= </a:t>
            </a:r>
            <a:r>
              <a:rPr i="1" lang="it-IT" sz="1800"/>
              <a:t>restClient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.delete()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.uri("/cancellazione/{id}",id)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.retrieve()</a:t>
            </a:r>
            <a:endParaRPr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it-IT" sz="1800"/>
              <a:t>	.toBodilessEntity(); </a:t>
            </a:r>
            <a:endParaRPr/>
          </a:p>
          <a:p>
            <a:pPr indent="-172719" lvl="1" marL="576263" rtl="0" algn="l">
              <a:spcBef>
                <a:spcPts val="32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i="1" sz="1600"/>
          </a:p>
          <a:p>
            <a:pPr indent="0" lvl="1" marL="301943" rtl="0" algn="l"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i="1" sz="1800"/>
          </a:p>
        </p:txBody>
      </p:sp>
      <p:sp>
        <p:nvSpPr>
          <p:cNvPr id="269" name="Google Shape;269;p20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70" name="Google Shape;270;p20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ndara"/>
              <a:buNone/>
            </a:pPr>
            <a:r>
              <a:rPr lang="it-IT"/>
              <a:t>Risposte Void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/>
          <p:cNvSpPr txBox="1"/>
          <p:nvPr>
            <p:ph idx="1" type="body"/>
          </p:nvPr>
        </p:nvSpPr>
        <p:spPr>
          <a:xfrm>
            <a:off x="872067" y="1844824"/>
            <a:ext cx="7408333" cy="42813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133350" lvl="0" marL="27432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444"/>
              </a:spcBef>
              <a:spcAft>
                <a:spcPts val="0"/>
              </a:spcAft>
              <a:buSzPct val="100000"/>
              <a:buChar char="*"/>
            </a:pPr>
            <a:r>
              <a:rPr lang="it-IT"/>
              <a:t>Se abbiamo bisogno di impostare esplicitamente anche qualche campo dell’</a:t>
            </a:r>
            <a:r>
              <a:rPr i="1" lang="it-IT"/>
              <a:t>header</a:t>
            </a:r>
            <a:r>
              <a:rPr lang="it-IT"/>
              <a:t> della richiesta Http possiamo utilizzare il metodo </a:t>
            </a:r>
            <a:r>
              <a:rPr i="1" lang="it-IT"/>
              <a:t>header()</a:t>
            </a:r>
            <a:r>
              <a:rPr lang="it-IT"/>
              <a:t> (anche ripetutamente, uno per ogni header) da inserire nella catena di metodi che effettuano la chiamata:</a:t>
            </a:r>
            <a:endParaRPr/>
          </a:p>
          <a:p>
            <a:pPr indent="-133350" lvl="0" marL="274320" rtl="0" algn="l">
              <a:spcBef>
                <a:spcPts val="444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i="1"/>
          </a:p>
          <a:p>
            <a:pPr indent="0" lvl="1" marL="301943" rtl="0" algn="l">
              <a:spcBef>
                <a:spcPts val="351"/>
              </a:spcBef>
              <a:spcAft>
                <a:spcPts val="0"/>
              </a:spcAft>
              <a:buSzPct val="100000"/>
              <a:buNone/>
            </a:pPr>
            <a:r>
              <a:rPr i="1" lang="it-IT" sz="1900"/>
              <a:t>personaBean = restClient</a:t>
            </a:r>
            <a:endParaRPr/>
          </a:p>
          <a:p>
            <a:pPr indent="0" lvl="1" marL="301943" rtl="0" algn="l">
              <a:spcBef>
                <a:spcPts val="351"/>
              </a:spcBef>
              <a:spcAft>
                <a:spcPts val="0"/>
              </a:spcAft>
              <a:buSzPct val="100000"/>
              <a:buNone/>
            </a:pPr>
            <a:r>
              <a:rPr i="1" lang="it-IT" sz="1900"/>
              <a:t>	.get()</a:t>
            </a:r>
            <a:endParaRPr/>
          </a:p>
          <a:p>
            <a:pPr indent="0" lvl="1" marL="301943" rtl="0" algn="l">
              <a:spcBef>
                <a:spcPts val="351"/>
              </a:spcBef>
              <a:spcAft>
                <a:spcPts val="0"/>
              </a:spcAft>
              <a:buSzPct val="100000"/>
              <a:buNone/>
            </a:pPr>
            <a:r>
              <a:rPr i="1" lang="it-IT" sz="1900"/>
              <a:t>	.uri("/getWithHeader/{id}/{nome}",id,"ar")</a:t>
            </a:r>
            <a:endParaRPr/>
          </a:p>
          <a:p>
            <a:pPr indent="0" lvl="1" marL="301943" rtl="0" algn="l">
              <a:spcBef>
                <a:spcPts val="351"/>
              </a:spcBef>
              <a:spcAft>
                <a:spcPts val="0"/>
              </a:spcAft>
              <a:buSzPct val="100000"/>
              <a:buNone/>
            </a:pPr>
            <a:r>
              <a:rPr i="1" lang="it-IT" sz="1900"/>
              <a:t>	.header("headerChiave","headerValore")</a:t>
            </a:r>
            <a:endParaRPr/>
          </a:p>
          <a:p>
            <a:pPr indent="0" lvl="1" marL="301943" rtl="0" algn="l">
              <a:spcBef>
                <a:spcPts val="351"/>
              </a:spcBef>
              <a:spcAft>
                <a:spcPts val="0"/>
              </a:spcAft>
              <a:buSzPct val="100000"/>
              <a:buNone/>
            </a:pPr>
            <a:r>
              <a:rPr i="1" lang="it-IT" sz="1900"/>
              <a:t>	.retrieve()</a:t>
            </a:r>
            <a:endParaRPr/>
          </a:p>
          <a:p>
            <a:pPr indent="0" lvl="1" marL="301943" rtl="0" algn="l">
              <a:spcBef>
                <a:spcPts val="351"/>
              </a:spcBef>
              <a:spcAft>
                <a:spcPts val="0"/>
              </a:spcAft>
              <a:buSzPct val="100000"/>
              <a:buNone/>
            </a:pPr>
            <a:r>
              <a:rPr i="1" lang="it-IT" sz="1900"/>
              <a:t>	.body(PersonaBean.class);</a:t>
            </a:r>
            <a:endParaRPr i="1" sz="1900"/>
          </a:p>
        </p:txBody>
      </p:sp>
      <p:sp>
        <p:nvSpPr>
          <p:cNvPr id="276" name="Google Shape;276;p21"/>
          <p:cNvSpPr txBox="1"/>
          <p:nvPr>
            <p:ph idx="12" type="sldNum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77" name="Google Shape;277;p21"/>
          <p:cNvSpPr txBox="1"/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Candara"/>
              <a:buNone/>
            </a:pPr>
            <a:br>
              <a:rPr lang="it-IT"/>
            </a:br>
            <a:r>
              <a:rPr lang="it-IT"/>
              <a:t>Richieste con </a:t>
            </a:r>
            <a:r>
              <a:rPr i="1" lang="it-IT"/>
              <a:t>header</a:t>
            </a:r>
            <a:br>
              <a:rPr lang="it-IT"/>
            </a:br>
            <a:endParaRPr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nde">
  <a:themeElements>
    <a:clrScheme name="Onde">
      <a:dk1>
        <a:srgbClr val="000000"/>
      </a:dk1>
      <a:lt1>
        <a:srgbClr val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2020-10-19T09:44:59Z</dcterms:created>
  <dc:creator>Roberto Santoro</dc:creator>
</cp:coreProperties>
</file>