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C60A5E-A3E8-42AC-A8CA-D0ED956F45E6}">
  <a:tblStyle styleId="{21C60A5E-A3E8-42AC-A8CA-D0ED956F45E6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4E7"/>
          </a:solidFill>
        </a:fill>
      </a:tcStyle>
    </a:wholeTbl>
    <a:band1H>
      <a:tcTxStyle/>
      <a:tcStyle>
        <a:tcBdr/>
        <a:fill>
          <a:solidFill>
            <a:srgbClr val="DBE9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BE9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632387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sottotitolo">
  <p:cSld name="Titolo e sottotitolo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zione con didascalia">
  <p:cSld name="Citazione con didascalia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07" name="Google Shape;107;p1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da nome">
  <p:cSld name="Scheda nom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da nome citazione">
  <p:cSld name="Scheda nome citazion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o o falso">
  <p:cSld name="Vero o falso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body" idx="1"/>
          </p:nvPr>
        </p:nvSpPr>
        <p:spPr>
          <a:xfrm rot="5400000">
            <a:off x="3035282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testo verticale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0/en/data-types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t.wikipedia.org/wiki/Informatic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t.wikipedia.org/wiki/Dati" TargetMode="External"/><Relationship Id="rId5" Type="http://schemas.openxmlformats.org/officeDocument/2006/relationships/hyperlink" Target="https://it.wikipedia.org/wiki/Modello_relazionale" TargetMode="External"/><Relationship Id="rId4" Type="http://schemas.openxmlformats.org/officeDocument/2006/relationships/hyperlink" Target="https://it.wikipedia.org/wiki/Databas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Introduzione</a:t>
            </a:r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 dirty="0"/>
              <a:t>Un DATABASE è una raccolta di dati organizzata secondo le regole dettate dal DBMS che lo ha generato.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dirty="0"/>
              <a:t>Esistono varie tipologie di database: Reticolari, a Oggetti, Documentali(</a:t>
            </a:r>
            <a:r>
              <a:rPr lang="it-IT" dirty="0" err="1"/>
              <a:t>NoSql</a:t>
            </a:r>
            <a:r>
              <a:rPr lang="it-IT" dirty="0"/>
              <a:t>), Relazionali(</a:t>
            </a:r>
            <a:r>
              <a:rPr lang="it-IT" dirty="0" err="1"/>
              <a:t>Sql</a:t>
            </a:r>
            <a:r>
              <a:rPr lang="it-IT" dirty="0"/>
              <a:t>), Spaziali…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dirty="0"/>
              <a:t>Un DBMS (Data Base Management System) è un insieme di software che permettono di creare, manipolare e distruggere i database. Ne sono un esempio </a:t>
            </a:r>
            <a:r>
              <a:rPr lang="it-IT" dirty="0" err="1"/>
              <a:t>OracleDB</a:t>
            </a:r>
            <a:r>
              <a:rPr lang="it-IT" dirty="0"/>
              <a:t>, </a:t>
            </a:r>
            <a:r>
              <a:rPr lang="it-IT" dirty="0" err="1"/>
              <a:t>MySql</a:t>
            </a:r>
            <a:r>
              <a:rPr lang="it-IT" dirty="0"/>
              <a:t>, </a:t>
            </a:r>
            <a:r>
              <a:rPr lang="it-IT" dirty="0" err="1"/>
              <a:t>Postgres</a:t>
            </a:r>
            <a:r>
              <a:rPr lang="it-IT" dirty="0" smtClean="0"/>
              <a:t>, </a:t>
            </a:r>
            <a:r>
              <a:rPr lang="it-IT" dirty="0" err="1" smtClean="0"/>
              <a:t>MongoDB</a:t>
            </a:r>
            <a:r>
              <a:rPr lang="it-IT" dirty="0" smtClean="0"/>
              <a:t>, </a:t>
            </a:r>
            <a:r>
              <a:rPr lang="it-IT" dirty="0" err="1"/>
              <a:t>SQLite</a:t>
            </a:r>
            <a:r>
              <a:rPr lang="it-IT" dirty="0"/>
              <a:t>, </a:t>
            </a:r>
            <a:r>
              <a:rPr lang="it-IT" dirty="0" err="1"/>
              <a:t>etc</a:t>
            </a:r>
            <a:r>
              <a:rPr lang="it-IT" dirty="0"/>
              <a:t>…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dirty="0"/>
              <a:t>Noi ci occuperemo di database relazionali, in particolare del RDBMS di </a:t>
            </a:r>
            <a:r>
              <a:rPr lang="it-IT" dirty="0" err="1"/>
              <a:t>MySql</a:t>
            </a:r>
            <a:r>
              <a:rPr lang="it-IT" dirty="0"/>
              <a:t>.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 dirty="0"/>
              <a:t>SQL (</a:t>
            </a:r>
            <a:r>
              <a:rPr lang="it-IT" dirty="0" err="1"/>
              <a:t>Structured</a:t>
            </a:r>
            <a:r>
              <a:rPr lang="it-IT" dirty="0"/>
              <a:t> Query Language) è il linguaggio standard utilizzato per ‘interfacciarsi’ con gli RDBMS. Ogni </a:t>
            </a:r>
            <a:r>
              <a:rPr lang="it-IT" dirty="0" err="1"/>
              <a:t>rdbms</a:t>
            </a:r>
            <a:r>
              <a:rPr lang="it-IT" dirty="0"/>
              <a:t> può avere le sue peculiarità rispetto ad </a:t>
            </a:r>
            <a:r>
              <a:rPr lang="it-IT" dirty="0" err="1"/>
              <a:t>sql</a:t>
            </a:r>
            <a:r>
              <a:rPr lang="it-IT" dirty="0"/>
              <a:t> standard.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51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A cosa serve un Database?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1"/>
          </p:nvPr>
        </p:nvSpPr>
        <p:spPr>
          <a:xfrm>
            <a:off x="677334" y="1695635"/>
            <a:ext cx="8596668" cy="4345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Il database è stato introdotto storicamente per vari motivi: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Separa gli strati: crea una separazione tra gli applicativi e i dati. Inoltre separa anche la parte logica e la parte fisica delle informazioni.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Efficienza: la gestione dei dati è molto più rapida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Centralizza le informazioni: applicativi diversi possono condividere gli stessi dati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Gestisce la concorrenza: applicativi diversi agiscono sullo stesso dato contemporaneamente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Backup: permette di conservare i dati in maniera persistente, anche in caso di problemi hardware o di infrastruttura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Sicurezza: ogni dbms implementa dei sistemi per il controllo degli accessi</a:t>
            </a:r>
            <a:endParaRPr/>
          </a:p>
          <a:p>
            <a:pPr marL="742950" lvl="1" indent="-204469" algn="l" rtl="0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783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Come sono organizzati i dati in un DB?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body" idx="1"/>
          </p:nvPr>
        </p:nvSpPr>
        <p:spPr>
          <a:xfrm>
            <a:off x="677334" y="1552135"/>
            <a:ext cx="8596800" cy="41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All’interno del DB i dati vengono organizzati in Tabelle.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Ogni tabella è formata da colonne (o attributi, o column) e righe (o tuple, o row, o record).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Ogni colonna è caratterizzata da un particolare data type.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Potete vedere una tabella come un foglio Excel. Simile all’esempio sotto.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graphicFrame>
        <p:nvGraphicFramePr>
          <p:cNvPr id="173" name="Google Shape;173;p22"/>
          <p:cNvGraphicFramePr/>
          <p:nvPr/>
        </p:nvGraphicFramePr>
        <p:xfrm>
          <a:off x="2568880" y="3949148"/>
          <a:ext cx="4813600" cy="2682310"/>
        </p:xfrm>
        <a:graphic>
          <a:graphicData uri="http://schemas.openxmlformats.org/drawingml/2006/table">
            <a:tbl>
              <a:tblPr firstRow="1">
                <a:noFill/>
                <a:tableStyleId>{21C60A5E-A3E8-42AC-A8CA-D0ED956F45E6}</a:tableStyleId>
              </a:tblPr>
              <a:tblGrid>
                <a:gridCol w="12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cap="none"/>
                        <a:t>NOME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cap="none"/>
                        <a:t>COGNOME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cap="none"/>
                        <a:t>ETA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cap="none"/>
                        <a:t>DATA_</a:t>
                      </a:r>
                      <a:r>
                        <a:rPr lang="it-IT" sz="1200" b="0" u="none" strike="noStrike" cap="none"/>
                        <a:t>NASCITA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cap="none"/>
                        <a:t>Pippo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cap="none"/>
                        <a:t>Booo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cap="none"/>
                        <a:t>100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0" u="none" strike="noStrike" cap="none"/>
                        <a:t>12/11/1920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677862" y="2032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Data Type Fondamentali(MySql)</a:t>
            </a:r>
            <a:endParaRPr/>
          </a:p>
        </p:txBody>
      </p:sp>
      <p:graphicFrame>
        <p:nvGraphicFramePr>
          <p:cNvPr id="180" name="Google Shape;180;p23"/>
          <p:cNvGraphicFramePr/>
          <p:nvPr/>
        </p:nvGraphicFramePr>
        <p:xfrm>
          <a:off x="677862" y="914404"/>
          <a:ext cx="9394600" cy="4656460"/>
        </p:xfrm>
        <a:graphic>
          <a:graphicData uri="http://schemas.openxmlformats.org/drawingml/2006/table">
            <a:tbl>
              <a:tblPr firstRow="1">
                <a:noFill/>
                <a:tableStyleId>{21C60A5E-A3E8-42AC-A8CA-D0ED956F45E6}</a:tableStyleId>
              </a:tblPr>
              <a:tblGrid>
                <a:gridCol w="15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strike="noStrike" cap="none"/>
                        <a:t>Data Type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Grandezza Massima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Descrizione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char(size)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255 caratteri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Usato per le stringhe. size è il numero massimo di caratteri. Ha lunghezza fissa.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varchar(size)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65535 caratteri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Usato per le stringhe. size è il numero massimo di caratteri. Ha lunghezza variabile.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int(n)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Fino a 4294967295 senza segno.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Con segno da -2147483648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a 2147483647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Usato per i numeri interi. n indica il numero di cifre.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datetime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Usato per le date, senza millisecondi.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longblob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4 gb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Usato per contenere file.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1" name="Google Shape;181;p23"/>
          <p:cNvSpPr txBox="1"/>
          <p:nvPr/>
        </p:nvSpPr>
        <p:spPr>
          <a:xfrm>
            <a:off x="677861" y="5943597"/>
            <a:ext cx="88633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Lista completa nella documentazione ufficiale MySql: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https://dev.mysql.com/doc/refman/8.0/en/data-types.html</a:t>
            </a: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Il concetto di NULL</a:t>
            </a:r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Tutti i data type ammettono come valore vuoto il </a:t>
            </a:r>
            <a:r>
              <a:rPr lang="it-IT">
                <a:solidFill>
                  <a:srgbClr val="0070C0"/>
                </a:solidFill>
              </a:rPr>
              <a:t>NULL.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Attenzione a non interpretare</a:t>
            </a:r>
            <a:r>
              <a:rPr lang="it-IT">
                <a:solidFill>
                  <a:srgbClr val="0070C0"/>
                </a:solidFill>
              </a:rPr>
              <a:t> NULL </a:t>
            </a:r>
            <a:r>
              <a:rPr lang="it-IT"/>
              <a:t>come fosse una stringa particolare. Esso è sinonimo di valore sconosciuto. Il fatto che nel client lo vediate come una stringa è solo per darne una ‘rappresentazione grafica’. Ogni tipologia di RDBMS (Oracle, MySql, Postgres,…) lo rappresenta in memoria in maniera diversa.</a:t>
            </a:r>
            <a:endParaRPr>
              <a:solidFill>
                <a:srgbClr val="0070C0"/>
              </a:solidFill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Esistono casi in cui inserire un valore null in una tabella può essere vietato da delle particolari condizioni sulla tabella.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SQL</a:t>
            </a:r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Le istruzioni del linguaggio sql sono suddivise nelle seguenti categorie: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DDL – Database Definition Language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DML – Database Manipulation Language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DCL – Database Control Language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it-IT"/>
              <a:t>TCL – Transaction Control Language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Citazione da Wikipedia: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/>
              <a:t>	In </a:t>
            </a:r>
            <a:r>
              <a:rPr lang="it-IT" u="sng">
                <a:solidFill>
                  <a:schemeClr val="hlink"/>
                </a:solidFill>
                <a:hlinkClick r:id="rId3"/>
              </a:rPr>
              <a:t>informatica</a:t>
            </a:r>
            <a:r>
              <a:rPr lang="it-IT"/>
              <a:t> il termine query viene utilizzato per indicare l'interrogazione 	di un </a:t>
            </a:r>
            <a:r>
              <a:rPr lang="it-IT" u="sng">
                <a:solidFill>
                  <a:schemeClr val="hlink"/>
                </a:solidFill>
                <a:hlinkClick r:id="rId4"/>
              </a:rPr>
              <a:t>database</a:t>
            </a:r>
            <a:r>
              <a:rPr lang="it-IT"/>
              <a:t>, strutturato tipicamente secondo il 	</a:t>
            </a:r>
            <a:r>
              <a:rPr lang="it-IT" u="sng">
                <a:solidFill>
                  <a:schemeClr val="hlink"/>
                </a:solidFill>
                <a:hlinkClick r:id="rId5"/>
              </a:rPr>
              <a:t>modello relazionale</a:t>
            </a:r>
            <a:r>
              <a:rPr lang="it-IT"/>
              <a:t>, 	per compiere determinate operazioni sui </a:t>
            </a:r>
            <a:r>
              <a:rPr lang="it-IT" u="sng">
                <a:solidFill>
                  <a:schemeClr val="hlink"/>
                </a:solidFill>
                <a:hlinkClick r:id="rId6"/>
              </a:rPr>
              <a:t>dati</a:t>
            </a:r>
            <a:r>
              <a:rPr lang="it-IT"/>
              <a:t> 	(selezione, inserimento, 	cancellazione dati, aggiornamento ecc.)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Tipi di comandi SQL</a:t>
            </a:r>
            <a:endParaRPr/>
          </a:p>
        </p:txBody>
      </p:sp>
      <p:pic>
        <p:nvPicPr>
          <p:cNvPr id="199" name="Google Shape;199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67945" y="1627212"/>
            <a:ext cx="8215445" cy="462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543</Words>
  <Application>Microsoft Office PowerPoint</Application>
  <PresentationFormat>Widescreen</PresentationFormat>
  <Paragraphs>63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Calibri</vt:lpstr>
      <vt:lpstr>Noto Sans Symbols</vt:lpstr>
      <vt:lpstr>Trebuchet MS</vt:lpstr>
      <vt:lpstr>Sfaccettatura</vt:lpstr>
      <vt:lpstr>Introduzione</vt:lpstr>
      <vt:lpstr>A cosa serve un Database?</vt:lpstr>
      <vt:lpstr>Come sono organizzati i dati in un DB?</vt:lpstr>
      <vt:lpstr>Data Type Fondamentali(MySql)</vt:lpstr>
      <vt:lpstr>Il concetto di NULL</vt:lpstr>
      <vt:lpstr>SQL</vt:lpstr>
      <vt:lpstr>Tipi di comandi 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BASI DI DATI</dc:title>
  <cp:lastModifiedBy>Roberto Santoro</cp:lastModifiedBy>
  <cp:revision>5</cp:revision>
  <dcterms:modified xsi:type="dcterms:W3CDTF">2025-02-25T16:04:45Z</dcterms:modified>
</cp:coreProperties>
</file>