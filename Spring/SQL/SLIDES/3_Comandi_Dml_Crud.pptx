
<file path=[Content_Types].xml><?xml version="1.0" encoding="utf-8"?>
<Types xmlns="http://schemas.openxmlformats.org/package/2006/content-types">
  <Default ContentType="image/gif" Extension="gif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46" roundtripDataSignature="AMtx7mhf0bZUtqip/3wEYbQ3dUFjZ3LnW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37C1975-9E40-46A6-8666-736CD9595311}">
  <a:tblStyle styleId="{437C1975-9E40-46A6-8666-736CD9595311}" styleName="Table_0">
    <a:wholeTbl>
      <a:tcTxStyle b="off" i="off">
        <a:font>
          <a:latin typeface="Trebuchet MS"/>
          <a:ea typeface="Trebuchet MS"/>
          <a:cs typeface="Trebuchet MS"/>
        </a:font>
        <a:schemeClr val="dk1"/>
      </a:tcTxStyle>
      <a:tcStyle>
        <a:tcBdr>
          <a:lef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>
          <a:top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</a:tcBdr>
      </a:tcStyle>
    </a:band1H>
    <a:band2H>
      <a:tcTxStyle/>
    </a:band2H>
    <a:band1V>
      <a:tcTxStyle/>
      <a:tcStyle>
        <a:tcBdr>
          <a:lef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</a:tcBdr>
      </a:tcStyle>
    </a:band1V>
    <a:band2V>
      <a:tcTxStyle/>
      <a:tcStyle>
        <a:tcBdr>
          <a:lef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</a:tcBdr>
      </a:tcStyle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508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</a:tcBdr>
      </a:tcStyle>
    </a:lastRow>
    <a:seCell>
      <a:tcTxStyle/>
    </a:seCell>
    <a:swCell>
      <a:tcTxStyle/>
    </a:swCell>
    <a:firstRow>
      <a:tcTxStyle b="on" i="off">
        <a:font>
          <a:latin typeface="Trebuchet MS"/>
          <a:ea typeface="Trebuchet MS"/>
          <a:cs typeface="Trebuchet MS"/>
        </a:font>
        <a:schemeClr val="lt1"/>
      </a:tcTxStyle>
      <a:tcStyle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299E2279-13E3-498E-9F17-E16632D42E63}" styleName="Table_1">
    <a:wholeTbl>
      <a:tcTxStyle b="off" i="off">
        <a:font>
          <a:latin typeface="Trebuchet MS"/>
          <a:ea typeface="Trebuchet MS"/>
          <a:cs typeface="Trebuchet MS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EF4E7"/>
          </a:solidFill>
        </a:fill>
      </a:tcStyle>
    </a:wholeTbl>
    <a:band1H>
      <a:tcTxStyle/>
      <a:tcStyle>
        <a:fill>
          <a:solidFill>
            <a:srgbClr val="DBE9CB"/>
          </a:solidFill>
        </a:fill>
      </a:tcStyle>
    </a:band1H>
    <a:band2H>
      <a:tcTxStyle/>
    </a:band2H>
    <a:band1V>
      <a:tcTxStyle/>
      <a:tcStyle>
        <a:fill>
          <a:solidFill>
            <a:srgbClr val="DBE9CB"/>
          </a:solidFill>
        </a:fill>
      </a:tcStyle>
    </a:band1V>
    <a:band2V>
      <a:tcTxStyle/>
    </a:band2V>
    <a:lastCol>
      <a:tcTxStyle b="on" i="off">
        <a:font>
          <a:latin typeface="Trebuchet MS"/>
          <a:ea typeface="Trebuchet MS"/>
          <a:cs typeface="Trebuchet MS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Trebuchet MS"/>
          <a:ea typeface="Trebuchet MS"/>
          <a:cs typeface="Trebuchet MS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Trebuchet MS"/>
          <a:ea typeface="Trebuchet MS"/>
          <a:cs typeface="Trebuchet MS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Trebuchet MS"/>
          <a:ea typeface="Trebuchet MS"/>
          <a:cs typeface="Trebuchet MS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402A1E22-17EA-494C-A366-63638AC81CED}" styleName="Table_2">
    <a:wholeTbl>
      <a:tcTxStyle b="off" i="off">
        <a:font>
          <a:latin typeface="Trebuchet MS"/>
          <a:ea typeface="Trebuchet MS"/>
          <a:cs typeface="Trebuchet MS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5E7E7"/>
          </a:solidFill>
        </a:fill>
      </a:tcStyle>
    </a:wholeTbl>
    <a:band1H>
      <a:tcTxStyle/>
      <a:tcStyle>
        <a:fill>
          <a:solidFill>
            <a:srgbClr val="EACCCB"/>
          </a:solidFill>
        </a:fill>
      </a:tcStyle>
    </a:band1H>
    <a:band2H>
      <a:tcTxStyle/>
    </a:band2H>
    <a:band1V>
      <a:tcTxStyle/>
      <a:tcStyle>
        <a:fill>
          <a:solidFill>
            <a:srgbClr val="EACCCB"/>
          </a:solidFill>
        </a:fill>
      </a:tcStyle>
    </a:band1V>
    <a:band2V>
      <a:tcTxStyle/>
    </a:band2V>
    <a:lastCol>
      <a:tcTxStyle b="on" i="off">
        <a:font>
          <a:latin typeface="Trebuchet MS"/>
          <a:ea typeface="Trebuchet MS"/>
          <a:cs typeface="Trebuchet MS"/>
        </a:font>
        <a:schemeClr val="lt1"/>
      </a:tcTxStyle>
      <a:tcStyle>
        <a:fill>
          <a:solidFill>
            <a:schemeClr val="accent5"/>
          </a:solidFill>
        </a:fill>
      </a:tcStyle>
    </a:lastCol>
    <a:firstCol>
      <a:tcTxStyle b="on" i="off">
        <a:font>
          <a:latin typeface="Trebuchet MS"/>
          <a:ea typeface="Trebuchet MS"/>
          <a:cs typeface="Trebuchet MS"/>
        </a:font>
        <a:schemeClr val="lt1"/>
      </a:tcTxStyle>
      <a:tcStyle>
        <a:fill>
          <a:solidFill>
            <a:schemeClr val="accent5"/>
          </a:solidFill>
        </a:fill>
      </a:tcStyle>
    </a:firstCol>
    <a:lastRow>
      <a:tcTxStyle b="on" i="off">
        <a:font>
          <a:latin typeface="Trebuchet MS"/>
          <a:ea typeface="Trebuchet MS"/>
          <a:cs typeface="Trebuchet MS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5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Trebuchet MS"/>
          <a:ea typeface="Trebuchet MS"/>
          <a:cs typeface="Trebuchet MS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5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22" Type="http://schemas.openxmlformats.org/officeDocument/2006/relationships/slide" Target="slides/slide16.xml"/><Relationship Id="rId44" Type="http://schemas.openxmlformats.org/officeDocument/2006/relationships/slide" Target="slides/slide38.xml"/><Relationship Id="rId21" Type="http://schemas.openxmlformats.org/officeDocument/2006/relationships/slide" Target="slides/slide15.xml"/><Relationship Id="rId43" Type="http://schemas.openxmlformats.org/officeDocument/2006/relationships/slide" Target="slides/slide37.xml"/><Relationship Id="rId24" Type="http://schemas.openxmlformats.org/officeDocument/2006/relationships/slide" Target="slides/slide18.xml"/><Relationship Id="rId46" Type="http://customschemas.google.com/relationships/presentationmetadata" Target="metadata"/><Relationship Id="rId23" Type="http://schemas.openxmlformats.org/officeDocument/2006/relationships/slide" Target="slides/slide17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it-IT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6" name="Google Shape;256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" name="Google Shape;269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7" name="Google Shape;347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1" name="Google Shape;401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4" name="Google Shape;414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7" name="Google Shape;427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1" name="Google Shape;441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3" name="Google Shape;453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7" name="Google Shape;467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1" name="Google Shape;481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stazione sezione" type="secHead">
  <p:cSld name="SECTION_HEAD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1"/>
          <p:cNvSpPr txBox="1"/>
          <p:nvPr>
            <p:ph type="title"/>
          </p:nvPr>
        </p:nvSpPr>
        <p:spPr>
          <a:xfrm>
            <a:off x="677335" y="2700867"/>
            <a:ext cx="8596668" cy="18265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rebuchet MS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1"/>
          <p:cNvSpPr txBox="1"/>
          <p:nvPr>
            <p:ph idx="1" type="body"/>
          </p:nvPr>
        </p:nvSpPr>
        <p:spPr>
          <a:xfrm>
            <a:off x="677335" y="4527448"/>
            <a:ext cx="8596668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9" name="Google Shape;29;p41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1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1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contenuto" type="obj">
  <p:cSld name="OBJEC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2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 sz="36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2"/>
          <p:cNvSpPr txBox="1"/>
          <p:nvPr>
            <p:ph idx="1" type="body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35" name="Google Shape;35;p42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2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42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e contenuti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3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43"/>
          <p:cNvSpPr txBox="1"/>
          <p:nvPr>
            <p:ph idx="1" type="body"/>
          </p:nvPr>
        </p:nvSpPr>
        <p:spPr>
          <a:xfrm>
            <a:off x="677334" y="2160589"/>
            <a:ext cx="4184035" cy="38807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41" name="Google Shape;41;p43"/>
          <p:cNvSpPr txBox="1"/>
          <p:nvPr>
            <p:ph idx="2" type="body"/>
          </p:nvPr>
        </p:nvSpPr>
        <p:spPr>
          <a:xfrm>
            <a:off x="5089970" y="2160589"/>
            <a:ext cx="4184034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42" name="Google Shape;42;p43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43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43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uota" type="blank">
  <p:cSld name="BLANK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4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4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44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titolo" showMasterSp="0" type="title">
  <p:cSld name="TITLE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4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51" name="Google Shape;51;p45"/>
            <p:cNvCxnSpPr/>
            <p:nvPr/>
          </p:nvCxnSpPr>
          <p:spPr>
            <a:xfrm>
              <a:off x="9371012" y="0"/>
              <a:ext cx="1219200" cy="6858000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2" name="Google Shape;52;p45"/>
            <p:cNvCxnSpPr/>
            <p:nvPr/>
          </p:nvCxnSpPr>
          <p:spPr>
            <a:xfrm flipH="1">
              <a:off x="7425267" y="3681413"/>
              <a:ext cx="4763558" cy="3176587"/>
            </a:xfrm>
            <a:prstGeom prst="straightConnector1">
              <a:avLst/>
            </a:prstGeom>
            <a:noFill/>
            <a:ln cap="flat" cmpd="sng" w="95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3" name="Google Shape;53;p45"/>
            <p:cNvSpPr/>
            <p:nvPr/>
          </p:nvSpPr>
          <p:spPr>
            <a:xfrm>
              <a:off x="9181476" y="-8467"/>
              <a:ext cx="3007349" cy="6866467"/>
            </a:xfrm>
            <a:custGeom>
              <a:rect b="b" l="l" r="r" t="t"/>
              <a:pathLst>
                <a:path extrusionOk="0" h="6866467" w="3007349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196"/>
              </a:schemeClr>
            </a:solidFill>
            <a:ln>
              <a:noFill/>
            </a:ln>
          </p:spPr>
        </p:sp>
        <p:sp>
          <p:nvSpPr>
            <p:cNvPr id="54" name="Google Shape;54;p45"/>
            <p:cNvSpPr/>
            <p:nvPr/>
          </p:nvSpPr>
          <p:spPr>
            <a:xfrm>
              <a:off x="9603442" y="-8467"/>
              <a:ext cx="2588558" cy="6866467"/>
            </a:xfrm>
            <a:custGeom>
              <a:rect b="b" l="l" r="r" t="t"/>
              <a:pathLst>
                <a:path extrusionOk="0" h="6866467" w="2573311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</p:sp>
        <p:sp>
          <p:nvSpPr>
            <p:cNvPr id="55" name="Google Shape;55;p45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fmla="val 100000" name="adj"/>
              </a:avLst>
            </a:prstGeom>
            <a:solidFill>
              <a:schemeClr val="accent2">
                <a:alpha val="72156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45"/>
            <p:cNvSpPr/>
            <p:nvPr/>
          </p:nvSpPr>
          <p:spPr>
            <a:xfrm>
              <a:off x="9334500" y="-8467"/>
              <a:ext cx="2854326" cy="6866467"/>
            </a:xfrm>
            <a:custGeom>
              <a:rect b="b" l="l" r="r" t="t"/>
              <a:pathLst>
                <a:path extrusionOk="0" h="6866467" w="2858013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818">
                <a:alpha val="70196"/>
              </a:srgbClr>
            </a:solidFill>
            <a:ln>
              <a:noFill/>
            </a:ln>
          </p:spPr>
        </p:sp>
        <p:sp>
          <p:nvSpPr>
            <p:cNvPr id="57" name="Google Shape;57;p45"/>
            <p:cNvSpPr/>
            <p:nvPr/>
          </p:nvSpPr>
          <p:spPr>
            <a:xfrm>
              <a:off x="10898730" y="-8467"/>
              <a:ext cx="1290094" cy="6866467"/>
            </a:xfrm>
            <a:custGeom>
              <a:rect b="b" l="l" r="r" t="t"/>
              <a:pathLst>
                <a:path extrusionOk="0" h="6858000" w="1290094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rgbClr val="BFE471">
                <a:alpha val="70196"/>
              </a:srgbClr>
            </a:solidFill>
            <a:ln>
              <a:noFill/>
            </a:ln>
          </p:spPr>
        </p:sp>
        <p:sp>
          <p:nvSpPr>
            <p:cNvPr id="58" name="Google Shape;58;p45"/>
            <p:cNvSpPr/>
            <p:nvPr/>
          </p:nvSpPr>
          <p:spPr>
            <a:xfrm>
              <a:off x="10938999" y="-8467"/>
              <a:ext cx="1249825" cy="6866467"/>
            </a:xfrm>
            <a:custGeom>
              <a:rect b="b" l="l" r="r" t="t"/>
              <a:pathLst>
                <a:path extrusionOk="0" h="6858000" w="1249825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98"/>
              </a:schemeClr>
            </a:solidFill>
            <a:ln>
              <a:noFill/>
            </a:ln>
          </p:spPr>
        </p:sp>
        <p:sp>
          <p:nvSpPr>
            <p:cNvPr id="59" name="Google Shape;59;p45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fmla="val 100000" name="adj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45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fmla="val 100000" name="adj"/>
              </a:avLst>
            </a:prstGeom>
            <a:solidFill>
              <a:schemeClr val="accent1">
                <a:alpha val="8509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1" name="Google Shape;61;p45"/>
          <p:cNvSpPr txBox="1"/>
          <p:nvPr>
            <p:ph type="ctrTitle"/>
          </p:nvPr>
        </p:nvSpPr>
        <p:spPr>
          <a:xfrm>
            <a:off x="1507067" y="2404534"/>
            <a:ext cx="7766936" cy="164630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Trebuchet MS"/>
              <a:buNone/>
              <a:defRPr sz="5400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45"/>
          <p:cNvSpPr txBox="1"/>
          <p:nvPr>
            <p:ph idx="1" type="subTitle"/>
          </p:nvPr>
        </p:nvSpPr>
        <p:spPr>
          <a:xfrm>
            <a:off x="1507067" y="4050833"/>
            <a:ext cx="7766936" cy="10968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spcBef>
                <a:spcPts val="1000"/>
              </a:spcBef>
              <a:spcAft>
                <a:spcPts val="0"/>
              </a:spcAft>
              <a:buSzPts val="1440"/>
              <a:buNone/>
              <a:defRPr>
                <a:solidFill>
                  <a:srgbClr val="7F7F7F"/>
                </a:solidFill>
              </a:defRPr>
            </a:lvl1pPr>
            <a:lvl2pPr lvl="1" algn="ctr">
              <a:spcBef>
                <a:spcPts val="1000"/>
              </a:spcBef>
              <a:spcAft>
                <a:spcPts val="0"/>
              </a:spcAft>
              <a:buSzPts val="128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45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45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45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fronto" type="twoTxTwoObj">
  <p:cSld name="TWO_OBJECTS_WITH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6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46"/>
          <p:cNvSpPr txBox="1"/>
          <p:nvPr>
            <p:ph idx="1" type="body"/>
          </p:nvPr>
        </p:nvSpPr>
        <p:spPr>
          <a:xfrm>
            <a:off x="675745" y="2160983"/>
            <a:ext cx="4185623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69" name="Google Shape;69;p46"/>
          <p:cNvSpPr txBox="1"/>
          <p:nvPr>
            <p:ph idx="2" type="body"/>
          </p:nvPr>
        </p:nvSpPr>
        <p:spPr>
          <a:xfrm>
            <a:off x="675745" y="2737245"/>
            <a:ext cx="4185623" cy="3304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70" name="Google Shape;70;p46"/>
          <p:cNvSpPr txBox="1"/>
          <p:nvPr>
            <p:ph idx="3" type="body"/>
          </p:nvPr>
        </p:nvSpPr>
        <p:spPr>
          <a:xfrm>
            <a:off x="5088383" y="2160983"/>
            <a:ext cx="418561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71" name="Google Shape;71;p46"/>
          <p:cNvSpPr txBox="1"/>
          <p:nvPr>
            <p:ph idx="4" type="body"/>
          </p:nvPr>
        </p:nvSpPr>
        <p:spPr>
          <a:xfrm>
            <a:off x="5088384" y="2737245"/>
            <a:ext cx="4185617" cy="3304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72" name="Google Shape;72;p46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46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46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titolo" type="titleOnly">
  <p:cSld name="TITLE_ONLY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7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47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7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47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to con didascalia" type="objTx">
  <p:cSld name="OBJECT_WITH_CAPTION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8"/>
          <p:cNvSpPr txBox="1"/>
          <p:nvPr>
            <p:ph type="title"/>
          </p:nvPr>
        </p:nvSpPr>
        <p:spPr>
          <a:xfrm>
            <a:off x="677334" y="1498604"/>
            <a:ext cx="3854528" cy="127846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Trebuchet MS"/>
              <a:buNone/>
              <a:defRPr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48"/>
          <p:cNvSpPr txBox="1"/>
          <p:nvPr>
            <p:ph idx="1" type="body"/>
          </p:nvPr>
        </p:nvSpPr>
        <p:spPr>
          <a:xfrm>
            <a:off x="4760461" y="514924"/>
            <a:ext cx="4513541" cy="5526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83" name="Google Shape;83;p48"/>
          <p:cNvSpPr txBox="1"/>
          <p:nvPr>
            <p:ph idx="2" type="body"/>
          </p:nvPr>
        </p:nvSpPr>
        <p:spPr>
          <a:xfrm>
            <a:off x="677334" y="2777069"/>
            <a:ext cx="3854528" cy="25844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9pPr>
          </a:lstStyle>
          <a:p/>
        </p:txBody>
      </p:sp>
      <p:sp>
        <p:nvSpPr>
          <p:cNvPr id="84" name="Google Shape;84;p48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48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48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magine con didascalia" type="picTx">
  <p:cSld name="PICTURE_WITH_CAPTION_TEX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9"/>
          <p:cNvSpPr txBox="1"/>
          <p:nvPr>
            <p:ph type="title"/>
          </p:nvPr>
        </p:nvSpPr>
        <p:spPr>
          <a:xfrm>
            <a:off x="677334" y="4800600"/>
            <a:ext cx="8596667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rebuchet MS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49"/>
          <p:cNvSpPr/>
          <p:nvPr>
            <p:ph idx="2" type="pic"/>
          </p:nvPr>
        </p:nvSpPr>
        <p:spPr>
          <a:xfrm>
            <a:off x="677334" y="609600"/>
            <a:ext cx="8596668" cy="3845718"/>
          </a:xfrm>
          <a:prstGeom prst="rect">
            <a:avLst/>
          </a:prstGeom>
          <a:noFill/>
          <a:ln>
            <a:noFill/>
          </a:ln>
        </p:spPr>
      </p:sp>
      <p:sp>
        <p:nvSpPr>
          <p:cNvPr id="90" name="Google Shape;90;p49"/>
          <p:cNvSpPr txBox="1"/>
          <p:nvPr>
            <p:ph idx="1" type="body"/>
          </p:nvPr>
        </p:nvSpPr>
        <p:spPr>
          <a:xfrm>
            <a:off x="677334" y="5367338"/>
            <a:ext cx="8596667" cy="6740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91" name="Google Shape;91;p49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49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49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sottotitolo">
  <p:cSld name="Titolo e sottotitolo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0"/>
          <p:cNvSpPr txBox="1"/>
          <p:nvPr>
            <p:ph type="title"/>
          </p:nvPr>
        </p:nvSpPr>
        <p:spPr>
          <a:xfrm>
            <a:off x="677335" y="609600"/>
            <a:ext cx="8596668" cy="34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50"/>
          <p:cNvSpPr txBox="1"/>
          <p:nvPr>
            <p:ph idx="1" type="body"/>
          </p:nvPr>
        </p:nvSpPr>
        <p:spPr>
          <a:xfrm>
            <a:off x="677335" y="4470400"/>
            <a:ext cx="8596668" cy="1570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7" name="Google Shape;97;p50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50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50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zione con didascalia">
  <p:cSld name="Citazione con didascalia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1"/>
          <p:cNvSpPr txBox="1"/>
          <p:nvPr>
            <p:ph type="title"/>
          </p:nvPr>
        </p:nvSpPr>
        <p:spPr>
          <a:xfrm>
            <a:off x="931334" y="609600"/>
            <a:ext cx="8094134" cy="30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51"/>
          <p:cNvSpPr txBox="1"/>
          <p:nvPr>
            <p:ph idx="1" type="body"/>
          </p:nvPr>
        </p:nvSpPr>
        <p:spPr>
          <a:xfrm>
            <a:off x="1366139" y="3632200"/>
            <a:ext cx="7224524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 sz="1600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120"/>
              <a:buFont typeface="Trebuchet MS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03" name="Google Shape;103;p51"/>
          <p:cNvSpPr txBox="1"/>
          <p:nvPr>
            <p:ph idx="2" type="body"/>
          </p:nvPr>
        </p:nvSpPr>
        <p:spPr>
          <a:xfrm>
            <a:off x="677335" y="4470400"/>
            <a:ext cx="8596668" cy="1570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4" name="Google Shape;104;p51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51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51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07" name="Google Shape;107;p51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8000">
                <a:solidFill>
                  <a:srgbClr val="BFE47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08" name="Google Shape;108;p5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8000">
                <a:solidFill>
                  <a:srgbClr val="BFE47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 sz="1800">
              <a:solidFill>
                <a:srgbClr val="BFE47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cheda nome">
  <p:cSld name="Scheda nome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2"/>
          <p:cNvSpPr txBox="1"/>
          <p:nvPr>
            <p:ph type="title"/>
          </p:nvPr>
        </p:nvSpPr>
        <p:spPr>
          <a:xfrm>
            <a:off x="677335" y="1931988"/>
            <a:ext cx="8596668" cy="25954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52"/>
          <p:cNvSpPr txBox="1"/>
          <p:nvPr>
            <p:ph idx="1" type="body"/>
          </p:nvPr>
        </p:nvSpPr>
        <p:spPr>
          <a:xfrm>
            <a:off x="677335" y="4527448"/>
            <a:ext cx="8596668" cy="15139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2" name="Google Shape;112;p52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52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52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cheda nome citazione">
  <p:cSld name="Scheda nome citazione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3"/>
          <p:cNvSpPr txBox="1"/>
          <p:nvPr>
            <p:ph type="title"/>
          </p:nvPr>
        </p:nvSpPr>
        <p:spPr>
          <a:xfrm>
            <a:off x="931334" y="609600"/>
            <a:ext cx="8094134" cy="30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53"/>
          <p:cNvSpPr txBox="1"/>
          <p:nvPr>
            <p:ph idx="1" type="body"/>
          </p:nvPr>
        </p:nvSpPr>
        <p:spPr>
          <a:xfrm>
            <a:off x="677332" y="4013200"/>
            <a:ext cx="8596669" cy="5142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Font typeface="Trebuchet MS"/>
              <a:buNone/>
              <a:defRPr sz="240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120"/>
              <a:buFont typeface="Trebuchet MS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18" name="Google Shape;118;p53"/>
          <p:cNvSpPr txBox="1"/>
          <p:nvPr>
            <p:ph idx="2" type="body"/>
          </p:nvPr>
        </p:nvSpPr>
        <p:spPr>
          <a:xfrm>
            <a:off x="677335" y="4527448"/>
            <a:ext cx="8596668" cy="15139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9" name="Google Shape;119;p53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53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53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22" name="Google Shape;122;p5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8000">
                <a:solidFill>
                  <a:srgbClr val="BFE47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23" name="Google Shape;123;p53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8000">
                <a:solidFill>
                  <a:srgbClr val="BFE47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o o falso">
  <p:cSld name="Vero o falso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4"/>
          <p:cNvSpPr txBox="1"/>
          <p:nvPr>
            <p:ph type="title"/>
          </p:nvPr>
        </p:nvSpPr>
        <p:spPr>
          <a:xfrm>
            <a:off x="685799" y="609600"/>
            <a:ext cx="8588203" cy="30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54"/>
          <p:cNvSpPr txBox="1"/>
          <p:nvPr>
            <p:ph idx="1" type="body"/>
          </p:nvPr>
        </p:nvSpPr>
        <p:spPr>
          <a:xfrm>
            <a:off x="677332" y="4013200"/>
            <a:ext cx="8596669" cy="5142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Font typeface="Trebuchet MS"/>
              <a:buNone/>
              <a:defRPr sz="24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120"/>
              <a:buFont typeface="Trebuchet MS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27" name="Google Shape;127;p54"/>
          <p:cNvSpPr txBox="1"/>
          <p:nvPr>
            <p:ph idx="2" type="body"/>
          </p:nvPr>
        </p:nvSpPr>
        <p:spPr>
          <a:xfrm>
            <a:off x="677335" y="4527448"/>
            <a:ext cx="8596668" cy="15139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8" name="Google Shape;128;p54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54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54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testo verticale" type="vertTx">
  <p:cSld name="VERTICAL_TEXT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5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55"/>
          <p:cNvSpPr txBox="1"/>
          <p:nvPr>
            <p:ph idx="1" type="body"/>
          </p:nvPr>
        </p:nvSpPr>
        <p:spPr>
          <a:xfrm rot="5400000">
            <a:off x="3035281" y="-197358"/>
            <a:ext cx="3880773" cy="85966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34" name="Google Shape;134;p55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55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55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olo e testo verticale" type="vertTitleAndTx">
  <p:cSld name="VERTICAL_TITLE_AND_VERTICAL_TEXT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6"/>
          <p:cNvSpPr txBox="1"/>
          <p:nvPr>
            <p:ph type="title"/>
          </p:nvPr>
        </p:nvSpPr>
        <p:spPr>
          <a:xfrm rot="5400000">
            <a:off x="5994319" y="2582953"/>
            <a:ext cx="5251451" cy="13047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56"/>
          <p:cNvSpPr txBox="1"/>
          <p:nvPr>
            <p:ph idx="1" type="body"/>
          </p:nvPr>
        </p:nvSpPr>
        <p:spPr>
          <a:xfrm rot="5400000">
            <a:off x="1581685" y="-294750"/>
            <a:ext cx="5251450" cy="7060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40" name="Google Shape;140;p56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56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56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40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1" name="Google Shape;11;p40"/>
            <p:cNvCxnSpPr/>
            <p:nvPr/>
          </p:nvCxnSpPr>
          <p:spPr>
            <a:xfrm>
              <a:off x="9371012" y="0"/>
              <a:ext cx="1219200" cy="6858000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" name="Google Shape;12;p40"/>
            <p:cNvCxnSpPr/>
            <p:nvPr/>
          </p:nvCxnSpPr>
          <p:spPr>
            <a:xfrm flipH="1">
              <a:off x="7425267" y="3681413"/>
              <a:ext cx="4763558" cy="3176587"/>
            </a:xfrm>
            <a:prstGeom prst="straightConnector1">
              <a:avLst/>
            </a:prstGeom>
            <a:noFill/>
            <a:ln cap="flat" cmpd="sng" w="95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" name="Google Shape;13;p40"/>
            <p:cNvSpPr/>
            <p:nvPr/>
          </p:nvSpPr>
          <p:spPr>
            <a:xfrm>
              <a:off x="9181476" y="-8467"/>
              <a:ext cx="3007349" cy="6866467"/>
            </a:xfrm>
            <a:custGeom>
              <a:rect b="b" l="l" r="r" t="t"/>
              <a:pathLst>
                <a:path extrusionOk="0" h="6866467" w="3007349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196"/>
              </a:schemeClr>
            </a:solidFill>
            <a:ln>
              <a:noFill/>
            </a:ln>
          </p:spPr>
        </p:sp>
        <p:sp>
          <p:nvSpPr>
            <p:cNvPr id="14" name="Google Shape;14;p40"/>
            <p:cNvSpPr/>
            <p:nvPr/>
          </p:nvSpPr>
          <p:spPr>
            <a:xfrm>
              <a:off x="9603442" y="-8467"/>
              <a:ext cx="2588558" cy="6866467"/>
            </a:xfrm>
            <a:custGeom>
              <a:rect b="b" l="l" r="r" t="t"/>
              <a:pathLst>
                <a:path extrusionOk="0" h="6866467" w="2573311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</p:sp>
        <p:sp>
          <p:nvSpPr>
            <p:cNvPr id="15" name="Google Shape;15;p40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fmla="val 100000" name="adj"/>
              </a:avLst>
            </a:prstGeom>
            <a:solidFill>
              <a:schemeClr val="accent2">
                <a:alpha val="72156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40"/>
            <p:cNvSpPr/>
            <p:nvPr/>
          </p:nvSpPr>
          <p:spPr>
            <a:xfrm>
              <a:off x="9334500" y="-8467"/>
              <a:ext cx="2854326" cy="6866467"/>
            </a:xfrm>
            <a:custGeom>
              <a:rect b="b" l="l" r="r" t="t"/>
              <a:pathLst>
                <a:path extrusionOk="0" h="6866467" w="2858013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818">
                <a:alpha val="70196"/>
              </a:srgbClr>
            </a:solidFill>
            <a:ln>
              <a:noFill/>
            </a:ln>
          </p:spPr>
        </p:sp>
        <p:sp>
          <p:nvSpPr>
            <p:cNvPr id="17" name="Google Shape;17;p40"/>
            <p:cNvSpPr/>
            <p:nvPr/>
          </p:nvSpPr>
          <p:spPr>
            <a:xfrm>
              <a:off x="10898730" y="-8467"/>
              <a:ext cx="1290094" cy="6866467"/>
            </a:xfrm>
            <a:custGeom>
              <a:rect b="b" l="l" r="r" t="t"/>
              <a:pathLst>
                <a:path extrusionOk="0" h="6858000" w="1290094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rgbClr val="BFE471">
                <a:alpha val="70196"/>
              </a:srgbClr>
            </a:solidFill>
            <a:ln>
              <a:noFill/>
            </a:ln>
          </p:spPr>
        </p:sp>
        <p:sp>
          <p:nvSpPr>
            <p:cNvPr id="18" name="Google Shape;18;p40"/>
            <p:cNvSpPr/>
            <p:nvPr/>
          </p:nvSpPr>
          <p:spPr>
            <a:xfrm>
              <a:off x="10938999" y="-8467"/>
              <a:ext cx="1249825" cy="6866467"/>
            </a:xfrm>
            <a:custGeom>
              <a:rect b="b" l="l" r="r" t="t"/>
              <a:pathLst>
                <a:path extrusionOk="0" h="6858000" w="1249825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98"/>
              </a:schemeClr>
            </a:solidFill>
            <a:ln>
              <a:noFill/>
            </a:ln>
          </p:spPr>
        </p:sp>
        <p:sp>
          <p:nvSpPr>
            <p:cNvPr id="19" name="Google Shape;19;p4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fmla="val 100000" name="adj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40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fmla="val 0" name="adj"/>
              </a:avLst>
            </a:prstGeom>
            <a:solidFill>
              <a:schemeClr val="accent1">
                <a:alpha val="8509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40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 b="0" i="0" sz="36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" name="Google Shape;22;p40"/>
          <p:cNvSpPr txBox="1"/>
          <p:nvPr>
            <p:ph idx="1" type="body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Char char="►"/>
              <a:defRPr b="0" i="0" sz="18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0988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►"/>
              <a:defRPr b="0" i="0" sz="16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299719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289560" lvl="3" marL="1828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289560" lvl="4" marL="22860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289560" lvl="5" marL="2743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-289560" lvl="6" marL="3200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-289559" lvl="7" marL="3657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-289559" lvl="8" marL="4114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23" name="Google Shape;23;p40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24" name="Google Shape;24;p40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25" name="Google Shape;25;p40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dev.mysql.com/doc/refman/8.0/en/data-types.html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.gif"/><Relationship Id="rId4" Type="http://schemas.openxmlformats.org/officeDocument/2006/relationships/image" Target="../media/image1.gif"/><Relationship Id="rId5" Type="http://schemas.openxmlformats.org/officeDocument/2006/relationships/image" Target="../media/image4.gif"/><Relationship Id="rId6" Type="http://schemas.openxmlformats.org/officeDocument/2006/relationships/image" Target="../media/image2.gif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"/>
          <p:cNvSpPr txBox="1"/>
          <p:nvPr>
            <p:ph type="title"/>
          </p:nvPr>
        </p:nvSpPr>
        <p:spPr>
          <a:xfrm>
            <a:off x="677335" y="2700867"/>
            <a:ext cx="8596668" cy="18265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rebuchet MS"/>
              <a:buNone/>
            </a:pPr>
            <a:r>
              <a:rPr lang="it-IT"/>
              <a:t>DML - C.R.U.D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it-IT"/>
              <a:t>Cosa significa CRUD?</a:t>
            </a:r>
            <a:endParaRPr/>
          </a:p>
        </p:txBody>
      </p:sp>
      <p:sp>
        <p:nvSpPr>
          <p:cNvPr id="153" name="Google Shape;153;p2"/>
          <p:cNvSpPr txBox="1"/>
          <p:nvPr>
            <p:ph idx="1" type="body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it-IT">
                <a:solidFill>
                  <a:srgbClr val="FF0000"/>
                </a:solidFill>
              </a:rPr>
              <a:t>CRUD</a:t>
            </a:r>
            <a:r>
              <a:rPr lang="it-IT"/>
              <a:t> è un acronimo delle quattro operazioni base di un’applicazione</a:t>
            </a:r>
            <a:endParaRPr/>
          </a:p>
        </p:txBody>
      </p:sp>
      <p:graphicFrame>
        <p:nvGraphicFramePr>
          <p:cNvPr id="154" name="Google Shape;154;p2"/>
          <p:cNvGraphicFramePr/>
          <p:nvPr/>
        </p:nvGraphicFramePr>
        <p:xfrm>
          <a:off x="911668" y="282367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{437C1975-9E40-46A6-8666-736CD9595311}</a:tableStyleId>
              </a:tblPr>
              <a:tblGrid>
                <a:gridCol w="4064000"/>
                <a:gridCol w="40640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800" u="none" cap="none" strike="noStrike"/>
                        <a:t>Operazione Logica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800"/>
                        <a:t>Istruzione SQL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800">
                          <a:solidFill>
                            <a:srgbClr val="FF0000"/>
                          </a:solidFill>
                        </a:rPr>
                        <a:t>C</a:t>
                      </a:r>
                      <a:r>
                        <a:rPr lang="it-IT" sz="1800"/>
                        <a:t>reate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800">
                          <a:solidFill>
                            <a:srgbClr val="0070C0"/>
                          </a:solidFill>
                        </a:rPr>
                        <a:t>INSERT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800">
                          <a:solidFill>
                            <a:srgbClr val="FF0000"/>
                          </a:solidFill>
                        </a:rPr>
                        <a:t>R</a:t>
                      </a:r>
                      <a:r>
                        <a:rPr lang="it-IT" sz="1800"/>
                        <a:t>ead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800">
                          <a:solidFill>
                            <a:srgbClr val="0070C0"/>
                          </a:solidFill>
                        </a:rPr>
                        <a:t>SELECT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800">
                          <a:solidFill>
                            <a:srgbClr val="FF0000"/>
                          </a:solidFill>
                        </a:rPr>
                        <a:t>U</a:t>
                      </a:r>
                      <a:r>
                        <a:rPr lang="it-IT" sz="1800"/>
                        <a:t>pdate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800">
                          <a:solidFill>
                            <a:srgbClr val="0070C0"/>
                          </a:solidFill>
                        </a:rPr>
                        <a:t>UPDATE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800">
                          <a:solidFill>
                            <a:srgbClr val="FF0000"/>
                          </a:solidFill>
                        </a:rPr>
                        <a:t>D</a:t>
                      </a:r>
                      <a:r>
                        <a:rPr lang="it-IT" sz="1800"/>
                        <a:t>elete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800">
                          <a:solidFill>
                            <a:srgbClr val="0070C0"/>
                          </a:solidFill>
                        </a:rPr>
                        <a:t>DELETE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it-IT"/>
              <a:t>INSERT (</a:t>
            </a:r>
            <a:r>
              <a:rPr lang="it-IT">
                <a:solidFill>
                  <a:srgbClr val="FF0000"/>
                </a:solidFill>
              </a:rPr>
              <a:t>C</a:t>
            </a:r>
            <a:r>
              <a:rPr lang="it-IT"/>
              <a:t>reate)</a:t>
            </a:r>
            <a:endParaRPr/>
          </a:p>
        </p:txBody>
      </p:sp>
      <p:sp>
        <p:nvSpPr>
          <p:cNvPr id="160" name="Google Shape;160;p3"/>
          <p:cNvSpPr txBox="1"/>
          <p:nvPr>
            <p:ph idx="1" type="body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it-IT"/>
              <a:t>Permette di inserire una riga in una tabella. Esistono due tipi di sintassi per l’inserimento.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it-IT"/>
              <a:t>Sintassi con specifica delle colonne:</a:t>
            </a:r>
            <a:endParaRPr/>
          </a:p>
          <a:p>
            <a:pPr indent="0" lvl="1" marL="45720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it-IT" sz="2000">
                <a:solidFill>
                  <a:srgbClr val="0070C0"/>
                </a:solidFill>
              </a:rPr>
              <a:t>INSERT INTO </a:t>
            </a:r>
            <a:r>
              <a:rPr lang="it-IT" sz="2000"/>
              <a:t>table_name (column3, column1, ...)</a:t>
            </a:r>
            <a:endParaRPr/>
          </a:p>
          <a:p>
            <a:pPr indent="0" lvl="1" marL="45720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it-IT" sz="2000">
                <a:solidFill>
                  <a:srgbClr val="0070C0"/>
                </a:solidFill>
              </a:rPr>
              <a:t>VALUES</a:t>
            </a:r>
            <a:r>
              <a:rPr lang="it-IT" sz="2000"/>
              <a:t> (value3, value1, ...); </a:t>
            </a:r>
            <a:endParaRPr sz="2000"/>
          </a:p>
          <a:p>
            <a:pPr indent="0" lvl="4" marL="1828800" rtl="0" algn="l">
              <a:spcBef>
                <a:spcPts val="1000"/>
              </a:spcBef>
              <a:spcAft>
                <a:spcPts val="0"/>
              </a:spcAft>
              <a:buSzPts val="96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it-IT"/>
              <a:t>Sintassi senza specifica delle colonne:</a:t>
            </a:r>
            <a:endParaRPr/>
          </a:p>
          <a:p>
            <a:pPr indent="0" lvl="1" marL="40005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it-IT" sz="2000">
                <a:solidFill>
                  <a:srgbClr val="0070C0"/>
                </a:solidFill>
              </a:rPr>
              <a:t>	INSERT INTO </a:t>
            </a:r>
            <a:r>
              <a:rPr lang="it-IT" sz="2000"/>
              <a:t>table_name</a:t>
            </a:r>
            <a:endParaRPr/>
          </a:p>
          <a:p>
            <a:pPr indent="0" lvl="1" marL="40005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it-IT" sz="2000">
                <a:solidFill>
                  <a:srgbClr val="0070C0"/>
                </a:solidFill>
              </a:rPr>
              <a:t>	VALUES</a:t>
            </a:r>
            <a:r>
              <a:rPr lang="it-IT" sz="2000"/>
              <a:t> (value1, value2, value3, ...);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4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it-IT"/>
              <a:t>Esempio</a:t>
            </a:r>
            <a:endParaRPr/>
          </a:p>
        </p:txBody>
      </p:sp>
      <p:sp>
        <p:nvSpPr>
          <p:cNvPr id="166" name="Google Shape;166;p4"/>
          <p:cNvSpPr txBox="1"/>
          <p:nvPr>
            <p:ph idx="1" type="body"/>
          </p:nvPr>
        </p:nvSpPr>
        <p:spPr>
          <a:xfrm>
            <a:off x="677334" y="2160589"/>
            <a:ext cx="4184035" cy="38807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rPr lang="it-IT">
                <a:solidFill>
                  <a:srgbClr val="0070C0"/>
                </a:solidFill>
              </a:rPr>
              <a:t>INSERT INTO </a:t>
            </a:r>
            <a:r>
              <a:rPr lang="it-IT"/>
              <a:t>anagrafica (eta,nome)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it-IT">
                <a:solidFill>
                  <a:srgbClr val="0070C0"/>
                </a:solidFill>
              </a:rPr>
              <a:t>VALUES</a:t>
            </a:r>
            <a:r>
              <a:rPr lang="it-IT"/>
              <a:t> (25,’Mario’);</a:t>
            </a:r>
            <a:endParaRPr/>
          </a:p>
        </p:txBody>
      </p:sp>
      <p:graphicFrame>
        <p:nvGraphicFramePr>
          <p:cNvPr id="167" name="Google Shape;167;p4"/>
          <p:cNvGraphicFramePr/>
          <p:nvPr/>
        </p:nvGraphicFramePr>
        <p:xfrm>
          <a:off x="4861369" y="2160588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{299E2279-13E3-498E-9F17-E16632D42E63}</a:tableStyleId>
              </a:tblPr>
              <a:tblGrid>
                <a:gridCol w="1203400"/>
                <a:gridCol w="1203400"/>
                <a:gridCol w="1203400"/>
                <a:gridCol w="12034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NOME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COGNOME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ETA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DATA_</a:t>
                      </a:r>
                      <a:r>
                        <a:rPr b="0" lang="it-IT" sz="1200"/>
                        <a:t>NASCITA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Mario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null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25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-IT" sz="1200"/>
                        <a:t>null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5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it-IT"/>
              <a:t>Esempio</a:t>
            </a:r>
            <a:endParaRPr/>
          </a:p>
        </p:txBody>
      </p:sp>
      <p:sp>
        <p:nvSpPr>
          <p:cNvPr id="173" name="Google Shape;173;p5"/>
          <p:cNvSpPr txBox="1"/>
          <p:nvPr>
            <p:ph idx="1" type="body"/>
          </p:nvPr>
        </p:nvSpPr>
        <p:spPr>
          <a:xfrm>
            <a:off x="677334" y="2160589"/>
            <a:ext cx="4184035" cy="38807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rPr lang="it-IT">
                <a:solidFill>
                  <a:srgbClr val="0070C0"/>
                </a:solidFill>
              </a:rPr>
              <a:t>INSERT INTO </a:t>
            </a:r>
            <a:r>
              <a:rPr lang="it-IT"/>
              <a:t>anagrafica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it-IT">
                <a:solidFill>
                  <a:srgbClr val="0070C0"/>
                </a:solidFill>
              </a:rPr>
              <a:t>VALUES</a:t>
            </a:r>
            <a:r>
              <a:rPr lang="it-IT"/>
              <a:t> (’Pippo’,’Baudo’,150,null);</a:t>
            </a:r>
            <a:endParaRPr/>
          </a:p>
        </p:txBody>
      </p:sp>
      <p:graphicFrame>
        <p:nvGraphicFramePr>
          <p:cNvPr id="174" name="Google Shape;174;p5"/>
          <p:cNvGraphicFramePr/>
          <p:nvPr/>
        </p:nvGraphicFramePr>
        <p:xfrm>
          <a:off x="4861369" y="2160588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{299E2279-13E3-498E-9F17-E16632D42E63}</a:tableStyleId>
              </a:tblPr>
              <a:tblGrid>
                <a:gridCol w="1203400"/>
                <a:gridCol w="1203400"/>
                <a:gridCol w="1203400"/>
                <a:gridCol w="12034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NOME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COGNOME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ETA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DATA_</a:t>
                      </a:r>
                      <a:r>
                        <a:rPr b="0" lang="it-IT" sz="1200"/>
                        <a:t>NASCITA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Mario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null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25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-IT" sz="1200"/>
                        <a:t>null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Pippo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Baudo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150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-IT" sz="1200"/>
                        <a:t>null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6"/>
          <p:cNvSpPr txBox="1"/>
          <p:nvPr>
            <p:ph type="title"/>
          </p:nvPr>
        </p:nvSpPr>
        <p:spPr>
          <a:xfrm>
            <a:off x="677334" y="175847"/>
            <a:ext cx="8596668" cy="8675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it-IT"/>
              <a:t>Le Date</a:t>
            </a:r>
            <a:endParaRPr/>
          </a:p>
        </p:txBody>
      </p:sp>
      <p:sp>
        <p:nvSpPr>
          <p:cNvPr id="181" name="Google Shape;181;p6"/>
          <p:cNvSpPr txBox="1"/>
          <p:nvPr>
            <p:ph idx="1" type="body"/>
          </p:nvPr>
        </p:nvSpPr>
        <p:spPr>
          <a:xfrm>
            <a:off x="405245" y="1320801"/>
            <a:ext cx="9590810" cy="5361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1459" lvl="0" marL="342900" rtl="0" algn="l"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>
              <a:solidFill>
                <a:srgbClr val="0070C0"/>
              </a:solidFill>
            </a:endParaRPr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it-IT">
                <a:solidFill>
                  <a:srgbClr val="0070C0"/>
                </a:solidFill>
              </a:rPr>
              <a:t>DATE,TIME e DATETIME </a:t>
            </a:r>
            <a:r>
              <a:rPr lang="it-IT"/>
              <a:t>sono i tre tipi principali usati per le date. DATE ha l’informazione del giorno(es: 01-01-2019), TIME dell’orario(es: 11:18:20), mentre DATETIME le racchiude entrambe (es : 01-01-2019 11:18:20).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it-IT"/>
              <a:t>Per inserire una data partendo da una stringa va specificato il formato usando la funzione </a:t>
            </a:r>
            <a:r>
              <a:rPr lang="it-IT">
                <a:solidFill>
                  <a:srgbClr val="0070C0"/>
                </a:solidFill>
              </a:rPr>
              <a:t>STR_TO_DATE </a:t>
            </a:r>
            <a:r>
              <a:rPr lang="it-IT"/>
              <a:t>oppure va usato il formato di default del DB che solitamente è ‘YYYY-MM-DD HH:MM:SS’, ma può essere alterato dai DBA(DataBase Administrator).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520"/>
              <a:buChar char="►"/>
            </a:pPr>
            <a:r>
              <a:rPr lang="it-IT" sz="1900"/>
              <a:t>Per passare da Date a Stringa si usa la funzione </a:t>
            </a:r>
            <a:r>
              <a:rPr lang="it-IT">
                <a:solidFill>
                  <a:srgbClr val="0070C0"/>
                </a:solidFill>
              </a:rPr>
              <a:t>DATE_FORMAT</a:t>
            </a:r>
            <a:r>
              <a:rPr lang="it-IT" sz="1900"/>
              <a:t>, in cui va specificato il formato in cui si desidera visualizzare il risultato.</a:t>
            </a:r>
            <a:endParaRPr/>
          </a:p>
          <a:p>
            <a:pPr indent="-246380" lvl="0" marL="342900" rtl="0" algn="l">
              <a:spcBef>
                <a:spcPts val="10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1900"/>
          </a:p>
          <a:p>
            <a:pPr indent="-241300" lvl="0" marL="34290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2000"/>
          </a:p>
          <a:p>
            <a:pPr indent="0" lvl="1" marL="457200" rtl="0" algn="l">
              <a:spcBef>
                <a:spcPts val="1000"/>
              </a:spcBef>
              <a:spcAft>
                <a:spcPts val="0"/>
              </a:spcAft>
              <a:buSzPts val="1280"/>
              <a:buNone/>
            </a:pPr>
            <a:r>
              <a:t/>
            </a:r>
            <a:endParaRPr i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7"/>
          <p:cNvSpPr txBox="1"/>
          <p:nvPr/>
        </p:nvSpPr>
        <p:spPr>
          <a:xfrm>
            <a:off x="319596" y="5632879"/>
            <a:ext cx="1051707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Lista completa nella documentazione ufficiale MySql: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u="sng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https://dev.mysql.com/doc/refman/8.0/en/date-and-time-functions.html#function_date-format</a:t>
            </a:r>
            <a:r>
              <a:rPr lang="it-IT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aphicFrame>
        <p:nvGraphicFramePr>
          <p:cNvPr id="187" name="Google Shape;187;p7"/>
          <p:cNvGraphicFramePr/>
          <p:nvPr/>
        </p:nvGraphicFramePr>
        <p:xfrm>
          <a:off x="976543" y="4616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{299E2279-13E3-498E-9F17-E16632D42E63}</a:tableStyleId>
              </a:tblPr>
              <a:tblGrid>
                <a:gridCol w="1063750"/>
                <a:gridCol w="7387775"/>
              </a:tblGrid>
              <a:tr h="320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100" u="none" strike="noStrike"/>
                        <a:t>Format</a:t>
                      </a:r>
                      <a:endParaRPr b="1" i="0" sz="1100" u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100" u="none" strike="noStrike"/>
                        <a:t>Description</a:t>
                      </a:r>
                      <a:endParaRPr b="1" i="0" sz="1100" u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</a:tr>
              <a:tr h="320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100" u="none" strike="noStrike"/>
                        <a:t>%b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100" u="none" strike="noStrike"/>
                        <a:t>Abbreviated month name (Jan to Dec)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</a:tr>
              <a:tr h="6403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100" u="none" strike="noStrike"/>
                        <a:t>%D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100" u="none" strike="noStrike"/>
                        <a:t>Day of the month as a numeric value, followed by suffix (1st, 2nd, 3rd, ...)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</a:tr>
              <a:tr h="6403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100" u="none" strike="noStrike"/>
                        <a:t>%d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100" u="none" strike="noStrike"/>
                        <a:t>Day of the month as a numeric value (01 to 31)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</a:tr>
              <a:tr h="320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100" u="none" strike="noStrike"/>
                        <a:t>%H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100" u="none" strike="noStrike"/>
                        <a:t>Hour (00 to 23)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</a:tr>
              <a:tr h="320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100" u="none" strike="noStrike"/>
                        <a:t>%i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100" u="none" strike="noStrike"/>
                        <a:t>Minutes (00 to 59)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</a:tr>
              <a:tr h="320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100" u="none" strike="noStrike"/>
                        <a:t>%k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100" u="none" strike="noStrike"/>
                        <a:t>Hour (0 to 23)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</a:tr>
              <a:tr h="320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100" u="none" strike="noStrike"/>
                        <a:t>%M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100" u="none" strike="noStrike"/>
                        <a:t>Month name in full (January to December)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</a:tr>
              <a:tr h="320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100" u="none" strike="noStrike"/>
                        <a:t>%m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100" u="none" strike="noStrike"/>
                        <a:t>Month name as a numeric value (00 to 12)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</a:tr>
              <a:tr h="320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100" u="none" strike="noStrike"/>
                        <a:t>%s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100" u="none" strike="noStrike"/>
                        <a:t>Seconds (00 to 59)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</a:tr>
              <a:tr h="6403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100" u="none" strike="noStrike"/>
                        <a:t>%v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100" u="none" strike="noStrike"/>
                        <a:t>Week where Monday is the first day of the week (01 to 53).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</a:tr>
              <a:tr h="320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100" u="none" strike="noStrike"/>
                        <a:t>%Y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100" u="none" strike="noStrike"/>
                        <a:t>Year as a numeric, 4-digit value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8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it-IT"/>
              <a:t>Esempio</a:t>
            </a:r>
            <a:endParaRPr/>
          </a:p>
        </p:txBody>
      </p:sp>
      <p:sp>
        <p:nvSpPr>
          <p:cNvPr id="193" name="Google Shape;193;p8"/>
          <p:cNvSpPr txBox="1"/>
          <p:nvPr>
            <p:ph idx="1" type="body"/>
          </p:nvPr>
        </p:nvSpPr>
        <p:spPr>
          <a:xfrm>
            <a:off x="1" y="1308294"/>
            <a:ext cx="7173156" cy="55497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rPr lang="it-IT">
                <a:solidFill>
                  <a:srgbClr val="0070C0"/>
                </a:solidFill>
              </a:rPr>
              <a:t>INSERT INTO </a:t>
            </a:r>
            <a:r>
              <a:rPr lang="it-IT"/>
              <a:t>anagrafica (nome,cognome,data_nascita)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it-IT">
                <a:solidFill>
                  <a:srgbClr val="0070C0"/>
                </a:solidFill>
              </a:rPr>
              <a:t>VALUES</a:t>
            </a:r>
            <a:r>
              <a:rPr lang="it-IT"/>
              <a:t> (’Mario’,’Rossi’,’1998-12-03’);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>
              <a:solidFill>
                <a:srgbClr val="0070C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it-IT">
                <a:solidFill>
                  <a:srgbClr val="0070C0"/>
                </a:solidFill>
              </a:rPr>
              <a:t>INSERT INTO </a:t>
            </a:r>
            <a:r>
              <a:rPr lang="it-IT"/>
              <a:t>anagrafica (nome,cognome,data_nascita)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it-IT">
                <a:solidFill>
                  <a:srgbClr val="0070C0"/>
                </a:solidFill>
              </a:rPr>
              <a:t>VALUES</a:t>
            </a:r>
            <a:r>
              <a:rPr lang="it-IT"/>
              <a:t> (’Pippo’,’Baudo’,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it-IT">
                <a:solidFill>
                  <a:srgbClr val="0070C0"/>
                </a:solidFill>
              </a:rPr>
              <a:t>STR_TO_DATE</a:t>
            </a:r>
            <a:r>
              <a:rPr lang="it-IT"/>
              <a:t>(’1979-01-10 17:01:29’,’%Y-%m-%d %H:%i:%s’));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it-IT">
                <a:solidFill>
                  <a:srgbClr val="0070C0"/>
                </a:solidFill>
              </a:rPr>
              <a:t>INSERT INTO </a:t>
            </a:r>
            <a:r>
              <a:rPr lang="it-IT"/>
              <a:t>anagrafica (nome,cognome,data_nascita)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it-IT">
                <a:solidFill>
                  <a:srgbClr val="0070C0"/>
                </a:solidFill>
              </a:rPr>
              <a:t>VALUES</a:t>
            </a:r>
            <a:r>
              <a:rPr lang="it-IT"/>
              <a:t> (Alvaro’,’Vitali’,</a:t>
            </a:r>
            <a:r>
              <a:rPr lang="it-IT">
                <a:solidFill>
                  <a:srgbClr val="0070C0"/>
                </a:solidFill>
              </a:rPr>
              <a:t>sysdate() </a:t>
            </a:r>
            <a:r>
              <a:rPr lang="it-IT"/>
              <a:t>);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</p:txBody>
      </p:sp>
      <p:graphicFrame>
        <p:nvGraphicFramePr>
          <p:cNvPr id="194" name="Google Shape;194;p8"/>
          <p:cNvGraphicFramePr/>
          <p:nvPr/>
        </p:nvGraphicFramePr>
        <p:xfrm>
          <a:off x="7302220" y="2072641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{299E2279-13E3-498E-9F17-E16632D42E63}</a:tableStyleId>
              </a:tblPr>
              <a:tblGrid>
                <a:gridCol w="1203400"/>
                <a:gridCol w="1203400"/>
                <a:gridCol w="1203400"/>
                <a:gridCol w="12034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NOME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COGNOME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ETA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DATA_</a:t>
                      </a:r>
                      <a:r>
                        <a:rPr b="0" lang="it-IT" sz="1200"/>
                        <a:t>NASCITA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Mario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Rossi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21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1998-12-03</a:t>
                      </a:r>
                      <a:r>
                        <a:rPr b="0" lang="it-IT" sz="1200"/>
                        <a:t> 00:00:00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Pippo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Baudo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41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10-01-1979 17:01:29</a:t>
                      </a:r>
                      <a:endParaRPr b="0" sz="12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Alvaro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Vitali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88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10-04-2020 16:00:00</a:t>
                      </a:r>
                      <a:endParaRPr b="0" sz="12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9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600"/>
              <a:buFont typeface="Trebuchet MS"/>
              <a:buNone/>
            </a:pPr>
            <a:r>
              <a:rPr lang="it-IT">
                <a:solidFill>
                  <a:srgbClr val="FF0000"/>
                </a:solidFill>
              </a:rPr>
              <a:t>U</a:t>
            </a:r>
            <a:r>
              <a:rPr lang="it-IT"/>
              <a:t>pdate</a:t>
            </a:r>
            <a:endParaRPr/>
          </a:p>
        </p:txBody>
      </p:sp>
      <p:sp>
        <p:nvSpPr>
          <p:cNvPr id="200" name="Google Shape;200;p9"/>
          <p:cNvSpPr txBox="1"/>
          <p:nvPr>
            <p:ph idx="1" type="body"/>
          </p:nvPr>
        </p:nvSpPr>
        <p:spPr>
          <a:xfrm>
            <a:off x="677334" y="1930399"/>
            <a:ext cx="8596668" cy="4318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ct val="79999"/>
              <a:buChar char="►"/>
            </a:pPr>
            <a:r>
              <a:rPr lang="it-IT"/>
              <a:t>Permette di modificare le righe in una tabella.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ct val="79999"/>
              <a:buChar char="►"/>
            </a:pPr>
            <a:r>
              <a:rPr lang="it-IT"/>
              <a:t>La sintassi generica :</a:t>
            </a:r>
            <a:endParaRPr/>
          </a:p>
          <a:p>
            <a:pPr indent="0" lvl="1" marL="45720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it-IT" sz="2000">
                <a:solidFill>
                  <a:srgbClr val="0070C0"/>
                </a:solidFill>
              </a:rPr>
              <a:t>UPDATE</a:t>
            </a:r>
            <a:r>
              <a:rPr lang="it-IT"/>
              <a:t> </a:t>
            </a:r>
            <a:r>
              <a:rPr lang="it-IT" sz="1900"/>
              <a:t>table_name</a:t>
            </a:r>
            <a:br>
              <a:rPr lang="it-IT"/>
            </a:br>
            <a:r>
              <a:rPr lang="it-IT" sz="2000">
                <a:solidFill>
                  <a:srgbClr val="0070C0"/>
                </a:solidFill>
              </a:rPr>
              <a:t>SET</a:t>
            </a:r>
            <a:r>
              <a:rPr lang="it-IT"/>
              <a:t> </a:t>
            </a:r>
            <a:r>
              <a:rPr lang="it-IT" sz="1900"/>
              <a:t>column1 = value1, column2 = value2, ...</a:t>
            </a:r>
            <a:br>
              <a:rPr lang="it-IT"/>
            </a:br>
            <a:r>
              <a:rPr lang="it-IT" sz="2000">
                <a:solidFill>
                  <a:srgbClr val="0070C0"/>
                </a:solidFill>
              </a:rPr>
              <a:t>WHERE</a:t>
            </a:r>
            <a:r>
              <a:rPr lang="it-IT"/>
              <a:t> </a:t>
            </a:r>
            <a:r>
              <a:rPr lang="it-IT" sz="1900"/>
              <a:t>condition; </a:t>
            </a:r>
            <a:endParaRPr sz="1900"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ct val="79999"/>
              <a:buChar char="►"/>
            </a:pPr>
            <a:r>
              <a:rPr lang="it-IT"/>
              <a:t>È divisa in tre parti fondamentali: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ct val="80000"/>
              <a:buFont typeface="Courier New"/>
              <a:buChar char="o"/>
            </a:pPr>
            <a:r>
              <a:rPr lang="it-IT"/>
              <a:t>UPDATE - dichiarazione della tabella che si vuole modificare.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ct val="80000"/>
              <a:buFont typeface="Courier New"/>
              <a:buChar char="o"/>
            </a:pPr>
            <a:r>
              <a:rPr lang="it-IT"/>
              <a:t>SET - dichiarazione della colonna da modificare e relativo nuovo valore.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ct val="80000"/>
              <a:buFont typeface="Courier New"/>
              <a:buChar char="o"/>
            </a:pPr>
            <a:r>
              <a:rPr lang="it-IT"/>
              <a:t>WHERE  - dichiarazione delle righe che si intende modificare.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ct val="79999"/>
              <a:buChar char="►"/>
            </a:pPr>
            <a:r>
              <a:rPr lang="it-IT"/>
              <a:t>Due note: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ct val="80000"/>
              <a:buFont typeface="Courier New"/>
              <a:buChar char="o"/>
            </a:pPr>
            <a:r>
              <a:rPr lang="it-IT">
                <a:solidFill>
                  <a:srgbClr val="FF0000"/>
                </a:solidFill>
              </a:rPr>
              <a:t>LA CONDIZIONE DI WHERE è OPZIONALE, SE VIENE OMESSA (O VE LA SCORDATE☺), LA UPDATE MODIFICA TUTTE LE RIGHE!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ct val="80000"/>
              <a:buFont typeface="Courier New"/>
              <a:buChar char="o"/>
            </a:pPr>
            <a:r>
              <a:rPr lang="it-IT"/>
              <a:t>L’ update si fa su una tabella per volta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0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600"/>
              <a:buFont typeface="Trebuchet MS"/>
              <a:buNone/>
            </a:pPr>
            <a:r>
              <a:rPr lang="it-IT">
                <a:solidFill>
                  <a:srgbClr val="FF0000"/>
                </a:solidFill>
              </a:rPr>
              <a:t>D</a:t>
            </a:r>
            <a:r>
              <a:rPr lang="it-IT"/>
              <a:t>elete</a:t>
            </a:r>
            <a:endParaRPr/>
          </a:p>
        </p:txBody>
      </p:sp>
      <p:sp>
        <p:nvSpPr>
          <p:cNvPr id="206" name="Google Shape;206;p10"/>
          <p:cNvSpPr txBox="1"/>
          <p:nvPr>
            <p:ph idx="1" type="body"/>
          </p:nvPr>
        </p:nvSpPr>
        <p:spPr>
          <a:xfrm>
            <a:off x="677334" y="1930400"/>
            <a:ext cx="8596668" cy="44703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it-IT"/>
              <a:t>Permette di eliminare le righe in una tabella. 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it-IT"/>
              <a:t>La sintassi generica :</a:t>
            </a:r>
            <a:endParaRPr/>
          </a:p>
          <a:p>
            <a:pPr indent="0" lvl="1" marL="45720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it-IT" sz="2000">
                <a:solidFill>
                  <a:srgbClr val="0070C0"/>
                </a:solidFill>
              </a:rPr>
              <a:t>DELETE FROM</a:t>
            </a:r>
            <a:r>
              <a:rPr lang="it-IT"/>
              <a:t> </a:t>
            </a:r>
            <a:r>
              <a:rPr lang="it-IT" sz="1800"/>
              <a:t>table_name</a:t>
            </a:r>
            <a:br>
              <a:rPr lang="it-IT"/>
            </a:br>
            <a:r>
              <a:rPr lang="it-IT" sz="2000">
                <a:solidFill>
                  <a:srgbClr val="0070C0"/>
                </a:solidFill>
              </a:rPr>
              <a:t>WHERE</a:t>
            </a:r>
            <a:r>
              <a:rPr lang="it-IT"/>
              <a:t> </a:t>
            </a:r>
            <a:r>
              <a:rPr lang="it-IT" sz="1800"/>
              <a:t>condition;</a:t>
            </a:r>
            <a:endParaRPr sz="1800"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it-IT"/>
              <a:t>È divisa in tre parti fondamentali: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1280"/>
              <a:buFont typeface="Courier New"/>
              <a:buChar char="o"/>
            </a:pPr>
            <a:r>
              <a:rPr lang="it-IT"/>
              <a:t>DELETE - dichiarazione della tabella che si vuole modificare. 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1280"/>
              <a:buFont typeface="Courier New"/>
              <a:buChar char="o"/>
            </a:pPr>
            <a:r>
              <a:rPr lang="it-IT"/>
              <a:t>WHERE  - dichiarazione delle righe che si intende eliminare.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it-IT"/>
              <a:t>Due note: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1280"/>
              <a:buFont typeface="Courier New"/>
              <a:buChar char="o"/>
            </a:pPr>
            <a:r>
              <a:rPr lang="it-IT">
                <a:solidFill>
                  <a:srgbClr val="FF0000"/>
                </a:solidFill>
              </a:rPr>
              <a:t>LA CONDIZIONE DI WHERE è OPZIONALE, SE VIENE OMESSA LA DELETE SVUOTA COMPLETAMENTE LA TABELLA…per fortuna c’è il rollback!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1280"/>
              <a:buFont typeface="Courier New"/>
              <a:buChar char="o"/>
            </a:pPr>
            <a:r>
              <a:rPr lang="it-IT"/>
              <a:t>La delete si fa su una tabella per volta</a:t>
            </a:r>
            <a:endParaRPr/>
          </a:p>
          <a:p>
            <a:pPr indent="-231140" lvl="0" marL="342900" rtl="0" algn="l">
              <a:spcBef>
                <a:spcPts val="1000"/>
              </a:spcBef>
              <a:spcAft>
                <a:spcPts val="0"/>
              </a:spcAft>
              <a:buSzPts val="1760"/>
              <a:buNone/>
            </a:pPr>
            <a:r>
              <a:t/>
            </a:r>
            <a:endParaRPr sz="22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1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it-IT"/>
              <a:t>Esempio</a:t>
            </a:r>
            <a:endParaRPr/>
          </a:p>
        </p:txBody>
      </p:sp>
      <p:sp>
        <p:nvSpPr>
          <p:cNvPr id="212" name="Google Shape;212;p11"/>
          <p:cNvSpPr txBox="1"/>
          <p:nvPr>
            <p:ph idx="1" type="body"/>
          </p:nvPr>
        </p:nvSpPr>
        <p:spPr>
          <a:xfrm>
            <a:off x="677333" y="3413760"/>
            <a:ext cx="4184035" cy="3444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rPr lang="it-IT">
                <a:solidFill>
                  <a:srgbClr val="0070C0"/>
                </a:solidFill>
              </a:rPr>
              <a:t>UPDATE </a:t>
            </a:r>
            <a:r>
              <a:rPr lang="it-IT"/>
              <a:t>anagrafica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it-IT">
                <a:solidFill>
                  <a:srgbClr val="0070C0"/>
                </a:solidFill>
              </a:rPr>
              <a:t>SET </a:t>
            </a:r>
            <a:r>
              <a:rPr lang="it-IT"/>
              <a:t>eta = 5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it-IT">
                <a:solidFill>
                  <a:srgbClr val="0070C0"/>
                </a:solidFill>
              </a:rPr>
              <a:t>WHERE </a:t>
            </a:r>
            <a:r>
              <a:rPr lang="it-IT"/>
              <a:t>nome = ‘Mario’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it-IT">
                <a:solidFill>
                  <a:srgbClr val="0070C0"/>
                </a:solidFill>
              </a:rPr>
              <a:t>AND </a:t>
            </a:r>
            <a:r>
              <a:rPr lang="it-IT"/>
              <a:t>cognome = ‘Rossi’;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it-IT">
                <a:solidFill>
                  <a:srgbClr val="0070C0"/>
                </a:solidFill>
              </a:rPr>
              <a:t>DELETE FROM </a:t>
            </a:r>
            <a:r>
              <a:rPr lang="it-IT"/>
              <a:t>anagrafica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it-IT">
                <a:solidFill>
                  <a:srgbClr val="0070C0"/>
                </a:solidFill>
              </a:rPr>
              <a:t>WHERE </a:t>
            </a:r>
            <a:r>
              <a:rPr lang="it-IT"/>
              <a:t>nome = ‘Pippo’;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</p:txBody>
      </p:sp>
      <p:graphicFrame>
        <p:nvGraphicFramePr>
          <p:cNvPr id="213" name="Google Shape;213;p11"/>
          <p:cNvGraphicFramePr/>
          <p:nvPr/>
        </p:nvGraphicFramePr>
        <p:xfrm>
          <a:off x="3056278" y="1270000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{299E2279-13E3-498E-9F17-E16632D42E63}</a:tableStyleId>
              </a:tblPr>
              <a:tblGrid>
                <a:gridCol w="1203400"/>
                <a:gridCol w="1203400"/>
                <a:gridCol w="12034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NOME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COGNOME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ETA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Mario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Rossi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25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Pippo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Baudo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32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Gino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Rossi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40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214" name="Google Shape;214;p11"/>
          <p:cNvSpPr/>
          <p:nvPr/>
        </p:nvSpPr>
        <p:spPr>
          <a:xfrm>
            <a:off x="4455616" y="3840378"/>
            <a:ext cx="1038688" cy="426128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rnd" cmpd="sng" w="19050">
            <a:solidFill>
              <a:srgbClr val="698D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aphicFrame>
        <p:nvGraphicFramePr>
          <p:cNvPr id="215" name="Google Shape;215;p11"/>
          <p:cNvGraphicFramePr/>
          <p:nvPr/>
        </p:nvGraphicFramePr>
        <p:xfrm>
          <a:off x="6096000" y="3311762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{299E2279-13E3-498E-9F17-E16632D42E63}</a:tableStyleId>
              </a:tblPr>
              <a:tblGrid>
                <a:gridCol w="1203400"/>
                <a:gridCol w="1203400"/>
                <a:gridCol w="12034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NOME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COGNOME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ETA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Mario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Rossi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Pippo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Baudo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32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Gino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Rossi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40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216" name="Google Shape;216;p11"/>
          <p:cNvSpPr/>
          <p:nvPr/>
        </p:nvSpPr>
        <p:spPr>
          <a:xfrm>
            <a:off x="4455616" y="5822272"/>
            <a:ext cx="1038688" cy="426128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rnd" cmpd="sng" w="19050">
            <a:solidFill>
              <a:srgbClr val="698D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aphicFrame>
        <p:nvGraphicFramePr>
          <p:cNvPr id="217" name="Google Shape;217;p11"/>
          <p:cNvGraphicFramePr/>
          <p:nvPr/>
        </p:nvGraphicFramePr>
        <p:xfrm>
          <a:off x="6096000" y="5479076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{299E2279-13E3-498E-9F17-E16632D42E63}</a:tableStyleId>
              </a:tblPr>
              <a:tblGrid>
                <a:gridCol w="1203400"/>
                <a:gridCol w="1203400"/>
                <a:gridCol w="12034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NOME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COGNOME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ETA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Mario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Rossi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Gino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Rossi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40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2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it-IT"/>
              <a:t>SELECT (</a:t>
            </a:r>
            <a:r>
              <a:rPr lang="it-IT">
                <a:solidFill>
                  <a:srgbClr val="FF0000"/>
                </a:solidFill>
              </a:rPr>
              <a:t>R</a:t>
            </a:r>
            <a:r>
              <a:rPr lang="it-IT"/>
              <a:t>ead)</a:t>
            </a:r>
            <a:endParaRPr/>
          </a:p>
        </p:txBody>
      </p:sp>
      <p:sp>
        <p:nvSpPr>
          <p:cNvPr id="223" name="Google Shape;223;p12"/>
          <p:cNvSpPr txBox="1"/>
          <p:nvPr>
            <p:ph idx="1" type="body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it-IT"/>
              <a:t>Recupera i dati inseriti in una tabella. Esistono vari tipi di sintassi.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it-IT"/>
              <a:t>Sintassi con *	:</a:t>
            </a:r>
            <a:endParaRPr/>
          </a:p>
          <a:p>
            <a:pPr indent="0" lvl="1" marL="457200" rtl="0" algn="l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it-IT" sz="1800">
                <a:solidFill>
                  <a:srgbClr val="0070C0"/>
                </a:solidFill>
              </a:rPr>
              <a:t>SELECT *</a:t>
            </a:r>
            <a:endParaRPr/>
          </a:p>
          <a:p>
            <a:pPr indent="0" lvl="1" marL="457200" rtl="0" algn="l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it-IT" sz="1800">
                <a:solidFill>
                  <a:srgbClr val="0070C0"/>
                </a:solidFill>
              </a:rPr>
              <a:t>FROM </a:t>
            </a:r>
            <a:r>
              <a:rPr lang="it-IT" sz="1800"/>
              <a:t>table_name</a:t>
            </a:r>
            <a:r>
              <a:rPr lang="it-IT" sz="2000"/>
              <a:t>;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it-IT"/>
              <a:t>Sintassi con i nomi delle colonne:</a:t>
            </a:r>
            <a:endParaRPr/>
          </a:p>
          <a:p>
            <a:pPr indent="0" lvl="1" marL="40005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it-IT" sz="2000">
                <a:solidFill>
                  <a:srgbClr val="0070C0"/>
                </a:solidFill>
              </a:rPr>
              <a:t>	SELECT </a:t>
            </a:r>
            <a:r>
              <a:rPr i="1" lang="it-IT"/>
              <a:t>column3</a:t>
            </a:r>
            <a:r>
              <a:rPr lang="it-IT"/>
              <a:t>,</a:t>
            </a:r>
            <a:r>
              <a:rPr i="1" lang="it-IT"/>
              <a:t> column1, ...</a:t>
            </a:r>
            <a:endParaRPr sz="2000">
              <a:solidFill>
                <a:srgbClr val="0070C0"/>
              </a:solidFill>
            </a:endParaRPr>
          </a:p>
          <a:p>
            <a:pPr indent="0" lvl="1" marL="40005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it-IT" sz="2000">
                <a:solidFill>
                  <a:srgbClr val="0070C0"/>
                </a:solidFill>
              </a:rPr>
              <a:t>	FROM </a:t>
            </a:r>
            <a:r>
              <a:rPr lang="it-IT" sz="2000"/>
              <a:t>table_name;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it-IT"/>
              <a:t>Sintassi con la posizione delle colonne:</a:t>
            </a:r>
            <a:endParaRPr/>
          </a:p>
          <a:p>
            <a:pPr indent="0" lvl="1" marL="40005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it-IT" sz="2000">
                <a:solidFill>
                  <a:srgbClr val="0070C0"/>
                </a:solidFill>
              </a:rPr>
              <a:t>	SELECT </a:t>
            </a:r>
            <a:r>
              <a:rPr i="1" lang="it-IT"/>
              <a:t>3</a:t>
            </a:r>
            <a:r>
              <a:rPr lang="it-IT"/>
              <a:t>,</a:t>
            </a:r>
            <a:r>
              <a:rPr i="1" lang="it-IT"/>
              <a:t> 1, ...</a:t>
            </a:r>
            <a:endParaRPr sz="2000">
              <a:solidFill>
                <a:srgbClr val="0070C0"/>
              </a:solidFill>
            </a:endParaRPr>
          </a:p>
          <a:p>
            <a:pPr indent="0" lvl="1" marL="40005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it-IT" sz="2000">
                <a:solidFill>
                  <a:srgbClr val="0070C0"/>
                </a:solidFill>
              </a:rPr>
              <a:t>	FROM </a:t>
            </a:r>
            <a:r>
              <a:rPr lang="it-IT" sz="2000"/>
              <a:t>table_name;</a:t>
            </a:r>
            <a:endParaRPr/>
          </a:p>
          <a:p>
            <a:pPr indent="-231140" lvl="0" marL="342900" rtl="0" algn="l">
              <a:spcBef>
                <a:spcPts val="1000"/>
              </a:spcBef>
              <a:spcAft>
                <a:spcPts val="0"/>
              </a:spcAft>
              <a:buSzPts val="1760"/>
              <a:buNone/>
            </a:pPr>
            <a:r>
              <a:t/>
            </a:r>
            <a:endParaRPr sz="22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3"/>
          <p:cNvSpPr txBox="1"/>
          <p:nvPr>
            <p:ph type="title"/>
          </p:nvPr>
        </p:nvSpPr>
        <p:spPr>
          <a:xfrm>
            <a:off x="677334" y="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it-IT"/>
              <a:t>Esempio</a:t>
            </a:r>
            <a:endParaRPr/>
          </a:p>
        </p:txBody>
      </p:sp>
      <p:sp>
        <p:nvSpPr>
          <p:cNvPr id="229" name="Google Shape;229;p13"/>
          <p:cNvSpPr txBox="1"/>
          <p:nvPr>
            <p:ph idx="1" type="body"/>
          </p:nvPr>
        </p:nvSpPr>
        <p:spPr>
          <a:xfrm>
            <a:off x="677331" y="2808305"/>
            <a:ext cx="4184035" cy="14354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rPr lang="it-IT">
                <a:solidFill>
                  <a:srgbClr val="0070C0"/>
                </a:solidFill>
              </a:rPr>
              <a:t>SELECT </a:t>
            </a:r>
            <a:r>
              <a:rPr lang="it-IT"/>
              <a:t>*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it-IT">
                <a:solidFill>
                  <a:srgbClr val="0070C0"/>
                </a:solidFill>
              </a:rPr>
              <a:t>FROM </a:t>
            </a:r>
            <a:r>
              <a:rPr lang="it-IT"/>
              <a:t>anagrafica;</a:t>
            </a:r>
            <a:endParaRPr/>
          </a:p>
        </p:txBody>
      </p:sp>
      <p:graphicFrame>
        <p:nvGraphicFramePr>
          <p:cNvPr id="230" name="Google Shape;230;p13"/>
          <p:cNvGraphicFramePr/>
          <p:nvPr/>
        </p:nvGraphicFramePr>
        <p:xfrm>
          <a:off x="3056276" y="1029424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{299E2279-13E3-498E-9F17-E16632D42E63}</a:tableStyleId>
              </a:tblPr>
              <a:tblGrid>
                <a:gridCol w="1203400"/>
                <a:gridCol w="1203400"/>
                <a:gridCol w="12034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NOME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COGNOME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ETA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Mario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Rossi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25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Gino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Rossi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40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Pippo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Baudo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32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231" name="Google Shape;231;p13"/>
          <p:cNvSpPr/>
          <p:nvPr/>
        </p:nvSpPr>
        <p:spPr>
          <a:xfrm>
            <a:off x="4456323" y="3163786"/>
            <a:ext cx="1038688" cy="426128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rnd" cmpd="sng" w="19050">
            <a:solidFill>
              <a:srgbClr val="698D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aphicFrame>
        <p:nvGraphicFramePr>
          <p:cNvPr id="232" name="Google Shape;232;p13"/>
          <p:cNvGraphicFramePr/>
          <p:nvPr/>
        </p:nvGraphicFramePr>
        <p:xfrm>
          <a:off x="6127239" y="2764123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{402A1E22-17EA-494C-A366-63638AC81CED}</a:tableStyleId>
              </a:tblPr>
              <a:tblGrid>
                <a:gridCol w="1048925"/>
                <a:gridCol w="1048925"/>
                <a:gridCol w="10489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NOME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COGNOME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ETA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Mario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Rossi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25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Gino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Rossi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40</a:t>
                      </a:r>
                      <a:endParaRPr sz="12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Pippo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Baudo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32</a:t>
                      </a:r>
                      <a:endParaRPr sz="12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233" name="Google Shape;233;p13"/>
          <p:cNvSpPr txBox="1"/>
          <p:nvPr/>
        </p:nvSpPr>
        <p:spPr>
          <a:xfrm>
            <a:off x="677330" y="4741860"/>
            <a:ext cx="4184035" cy="19403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rPr lang="it-IT" sz="1800">
                <a:solidFill>
                  <a:srgbClr val="0070C0"/>
                </a:solidFill>
                <a:latin typeface="Trebuchet MS"/>
                <a:ea typeface="Trebuchet MS"/>
                <a:cs typeface="Trebuchet MS"/>
                <a:sym typeface="Trebuchet MS"/>
              </a:rPr>
              <a:t>SELECT </a:t>
            </a:r>
            <a:r>
              <a:rPr lang="it-IT" sz="18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nome, cognome</a:t>
            </a:r>
            <a:endParaRPr sz="1800">
              <a:solidFill>
                <a:srgbClr val="3F3F3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rPr lang="it-IT" sz="1800">
                <a:solidFill>
                  <a:srgbClr val="0070C0"/>
                </a:solidFill>
                <a:latin typeface="Trebuchet MS"/>
                <a:ea typeface="Trebuchet MS"/>
                <a:cs typeface="Trebuchet MS"/>
                <a:sym typeface="Trebuchet MS"/>
              </a:rPr>
              <a:t>FROM </a:t>
            </a:r>
            <a:r>
              <a:rPr lang="it-IT" sz="18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anagrafica;</a:t>
            </a:r>
            <a:endParaRPr sz="1800">
              <a:solidFill>
                <a:srgbClr val="3F3F3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34" name="Google Shape;234;p13"/>
          <p:cNvSpPr/>
          <p:nvPr/>
        </p:nvSpPr>
        <p:spPr>
          <a:xfrm>
            <a:off x="4456323" y="5285925"/>
            <a:ext cx="1038688" cy="426128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rnd" cmpd="sng" w="19050">
            <a:solidFill>
              <a:srgbClr val="698D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aphicFrame>
        <p:nvGraphicFramePr>
          <p:cNvPr id="235" name="Google Shape;235;p13"/>
          <p:cNvGraphicFramePr/>
          <p:nvPr/>
        </p:nvGraphicFramePr>
        <p:xfrm>
          <a:off x="6127239" y="4757309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{402A1E22-17EA-494C-A366-63638AC81CED}</a:tableStyleId>
              </a:tblPr>
              <a:tblGrid>
                <a:gridCol w="1048925"/>
                <a:gridCol w="10489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NOME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COGNOME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Mario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Rossi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Gino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Rossi</a:t>
                      </a:r>
                      <a:endParaRPr sz="12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Pippo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Baudo</a:t>
                      </a:r>
                      <a:endParaRPr sz="12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4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it-IT"/>
              <a:t>ORDER BY</a:t>
            </a:r>
            <a:endParaRPr/>
          </a:p>
        </p:txBody>
      </p:sp>
      <p:sp>
        <p:nvSpPr>
          <p:cNvPr id="241" name="Google Shape;241;p14"/>
          <p:cNvSpPr txBox="1"/>
          <p:nvPr>
            <p:ph idx="1" type="body"/>
          </p:nvPr>
        </p:nvSpPr>
        <p:spPr>
          <a:xfrm>
            <a:off x="677334" y="1930400"/>
            <a:ext cx="8596668" cy="4927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it-IT"/>
              <a:t>Per ordinare i record estratti da un select, si usa la clausola ORDER BY. Se non specificata i record vengono estratti su base row_id, quindi in un ordine pseudo-casuale.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it-IT"/>
              <a:t>La funzione è in grado di ordinare numeri, DATETIME, stringhe(in questo caso l’ordine è lessico grafico).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it-IT"/>
              <a:t>L’ordinamento può essere ASC (ascendente, dal più piccolo al più grande) o DESC (discendente, cioè dal più grande al più piccolo). Se non specificato il default è ASC.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it-IT"/>
              <a:t>L’ordinamento può essere eseguito anche su colonne non presenti nella select.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it-IT"/>
              <a:t>Sintassi con i nomi delle colonne:</a:t>
            </a:r>
            <a:endParaRPr/>
          </a:p>
          <a:p>
            <a:pPr indent="0" lvl="1" marL="40005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it-IT" sz="2000">
                <a:solidFill>
                  <a:srgbClr val="0070C0"/>
                </a:solidFill>
              </a:rPr>
              <a:t>	SELECT </a:t>
            </a:r>
            <a:r>
              <a:rPr i="1" lang="it-IT"/>
              <a:t>column3</a:t>
            </a:r>
            <a:r>
              <a:rPr lang="it-IT"/>
              <a:t>,</a:t>
            </a:r>
            <a:r>
              <a:rPr i="1" lang="it-IT"/>
              <a:t> column1, ...</a:t>
            </a:r>
            <a:endParaRPr sz="2000">
              <a:solidFill>
                <a:srgbClr val="0070C0"/>
              </a:solidFill>
            </a:endParaRPr>
          </a:p>
          <a:p>
            <a:pPr indent="0" lvl="1" marL="40005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it-IT" sz="2000">
                <a:solidFill>
                  <a:srgbClr val="0070C0"/>
                </a:solidFill>
              </a:rPr>
              <a:t>	FROM </a:t>
            </a:r>
            <a:r>
              <a:rPr lang="it-IT" sz="2000"/>
              <a:t>table_name;</a:t>
            </a:r>
            <a:endParaRPr/>
          </a:p>
          <a:p>
            <a:pPr indent="0" lvl="1" marL="40005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it-IT" sz="2000"/>
              <a:t>	</a:t>
            </a:r>
            <a:r>
              <a:rPr lang="it-IT" sz="2100">
                <a:solidFill>
                  <a:srgbClr val="0070C0"/>
                </a:solidFill>
              </a:rPr>
              <a:t>ORDER BY</a:t>
            </a:r>
            <a:r>
              <a:rPr lang="it-IT" sz="2000"/>
              <a:t> column2 </a:t>
            </a:r>
            <a:r>
              <a:rPr lang="it-IT" sz="2100">
                <a:solidFill>
                  <a:srgbClr val="0070C0"/>
                </a:solidFill>
              </a:rPr>
              <a:t>ASC</a:t>
            </a:r>
            <a:r>
              <a:rPr lang="it-IT" sz="2000"/>
              <a:t>, column4 </a:t>
            </a:r>
            <a:r>
              <a:rPr lang="it-IT" sz="2100">
                <a:solidFill>
                  <a:srgbClr val="0070C0"/>
                </a:solidFill>
              </a:rPr>
              <a:t>DESC</a:t>
            </a:r>
            <a:r>
              <a:rPr lang="it-IT" sz="2000"/>
              <a:t>, …</a:t>
            </a:r>
            <a:endParaRPr sz="22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5"/>
          <p:cNvSpPr txBox="1"/>
          <p:nvPr>
            <p:ph type="title"/>
          </p:nvPr>
        </p:nvSpPr>
        <p:spPr>
          <a:xfrm>
            <a:off x="677334" y="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it-IT"/>
              <a:t>Esempio</a:t>
            </a:r>
            <a:endParaRPr/>
          </a:p>
        </p:txBody>
      </p:sp>
      <p:sp>
        <p:nvSpPr>
          <p:cNvPr id="247" name="Google Shape;247;p15"/>
          <p:cNvSpPr txBox="1"/>
          <p:nvPr>
            <p:ph idx="1" type="body"/>
          </p:nvPr>
        </p:nvSpPr>
        <p:spPr>
          <a:xfrm>
            <a:off x="677331" y="2808305"/>
            <a:ext cx="4184035" cy="19403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rPr lang="it-IT">
                <a:solidFill>
                  <a:srgbClr val="0070C0"/>
                </a:solidFill>
              </a:rPr>
              <a:t>SELECT </a:t>
            </a:r>
            <a:r>
              <a:rPr lang="it-IT"/>
              <a:t>nome, cognome, eta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it-IT">
                <a:solidFill>
                  <a:srgbClr val="0070C0"/>
                </a:solidFill>
              </a:rPr>
              <a:t>FROM </a:t>
            </a:r>
            <a:r>
              <a:rPr lang="it-IT"/>
              <a:t>anagrafica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it-IT">
                <a:solidFill>
                  <a:srgbClr val="0070C0"/>
                </a:solidFill>
              </a:rPr>
              <a:t>ORDER BY</a:t>
            </a:r>
            <a:r>
              <a:rPr lang="it-IT"/>
              <a:t> eta</a:t>
            </a:r>
            <a:r>
              <a:rPr lang="it-IT">
                <a:solidFill>
                  <a:srgbClr val="0070C0"/>
                </a:solidFill>
              </a:rPr>
              <a:t> ASC</a:t>
            </a:r>
            <a:r>
              <a:rPr lang="it-IT"/>
              <a:t>;</a:t>
            </a:r>
            <a:endParaRPr/>
          </a:p>
        </p:txBody>
      </p:sp>
      <p:graphicFrame>
        <p:nvGraphicFramePr>
          <p:cNvPr id="248" name="Google Shape;248;p15"/>
          <p:cNvGraphicFramePr/>
          <p:nvPr/>
        </p:nvGraphicFramePr>
        <p:xfrm>
          <a:off x="3056276" y="1029424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{299E2279-13E3-498E-9F17-E16632D42E63}</a:tableStyleId>
              </a:tblPr>
              <a:tblGrid>
                <a:gridCol w="1203400"/>
                <a:gridCol w="1203400"/>
                <a:gridCol w="12034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NOME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COGNOME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ETA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Mario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Rossi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25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Gino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Rossi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40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Pippo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Baudo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32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249" name="Google Shape;249;p15"/>
          <p:cNvSpPr/>
          <p:nvPr/>
        </p:nvSpPr>
        <p:spPr>
          <a:xfrm>
            <a:off x="4456323" y="3292739"/>
            <a:ext cx="1038688" cy="426128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rnd" cmpd="sng" w="19050">
            <a:solidFill>
              <a:srgbClr val="698D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aphicFrame>
        <p:nvGraphicFramePr>
          <p:cNvPr id="250" name="Google Shape;250;p15"/>
          <p:cNvGraphicFramePr/>
          <p:nvPr/>
        </p:nvGraphicFramePr>
        <p:xfrm>
          <a:off x="6127239" y="2764123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{402A1E22-17EA-494C-A366-63638AC81CED}</a:tableStyleId>
              </a:tblPr>
              <a:tblGrid>
                <a:gridCol w="1048925"/>
                <a:gridCol w="1048925"/>
                <a:gridCol w="10489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NOME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COGNOME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ETA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Mario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Rossi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25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Pippo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Baudo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32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Gino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Rossi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40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251" name="Google Shape;251;p15"/>
          <p:cNvSpPr txBox="1"/>
          <p:nvPr/>
        </p:nvSpPr>
        <p:spPr>
          <a:xfrm>
            <a:off x="677330" y="4741860"/>
            <a:ext cx="4184035" cy="19403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rPr lang="it-IT" sz="1800">
                <a:solidFill>
                  <a:srgbClr val="0070C0"/>
                </a:solidFill>
                <a:latin typeface="Trebuchet MS"/>
                <a:ea typeface="Trebuchet MS"/>
                <a:cs typeface="Trebuchet MS"/>
                <a:sym typeface="Trebuchet MS"/>
              </a:rPr>
              <a:t>SELECT </a:t>
            </a:r>
            <a:r>
              <a:rPr lang="it-IT" sz="18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nome, cognome, eta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rPr lang="it-IT" sz="1800">
                <a:solidFill>
                  <a:srgbClr val="0070C0"/>
                </a:solidFill>
                <a:latin typeface="Trebuchet MS"/>
                <a:ea typeface="Trebuchet MS"/>
                <a:cs typeface="Trebuchet MS"/>
                <a:sym typeface="Trebuchet MS"/>
              </a:rPr>
              <a:t>FROM </a:t>
            </a:r>
            <a:r>
              <a:rPr lang="it-IT" sz="18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anagrafica 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rPr lang="it-IT" sz="1800">
                <a:solidFill>
                  <a:srgbClr val="0070C0"/>
                </a:solidFill>
                <a:latin typeface="Trebuchet MS"/>
                <a:ea typeface="Trebuchet MS"/>
                <a:cs typeface="Trebuchet MS"/>
                <a:sym typeface="Trebuchet MS"/>
              </a:rPr>
              <a:t>ORDER BY</a:t>
            </a:r>
            <a:r>
              <a:rPr lang="it-IT" sz="18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 eta</a:t>
            </a:r>
            <a:r>
              <a:rPr lang="it-IT" sz="1800">
                <a:solidFill>
                  <a:srgbClr val="0070C0"/>
                </a:solidFill>
                <a:latin typeface="Trebuchet MS"/>
                <a:ea typeface="Trebuchet MS"/>
                <a:cs typeface="Trebuchet MS"/>
                <a:sym typeface="Trebuchet MS"/>
              </a:rPr>
              <a:t> DESC</a:t>
            </a:r>
            <a:r>
              <a:rPr lang="it-IT" sz="18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;</a:t>
            </a:r>
            <a:endParaRPr/>
          </a:p>
        </p:txBody>
      </p:sp>
      <p:sp>
        <p:nvSpPr>
          <p:cNvPr id="252" name="Google Shape;252;p15"/>
          <p:cNvSpPr/>
          <p:nvPr/>
        </p:nvSpPr>
        <p:spPr>
          <a:xfrm>
            <a:off x="4456323" y="5285925"/>
            <a:ext cx="1038688" cy="426128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rnd" cmpd="sng" w="19050">
            <a:solidFill>
              <a:srgbClr val="698D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aphicFrame>
        <p:nvGraphicFramePr>
          <p:cNvPr id="253" name="Google Shape;253;p15"/>
          <p:cNvGraphicFramePr/>
          <p:nvPr/>
        </p:nvGraphicFramePr>
        <p:xfrm>
          <a:off x="6127239" y="4757309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{402A1E22-17EA-494C-A366-63638AC81CED}</a:tableStyleId>
              </a:tblPr>
              <a:tblGrid>
                <a:gridCol w="1048925"/>
                <a:gridCol w="1048925"/>
                <a:gridCol w="10489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NOME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COGNOME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ETA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Gino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Rossi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40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Pippo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Baudo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32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Mario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Rossi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25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6"/>
          <p:cNvSpPr txBox="1"/>
          <p:nvPr>
            <p:ph type="title"/>
          </p:nvPr>
        </p:nvSpPr>
        <p:spPr>
          <a:xfrm>
            <a:off x="677334" y="1579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it-IT"/>
              <a:t>Esempio</a:t>
            </a:r>
            <a:endParaRPr/>
          </a:p>
        </p:txBody>
      </p:sp>
      <p:sp>
        <p:nvSpPr>
          <p:cNvPr id="260" name="Google Shape;260;p16"/>
          <p:cNvSpPr txBox="1"/>
          <p:nvPr>
            <p:ph idx="1" type="body"/>
          </p:nvPr>
        </p:nvSpPr>
        <p:spPr>
          <a:xfrm>
            <a:off x="677331" y="2808305"/>
            <a:ext cx="4184035" cy="12715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rPr lang="it-IT">
                <a:solidFill>
                  <a:srgbClr val="0070C0"/>
                </a:solidFill>
              </a:rPr>
              <a:t>SELECT </a:t>
            </a:r>
            <a:r>
              <a:rPr lang="it-IT"/>
              <a:t>*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it-IT">
                <a:solidFill>
                  <a:srgbClr val="0070C0"/>
                </a:solidFill>
              </a:rPr>
              <a:t>FROM </a:t>
            </a:r>
            <a:r>
              <a:rPr lang="it-IT"/>
              <a:t>anagrafica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it-IT">
                <a:solidFill>
                  <a:srgbClr val="0070C0"/>
                </a:solidFill>
              </a:rPr>
              <a:t>ORDER BY</a:t>
            </a:r>
            <a:r>
              <a:rPr lang="it-IT"/>
              <a:t> cognome </a:t>
            </a:r>
            <a:r>
              <a:rPr lang="it-IT">
                <a:solidFill>
                  <a:srgbClr val="0070C0"/>
                </a:solidFill>
              </a:rPr>
              <a:t>ASC</a:t>
            </a:r>
            <a:r>
              <a:rPr lang="it-IT"/>
              <a:t>;</a:t>
            </a:r>
            <a:endParaRPr/>
          </a:p>
        </p:txBody>
      </p:sp>
      <p:graphicFrame>
        <p:nvGraphicFramePr>
          <p:cNvPr id="261" name="Google Shape;261;p16"/>
          <p:cNvGraphicFramePr/>
          <p:nvPr/>
        </p:nvGraphicFramePr>
        <p:xfrm>
          <a:off x="3056276" y="1029424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{299E2279-13E3-498E-9F17-E16632D42E63}</a:tableStyleId>
              </a:tblPr>
              <a:tblGrid>
                <a:gridCol w="1203400"/>
                <a:gridCol w="1203400"/>
                <a:gridCol w="12034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NOME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COGNOME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ETA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Mario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Rossi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25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Gino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Rossi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40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Pippo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Baudo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32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262" name="Google Shape;262;p16"/>
          <p:cNvSpPr/>
          <p:nvPr/>
        </p:nvSpPr>
        <p:spPr>
          <a:xfrm>
            <a:off x="4456323" y="3292739"/>
            <a:ext cx="1038688" cy="426128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rnd" cmpd="sng" w="19050">
            <a:solidFill>
              <a:srgbClr val="698D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aphicFrame>
        <p:nvGraphicFramePr>
          <p:cNvPr id="263" name="Google Shape;263;p16"/>
          <p:cNvGraphicFramePr/>
          <p:nvPr/>
        </p:nvGraphicFramePr>
        <p:xfrm>
          <a:off x="6127239" y="2764123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{402A1E22-17EA-494C-A366-63638AC81CED}</a:tableStyleId>
              </a:tblPr>
              <a:tblGrid>
                <a:gridCol w="1048925"/>
                <a:gridCol w="1048925"/>
                <a:gridCol w="10489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NOME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COGNOME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ETA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Pippo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Baudo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32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Mario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Rossi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25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Gino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Rossi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40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264" name="Google Shape;264;p16"/>
          <p:cNvSpPr txBox="1"/>
          <p:nvPr/>
        </p:nvSpPr>
        <p:spPr>
          <a:xfrm>
            <a:off x="677330" y="4757309"/>
            <a:ext cx="4184035" cy="19403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rPr lang="it-IT" sz="1800">
                <a:solidFill>
                  <a:srgbClr val="0070C0"/>
                </a:solidFill>
                <a:latin typeface="Trebuchet MS"/>
                <a:ea typeface="Trebuchet MS"/>
                <a:cs typeface="Trebuchet MS"/>
                <a:sym typeface="Trebuchet MS"/>
              </a:rPr>
              <a:t>SELECT </a:t>
            </a:r>
            <a:r>
              <a:rPr lang="it-IT" sz="18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nome, cognome, eta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rPr lang="it-IT" sz="1800">
                <a:solidFill>
                  <a:srgbClr val="0070C0"/>
                </a:solidFill>
                <a:latin typeface="Trebuchet MS"/>
                <a:ea typeface="Trebuchet MS"/>
                <a:cs typeface="Trebuchet MS"/>
                <a:sym typeface="Trebuchet MS"/>
              </a:rPr>
              <a:t>FROM </a:t>
            </a:r>
            <a:r>
              <a:rPr lang="it-IT" sz="18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anagrafica 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rPr lang="it-IT" sz="1800">
                <a:solidFill>
                  <a:srgbClr val="0070C0"/>
                </a:solidFill>
                <a:latin typeface="Trebuchet MS"/>
                <a:ea typeface="Trebuchet MS"/>
                <a:cs typeface="Trebuchet MS"/>
                <a:sym typeface="Trebuchet MS"/>
              </a:rPr>
              <a:t>ORDER BY</a:t>
            </a:r>
            <a:r>
              <a:rPr lang="it-IT" sz="18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 cognome </a:t>
            </a:r>
            <a:r>
              <a:rPr lang="it-IT" sz="1800">
                <a:solidFill>
                  <a:srgbClr val="0070C0"/>
                </a:solidFill>
                <a:latin typeface="Trebuchet MS"/>
                <a:ea typeface="Trebuchet MS"/>
                <a:cs typeface="Trebuchet MS"/>
                <a:sym typeface="Trebuchet MS"/>
              </a:rPr>
              <a:t>ASC</a:t>
            </a:r>
            <a:r>
              <a:rPr lang="it-IT" sz="18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, eta</a:t>
            </a:r>
            <a:r>
              <a:rPr lang="it-IT" sz="1800">
                <a:solidFill>
                  <a:srgbClr val="0070C0"/>
                </a:solidFill>
                <a:latin typeface="Trebuchet MS"/>
                <a:ea typeface="Trebuchet MS"/>
                <a:cs typeface="Trebuchet MS"/>
                <a:sym typeface="Trebuchet MS"/>
              </a:rPr>
              <a:t> DESC</a:t>
            </a:r>
            <a:r>
              <a:rPr lang="it-IT" sz="18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;</a:t>
            </a:r>
            <a:endParaRPr/>
          </a:p>
        </p:txBody>
      </p:sp>
      <p:sp>
        <p:nvSpPr>
          <p:cNvPr id="265" name="Google Shape;265;p16"/>
          <p:cNvSpPr/>
          <p:nvPr/>
        </p:nvSpPr>
        <p:spPr>
          <a:xfrm>
            <a:off x="4456323" y="5285925"/>
            <a:ext cx="1038688" cy="426128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rnd" cmpd="sng" w="19050">
            <a:solidFill>
              <a:srgbClr val="698D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aphicFrame>
        <p:nvGraphicFramePr>
          <p:cNvPr id="266" name="Google Shape;266;p16"/>
          <p:cNvGraphicFramePr/>
          <p:nvPr/>
        </p:nvGraphicFramePr>
        <p:xfrm>
          <a:off x="6127239" y="4757309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{402A1E22-17EA-494C-A366-63638AC81CED}</a:tableStyleId>
              </a:tblPr>
              <a:tblGrid>
                <a:gridCol w="1048925"/>
                <a:gridCol w="1048925"/>
                <a:gridCol w="10489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NOME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COGNOME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ETA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Pippo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Baudo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32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Gino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Rossi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40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Mario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Rossi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25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7"/>
          <p:cNvSpPr txBox="1"/>
          <p:nvPr>
            <p:ph type="title"/>
          </p:nvPr>
        </p:nvSpPr>
        <p:spPr>
          <a:xfrm>
            <a:off x="677334" y="1579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it-IT"/>
              <a:t>Esempio</a:t>
            </a:r>
            <a:endParaRPr/>
          </a:p>
        </p:txBody>
      </p:sp>
      <p:sp>
        <p:nvSpPr>
          <p:cNvPr id="273" name="Google Shape;273;p17"/>
          <p:cNvSpPr txBox="1"/>
          <p:nvPr>
            <p:ph idx="1" type="body"/>
          </p:nvPr>
        </p:nvSpPr>
        <p:spPr>
          <a:xfrm>
            <a:off x="0" y="2986101"/>
            <a:ext cx="4965895" cy="12715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rPr lang="it-IT">
                <a:solidFill>
                  <a:srgbClr val="0070C0"/>
                </a:solidFill>
              </a:rPr>
              <a:t>SELECT </a:t>
            </a:r>
            <a:r>
              <a:rPr lang="it-IT"/>
              <a:t>nome, cognome,eta+10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it-IT">
                <a:solidFill>
                  <a:srgbClr val="0070C0"/>
                </a:solidFill>
              </a:rPr>
              <a:t>FROM </a:t>
            </a:r>
            <a:r>
              <a:rPr lang="it-IT"/>
              <a:t>anagrafica;</a:t>
            </a:r>
            <a:endParaRPr/>
          </a:p>
        </p:txBody>
      </p:sp>
      <p:graphicFrame>
        <p:nvGraphicFramePr>
          <p:cNvPr id="274" name="Google Shape;274;p17"/>
          <p:cNvGraphicFramePr/>
          <p:nvPr/>
        </p:nvGraphicFramePr>
        <p:xfrm>
          <a:off x="2579401" y="1027657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{299E2279-13E3-498E-9F17-E16632D42E63}</a:tableStyleId>
              </a:tblPr>
              <a:tblGrid>
                <a:gridCol w="1198125"/>
                <a:gridCol w="1198125"/>
                <a:gridCol w="11981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NOME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COGNOME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ETA</a:t>
                      </a:r>
                      <a:endParaRPr sz="12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Mario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Rossi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25</a:t>
                      </a:r>
                      <a:endParaRPr sz="12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Gino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Rossi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40</a:t>
                      </a:r>
                      <a:endParaRPr sz="12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Pippo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Baudo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32</a:t>
                      </a:r>
                      <a:endParaRPr sz="12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275" name="Google Shape;275;p17"/>
          <p:cNvSpPr/>
          <p:nvPr/>
        </p:nvSpPr>
        <p:spPr>
          <a:xfrm>
            <a:off x="4861365" y="3292739"/>
            <a:ext cx="1038688" cy="426128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rnd" cmpd="sng" w="19050">
            <a:solidFill>
              <a:srgbClr val="698D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aphicFrame>
        <p:nvGraphicFramePr>
          <p:cNvPr id="276" name="Google Shape;276;p17"/>
          <p:cNvGraphicFramePr/>
          <p:nvPr/>
        </p:nvGraphicFramePr>
        <p:xfrm>
          <a:off x="6116103" y="2720943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{402A1E22-17EA-494C-A366-63638AC81CED}</a:tableStyleId>
              </a:tblPr>
              <a:tblGrid>
                <a:gridCol w="941200"/>
                <a:gridCol w="1254375"/>
                <a:gridCol w="15949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NOME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COGNOME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ETA+10</a:t>
                      </a:r>
                      <a:endParaRPr sz="12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Mario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Rossi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35</a:t>
                      </a:r>
                      <a:endParaRPr sz="12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Gino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Rossi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50</a:t>
                      </a:r>
                      <a:endParaRPr sz="12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Pippo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Baudo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42</a:t>
                      </a:r>
                      <a:endParaRPr sz="12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277" name="Google Shape;277;p17"/>
          <p:cNvSpPr txBox="1"/>
          <p:nvPr/>
        </p:nvSpPr>
        <p:spPr>
          <a:xfrm>
            <a:off x="0" y="5039360"/>
            <a:ext cx="4861365" cy="19403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rPr lang="it-IT" sz="1800">
                <a:solidFill>
                  <a:srgbClr val="0070C0"/>
                </a:solidFill>
                <a:latin typeface="Trebuchet MS"/>
                <a:ea typeface="Trebuchet MS"/>
                <a:cs typeface="Trebuchet MS"/>
                <a:sym typeface="Trebuchet MS"/>
              </a:rPr>
              <a:t>SELECT </a:t>
            </a:r>
            <a:r>
              <a:rPr lang="it-IT" sz="18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nome as "Persona", eta </a:t>
            </a:r>
            <a:r>
              <a:rPr lang="it-IT" sz="1800">
                <a:solidFill>
                  <a:srgbClr val="0070C0"/>
                </a:solidFill>
                <a:latin typeface="Trebuchet MS"/>
                <a:ea typeface="Trebuchet MS"/>
                <a:cs typeface="Trebuchet MS"/>
                <a:sym typeface="Trebuchet MS"/>
              </a:rPr>
              <a:t>FROM </a:t>
            </a:r>
            <a:r>
              <a:rPr lang="it-IT" sz="18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anagrafica;</a:t>
            </a:r>
            <a:endParaRPr/>
          </a:p>
        </p:txBody>
      </p:sp>
      <p:sp>
        <p:nvSpPr>
          <p:cNvPr id="278" name="Google Shape;278;p17"/>
          <p:cNvSpPr/>
          <p:nvPr/>
        </p:nvSpPr>
        <p:spPr>
          <a:xfrm>
            <a:off x="4861365" y="5285925"/>
            <a:ext cx="1038688" cy="426128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rnd" cmpd="sng" w="19050">
            <a:solidFill>
              <a:srgbClr val="698D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aphicFrame>
        <p:nvGraphicFramePr>
          <p:cNvPr id="279" name="Google Shape;279;p17"/>
          <p:cNvGraphicFramePr/>
          <p:nvPr/>
        </p:nvGraphicFramePr>
        <p:xfrm>
          <a:off x="6613809" y="4757309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{402A1E22-17EA-494C-A366-63638AC81CED}</a:tableStyleId>
              </a:tblPr>
              <a:tblGrid>
                <a:gridCol w="1048925"/>
                <a:gridCol w="10489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Persona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ETA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Mario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25</a:t>
                      </a:r>
                      <a:endParaRPr sz="12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Gino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40</a:t>
                      </a:r>
                      <a:endParaRPr sz="12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Pippo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42</a:t>
                      </a:r>
                      <a:endParaRPr sz="12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8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it-IT"/>
              <a:t>WHERE</a:t>
            </a:r>
            <a:endParaRPr/>
          </a:p>
        </p:txBody>
      </p:sp>
      <p:sp>
        <p:nvSpPr>
          <p:cNvPr id="285" name="Google Shape;285;p18"/>
          <p:cNvSpPr txBox="1"/>
          <p:nvPr>
            <p:ph idx="1" type="body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it-IT"/>
              <a:t>La clausola </a:t>
            </a:r>
            <a:r>
              <a:rPr lang="it-IT">
                <a:solidFill>
                  <a:srgbClr val="0070C0"/>
                </a:solidFill>
              </a:rPr>
              <a:t>WHERE </a:t>
            </a:r>
            <a:r>
              <a:rPr lang="it-IT">
                <a:solidFill>
                  <a:schemeClr val="dk1"/>
                </a:solidFill>
              </a:rPr>
              <a:t>viene utilizzata per filtrare i record di una tabella nelle operazioni CRUD.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it-IT">
                <a:solidFill>
                  <a:schemeClr val="dk1"/>
                </a:solidFill>
              </a:rPr>
              <a:t>La where lavora su condizioni logiche TRUE/FALSE , quindi necessita di condizioni che restituiscano in output un booleano (come nelle IF java).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it-IT">
                <a:solidFill>
                  <a:schemeClr val="dk1"/>
                </a:solidFill>
              </a:rPr>
              <a:t>Essendo il risultato della condition un booleano, sono ammessi gli operatori logici </a:t>
            </a:r>
            <a:r>
              <a:rPr lang="it-IT">
                <a:solidFill>
                  <a:srgbClr val="0070C0"/>
                </a:solidFill>
              </a:rPr>
              <a:t>AND</a:t>
            </a:r>
            <a:r>
              <a:rPr lang="it-IT">
                <a:solidFill>
                  <a:schemeClr val="dk1"/>
                </a:solidFill>
              </a:rPr>
              <a:t> , </a:t>
            </a:r>
            <a:r>
              <a:rPr lang="it-IT">
                <a:solidFill>
                  <a:srgbClr val="0070C0"/>
                </a:solidFill>
              </a:rPr>
              <a:t>OR</a:t>
            </a:r>
            <a:r>
              <a:rPr lang="it-IT">
                <a:solidFill>
                  <a:schemeClr val="dk1"/>
                </a:solidFill>
              </a:rPr>
              <a:t> , </a:t>
            </a:r>
            <a:r>
              <a:rPr lang="it-IT">
                <a:solidFill>
                  <a:srgbClr val="0070C0"/>
                </a:solidFill>
              </a:rPr>
              <a:t>NOT</a:t>
            </a:r>
            <a:r>
              <a:rPr lang="it-IT">
                <a:solidFill>
                  <a:schemeClr val="dk1"/>
                </a:solidFill>
              </a:rPr>
              <a:t> .</a:t>
            </a:r>
            <a:endParaRPr>
              <a:solidFill>
                <a:srgbClr val="0070C0"/>
              </a:solidFill>
            </a:endParaRPr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it-IT">
                <a:solidFill>
                  <a:schemeClr val="dk1"/>
                </a:solidFill>
              </a:rPr>
              <a:t>Sintassi del comando nel caso di select :</a:t>
            </a:r>
            <a:endParaRPr/>
          </a:p>
          <a:p>
            <a:pPr indent="0" lvl="1" marL="457200" rtl="0" algn="l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it-IT" sz="1800">
                <a:solidFill>
                  <a:srgbClr val="0070C0"/>
                </a:solidFill>
              </a:rPr>
              <a:t>SELECT *</a:t>
            </a:r>
            <a:endParaRPr/>
          </a:p>
          <a:p>
            <a:pPr indent="0" lvl="1" marL="457200" rtl="0" algn="l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it-IT" sz="1800">
                <a:solidFill>
                  <a:srgbClr val="0070C0"/>
                </a:solidFill>
              </a:rPr>
              <a:t>FROM </a:t>
            </a:r>
            <a:r>
              <a:rPr lang="it-IT" sz="1800">
                <a:solidFill>
                  <a:schemeClr val="dk1"/>
                </a:solidFill>
              </a:rPr>
              <a:t>table_name</a:t>
            </a:r>
            <a:endParaRPr/>
          </a:p>
          <a:p>
            <a:pPr indent="0" lvl="1" marL="457200" rtl="0" algn="l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it-IT" sz="1800">
                <a:solidFill>
                  <a:srgbClr val="0070C0"/>
                </a:solidFill>
              </a:rPr>
              <a:t>WHERE </a:t>
            </a:r>
            <a:r>
              <a:rPr lang="it-IT" sz="1800">
                <a:solidFill>
                  <a:schemeClr val="dk1"/>
                </a:solidFill>
              </a:rPr>
              <a:t>condition;</a:t>
            </a:r>
            <a:endParaRPr/>
          </a:p>
          <a:p>
            <a:pPr indent="0" lvl="1" marL="45720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9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it-IT"/>
              <a:t>Esempio</a:t>
            </a:r>
            <a:endParaRPr/>
          </a:p>
        </p:txBody>
      </p:sp>
      <p:sp>
        <p:nvSpPr>
          <p:cNvPr id="291" name="Google Shape;291;p19"/>
          <p:cNvSpPr txBox="1"/>
          <p:nvPr>
            <p:ph idx="1" type="body"/>
          </p:nvPr>
        </p:nvSpPr>
        <p:spPr>
          <a:xfrm>
            <a:off x="478302" y="3296312"/>
            <a:ext cx="3978022" cy="3561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rPr lang="it-IT">
                <a:solidFill>
                  <a:srgbClr val="0070C0"/>
                </a:solidFill>
              </a:rPr>
              <a:t>SELECT </a:t>
            </a:r>
            <a:r>
              <a:rPr lang="it-IT"/>
              <a:t>nome, cognome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it-IT">
                <a:solidFill>
                  <a:srgbClr val="0070C0"/>
                </a:solidFill>
              </a:rPr>
              <a:t>FROM </a:t>
            </a:r>
            <a:r>
              <a:rPr lang="it-IT"/>
              <a:t>anagrafica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it-IT">
                <a:solidFill>
                  <a:srgbClr val="0070C0"/>
                </a:solidFill>
              </a:rPr>
              <a:t>WHERE </a:t>
            </a:r>
            <a:r>
              <a:rPr lang="it-IT"/>
              <a:t>cognome = ‘Rossi’;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it-IT">
                <a:solidFill>
                  <a:srgbClr val="0070C0"/>
                </a:solidFill>
              </a:rPr>
              <a:t>SELECT </a:t>
            </a:r>
            <a:r>
              <a:rPr lang="it-IT"/>
              <a:t>nome, cognome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it-IT">
                <a:solidFill>
                  <a:srgbClr val="0070C0"/>
                </a:solidFill>
              </a:rPr>
              <a:t>FROM </a:t>
            </a:r>
            <a:r>
              <a:rPr lang="it-IT"/>
              <a:t>anagrafica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it-IT">
                <a:solidFill>
                  <a:srgbClr val="0070C0"/>
                </a:solidFill>
              </a:rPr>
              <a:t>WHERE </a:t>
            </a:r>
            <a:r>
              <a:rPr lang="it-IT"/>
              <a:t>cognome = ‘Rossi’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520"/>
              <a:buNone/>
            </a:pPr>
            <a:r>
              <a:rPr lang="it-IT" sz="1900">
                <a:solidFill>
                  <a:srgbClr val="0070C0"/>
                </a:solidFill>
              </a:rPr>
              <a:t>AND</a:t>
            </a:r>
            <a:r>
              <a:rPr lang="it-IT"/>
              <a:t> nome = ‘Mario’;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</p:txBody>
      </p:sp>
      <p:graphicFrame>
        <p:nvGraphicFramePr>
          <p:cNvPr id="292" name="Google Shape;292;p19"/>
          <p:cNvGraphicFramePr/>
          <p:nvPr/>
        </p:nvGraphicFramePr>
        <p:xfrm>
          <a:off x="3056278" y="1270000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{299E2279-13E3-498E-9F17-E16632D42E63}</a:tableStyleId>
              </a:tblPr>
              <a:tblGrid>
                <a:gridCol w="1203400"/>
                <a:gridCol w="1203400"/>
                <a:gridCol w="12034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NOME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COGNOME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ETA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Mario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Rossi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25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Pippo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Baudo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32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Gino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Rossi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40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293" name="Google Shape;293;p19"/>
          <p:cNvSpPr/>
          <p:nvPr/>
        </p:nvSpPr>
        <p:spPr>
          <a:xfrm>
            <a:off x="4456324" y="3669005"/>
            <a:ext cx="1038688" cy="426128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rnd" cmpd="sng" w="19050">
            <a:solidFill>
              <a:srgbClr val="698D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aphicFrame>
        <p:nvGraphicFramePr>
          <p:cNvPr id="294" name="Google Shape;294;p19"/>
          <p:cNvGraphicFramePr/>
          <p:nvPr/>
        </p:nvGraphicFramePr>
        <p:xfrm>
          <a:off x="6096000" y="3249797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{402A1E22-17EA-494C-A366-63638AC81CED}</a:tableStyleId>
              </a:tblPr>
              <a:tblGrid>
                <a:gridCol w="1203400"/>
                <a:gridCol w="12034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NOME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COGNOME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Gino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Rossi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Mario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Rossi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295" name="Google Shape;295;p19"/>
          <p:cNvSpPr/>
          <p:nvPr/>
        </p:nvSpPr>
        <p:spPr>
          <a:xfrm>
            <a:off x="4425084" y="5664496"/>
            <a:ext cx="1038688" cy="426128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rnd" cmpd="sng" w="19050">
            <a:solidFill>
              <a:srgbClr val="698D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aphicFrame>
        <p:nvGraphicFramePr>
          <p:cNvPr id="296" name="Google Shape;296;p19"/>
          <p:cNvGraphicFramePr/>
          <p:nvPr/>
        </p:nvGraphicFramePr>
        <p:xfrm>
          <a:off x="6096000" y="5506720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{402A1E22-17EA-494C-A366-63638AC81CED}</a:tableStyleId>
              </a:tblPr>
              <a:tblGrid>
                <a:gridCol w="1203400"/>
                <a:gridCol w="12034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NOME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COGNOME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Mario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Rossi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0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it-IT"/>
              <a:t>Tavola degli Operatori</a:t>
            </a:r>
            <a:endParaRPr/>
          </a:p>
        </p:txBody>
      </p:sp>
      <p:graphicFrame>
        <p:nvGraphicFramePr>
          <p:cNvPr id="302" name="Google Shape;302;p20"/>
          <p:cNvGraphicFramePr/>
          <p:nvPr/>
        </p:nvGraphicFramePr>
        <p:xfrm>
          <a:off x="677690" y="1532515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{299E2279-13E3-498E-9F17-E16632D42E63}</a:tableStyleId>
              </a:tblPr>
              <a:tblGrid>
                <a:gridCol w="4298150"/>
                <a:gridCol w="42981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800"/>
                        <a:t>Operatore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800"/>
                        <a:t>Descrizione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800"/>
                        <a:t>=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800"/>
                        <a:t>Uguale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800"/>
                        <a:t>&lt;&gt;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800"/>
                        <a:t>Diverso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800"/>
                        <a:t>&gt;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800"/>
                        <a:t>Maggiore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800"/>
                        <a:t>&lt;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800"/>
                        <a:t>Minore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800"/>
                        <a:t>&gt;=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800"/>
                        <a:t>Maggiore uguale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800"/>
                        <a:t>&lt;=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800"/>
                        <a:t>Minore uguale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800"/>
                        <a:t>BETWEEN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800"/>
                        <a:t>Compreso in un range di valori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800"/>
                        <a:t>LIKE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800"/>
                        <a:t>Ricerca con wildcards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800"/>
                        <a:t>IN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800"/>
                        <a:t>Compreso tra i valori elencati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800"/>
                        <a:t>EXISTS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800"/>
                        <a:t>TRUE se la subquery restituisce dei valori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1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it-IT"/>
              <a:t>Altri Operatori per Where</a:t>
            </a:r>
            <a:endParaRPr/>
          </a:p>
        </p:txBody>
      </p:sp>
      <p:sp>
        <p:nvSpPr>
          <p:cNvPr id="308" name="Google Shape;308;p21"/>
          <p:cNvSpPr txBox="1"/>
          <p:nvPr>
            <p:ph idx="1" type="body"/>
          </p:nvPr>
        </p:nvSpPr>
        <p:spPr>
          <a:xfrm>
            <a:off x="677334" y="1434906"/>
            <a:ext cx="8596668" cy="54230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it-IT"/>
              <a:t>Operatore </a:t>
            </a:r>
            <a:r>
              <a:rPr lang="it-IT">
                <a:solidFill>
                  <a:srgbClr val="0070C0"/>
                </a:solidFill>
              </a:rPr>
              <a:t>IN</a:t>
            </a:r>
            <a:r>
              <a:rPr lang="it-IT"/>
              <a:t> – permette di definire una where condition su un insieme discreto di valori(max 999).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it-IT"/>
              <a:t>Operatore </a:t>
            </a:r>
            <a:r>
              <a:rPr lang="it-IT">
                <a:solidFill>
                  <a:srgbClr val="0070C0"/>
                </a:solidFill>
              </a:rPr>
              <a:t>BETWEEN – </a:t>
            </a:r>
            <a:r>
              <a:rPr lang="it-IT"/>
              <a:t>permette di definire una where condition su un range di valori di tipo INT o DATETIME. L’espressione è equivalente a due where condition in AND con ‘=&lt;‘ e ‘&gt;=’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it-IT"/>
              <a:t>Operatore </a:t>
            </a:r>
            <a:r>
              <a:rPr lang="it-IT">
                <a:solidFill>
                  <a:srgbClr val="0070C0"/>
                </a:solidFill>
              </a:rPr>
              <a:t>EXISTS - </a:t>
            </a:r>
            <a:r>
              <a:rPr lang="it-IT"/>
              <a:t>permette di definire una where condition di esistenza in un result set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it-IT"/>
              <a:t>Operatore </a:t>
            </a:r>
            <a:r>
              <a:rPr lang="it-IT">
                <a:solidFill>
                  <a:srgbClr val="0070C0"/>
                </a:solidFill>
              </a:rPr>
              <a:t>LIKE</a:t>
            </a:r>
            <a:r>
              <a:rPr lang="it-IT"/>
              <a:t> e Wildcards - permette di definire una where condition su un valore “simile” a quello inserito. Le due wildcards principali sono:</a:t>
            </a:r>
            <a:endParaRPr/>
          </a:p>
          <a:p>
            <a:pPr indent="0" lvl="1" marL="457200" rtl="0" algn="l">
              <a:spcBef>
                <a:spcPts val="1000"/>
              </a:spcBef>
              <a:spcAft>
                <a:spcPts val="0"/>
              </a:spcAft>
              <a:buSzPts val="1280"/>
              <a:buNone/>
            </a:pPr>
            <a:r>
              <a:rPr lang="it-IT"/>
              <a:t>	</a:t>
            </a:r>
            <a:r>
              <a:rPr lang="it-IT" sz="2600"/>
              <a:t>_</a:t>
            </a:r>
            <a:r>
              <a:rPr lang="it-IT"/>
              <a:t> - che rappresenta un singolo carattere</a:t>
            </a:r>
            <a:endParaRPr/>
          </a:p>
          <a:p>
            <a:pPr indent="0" lvl="1" marL="457200" rtl="0" algn="l">
              <a:spcBef>
                <a:spcPts val="1000"/>
              </a:spcBef>
              <a:spcAft>
                <a:spcPts val="0"/>
              </a:spcAft>
              <a:buSzPts val="1280"/>
              <a:buNone/>
            </a:pPr>
            <a:r>
              <a:rPr lang="it-IT"/>
              <a:t>	</a:t>
            </a:r>
            <a:r>
              <a:rPr lang="it-IT" sz="2600"/>
              <a:t>%</a:t>
            </a:r>
            <a:r>
              <a:rPr lang="it-IT"/>
              <a:t> - che rappresenta zero, nessuno o più caratteri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2"/>
          <p:cNvSpPr txBox="1"/>
          <p:nvPr>
            <p:ph type="title"/>
          </p:nvPr>
        </p:nvSpPr>
        <p:spPr>
          <a:xfrm>
            <a:off x="4937760" y="0"/>
            <a:ext cx="7254240" cy="6596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it-IT"/>
              <a:t>Esempio</a:t>
            </a:r>
            <a:endParaRPr/>
          </a:p>
        </p:txBody>
      </p:sp>
      <p:sp>
        <p:nvSpPr>
          <p:cNvPr id="314" name="Google Shape;314;p22"/>
          <p:cNvSpPr txBox="1"/>
          <p:nvPr>
            <p:ph idx="1" type="body"/>
          </p:nvPr>
        </p:nvSpPr>
        <p:spPr>
          <a:xfrm>
            <a:off x="1" y="0"/>
            <a:ext cx="6867213" cy="68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79999"/>
              <a:buNone/>
            </a:pPr>
            <a:r>
              <a:rPr lang="it-IT">
                <a:solidFill>
                  <a:srgbClr val="0070C0"/>
                </a:solidFill>
              </a:rPr>
              <a:t>SELECT * FROM </a:t>
            </a:r>
            <a:r>
              <a:rPr lang="it-IT"/>
              <a:t>anagrafica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79999"/>
              <a:buNone/>
            </a:pPr>
            <a:r>
              <a:rPr lang="it-IT">
                <a:solidFill>
                  <a:srgbClr val="0070C0"/>
                </a:solidFill>
              </a:rPr>
              <a:t>WHERE </a:t>
            </a:r>
            <a:r>
              <a:rPr lang="it-IT"/>
              <a:t>nome</a:t>
            </a:r>
            <a:r>
              <a:rPr lang="it-IT">
                <a:solidFill>
                  <a:srgbClr val="0070C0"/>
                </a:solidFill>
              </a:rPr>
              <a:t> IN </a:t>
            </a:r>
            <a:r>
              <a:rPr lang="it-IT"/>
              <a:t> (’Mario’,’Alvaro’,’Pippo’,’Pluto’,’Paperino’);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79999"/>
              <a:buNone/>
            </a:pPr>
            <a:r>
              <a:t/>
            </a:r>
            <a:endParaRPr>
              <a:solidFill>
                <a:srgbClr val="0070C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79999"/>
              <a:buNone/>
            </a:pPr>
            <a:r>
              <a:rPr lang="it-IT">
                <a:solidFill>
                  <a:srgbClr val="0070C0"/>
                </a:solidFill>
              </a:rPr>
              <a:t>SELECT * FROM </a:t>
            </a:r>
            <a:r>
              <a:rPr lang="it-IT"/>
              <a:t>anagrafica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79999"/>
              <a:buNone/>
            </a:pPr>
            <a:r>
              <a:rPr lang="it-IT">
                <a:solidFill>
                  <a:srgbClr val="0070C0"/>
                </a:solidFill>
              </a:rPr>
              <a:t>WHERE </a:t>
            </a:r>
            <a:r>
              <a:rPr lang="it-IT"/>
              <a:t>data_nascita </a:t>
            </a:r>
            <a:r>
              <a:rPr lang="it-IT">
                <a:solidFill>
                  <a:srgbClr val="0070C0"/>
                </a:solidFill>
              </a:rPr>
              <a:t>BETWEEN </a:t>
            </a:r>
            <a:r>
              <a:rPr lang="it-IT"/>
              <a:t>'1979-01-10' AND str_to_date('03/12/1998','%d/%m/%Y');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79999"/>
              <a:buNone/>
            </a:pPr>
            <a:r>
              <a:rPr i="1" lang="it-IT"/>
              <a:t>EQUIVALENTE A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79999"/>
              <a:buNone/>
            </a:pPr>
            <a:r>
              <a:rPr lang="it-IT">
                <a:solidFill>
                  <a:srgbClr val="0070C0"/>
                </a:solidFill>
              </a:rPr>
              <a:t>SELECT * FROM </a:t>
            </a:r>
            <a:r>
              <a:rPr lang="it-IT"/>
              <a:t>anagrafica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79999"/>
              <a:buNone/>
            </a:pPr>
            <a:r>
              <a:rPr lang="it-IT">
                <a:solidFill>
                  <a:srgbClr val="0070C0"/>
                </a:solidFill>
              </a:rPr>
              <a:t>WHERE </a:t>
            </a:r>
            <a:r>
              <a:rPr lang="it-IT"/>
              <a:t>data_nascita </a:t>
            </a:r>
            <a:r>
              <a:rPr lang="it-IT">
                <a:solidFill>
                  <a:srgbClr val="0070C0"/>
                </a:solidFill>
              </a:rPr>
              <a:t> &gt;= '1979-01-10'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79999"/>
              <a:buNone/>
            </a:pPr>
            <a:r>
              <a:rPr lang="it-IT">
                <a:solidFill>
                  <a:srgbClr val="0070C0"/>
                </a:solidFill>
              </a:rPr>
              <a:t>AND </a:t>
            </a:r>
            <a:r>
              <a:rPr lang="it-IT"/>
              <a:t>data_nascita </a:t>
            </a:r>
            <a:r>
              <a:rPr lang="it-IT">
                <a:solidFill>
                  <a:srgbClr val="0070C0"/>
                </a:solidFill>
              </a:rPr>
              <a:t> &lt;= </a:t>
            </a:r>
            <a:r>
              <a:rPr lang="it-IT"/>
              <a:t>str_to_date('03/12/1998','%d/%m/%Y');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79999"/>
              <a:buNone/>
            </a:pPr>
            <a:r>
              <a:rPr lang="it-IT">
                <a:solidFill>
                  <a:srgbClr val="0070C0"/>
                </a:solidFill>
              </a:rPr>
              <a:t>Attenzione agli orari -&gt;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79999"/>
              <a:buNone/>
            </a:pPr>
            <a:r>
              <a:rPr lang="it-IT">
                <a:solidFill>
                  <a:srgbClr val="0070C0"/>
                </a:solidFill>
              </a:rPr>
              <a:t>SELECT * FROM anagrafica WHERE data_nascita BETWEEN '1979-01-01' AND str_to_date('10/01/1979','%d/%m/%Y');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79999"/>
              <a:buNone/>
            </a:pPr>
            <a:r>
              <a:t/>
            </a:r>
            <a:endParaRPr>
              <a:solidFill>
                <a:srgbClr val="0070C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79999"/>
              <a:buNone/>
            </a:pPr>
            <a:r>
              <a:rPr lang="it-IT">
                <a:solidFill>
                  <a:srgbClr val="0070C0"/>
                </a:solidFill>
              </a:rPr>
              <a:t>SELECT * FROM </a:t>
            </a:r>
            <a:r>
              <a:rPr lang="it-IT"/>
              <a:t>anagrafica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79999"/>
              <a:buNone/>
            </a:pPr>
            <a:r>
              <a:rPr lang="it-IT">
                <a:solidFill>
                  <a:srgbClr val="0070C0"/>
                </a:solidFill>
              </a:rPr>
              <a:t>WHERE </a:t>
            </a:r>
            <a:r>
              <a:rPr lang="it-IT"/>
              <a:t>nome</a:t>
            </a:r>
            <a:r>
              <a:rPr lang="it-IT">
                <a:solidFill>
                  <a:srgbClr val="0070C0"/>
                </a:solidFill>
              </a:rPr>
              <a:t> LIKE </a:t>
            </a:r>
            <a:r>
              <a:rPr lang="it-IT"/>
              <a:t>‘Al%’;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79999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79999"/>
              <a:buNone/>
            </a:pPr>
            <a:r>
              <a:rPr lang="it-IT">
                <a:solidFill>
                  <a:srgbClr val="0070C0"/>
                </a:solidFill>
              </a:rPr>
              <a:t>SELECT * FROM </a:t>
            </a:r>
            <a:r>
              <a:rPr lang="it-IT"/>
              <a:t>anagrafica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79999"/>
              <a:buNone/>
            </a:pPr>
            <a:r>
              <a:rPr lang="it-IT">
                <a:solidFill>
                  <a:srgbClr val="0070C0"/>
                </a:solidFill>
              </a:rPr>
              <a:t>WHERE </a:t>
            </a:r>
            <a:r>
              <a:rPr lang="it-IT"/>
              <a:t>cognome</a:t>
            </a:r>
            <a:r>
              <a:rPr lang="it-IT">
                <a:solidFill>
                  <a:srgbClr val="0070C0"/>
                </a:solidFill>
              </a:rPr>
              <a:t> LIKE </a:t>
            </a:r>
            <a:r>
              <a:rPr lang="it-IT"/>
              <a:t>‘%al%’;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79999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79999"/>
              <a:buNone/>
            </a:pPr>
            <a:r>
              <a:rPr lang="it-IT">
                <a:solidFill>
                  <a:srgbClr val="0070C0"/>
                </a:solidFill>
              </a:rPr>
              <a:t>SELECT * FROM </a:t>
            </a:r>
            <a:r>
              <a:rPr lang="it-IT"/>
              <a:t>anagrafica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79999"/>
              <a:buNone/>
            </a:pPr>
            <a:r>
              <a:rPr lang="it-IT">
                <a:solidFill>
                  <a:srgbClr val="0070C0"/>
                </a:solidFill>
              </a:rPr>
              <a:t>WHERE </a:t>
            </a:r>
            <a:r>
              <a:rPr lang="it-IT"/>
              <a:t>cognome</a:t>
            </a:r>
            <a:r>
              <a:rPr lang="it-IT">
                <a:solidFill>
                  <a:srgbClr val="0070C0"/>
                </a:solidFill>
              </a:rPr>
              <a:t> LIKE </a:t>
            </a:r>
            <a:r>
              <a:rPr lang="it-IT"/>
              <a:t>‘Ros_i’;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79999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79999"/>
              <a:buNone/>
            </a:pPr>
            <a:r>
              <a:rPr lang="it-IT">
                <a:solidFill>
                  <a:srgbClr val="0070C0"/>
                </a:solidFill>
              </a:rPr>
              <a:t>SELECT * FROM </a:t>
            </a:r>
            <a:r>
              <a:rPr lang="it-IT"/>
              <a:t>anagrafica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79999"/>
              <a:buNone/>
            </a:pPr>
            <a:r>
              <a:rPr lang="it-IT">
                <a:solidFill>
                  <a:srgbClr val="0070C0"/>
                </a:solidFill>
              </a:rPr>
              <a:t>WHERE </a:t>
            </a:r>
            <a:r>
              <a:rPr lang="it-IT"/>
              <a:t>eta</a:t>
            </a:r>
            <a:r>
              <a:rPr lang="it-IT">
                <a:solidFill>
                  <a:srgbClr val="0070C0"/>
                </a:solidFill>
              </a:rPr>
              <a:t> IS NULL</a:t>
            </a:r>
            <a:r>
              <a:rPr lang="it-IT"/>
              <a:t>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79999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79999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79999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79999"/>
              <a:buNone/>
            </a:pPr>
            <a:r>
              <a:t/>
            </a:r>
            <a:endParaRPr/>
          </a:p>
        </p:txBody>
      </p:sp>
      <p:graphicFrame>
        <p:nvGraphicFramePr>
          <p:cNvPr id="315" name="Google Shape;315;p22"/>
          <p:cNvGraphicFramePr/>
          <p:nvPr/>
        </p:nvGraphicFramePr>
        <p:xfrm>
          <a:off x="6867214" y="2072641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{299E2279-13E3-498E-9F17-E16632D42E63}</a:tableStyleId>
              </a:tblPr>
              <a:tblGrid>
                <a:gridCol w="1203400"/>
                <a:gridCol w="1203400"/>
                <a:gridCol w="1203400"/>
                <a:gridCol w="12034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NOME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COGNOME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ETA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DATA_</a:t>
                      </a:r>
                      <a:r>
                        <a:rPr b="0" lang="it-IT" sz="1200"/>
                        <a:t>NASCITA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Mario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Rossi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25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1998-12-03 </a:t>
                      </a:r>
                      <a:r>
                        <a:rPr b="0" lang="it-IT" sz="1200"/>
                        <a:t>00:00:00</a:t>
                      </a:r>
                      <a:endParaRPr b="0" sz="12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Pippo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Pluto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32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1979-01-10 17:01:29</a:t>
                      </a:r>
                      <a:endParaRPr b="0" sz="12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Alfredo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Vitali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70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1932-01-10 16:00:00</a:t>
                      </a:r>
                      <a:endParaRPr b="0" sz="12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Alfonso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Rospi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12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rebuchet MS"/>
                        <a:buNone/>
                      </a:pPr>
                      <a:r>
                        <a:rPr lang="it-IT" sz="1200"/>
                        <a:t>1922-01-10 16:00:00</a:t>
                      </a:r>
                      <a:endParaRPr b="0" sz="1200"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Rodrigo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Bucci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NULL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-IT" sz="1200"/>
                        <a:t>NULL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3"/>
          <p:cNvSpPr txBox="1"/>
          <p:nvPr>
            <p:ph type="title"/>
          </p:nvPr>
        </p:nvSpPr>
        <p:spPr>
          <a:xfrm>
            <a:off x="677334" y="609600"/>
            <a:ext cx="8596668" cy="7268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it-IT"/>
              <a:t>Cosa sono le funzioni di colonna?</a:t>
            </a:r>
            <a:endParaRPr/>
          </a:p>
        </p:txBody>
      </p:sp>
      <p:sp>
        <p:nvSpPr>
          <p:cNvPr id="321" name="Google Shape;321;p23"/>
          <p:cNvSpPr txBox="1"/>
          <p:nvPr>
            <p:ph idx="1" type="body"/>
          </p:nvPr>
        </p:nvSpPr>
        <p:spPr>
          <a:xfrm>
            <a:off x="677334" y="1463041"/>
            <a:ext cx="8596668" cy="45783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it-IT"/>
              <a:t>Sono delle funzioni in grado di aggregare i risultati di una SELECT eseguendo delle operazioni matematiche. 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it-IT"/>
              <a:t>Le principali sono le seguenti: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1280"/>
              <a:buFont typeface="Courier New"/>
              <a:buChar char="o"/>
            </a:pPr>
            <a:r>
              <a:rPr lang="it-IT"/>
              <a:t>SUM – Esegue la somma di un insieme di record 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1280"/>
              <a:buFont typeface="Courier New"/>
              <a:buChar char="o"/>
            </a:pPr>
            <a:r>
              <a:rPr lang="it-IT"/>
              <a:t>MIN/MAX – Cerca il valore minimo/massimo in un insieme di record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1280"/>
              <a:buFont typeface="Courier New"/>
              <a:buChar char="o"/>
            </a:pPr>
            <a:r>
              <a:rPr lang="it-IT"/>
              <a:t>AVG – Calcola la media in un insieme di record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1280"/>
              <a:buFont typeface="Courier New"/>
              <a:buChar char="o"/>
            </a:pPr>
            <a:r>
              <a:rPr lang="it-IT"/>
              <a:t>COUNT – Conta il numero di record restituiti da una select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it-IT"/>
              <a:t>Per la loro funzionalità intrinseca, possono essere eseguite solo su alcune colonne e non restituiscono mai più di un record (se non in combinazione con GROUP). 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1280"/>
              <a:buFont typeface="Courier New"/>
              <a:buChar char="o"/>
            </a:pPr>
            <a:r>
              <a:rPr lang="it-IT"/>
              <a:t>ES: non avrebbe senso mostrare il Max su una colonna più di una volta!</a:t>
            </a:r>
            <a:endParaRPr/>
          </a:p>
          <a:p>
            <a:pPr indent="-251459" lvl="0" marL="342900" rtl="0" algn="l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251459" lvl="0" marL="342900" rtl="0" algn="l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4"/>
          <p:cNvSpPr txBox="1"/>
          <p:nvPr>
            <p:ph type="title"/>
          </p:nvPr>
        </p:nvSpPr>
        <p:spPr>
          <a:xfrm>
            <a:off x="677334" y="0"/>
            <a:ext cx="8596668" cy="10128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it-IT"/>
              <a:t>Esempio</a:t>
            </a:r>
            <a:endParaRPr/>
          </a:p>
        </p:txBody>
      </p:sp>
      <p:graphicFrame>
        <p:nvGraphicFramePr>
          <p:cNvPr id="327" name="Google Shape;327;p24"/>
          <p:cNvGraphicFramePr/>
          <p:nvPr/>
        </p:nvGraphicFramePr>
        <p:xfrm>
          <a:off x="2568880" y="674732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{299E2279-13E3-498E-9F17-E16632D42E63}</a:tableStyleId>
              </a:tblPr>
              <a:tblGrid>
                <a:gridCol w="1203400"/>
                <a:gridCol w="1203400"/>
                <a:gridCol w="1203400"/>
                <a:gridCol w="12034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NOME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COGNOME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ETA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DATA_</a:t>
                      </a:r>
                      <a:r>
                        <a:rPr b="0" lang="it-IT" sz="1200"/>
                        <a:t>NASCITA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Mario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Rossi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21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03-DIC-98</a:t>
                      </a:r>
                      <a:r>
                        <a:rPr b="0" lang="it-IT" sz="1200"/>
                        <a:t> 00:00:00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Pippo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Baudo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41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10/01/1979 17:01:29</a:t>
                      </a:r>
                      <a:endParaRPr b="0" sz="12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Alfredo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Vitali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88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10-01-1932 16:00:00</a:t>
                      </a:r>
                      <a:endParaRPr b="0" sz="12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Alfonso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Rossi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98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rebuchet MS"/>
                        <a:buNone/>
                      </a:pPr>
                      <a:r>
                        <a:rPr lang="it-IT" sz="1200"/>
                        <a:t>10-01-1922 16:00:00</a:t>
                      </a:r>
                      <a:endParaRPr b="0" sz="12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328" name="Google Shape;328;p24"/>
          <p:cNvSpPr txBox="1"/>
          <p:nvPr/>
        </p:nvSpPr>
        <p:spPr>
          <a:xfrm>
            <a:off x="0" y="3249637"/>
            <a:ext cx="4861369" cy="3359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rPr lang="it-IT" sz="1800">
                <a:solidFill>
                  <a:srgbClr val="0070C0"/>
                </a:solidFill>
                <a:latin typeface="Trebuchet MS"/>
                <a:ea typeface="Trebuchet MS"/>
                <a:cs typeface="Trebuchet MS"/>
                <a:sym typeface="Trebuchet MS"/>
              </a:rPr>
              <a:t>SELECT MAX(</a:t>
            </a:r>
            <a:r>
              <a:rPr lang="it-IT" sz="18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eta</a:t>
            </a:r>
            <a:r>
              <a:rPr lang="it-IT" sz="1800">
                <a:solidFill>
                  <a:srgbClr val="0070C0"/>
                </a:solidFill>
                <a:latin typeface="Trebuchet MS"/>
                <a:ea typeface="Trebuchet MS"/>
                <a:cs typeface="Trebuchet MS"/>
                <a:sym typeface="Trebuchet MS"/>
              </a:rPr>
              <a:t>), MIN(</a:t>
            </a:r>
            <a:r>
              <a:rPr lang="it-IT" sz="18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eta</a:t>
            </a:r>
            <a:r>
              <a:rPr lang="it-IT" sz="1800">
                <a:solidFill>
                  <a:srgbClr val="0070C0"/>
                </a:solidFill>
                <a:latin typeface="Trebuchet MS"/>
                <a:ea typeface="Trebuchet MS"/>
                <a:cs typeface="Trebuchet MS"/>
                <a:sym typeface="Trebuchet MS"/>
              </a:rPr>
              <a:t>), SUM(</a:t>
            </a:r>
            <a:r>
              <a:rPr lang="it-IT" sz="18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eta</a:t>
            </a:r>
            <a:r>
              <a:rPr lang="it-IT" sz="1800">
                <a:solidFill>
                  <a:srgbClr val="0070C0"/>
                </a:solidFill>
                <a:latin typeface="Trebuchet MS"/>
                <a:ea typeface="Trebuchet MS"/>
                <a:cs typeface="Trebuchet MS"/>
                <a:sym typeface="Trebuchet MS"/>
              </a:rPr>
              <a:t>)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rPr lang="it-IT" sz="1800">
                <a:solidFill>
                  <a:srgbClr val="0070C0"/>
                </a:solidFill>
                <a:latin typeface="Trebuchet MS"/>
                <a:ea typeface="Trebuchet MS"/>
                <a:cs typeface="Trebuchet MS"/>
                <a:sym typeface="Trebuchet MS"/>
              </a:rPr>
              <a:t>FROM </a:t>
            </a:r>
            <a:r>
              <a:rPr lang="it-IT" sz="18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anagrafica;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t/>
            </a:r>
            <a:endParaRPr sz="1800">
              <a:solidFill>
                <a:srgbClr val="3F3F3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rPr lang="it-IT" sz="1800">
                <a:solidFill>
                  <a:srgbClr val="0070C0"/>
                </a:solidFill>
                <a:latin typeface="Trebuchet MS"/>
                <a:ea typeface="Trebuchet MS"/>
                <a:cs typeface="Trebuchet MS"/>
                <a:sym typeface="Trebuchet MS"/>
              </a:rPr>
              <a:t>SELECT COUNT(*)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rPr lang="it-IT" sz="1800">
                <a:solidFill>
                  <a:srgbClr val="0070C0"/>
                </a:solidFill>
                <a:latin typeface="Trebuchet MS"/>
                <a:ea typeface="Trebuchet MS"/>
                <a:cs typeface="Trebuchet MS"/>
                <a:sym typeface="Trebuchet MS"/>
              </a:rPr>
              <a:t>FROM </a:t>
            </a:r>
            <a:r>
              <a:rPr lang="it-IT" sz="18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anagrafica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rPr lang="it-IT" sz="1800">
                <a:solidFill>
                  <a:srgbClr val="0070C0"/>
                </a:solidFill>
                <a:latin typeface="Trebuchet MS"/>
                <a:ea typeface="Trebuchet MS"/>
                <a:cs typeface="Trebuchet MS"/>
                <a:sym typeface="Trebuchet MS"/>
              </a:rPr>
              <a:t>WHERE</a:t>
            </a:r>
            <a:r>
              <a:rPr lang="it-IT" sz="18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 cognome = ‘Rossi’;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t/>
            </a:r>
            <a:endParaRPr sz="1800">
              <a:solidFill>
                <a:srgbClr val="3F3F3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29" name="Google Shape;329;p24"/>
          <p:cNvSpPr/>
          <p:nvPr/>
        </p:nvSpPr>
        <p:spPr>
          <a:xfrm>
            <a:off x="4857527" y="3429000"/>
            <a:ext cx="1038688" cy="426128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rnd" cmpd="sng" w="19050">
            <a:solidFill>
              <a:srgbClr val="698D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OK</a:t>
            </a:r>
            <a:endParaRPr/>
          </a:p>
        </p:txBody>
      </p:sp>
      <p:graphicFrame>
        <p:nvGraphicFramePr>
          <p:cNvPr id="330" name="Google Shape;330;p24"/>
          <p:cNvGraphicFramePr/>
          <p:nvPr/>
        </p:nvGraphicFramePr>
        <p:xfrm>
          <a:off x="6408594" y="3249636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{402A1E22-17EA-494C-A366-63638AC81CED}</a:tableStyleId>
              </a:tblPr>
              <a:tblGrid>
                <a:gridCol w="955125"/>
                <a:gridCol w="955125"/>
                <a:gridCol w="9551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MAX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MIN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SUM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98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21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248</a:t>
                      </a:r>
                      <a:endParaRPr sz="12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331" name="Google Shape;331;p24"/>
          <p:cNvSpPr/>
          <p:nvPr/>
        </p:nvSpPr>
        <p:spPr>
          <a:xfrm>
            <a:off x="4857527" y="4605656"/>
            <a:ext cx="1038688" cy="426128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rnd" cmpd="sng" w="19050">
            <a:solidFill>
              <a:srgbClr val="698D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OK</a:t>
            </a:r>
            <a:endParaRPr/>
          </a:p>
        </p:txBody>
      </p:sp>
      <p:graphicFrame>
        <p:nvGraphicFramePr>
          <p:cNvPr id="332" name="Google Shape;332;p24"/>
          <p:cNvGraphicFramePr/>
          <p:nvPr/>
        </p:nvGraphicFramePr>
        <p:xfrm>
          <a:off x="6408594" y="4447880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{402A1E22-17EA-494C-A366-63638AC81CED}</a:tableStyleId>
              </a:tblPr>
              <a:tblGrid>
                <a:gridCol w="9551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COUNT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5"/>
          <p:cNvSpPr txBox="1"/>
          <p:nvPr>
            <p:ph type="title"/>
          </p:nvPr>
        </p:nvSpPr>
        <p:spPr>
          <a:xfrm>
            <a:off x="677334" y="609600"/>
            <a:ext cx="8596668" cy="7268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it-IT"/>
              <a:t>Group By</a:t>
            </a:r>
            <a:endParaRPr/>
          </a:p>
        </p:txBody>
      </p:sp>
      <p:sp>
        <p:nvSpPr>
          <p:cNvPr id="338" name="Google Shape;338;p25"/>
          <p:cNvSpPr txBox="1"/>
          <p:nvPr>
            <p:ph idx="1" type="body"/>
          </p:nvPr>
        </p:nvSpPr>
        <p:spPr>
          <a:xfrm>
            <a:off x="677334" y="1463040"/>
            <a:ext cx="8596668" cy="5394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it-IT"/>
              <a:t>È una clausola che raggruppa in base alle colonne indicate.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it-IT"/>
              <a:t>Restituisce una riga risultato per ogni differente gruppo di valori risultanti. 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it-IT"/>
              <a:t>Viene spesso usato in combinazione con le funzioni colonna.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it-IT"/>
              <a:t>La sintassi è: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it-IT"/>
              <a:t>	</a:t>
            </a:r>
            <a:r>
              <a:rPr lang="it-IT">
                <a:solidFill>
                  <a:srgbClr val="0070C0"/>
                </a:solidFill>
              </a:rPr>
              <a:t>SELECT</a:t>
            </a:r>
            <a:r>
              <a:rPr lang="it-IT"/>
              <a:t> column1, column2,…, columnN, aggregate_function(s)</a:t>
            </a:r>
            <a:br>
              <a:rPr lang="it-IT"/>
            </a:br>
            <a:r>
              <a:rPr lang="it-IT"/>
              <a:t>	</a:t>
            </a:r>
            <a:r>
              <a:rPr lang="it-IT">
                <a:solidFill>
                  <a:srgbClr val="0070C0"/>
                </a:solidFill>
              </a:rPr>
              <a:t>FROM</a:t>
            </a:r>
            <a:r>
              <a:rPr lang="it-IT"/>
              <a:t> table_name</a:t>
            </a:r>
            <a:br>
              <a:rPr lang="it-IT"/>
            </a:br>
            <a:r>
              <a:rPr lang="it-IT"/>
              <a:t>	</a:t>
            </a:r>
            <a:r>
              <a:rPr lang="it-IT">
                <a:solidFill>
                  <a:srgbClr val="0070C0"/>
                </a:solidFill>
              </a:rPr>
              <a:t>WHERE</a:t>
            </a:r>
            <a:r>
              <a:rPr lang="it-IT"/>
              <a:t> conditions</a:t>
            </a:r>
            <a:br>
              <a:rPr lang="it-IT"/>
            </a:br>
            <a:r>
              <a:rPr lang="it-IT"/>
              <a:t>	</a:t>
            </a:r>
            <a:r>
              <a:rPr lang="it-IT">
                <a:solidFill>
                  <a:srgbClr val="0070C0"/>
                </a:solidFill>
              </a:rPr>
              <a:t>GROUP</a:t>
            </a:r>
            <a:r>
              <a:rPr lang="it-IT"/>
              <a:t> </a:t>
            </a:r>
            <a:r>
              <a:rPr lang="it-IT">
                <a:solidFill>
                  <a:srgbClr val="0070C0"/>
                </a:solidFill>
              </a:rPr>
              <a:t>BY</a:t>
            </a:r>
            <a:r>
              <a:rPr lang="it-IT"/>
              <a:t> column1, column2,…, columnN</a:t>
            </a:r>
            <a:br>
              <a:rPr i="1" lang="it-IT"/>
            </a:br>
            <a:r>
              <a:rPr i="1" lang="it-IT"/>
              <a:t>	</a:t>
            </a:r>
            <a:r>
              <a:rPr lang="it-IT"/>
              <a:t>[</a:t>
            </a:r>
            <a:r>
              <a:rPr lang="it-IT">
                <a:solidFill>
                  <a:srgbClr val="0070C0"/>
                </a:solidFill>
              </a:rPr>
              <a:t>ORDER BY </a:t>
            </a:r>
            <a:r>
              <a:rPr lang="it-IT"/>
              <a:t>column_name(s) , aggregate_function(s)]; 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b="1" lang="it-IT" u="sng"/>
              <a:t>Nella Group By vanno sempre inserire tutte le colonne presenti nella Select</a:t>
            </a:r>
            <a:r>
              <a:rPr lang="it-IT"/>
              <a:t>. Mentre non è necessario aggiungere anche le funzioni colonna.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it-IT"/>
              <a:t>La differenza con le funzioni colonna è che queste ultime eseguono dei calcoli, mentre la Group esegue soltanto un raggruppamento sul dato presente</a:t>
            </a:r>
            <a:endParaRPr/>
          </a:p>
          <a:p>
            <a:pPr indent="-251459" lvl="0" marL="342900" rtl="0" algn="l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6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it-IT"/>
              <a:t>HAVING</a:t>
            </a:r>
            <a:endParaRPr/>
          </a:p>
        </p:txBody>
      </p:sp>
      <p:sp>
        <p:nvSpPr>
          <p:cNvPr id="344" name="Google Shape;344;p26"/>
          <p:cNvSpPr txBox="1"/>
          <p:nvPr>
            <p:ph idx="1" type="body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it-IT"/>
              <a:t>Clausola opzionale della Group by. </a:t>
            </a:r>
            <a:r>
              <a:rPr b="1" lang="it-IT" u="sng"/>
              <a:t>Non può essere usata da sola</a:t>
            </a:r>
            <a:r>
              <a:rPr lang="it-IT"/>
              <a:t>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it-IT"/>
              <a:t>Aggiunge una condizione al result set di una Group By. Attenzione a non confonderla con le where condition!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it-IT"/>
              <a:t>Sintassi: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it-IT"/>
              <a:t>	</a:t>
            </a:r>
            <a:r>
              <a:rPr lang="it-IT">
                <a:solidFill>
                  <a:srgbClr val="0070C0"/>
                </a:solidFill>
              </a:rPr>
              <a:t>SELECT</a:t>
            </a:r>
            <a:r>
              <a:rPr lang="it-IT"/>
              <a:t> column1, column2,…, columnN, aggregate_function(s)</a:t>
            </a:r>
            <a:br>
              <a:rPr lang="it-IT"/>
            </a:br>
            <a:r>
              <a:rPr lang="it-IT"/>
              <a:t>	</a:t>
            </a:r>
            <a:r>
              <a:rPr lang="it-IT">
                <a:solidFill>
                  <a:srgbClr val="0070C0"/>
                </a:solidFill>
              </a:rPr>
              <a:t>FROM</a:t>
            </a:r>
            <a:r>
              <a:rPr lang="it-IT"/>
              <a:t> table_name</a:t>
            </a:r>
            <a:br>
              <a:rPr lang="it-IT"/>
            </a:br>
            <a:r>
              <a:rPr lang="it-IT"/>
              <a:t>	</a:t>
            </a:r>
            <a:r>
              <a:rPr lang="it-IT">
                <a:solidFill>
                  <a:srgbClr val="0070C0"/>
                </a:solidFill>
              </a:rPr>
              <a:t>WHERE</a:t>
            </a:r>
            <a:r>
              <a:rPr lang="it-IT"/>
              <a:t> conditions</a:t>
            </a:r>
            <a:br>
              <a:rPr lang="it-IT"/>
            </a:br>
            <a:r>
              <a:rPr lang="it-IT"/>
              <a:t>	</a:t>
            </a:r>
            <a:r>
              <a:rPr lang="it-IT">
                <a:solidFill>
                  <a:srgbClr val="0070C0"/>
                </a:solidFill>
              </a:rPr>
              <a:t>GROUP</a:t>
            </a:r>
            <a:r>
              <a:rPr lang="it-IT"/>
              <a:t> </a:t>
            </a:r>
            <a:r>
              <a:rPr lang="it-IT">
                <a:solidFill>
                  <a:srgbClr val="0070C0"/>
                </a:solidFill>
              </a:rPr>
              <a:t>BY</a:t>
            </a:r>
            <a:r>
              <a:rPr lang="it-IT"/>
              <a:t> column1, column2,…, column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it-IT"/>
              <a:t>	</a:t>
            </a:r>
            <a:r>
              <a:rPr lang="it-IT">
                <a:solidFill>
                  <a:srgbClr val="0070C0"/>
                </a:solidFill>
              </a:rPr>
              <a:t>HAVING</a:t>
            </a:r>
            <a:r>
              <a:rPr lang="it-IT"/>
              <a:t> condition</a:t>
            </a:r>
            <a:br>
              <a:rPr i="1" lang="it-IT"/>
            </a:br>
            <a:r>
              <a:rPr i="1" lang="it-IT"/>
              <a:t>	</a:t>
            </a:r>
            <a:r>
              <a:rPr lang="it-IT"/>
              <a:t>[</a:t>
            </a:r>
            <a:r>
              <a:rPr lang="it-IT">
                <a:solidFill>
                  <a:srgbClr val="0070C0"/>
                </a:solidFill>
              </a:rPr>
              <a:t>ORDER BY </a:t>
            </a:r>
            <a:r>
              <a:rPr lang="it-IT"/>
              <a:t>column_name(s) , aggregate_function(s)];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7"/>
          <p:cNvSpPr txBox="1"/>
          <p:nvPr>
            <p:ph type="title"/>
          </p:nvPr>
        </p:nvSpPr>
        <p:spPr>
          <a:xfrm>
            <a:off x="677334" y="0"/>
            <a:ext cx="8596668" cy="10128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it-IT"/>
              <a:t>Esempio</a:t>
            </a:r>
            <a:endParaRPr/>
          </a:p>
        </p:txBody>
      </p:sp>
      <p:graphicFrame>
        <p:nvGraphicFramePr>
          <p:cNvPr id="351" name="Google Shape;351;p27"/>
          <p:cNvGraphicFramePr/>
          <p:nvPr/>
        </p:nvGraphicFramePr>
        <p:xfrm>
          <a:off x="2568880" y="674733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{299E2279-13E3-498E-9F17-E16632D42E63}</a:tableStyleId>
              </a:tblPr>
              <a:tblGrid>
                <a:gridCol w="1203400"/>
                <a:gridCol w="1203400"/>
                <a:gridCol w="1203400"/>
                <a:gridCol w="1203400"/>
              </a:tblGrid>
              <a:tr h="2396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NOME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COGNOME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ETA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DATA_</a:t>
                      </a:r>
                      <a:r>
                        <a:rPr b="0" lang="it-IT" sz="1200"/>
                        <a:t>NASCITA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667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Mario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Rossi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21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03-DIC-98</a:t>
                      </a:r>
                      <a:r>
                        <a:rPr b="0" lang="it-IT" sz="1200"/>
                        <a:t> 00:00:00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667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Pippo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Baudo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41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10/01/1979 17:01:29</a:t>
                      </a:r>
                      <a:endParaRPr b="0" sz="1200"/>
                    </a:p>
                  </a:txBody>
                  <a:tcPr marT="45725" marB="45725" marR="91450" marL="91450"/>
                </a:tc>
              </a:tr>
              <a:tr h="3667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Alfonso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Rossi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98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rebuchet MS"/>
                        <a:buNone/>
                      </a:pPr>
                      <a:r>
                        <a:rPr lang="it-IT" sz="1200"/>
                        <a:t>10-01-1922 16:00:00</a:t>
                      </a:r>
                      <a:endParaRPr b="0" sz="12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352" name="Google Shape;352;p27"/>
          <p:cNvSpPr txBox="1"/>
          <p:nvPr/>
        </p:nvSpPr>
        <p:spPr>
          <a:xfrm>
            <a:off x="1" y="2500724"/>
            <a:ext cx="2810146" cy="4357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9999"/>
              <a:buFont typeface="Noto Sans Symbols"/>
              <a:buNone/>
            </a:pPr>
            <a:r>
              <a:rPr lang="it-IT" sz="1800">
                <a:solidFill>
                  <a:srgbClr val="0070C0"/>
                </a:solidFill>
                <a:latin typeface="Trebuchet MS"/>
                <a:ea typeface="Trebuchet MS"/>
                <a:cs typeface="Trebuchet MS"/>
                <a:sym typeface="Trebuchet MS"/>
              </a:rPr>
              <a:t>SELECT </a:t>
            </a:r>
            <a:r>
              <a:rPr lang="it-IT" sz="19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cognome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79999"/>
              <a:buFont typeface="Noto Sans Symbols"/>
              <a:buNone/>
            </a:pPr>
            <a:r>
              <a:rPr lang="it-IT" sz="1800">
                <a:solidFill>
                  <a:srgbClr val="0070C0"/>
                </a:solidFill>
                <a:latin typeface="Trebuchet MS"/>
                <a:ea typeface="Trebuchet MS"/>
                <a:cs typeface="Trebuchet MS"/>
                <a:sym typeface="Trebuchet MS"/>
              </a:rPr>
              <a:t>FROM </a:t>
            </a:r>
            <a:r>
              <a:rPr lang="it-IT" sz="19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anagrafica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79999"/>
              <a:buFont typeface="Noto Sans Symbols"/>
              <a:buNone/>
            </a:pPr>
            <a:r>
              <a:rPr lang="it-IT" sz="1800">
                <a:solidFill>
                  <a:srgbClr val="0070C0"/>
                </a:solidFill>
                <a:latin typeface="Trebuchet MS"/>
                <a:ea typeface="Trebuchet MS"/>
                <a:cs typeface="Trebuchet MS"/>
                <a:sym typeface="Trebuchet MS"/>
              </a:rPr>
              <a:t>WHERE</a:t>
            </a:r>
            <a:r>
              <a:rPr lang="it-IT" sz="18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it-IT" sz="19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cognome = ‘Rossi’</a:t>
            </a:r>
            <a:br>
              <a:rPr lang="it-IT" sz="18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lang="it-IT" sz="1800">
                <a:solidFill>
                  <a:srgbClr val="0070C0"/>
                </a:solidFill>
                <a:latin typeface="Trebuchet MS"/>
                <a:ea typeface="Trebuchet MS"/>
                <a:cs typeface="Trebuchet MS"/>
                <a:sym typeface="Trebuchet MS"/>
              </a:rPr>
              <a:t>GROUP</a:t>
            </a:r>
            <a:r>
              <a:rPr lang="it-IT" sz="18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it-IT" sz="1800">
                <a:solidFill>
                  <a:srgbClr val="0070C0"/>
                </a:solidFill>
                <a:latin typeface="Trebuchet MS"/>
                <a:ea typeface="Trebuchet MS"/>
                <a:cs typeface="Trebuchet MS"/>
                <a:sym typeface="Trebuchet MS"/>
              </a:rPr>
              <a:t>BY </a:t>
            </a:r>
            <a:r>
              <a:rPr lang="it-IT" sz="19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cognome</a:t>
            </a:r>
            <a:r>
              <a:rPr lang="it-IT" sz="18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;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79999"/>
              <a:buFont typeface="Noto Sans Symbols"/>
              <a:buNone/>
            </a:pPr>
            <a:r>
              <a:t/>
            </a:r>
            <a:endParaRPr sz="1800">
              <a:solidFill>
                <a:srgbClr val="3F3F3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79999"/>
              <a:buFont typeface="Noto Sans Symbols"/>
              <a:buNone/>
            </a:pPr>
            <a:r>
              <a:rPr lang="it-IT" sz="1800">
                <a:solidFill>
                  <a:srgbClr val="0070C0"/>
                </a:solidFill>
                <a:latin typeface="Trebuchet MS"/>
                <a:ea typeface="Trebuchet MS"/>
                <a:cs typeface="Trebuchet MS"/>
                <a:sym typeface="Trebuchet MS"/>
              </a:rPr>
              <a:t>SELECT </a:t>
            </a:r>
            <a:r>
              <a:rPr lang="it-IT" sz="18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cognome, </a:t>
            </a:r>
            <a:r>
              <a:rPr lang="it-IT" sz="1800">
                <a:solidFill>
                  <a:srgbClr val="0070C0"/>
                </a:solidFill>
                <a:latin typeface="Trebuchet MS"/>
                <a:ea typeface="Trebuchet MS"/>
                <a:cs typeface="Trebuchet MS"/>
                <a:sym typeface="Trebuchet MS"/>
              </a:rPr>
              <a:t>COUNT(*)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79999"/>
              <a:buFont typeface="Noto Sans Symbols"/>
              <a:buNone/>
            </a:pPr>
            <a:r>
              <a:rPr lang="it-IT" sz="1800">
                <a:solidFill>
                  <a:srgbClr val="0070C0"/>
                </a:solidFill>
                <a:latin typeface="Trebuchet MS"/>
                <a:ea typeface="Trebuchet MS"/>
                <a:cs typeface="Trebuchet MS"/>
                <a:sym typeface="Trebuchet MS"/>
              </a:rPr>
              <a:t>FROM </a:t>
            </a:r>
            <a:r>
              <a:rPr lang="it-IT" sz="18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anagrafica</a:t>
            </a:r>
            <a:br>
              <a:rPr lang="it-IT" sz="18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lang="it-IT" sz="1800">
                <a:solidFill>
                  <a:srgbClr val="0070C0"/>
                </a:solidFill>
                <a:latin typeface="Trebuchet MS"/>
                <a:ea typeface="Trebuchet MS"/>
                <a:cs typeface="Trebuchet MS"/>
                <a:sym typeface="Trebuchet MS"/>
              </a:rPr>
              <a:t>GROUP</a:t>
            </a:r>
            <a:r>
              <a:rPr lang="it-IT" sz="18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it-IT" sz="1800">
                <a:solidFill>
                  <a:srgbClr val="0070C0"/>
                </a:solidFill>
                <a:latin typeface="Trebuchet MS"/>
                <a:ea typeface="Trebuchet MS"/>
                <a:cs typeface="Trebuchet MS"/>
                <a:sym typeface="Trebuchet MS"/>
              </a:rPr>
              <a:t>BY </a:t>
            </a:r>
            <a:r>
              <a:rPr lang="it-IT" sz="18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cognome;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79999"/>
              <a:buFont typeface="Noto Sans Symbols"/>
              <a:buNone/>
            </a:pPr>
            <a:r>
              <a:t/>
            </a:r>
            <a:endParaRPr sz="1800">
              <a:solidFill>
                <a:srgbClr val="3F3F3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79999"/>
              <a:buFont typeface="Noto Sans Symbols"/>
              <a:buNone/>
            </a:pPr>
            <a:r>
              <a:rPr lang="it-IT" sz="1800">
                <a:solidFill>
                  <a:srgbClr val="0070C0"/>
                </a:solidFill>
                <a:latin typeface="Trebuchet MS"/>
                <a:ea typeface="Trebuchet MS"/>
                <a:cs typeface="Trebuchet MS"/>
                <a:sym typeface="Trebuchet MS"/>
              </a:rPr>
              <a:t>SELECT </a:t>
            </a:r>
            <a:r>
              <a:rPr lang="it-IT" sz="18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cognome, </a:t>
            </a:r>
            <a:r>
              <a:rPr lang="it-IT" sz="1800">
                <a:solidFill>
                  <a:srgbClr val="0070C0"/>
                </a:solidFill>
                <a:latin typeface="Trebuchet MS"/>
                <a:ea typeface="Trebuchet MS"/>
                <a:cs typeface="Trebuchet MS"/>
                <a:sym typeface="Trebuchet MS"/>
              </a:rPr>
              <a:t>COUNT(*)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79999"/>
              <a:buFont typeface="Noto Sans Symbols"/>
              <a:buNone/>
            </a:pPr>
            <a:r>
              <a:rPr lang="it-IT" sz="1800">
                <a:solidFill>
                  <a:srgbClr val="0070C0"/>
                </a:solidFill>
                <a:latin typeface="Trebuchet MS"/>
                <a:ea typeface="Trebuchet MS"/>
                <a:cs typeface="Trebuchet MS"/>
                <a:sym typeface="Trebuchet MS"/>
              </a:rPr>
              <a:t>FROM </a:t>
            </a:r>
            <a:r>
              <a:rPr lang="it-IT" sz="18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anagrafica</a:t>
            </a:r>
            <a:br>
              <a:rPr lang="it-IT" sz="18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lang="it-IT" sz="1800">
                <a:solidFill>
                  <a:srgbClr val="0070C0"/>
                </a:solidFill>
                <a:latin typeface="Trebuchet MS"/>
                <a:ea typeface="Trebuchet MS"/>
                <a:cs typeface="Trebuchet MS"/>
                <a:sym typeface="Trebuchet MS"/>
              </a:rPr>
              <a:t>GROUP</a:t>
            </a:r>
            <a:r>
              <a:rPr lang="it-IT" sz="18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it-IT" sz="1800">
                <a:solidFill>
                  <a:srgbClr val="0070C0"/>
                </a:solidFill>
                <a:latin typeface="Trebuchet MS"/>
                <a:ea typeface="Trebuchet MS"/>
                <a:cs typeface="Trebuchet MS"/>
                <a:sym typeface="Trebuchet MS"/>
              </a:rPr>
              <a:t>BY </a:t>
            </a:r>
            <a:r>
              <a:rPr lang="it-IT" sz="18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cognome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79999"/>
              <a:buFont typeface="Noto Sans Symbols"/>
              <a:buNone/>
            </a:pPr>
            <a:r>
              <a:rPr lang="it-IT" sz="1800">
                <a:solidFill>
                  <a:srgbClr val="0070C0"/>
                </a:solidFill>
                <a:latin typeface="Trebuchet MS"/>
                <a:ea typeface="Trebuchet MS"/>
                <a:cs typeface="Trebuchet MS"/>
                <a:sym typeface="Trebuchet MS"/>
              </a:rPr>
              <a:t>HAVING COUNT(*) </a:t>
            </a:r>
            <a:r>
              <a:rPr lang="it-IT" sz="18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&gt; 1;</a:t>
            </a:r>
            <a:endParaRPr/>
          </a:p>
        </p:txBody>
      </p:sp>
      <p:sp>
        <p:nvSpPr>
          <p:cNvPr id="353" name="Google Shape;353;p27"/>
          <p:cNvSpPr/>
          <p:nvPr/>
        </p:nvSpPr>
        <p:spPr>
          <a:xfrm>
            <a:off x="6844386" y="2843920"/>
            <a:ext cx="1038688" cy="426128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rnd" cmpd="sng" w="19050">
            <a:solidFill>
              <a:srgbClr val="698D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Group</a:t>
            </a:r>
            <a:endParaRPr/>
          </a:p>
        </p:txBody>
      </p:sp>
      <p:graphicFrame>
        <p:nvGraphicFramePr>
          <p:cNvPr id="354" name="Google Shape;354;p27"/>
          <p:cNvGraphicFramePr/>
          <p:nvPr/>
        </p:nvGraphicFramePr>
        <p:xfrm>
          <a:off x="8294541" y="2703051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{402A1E22-17EA-494C-A366-63638AC81CED}</a:tableStyleId>
              </a:tblPr>
              <a:tblGrid>
                <a:gridCol w="9794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COGNOME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Rossi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355" name="Google Shape;355;p27"/>
          <p:cNvGraphicFramePr/>
          <p:nvPr/>
        </p:nvGraphicFramePr>
        <p:xfrm>
          <a:off x="8294541" y="3977323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{402A1E22-17EA-494C-A366-63638AC81CED}</a:tableStyleId>
              </a:tblPr>
              <a:tblGrid>
                <a:gridCol w="936350"/>
                <a:gridCol w="9363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COGNOME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COUNT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Rossi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Baudo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356" name="Google Shape;356;p27"/>
          <p:cNvGraphicFramePr/>
          <p:nvPr/>
        </p:nvGraphicFramePr>
        <p:xfrm>
          <a:off x="4913757" y="2517631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{402A1E22-17EA-494C-A366-63638AC81CED}</a:tableStyleId>
              </a:tblPr>
              <a:tblGrid>
                <a:gridCol w="9551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COGNOME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Rossi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Rossi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357" name="Google Shape;357;p27"/>
          <p:cNvSpPr/>
          <p:nvPr/>
        </p:nvSpPr>
        <p:spPr>
          <a:xfrm>
            <a:off x="3106950" y="2843920"/>
            <a:ext cx="1038688" cy="426128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rnd" cmpd="sng" w="19050">
            <a:solidFill>
              <a:srgbClr val="698D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Where</a:t>
            </a: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58" name="Google Shape;358;p27"/>
          <p:cNvSpPr/>
          <p:nvPr/>
        </p:nvSpPr>
        <p:spPr>
          <a:xfrm>
            <a:off x="6844386" y="4320519"/>
            <a:ext cx="1038688" cy="426128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rnd" cmpd="sng" w="19050">
            <a:solidFill>
              <a:srgbClr val="698D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Count</a:t>
            </a: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aphicFrame>
        <p:nvGraphicFramePr>
          <p:cNvPr id="359" name="Google Shape;359;p27"/>
          <p:cNvGraphicFramePr/>
          <p:nvPr/>
        </p:nvGraphicFramePr>
        <p:xfrm>
          <a:off x="4919729" y="3977323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{402A1E22-17EA-494C-A366-63638AC81CED}</a:tableStyleId>
              </a:tblPr>
              <a:tblGrid>
                <a:gridCol w="9551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COGNOME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Rossi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Baudo</a:t>
                      </a:r>
                      <a:endParaRPr sz="12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360" name="Google Shape;360;p27"/>
          <p:cNvSpPr/>
          <p:nvPr/>
        </p:nvSpPr>
        <p:spPr>
          <a:xfrm>
            <a:off x="3106950" y="4320519"/>
            <a:ext cx="1038688" cy="426128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rnd" cmpd="sng" w="19050">
            <a:solidFill>
              <a:srgbClr val="698D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Group</a:t>
            </a:r>
            <a:endParaRPr/>
          </a:p>
        </p:txBody>
      </p:sp>
      <p:sp>
        <p:nvSpPr>
          <p:cNvPr id="361" name="Google Shape;361;p27"/>
          <p:cNvSpPr/>
          <p:nvPr/>
        </p:nvSpPr>
        <p:spPr>
          <a:xfrm>
            <a:off x="6844386" y="5970203"/>
            <a:ext cx="1038688" cy="426128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rnd" cmpd="sng" w="19050">
            <a:solidFill>
              <a:srgbClr val="698D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Having</a:t>
            </a: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aphicFrame>
        <p:nvGraphicFramePr>
          <p:cNvPr id="362" name="Google Shape;362;p27"/>
          <p:cNvGraphicFramePr/>
          <p:nvPr/>
        </p:nvGraphicFramePr>
        <p:xfrm>
          <a:off x="4454975" y="5627007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{402A1E22-17EA-494C-A366-63638AC81CED}</a:tableStyleId>
              </a:tblPr>
              <a:tblGrid>
                <a:gridCol w="936350"/>
                <a:gridCol w="9363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COGNOME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COUNT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Rossi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Baudo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363" name="Google Shape;363;p27"/>
          <p:cNvSpPr/>
          <p:nvPr/>
        </p:nvSpPr>
        <p:spPr>
          <a:xfrm>
            <a:off x="3106950" y="5970203"/>
            <a:ext cx="1038688" cy="426128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rnd" cmpd="sng" w="19050">
            <a:solidFill>
              <a:srgbClr val="698D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Gr&amp;Co</a:t>
            </a: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aphicFrame>
        <p:nvGraphicFramePr>
          <p:cNvPr id="364" name="Google Shape;364;p27"/>
          <p:cNvGraphicFramePr/>
          <p:nvPr/>
        </p:nvGraphicFramePr>
        <p:xfrm>
          <a:off x="8318866" y="5812427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{402A1E22-17EA-494C-A366-63638AC81CED}</a:tableStyleId>
              </a:tblPr>
              <a:tblGrid>
                <a:gridCol w="924200"/>
                <a:gridCol w="9242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COGNOME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COUNT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Rossi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28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it-IT"/>
              <a:t>Cos’è una Join?</a:t>
            </a:r>
            <a:endParaRPr/>
          </a:p>
        </p:txBody>
      </p:sp>
      <p:sp>
        <p:nvSpPr>
          <p:cNvPr id="370" name="Google Shape;370;p28"/>
          <p:cNvSpPr txBox="1"/>
          <p:nvPr>
            <p:ph idx="1" type="body"/>
          </p:nvPr>
        </p:nvSpPr>
        <p:spPr>
          <a:xfrm>
            <a:off x="677334" y="2160590"/>
            <a:ext cx="8596668" cy="37455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it-IT"/>
              <a:t>La Join è un’operazione che combina le colonne di una o più tabelle.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it-IT"/>
              <a:t>Si utilizza per mettere in relazione ed estrarre record da tabelle diverse.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it-IT"/>
              <a:t>Esistono vari tipi di join ogni uno dei quali può essere schematizzato attraverso una operazione insiemistica.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it-IT"/>
              <a:t>Il legame tra due tabelle viene solitamente definito tramite una relazione logica parent-child (padre-figlio) , che nel linguaggio SQL è espressa attraverso una foreign-key.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29"/>
          <p:cNvSpPr txBox="1"/>
          <p:nvPr>
            <p:ph type="title"/>
          </p:nvPr>
        </p:nvSpPr>
        <p:spPr>
          <a:xfrm>
            <a:off x="269042" y="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it-IT"/>
              <a:t>Tipi di Join</a:t>
            </a:r>
            <a:endParaRPr/>
          </a:p>
        </p:txBody>
      </p:sp>
      <p:grpSp>
        <p:nvGrpSpPr>
          <p:cNvPr id="376" name="Google Shape;376;p29"/>
          <p:cNvGrpSpPr/>
          <p:nvPr/>
        </p:nvGrpSpPr>
        <p:grpSpPr>
          <a:xfrm>
            <a:off x="369087" y="5071369"/>
            <a:ext cx="9101138" cy="1381125"/>
            <a:chOff x="269042" y="3429000"/>
            <a:chExt cx="9101138" cy="1381125"/>
          </a:xfrm>
        </p:grpSpPr>
        <p:pic>
          <p:nvPicPr>
            <p:cNvPr descr="SQL INNER JOIN" id="377" name="Google Shape;377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69042" y="3429000"/>
              <a:ext cx="1905000" cy="13811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SQL LEFT JOIN" id="378" name="Google Shape;378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667755" y="3429000"/>
              <a:ext cx="1905000" cy="13811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SQL RIGHT JOIN" id="379" name="Google Shape;379;p2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066467" y="3429000"/>
              <a:ext cx="1905000" cy="13811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SQL FULL OUTER JOIN" id="380" name="Google Shape;380;p2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465180" y="3429000"/>
              <a:ext cx="1905000" cy="13811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81" name="Google Shape;381;p29"/>
          <p:cNvSpPr txBox="1"/>
          <p:nvPr>
            <p:ph idx="1" type="body"/>
          </p:nvPr>
        </p:nvSpPr>
        <p:spPr>
          <a:xfrm>
            <a:off x="369087" y="1166921"/>
            <a:ext cx="8596668" cy="36270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b="1" lang="it-IT"/>
              <a:t>CROSS JOIN</a:t>
            </a:r>
            <a:r>
              <a:rPr lang="it-IT"/>
              <a:t>: restituisce il prodotto cartesiano dei record di due tabelle, senza nessuna where condition.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b="1" lang="it-IT"/>
              <a:t>(SIMPLE) INNER JOIN</a:t>
            </a:r>
            <a:r>
              <a:rPr lang="it-IT"/>
              <a:t>: è la join più utilizzata e mette in relazione due record soltanto se soddisfano le where condition espresse.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b="1" lang="it-IT"/>
              <a:t>SELF JOIN</a:t>
            </a:r>
            <a:r>
              <a:rPr lang="it-IT"/>
              <a:t>: è una inner join, ma di un tabella con sé stessa.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b="1" lang="it-IT"/>
              <a:t>LEFT (OUTER) JOIN</a:t>
            </a:r>
            <a:r>
              <a:rPr lang="it-IT"/>
              <a:t>: ritorna </a:t>
            </a:r>
            <a:r>
              <a:rPr b="1" lang="it-IT"/>
              <a:t>tutte</a:t>
            </a:r>
            <a:r>
              <a:rPr lang="it-IT"/>
              <a:t> le righe della tabella di sinistra e quelle comuni con la tabella destra. Nei record della tabella di sinistra che non hanno corrispondenza a destra, vengono aggiunti dei valori NULL.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b="1" lang="it-IT"/>
              <a:t>RIGHT (OUTER) JOIN</a:t>
            </a:r>
            <a:r>
              <a:rPr lang="it-IT"/>
              <a:t>: come la left join, ma a parti invertite.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b="1" lang="it-IT"/>
              <a:t>FULL (OUTER) JOIN</a:t>
            </a:r>
            <a:r>
              <a:rPr lang="it-IT"/>
              <a:t>: comprende tutti i record della left e della right join.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30"/>
          <p:cNvSpPr txBox="1"/>
          <p:nvPr>
            <p:ph type="title"/>
          </p:nvPr>
        </p:nvSpPr>
        <p:spPr>
          <a:xfrm>
            <a:off x="677334" y="173116"/>
            <a:ext cx="8596668" cy="668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it-IT"/>
              <a:t>Sintassi esplicita ed implicita</a:t>
            </a:r>
            <a:endParaRPr/>
          </a:p>
        </p:txBody>
      </p:sp>
      <p:sp>
        <p:nvSpPr>
          <p:cNvPr id="387" name="Google Shape;387;p30"/>
          <p:cNvSpPr txBox="1"/>
          <p:nvPr>
            <p:ph idx="1" type="body"/>
          </p:nvPr>
        </p:nvSpPr>
        <p:spPr>
          <a:xfrm>
            <a:off x="677334" y="969145"/>
            <a:ext cx="8596668" cy="58888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ct val="79999"/>
              <a:buChar char="►"/>
            </a:pPr>
            <a:r>
              <a:rPr lang="it-IT"/>
              <a:t>La join ammette due tipi di sintassi, perfettamente equivalenti, che vengono chiamate implicita ed esplicita.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ct val="79999"/>
              <a:buChar char="►"/>
            </a:pPr>
            <a:r>
              <a:rPr lang="it-IT"/>
              <a:t>Nella sintassi </a:t>
            </a:r>
            <a:r>
              <a:rPr b="1" lang="it-IT"/>
              <a:t>esplicita</a:t>
            </a:r>
            <a:r>
              <a:rPr lang="it-IT"/>
              <a:t> viene dichiarato in maniera formale il tipo di join che si intende utilizzare comprensivo delle colonne su cui questa viene effettuata. 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ct val="79999"/>
              <a:buChar char="►"/>
            </a:pPr>
            <a:r>
              <a:rPr lang="it-IT"/>
              <a:t>La sintassi si divide in tre blocchi. La select-from, le join e la where(opzionale). Ha questa forma:</a:t>
            </a:r>
            <a:endParaRPr/>
          </a:p>
          <a:p>
            <a:pPr indent="0" lvl="1" marL="457200" rtl="0" algn="l">
              <a:spcBef>
                <a:spcPts val="1000"/>
              </a:spcBef>
              <a:spcAft>
                <a:spcPts val="0"/>
              </a:spcAft>
              <a:buSzPct val="79999"/>
              <a:buNone/>
            </a:pPr>
            <a:r>
              <a:rPr lang="it-IT" sz="1800">
                <a:solidFill>
                  <a:srgbClr val="0070C0"/>
                </a:solidFill>
              </a:rPr>
              <a:t> SELECT </a:t>
            </a:r>
            <a:r>
              <a:rPr lang="it-IT"/>
              <a:t>table1.column1,table2.column3,…,tableN.columnY</a:t>
            </a:r>
            <a:endParaRPr/>
          </a:p>
          <a:p>
            <a:pPr indent="0" lvl="1" marL="457200" rtl="0" algn="l">
              <a:spcBef>
                <a:spcPts val="1000"/>
              </a:spcBef>
              <a:spcAft>
                <a:spcPts val="0"/>
              </a:spcAft>
              <a:buSzPct val="79999"/>
              <a:buNone/>
            </a:pPr>
            <a:r>
              <a:rPr lang="it-IT" sz="1800">
                <a:solidFill>
                  <a:srgbClr val="0070C0"/>
                </a:solidFill>
              </a:rPr>
              <a:t> FROM </a:t>
            </a:r>
            <a:r>
              <a:rPr lang="it-IT" sz="1800"/>
              <a:t>table_1</a:t>
            </a:r>
            <a:endParaRPr/>
          </a:p>
          <a:p>
            <a:pPr indent="0" lvl="1" marL="457200" rtl="0" algn="l">
              <a:spcBef>
                <a:spcPts val="1000"/>
              </a:spcBef>
              <a:spcAft>
                <a:spcPts val="0"/>
              </a:spcAft>
              <a:buSzPct val="79999"/>
              <a:buNone/>
            </a:pPr>
            <a:r>
              <a:rPr lang="it-IT" sz="1800">
                <a:solidFill>
                  <a:srgbClr val="0070C0"/>
                </a:solidFill>
              </a:rPr>
              <a:t>J</a:t>
            </a:r>
            <a:r>
              <a:rPr lang="it-IT" sz="1800"/>
              <a:t>  table_2 AND CONDITIONS</a:t>
            </a:r>
            <a:endParaRPr/>
          </a:p>
          <a:p>
            <a:pPr indent="0" lvl="1" marL="457200" rtl="0" algn="l">
              <a:spcBef>
                <a:spcPts val="1000"/>
              </a:spcBef>
              <a:spcAft>
                <a:spcPts val="0"/>
              </a:spcAft>
              <a:buSzPct val="79999"/>
              <a:buNone/>
            </a:pPr>
            <a:r>
              <a:rPr lang="it-IT" sz="1800">
                <a:solidFill>
                  <a:srgbClr val="0070C0"/>
                </a:solidFill>
              </a:rPr>
              <a:t>O</a:t>
            </a:r>
            <a:r>
              <a:rPr lang="it-IT" sz="1800"/>
              <a:t> table_3 AND CONDITIONS</a:t>
            </a:r>
            <a:endParaRPr/>
          </a:p>
          <a:p>
            <a:pPr indent="0" lvl="1" marL="457200" rtl="0" algn="l">
              <a:spcBef>
                <a:spcPts val="1000"/>
              </a:spcBef>
              <a:spcAft>
                <a:spcPts val="0"/>
              </a:spcAft>
              <a:buSzPct val="79999"/>
              <a:buNone/>
            </a:pPr>
            <a:r>
              <a:rPr lang="it-IT" sz="1800">
                <a:solidFill>
                  <a:srgbClr val="0070C0"/>
                </a:solidFill>
              </a:rPr>
              <a:t>I</a:t>
            </a:r>
            <a:r>
              <a:rPr lang="it-IT" sz="1800"/>
              <a:t>  table_3 AND CONDITIONS</a:t>
            </a:r>
            <a:endParaRPr/>
          </a:p>
          <a:p>
            <a:pPr indent="0" lvl="1" marL="457200" rtl="0" algn="l">
              <a:spcBef>
                <a:spcPts val="1000"/>
              </a:spcBef>
              <a:spcAft>
                <a:spcPts val="0"/>
              </a:spcAft>
              <a:buSzPct val="79999"/>
              <a:buNone/>
            </a:pPr>
            <a:r>
              <a:rPr lang="it-IT" sz="1800">
                <a:solidFill>
                  <a:srgbClr val="0070C0"/>
                </a:solidFill>
              </a:rPr>
              <a:t>N</a:t>
            </a:r>
            <a:r>
              <a:rPr lang="it-IT" sz="1800"/>
              <a:t> table_N AND CONDITIONS</a:t>
            </a:r>
            <a:endParaRPr/>
          </a:p>
          <a:p>
            <a:pPr indent="0" lvl="1" marL="457200" rtl="0" algn="l">
              <a:spcBef>
                <a:spcPts val="1000"/>
              </a:spcBef>
              <a:spcAft>
                <a:spcPts val="0"/>
              </a:spcAft>
              <a:buSzPct val="79999"/>
              <a:buNone/>
            </a:pPr>
            <a:r>
              <a:rPr lang="it-IT" sz="1800"/>
              <a:t>[</a:t>
            </a:r>
            <a:r>
              <a:rPr lang="it-IT" sz="1800">
                <a:solidFill>
                  <a:srgbClr val="0070C0"/>
                </a:solidFill>
              </a:rPr>
              <a:t>WHERE</a:t>
            </a:r>
            <a:r>
              <a:rPr lang="it-IT" sz="1800"/>
              <a:t> conditions]</a:t>
            </a:r>
            <a:endParaRPr/>
          </a:p>
          <a:p>
            <a:pPr indent="0" lvl="1" marL="45720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it-IT" sz="2000"/>
              <a:t>;</a:t>
            </a:r>
            <a:endParaRPr/>
          </a:p>
          <a:p>
            <a:pPr indent="0" lvl="1" marL="45720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ct val="79999"/>
              <a:buChar char="►"/>
            </a:pPr>
            <a:r>
              <a:rPr lang="it-IT"/>
              <a:t>È buona norma inserire accanto alle join le condizione che legano le tabelle, mentre nelle where conditions inserire le condizioni di selezione del dato.</a:t>
            </a:r>
            <a:endParaRPr b="1"/>
          </a:p>
          <a:p>
            <a:pPr indent="-258318" lvl="0" marL="342900" rtl="0" algn="l">
              <a:spcBef>
                <a:spcPts val="1000"/>
              </a:spcBef>
              <a:spcAft>
                <a:spcPts val="0"/>
              </a:spcAft>
              <a:buSzPct val="79999"/>
              <a:buNone/>
            </a:pPr>
            <a:r>
              <a:t/>
            </a:r>
            <a:endParaRPr/>
          </a:p>
        </p:txBody>
      </p:sp>
      <p:sp>
        <p:nvSpPr>
          <p:cNvPr id="388" name="Google Shape;388;p30"/>
          <p:cNvSpPr/>
          <p:nvPr/>
        </p:nvSpPr>
        <p:spPr>
          <a:xfrm>
            <a:off x="1171852" y="3429000"/>
            <a:ext cx="3113431" cy="1462596"/>
          </a:xfrm>
          <a:prstGeom prst="rect">
            <a:avLst/>
          </a:prstGeom>
          <a:noFill/>
          <a:ln cap="rnd" cmpd="sng" w="19050">
            <a:solidFill>
              <a:srgbClr val="698D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1"/>
          <p:cNvSpPr txBox="1"/>
          <p:nvPr>
            <p:ph idx="1" type="body"/>
          </p:nvPr>
        </p:nvSpPr>
        <p:spPr>
          <a:xfrm>
            <a:off x="677334" y="594804"/>
            <a:ext cx="8596668" cy="6072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it-IT"/>
              <a:t>Nella sintassi </a:t>
            </a:r>
            <a:r>
              <a:rPr b="1" lang="it-IT"/>
              <a:t>implicita </a:t>
            </a:r>
            <a:r>
              <a:rPr lang="it-IT"/>
              <a:t>trovate tutte le tabelle elencate nella clausola from.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it-IT"/>
              <a:t>Le condizioni di join vengono esplicitate tra le where condition.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it-IT"/>
              <a:t>La sintassi ha questa forma:</a:t>
            </a:r>
            <a:endParaRPr/>
          </a:p>
          <a:p>
            <a:pPr indent="0" lvl="1" marL="457200" rtl="0" algn="l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it-IT" sz="1800">
                <a:solidFill>
                  <a:srgbClr val="0070C0"/>
                </a:solidFill>
              </a:rPr>
              <a:t>SELECT </a:t>
            </a:r>
            <a:r>
              <a:rPr lang="it-IT" sz="1800"/>
              <a:t>table1.column1,table2.column3,…,tableN.columnY</a:t>
            </a:r>
            <a:endParaRPr/>
          </a:p>
          <a:p>
            <a:pPr indent="0" lvl="1" marL="457200" rtl="0" algn="l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it-IT" sz="1800">
                <a:solidFill>
                  <a:srgbClr val="0070C0"/>
                </a:solidFill>
              </a:rPr>
              <a:t>FROM </a:t>
            </a:r>
            <a:r>
              <a:rPr lang="it-IT" sz="1800"/>
              <a:t>table_name1, table_name2, .., table_nameN </a:t>
            </a:r>
            <a:endParaRPr/>
          </a:p>
          <a:p>
            <a:pPr indent="0" lvl="1" marL="457200" rtl="0" algn="l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it-IT" sz="1800"/>
              <a:t>[</a:t>
            </a:r>
            <a:r>
              <a:rPr lang="it-IT" sz="1800">
                <a:solidFill>
                  <a:srgbClr val="0070C0"/>
                </a:solidFill>
              </a:rPr>
              <a:t>WHERE</a:t>
            </a:r>
            <a:r>
              <a:rPr lang="it-IT" sz="1800"/>
              <a:t> conditions]</a:t>
            </a:r>
            <a:endParaRPr/>
          </a:p>
          <a:p>
            <a:pPr indent="0" lvl="1" marL="45720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it-IT" sz="2000"/>
              <a:t>;</a:t>
            </a:r>
            <a:endParaRPr/>
          </a:p>
          <a:p>
            <a:pPr indent="0" lvl="1" marL="457200" rtl="0" algn="l">
              <a:spcBef>
                <a:spcPts val="1000"/>
              </a:spcBef>
              <a:spcAft>
                <a:spcPts val="0"/>
              </a:spcAft>
              <a:buSzPts val="128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it-IT"/>
              <a:t>È buona norma inserire nella where prima le condizione che legano le tabelle e poi le condizioni di selezione del dato.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251459" lvl="0" marL="342900" rtl="0" algn="l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 b="1"/>
          </a:p>
          <a:p>
            <a:pPr indent="-251459" lvl="0" marL="342900" rtl="0" algn="l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98" name="Google Shape;398;p32"/>
          <p:cNvGraphicFramePr/>
          <p:nvPr/>
        </p:nvGraphicFramePr>
        <p:xfrm>
          <a:off x="2" y="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{299E2279-13E3-498E-9F17-E16632D42E63}</a:tableStyleId>
              </a:tblPr>
              <a:tblGrid>
                <a:gridCol w="1091825"/>
                <a:gridCol w="5388875"/>
                <a:gridCol w="5711300"/>
              </a:tblGrid>
              <a:tr h="334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400"/>
                        <a:t>Join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400"/>
                        <a:t>Sintassi Esplicita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400"/>
                        <a:t>Sintassi Implicita (Oracle)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801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400"/>
                        <a:t>Cross join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400"/>
                        <a:t>SELECT *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400"/>
                        <a:t>FROM table1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400"/>
                        <a:t>CROSS JOIN table2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400"/>
                        <a:t>SELECT * FROM table1,table2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1035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400"/>
                        <a:t>Inner join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400"/>
                        <a:t>SELECT *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400"/>
                        <a:t>FROM table1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400"/>
                        <a:t>INNER JOIN table2 ON table2.column=table1.column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400"/>
                        <a:t>SELECT *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400"/>
                        <a:t>FROM table1,table2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400"/>
                        <a:t>WHERE table2.column=table1.column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45725" marB="45725" marR="91450" marL="91450"/>
                </a:tc>
              </a:tr>
              <a:tr h="1036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400"/>
                        <a:t>Self join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400"/>
                        <a:t>SELECT *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400"/>
                        <a:t>FROM table1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400"/>
                        <a:t>INNER JOIN table1 ON table1.columnN=table1.columnM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400"/>
                        <a:t>SELECT *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400"/>
                        <a:t>FROM table1,table1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400"/>
                        <a:t>WHERE table1.columnN=table1.columnM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1099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400"/>
                        <a:t>Left join 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400"/>
                        <a:t>SELECT *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400"/>
                        <a:t>FROM table1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400"/>
                        <a:t>LEFT JOIN table2 ON table2.column=table1.column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400"/>
                        <a:t>SELECT *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400"/>
                        <a:t>FROM table1,table2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400"/>
                        <a:t>WHERE table2.column=table1.column(+)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45725" marB="45725" marR="91450" marL="91450"/>
                </a:tc>
              </a:tr>
              <a:tr h="1275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400"/>
                        <a:t>Right join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400"/>
                        <a:t>SELECT *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400"/>
                        <a:t>FROM table1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400"/>
                        <a:t>RIGHT JOIN table2 ON table2.column=table1.column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400"/>
                        <a:t>SELECT *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400"/>
                        <a:t>FROM table1,table2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400"/>
                        <a:t>WHERE table2.column(+)=table1.column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45725" marB="45725" marR="91450" marL="91450"/>
                </a:tc>
              </a:tr>
              <a:tr h="1275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400"/>
                        <a:t>Full join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400"/>
                        <a:t>SELECT *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400"/>
                        <a:t>FROM table1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400"/>
                        <a:t>FULL JOIN table2 ON table2.column=table1.column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33"/>
          <p:cNvSpPr txBox="1"/>
          <p:nvPr>
            <p:ph type="title"/>
          </p:nvPr>
        </p:nvSpPr>
        <p:spPr>
          <a:xfrm>
            <a:off x="513776" y="94955"/>
            <a:ext cx="8596668" cy="7889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it-IT"/>
              <a:t>Esempio di Cross Join</a:t>
            </a:r>
            <a:endParaRPr/>
          </a:p>
        </p:txBody>
      </p:sp>
      <p:graphicFrame>
        <p:nvGraphicFramePr>
          <p:cNvPr id="405" name="Google Shape;405;p33"/>
          <p:cNvGraphicFramePr/>
          <p:nvPr/>
        </p:nvGraphicFramePr>
        <p:xfrm>
          <a:off x="570400" y="1598256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{299E2279-13E3-498E-9F17-E16632D42E63}</a:tableStyleId>
              </a:tblPr>
              <a:tblGrid>
                <a:gridCol w="1302675"/>
                <a:gridCol w="1302675"/>
                <a:gridCol w="13026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ID_UTENTE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NOME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COGNOME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Mario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Rossi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2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Pippo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Baudo</a:t>
                      </a:r>
                      <a:endParaRPr sz="12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406" name="Google Shape;406;p33"/>
          <p:cNvSpPr txBox="1"/>
          <p:nvPr/>
        </p:nvSpPr>
        <p:spPr>
          <a:xfrm>
            <a:off x="153860" y="3901322"/>
            <a:ext cx="3612005" cy="28617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t/>
            </a:r>
            <a:endParaRPr sz="1800">
              <a:solidFill>
                <a:srgbClr val="0070C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rPr lang="it-IT" sz="1800">
                <a:solidFill>
                  <a:srgbClr val="0070C0"/>
                </a:solidFill>
                <a:latin typeface="Trebuchet MS"/>
                <a:ea typeface="Trebuchet MS"/>
                <a:cs typeface="Trebuchet MS"/>
                <a:sym typeface="Trebuchet MS"/>
              </a:rPr>
              <a:t>SELECT *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rPr lang="it-IT" sz="1800">
                <a:solidFill>
                  <a:srgbClr val="0070C0"/>
                </a:solidFill>
                <a:latin typeface="Trebuchet MS"/>
                <a:ea typeface="Trebuchet MS"/>
                <a:cs typeface="Trebuchet MS"/>
                <a:sym typeface="Trebuchet MS"/>
              </a:rPr>
              <a:t>FROM </a:t>
            </a:r>
            <a:r>
              <a:rPr lang="it-IT" sz="18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anagrafica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rPr lang="it-IT" sz="1800">
                <a:solidFill>
                  <a:srgbClr val="0070C0"/>
                </a:solidFill>
                <a:latin typeface="Trebuchet MS"/>
                <a:ea typeface="Trebuchet MS"/>
                <a:cs typeface="Trebuchet MS"/>
                <a:sym typeface="Trebuchet MS"/>
              </a:rPr>
              <a:t>CROSS JOIN </a:t>
            </a:r>
            <a:r>
              <a:rPr lang="it-IT" sz="18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dati_personali</a:t>
            </a:r>
            <a:r>
              <a:rPr lang="it-IT" sz="1800">
                <a:solidFill>
                  <a:srgbClr val="0070C0"/>
                </a:solidFill>
                <a:latin typeface="Trebuchet MS"/>
                <a:ea typeface="Trebuchet MS"/>
                <a:cs typeface="Trebuchet MS"/>
                <a:sym typeface="Trebuchet MS"/>
              </a:rPr>
              <a:t>;</a:t>
            </a:r>
            <a:endParaRPr sz="1800">
              <a:solidFill>
                <a:srgbClr val="0070C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aphicFrame>
        <p:nvGraphicFramePr>
          <p:cNvPr id="407" name="Google Shape;407;p33"/>
          <p:cNvGraphicFramePr/>
          <p:nvPr/>
        </p:nvGraphicFramePr>
        <p:xfrm>
          <a:off x="4700955" y="4129592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{299E2279-13E3-498E-9F17-E16632D42E63}</a:tableStyleId>
              </a:tblPr>
              <a:tblGrid>
                <a:gridCol w="1091675"/>
                <a:gridCol w="907900"/>
                <a:gridCol w="1062875"/>
                <a:gridCol w="1556425"/>
                <a:gridCol w="974900"/>
                <a:gridCol w="10766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ID_UTENTE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NOME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COGNOME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CF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CITTA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FK_UTENTE</a:t>
                      </a:r>
                      <a:endParaRPr sz="1200"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Mario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Rossi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ABCABC12A12A123A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NAPOLI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431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Mario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Rossi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DEFDEF12A12A123A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ROMA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2</a:t>
                      </a:r>
                      <a:endParaRPr sz="12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2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Pippo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Baudo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ABCABC12A12A123A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NAPOLI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2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Pippo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Baudo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DEFDEF12A12A123A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ROMA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2</a:t>
                      </a:r>
                      <a:endParaRPr sz="12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408" name="Google Shape;408;p33"/>
          <p:cNvSpPr/>
          <p:nvPr/>
        </p:nvSpPr>
        <p:spPr>
          <a:xfrm>
            <a:off x="3560475" y="4829756"/>
            <a:ext cx="1038688" cy="42612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2D050"/>
          </a:solidFill>
          <a:ln cap="rnd" cmpd="sng" w="19050">
            <a:solidFill>
              <a:srgbClr val="698D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OK</a:t>
            </a:r>
            <a:endParaRPr/>
          </a:p>
        </p:txBody>
      </p:sp>
      <p:graphicFrame>
        <p:nvGraphicFramePr>
          <p:cNvPr id="409" name="Google Shape;409;p33"/>
          <p:cNvGraphicFramePr/>
          <p:nvPr/>
        </p:nvGraphicFramePr>
        <p:xfrm>
          <a:off x="5756031" y="1586533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{299E2279-13E3-498E-9F17-E16632D42E63}</a:tableStyleId>
              </a:tblPr>
              <a:tblGrid>
                <a:gridCol w="1683475"/>
                <a:gridCol w="1176950"/>
                <a:gridCol w="14302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CF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CITTA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FK_UTENTE</a:t>
                      </a:r>
                      <a:endParaRPr sz="12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ABCABC12A12A123A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NAPOLI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DEFDEF12A12A123A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ROMA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2</a:t>
                      </a:r>
                      <a:endParaRPr sz="12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410" name="Google Shape;410;p33"/>
          <p:cNvSpPr txBox="1"/>
          <p:nvPr/>
        </p:nvSpPr>
        <p:spPr>
          <a:xfrm>
            <a:off x="1729244" y="1070474"/>
            <a:ext cx="159031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ANAGRAFICA</a:t>
            </a:r>
            <a:endParaRPr/>
          </a:p>
        </p:txBody>
      </p:sp>
      <p:sp>
        <p:nvSpPr>
          <p:cNvPr id="411" name="Google Shape;411;p33"/>
          <p:cNvSpPr txBox="1"/>
          <p:nvPr/>
        </p:nvSpPr>
        <p:spPr>
          <a:xfrm>
            <a:off x="7137733" y="1070474"/>
            <a:ext cx="182453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DATI PERSONALI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34"/>
          <p:cNvSpPr txBox="1"/>
          <p:nvPr>
            <p:ph type="title"/>
          </p:nvPr>
        </p:nvSpPr>
        <p:spPr>
          <a:xfrm>
            <a:off x="513776" y="94955"/>
            <a:ext cx="8596668" cy="7889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it-IT"/>
              <a:t>Esempio di Alias</a:t>
            </a:r>
            <a:endParaRPr/>
          </a:p>
        </p:txBody>
      </p:sp>
      <p:graphicFrame>
        <p:nvGraphicFramePr>
          <p:cNvPr id="418" name="Google Shape;418;p34"/>
          <p:cNvGraphicFramePr/>
          <p:nvPr/>
        </p:nvGraphicFramePr>
        <p:xfrm>
          <a:off x="570400" y="1598256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{299E2279-13E3-498E-9F17-E16632D42E63}</a:tableStyleId>
              </a:tblPr>
              <a:tblGrid>
                <a:gridCol w="1302675"/>
                <a:gridCol w="1302675"/>
                <a:gridCol w="13026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ID_UTENTE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NOME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COGNOME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Mario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Rossi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2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Pippo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Baudo</a:t>
                      </a:r>
                      <a:endParaRPr sz="12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419" name="Google Shape;419;p34"/>
          <p:cNvSpPr txBox="1"/>
          <p:nvPr/>
        </p:nvSpPr>
        <p:spPr>
          <a:xfrm>
            <a:off x="196948" y="2869226"/>
            <a:ext cx="4615162" cy="38938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9999"/>
              <a:buFont typeface="Noto Sans Symbols"/>
              <a:buNone/>
            </a:pPr>
            <a:r>
              <a:rPr lang="it-IT" sz="1800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SENZA ALIAS: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79999"/>
              <a:buFont typeface="Noto Sans Symbols"/>
              <a:buNone/>
            </a:pPr>
            <a:r>
              <a:rPr lang="it-IT" sz="1800">
                <a:solidFill>
                  <a:srgbClr val="0070C0"/>
                </a:solidFill>
                <a:latin typeface="Trebuchet MS"/>
                <a:ea typeface="Trebuchet MS"/>
                <a:cs typeface="Trebuchet MS"/>
                <a:sym typeface="Trebuchet MS"/>
              </a:rPr>
              <a:t>SELECT </a:t>
            </a:r>
            <a:r>
              <a:rPr lang="it-IT" sz="18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dati_personali.fk_utente, 	anagrafica.nome,anagrafica.cognome,dati_personali.cf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79999"/>
              <a:buFont typeface="Noto Sans Symbols"/>
              <a:buNone/>
            </a:pPr>
            <a:r>
              <a:rPr lang="it-IT" sz="1800">
                <a:solidFill>
                  <a:srgbClr val="0070C0"/>
                </a:solidFill>
                <a:latin typeface="Trebuchet MS"/>
                <a:ea typeface="Trebuchet MS"/>
                <a:cs typeface="Trebuchet MS"/>
                <a:sym typeface="Trebuchet MS"/>
              </a:rPr>
              <a:t>FROM </a:t>
            </a:r>
            <a:r>
              <a:rPr lang="it-IT" sz="18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anagrafica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79999"/>
              <a:buFont typeface="Noto Sans Symbols"/>
              <a:buNone/>
            </a:pPr>
            <a:r>
              <a:rPr lang="it-IT" sz="1800">
                <a:solidFill>
                  <a:srgbClr val="0070C0"/>
                </a:solidFill>
                <a:latin typeface="Trebuchet MS"/>
                <a:ea typeface="Trebuchet MS"/>
                <a:cs typeface="Trebuchet MS"/>
                <a:sym typeface="Trebuchet MS"/>
              </a:rPr>
              <a:t>CROSS JOIN </a:t>
            </a:r>
            <a:r>
              <a:rPr lang="it-IT" sz="18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dati_personali;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79999"/>
              <a:buFont typeface="Noto Sans Symbols"/>
              <a:buNone/>
            </a:pPr>
            <a:r>
              <a:t/>
            </a:r>
            <a:endParaRPr sz="1800">
              <a:solidFill>
                <a:schemeClr val="accent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79999"/>
              <a:buFont typeface="Noto Sans Symbols"/>
              <a:buNone/>
            </a:pPr>
            <a:r>
              <a:rPr lang="it-IT" sz="1800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CON ALIAS: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79999"/>
              <a:buFont typeface="Noto Sans Symbols"/>
              <a:buNone/>
            </a:pPr>
            <a:r>
              <a:rPr lang="it-IT" sz="1800">
                <a:solidFill>
                  <a:srgbClr val="0070C0"/>
                </a:solidFill>
                <a:latin typeface="Trebuchet MS"/>
                <a:ea typeface="Trebuchet MS"/>
                <a:cs typeface="Trebuchet MS"/>
                <a:sym typeface="Trebuchet MS"/>
              </a:rPr>
              <a:t>SELECT  </a:t>
            </a:r>
            <a:r>
              <a:rPr lang="it-IT" sz="18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dp.fk_utente, an.nome,	an.cognome, dp.cf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79999"/>
              <a:buFont typeface="Noto Sans Symbols"/>
              <a:buNone/>
            </a:pPr>
            <a:r>
              <a:rPr lang="it-IT" sz="1800">
                <a:solidFill>
                  <a:srgbClr val="0070C0"/>
                </a:solidFill>
                <a:latin typeface="Trebuchet MS"/>
                <a:ea typeface="Trebuchet MS"/>
                <a:cs typeface="Trebuchet MS"/>
                <a:sym typeface="Trebuchet MS"/>
              </a:rPr>
              <a:t>FROM </a:t>
            </a:r>
            <a:r>
              <a:rPr lang="it-IT" sz="18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anagrafica an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79999"/>
              <a:buFont typeface="Noto Sans Symbols"/>
              <a:buNone/>
            </a:pPr>
            <a:r>
              <a:rPr lang="it-IT" sz="1800">
                <a:solidFill>
                  <a:srgbClr val="0070C0"/>
                </a:solidFill>
                <a:latin typeface="Trebuchet MS"/>
                <a:ea typeface="Trebuchet MS"/>
                <a:cs typeface="Trebuchet MS"/>
                <a:sym typeface="Trebuchet MS"/>
              </a:rPr>
              <a:t>CROSS JOIN</a:t>
            </a:r>
            <a:r>
              <a:rPr lang="it-IT" sz="18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 dati_personali dp;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79999"/>
              <a:buFont typeface="Noto Sans Symbols"/>
              <a:buNone/>
            </a:pPr>
            <a:r>
              <a:t/>
            </a:r>
            <a:endParaRPr sz="1800">
              <a:solidFill>
                <a:srgbClr val="3F3F3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79999"/>
              <a:buFont typeface="Noto Sans Symbols"/>
              <a:buNone/>
            </a:pPr>
            <a:r>
              <a:t/>
            </a:r>
            <a:endParaRPr sz="1800">
              <a:solidFill>
                <a:srgbClr val="3F3F3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aphicFrame>
        <p:nvGraphicFramePr>
          <p:cNvPr id="420" name="Google Shape;420;p34"/>
          <p:cNvGraphicFramePr/>
          <p:nvPr/>
        </p:nvGraphicFramePr>
        <p:xfrm>
          <a:off x="5850797" y="3961071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{299E2279-13E3-498E-9F17-E16632D42E63}</a:tableStyleId>
              </a:tblPr>
              <a:tblGrid>
                <a:gridCol w="1331750"/>
                <a:gridCol w="1331750"/>
                <a:gridCol w="1028300"/>
                <a:gridCol w="16351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FK_UTENTE</a:t>
                      </a:r>
                      <a:endParaRPr sz="1200"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NOME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COGNOME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CF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Mario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Rossi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ABCABC12A12A123A</a:t>
                      </a:r>
                      <a:endParaRPr sz="1200"/>
                    </a:p>
                  </a:txBody>
                  <a:tcPr marT="45725" marB="45725" marR="91450" marL="91450"/>
                </a:tc>
              </a:tr>
              <a:tr h="3431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2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Mario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Rossi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DEFDEF12A12A123A</a:t>
                      </a:r>
                      <a:endParaRPr sz="12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1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Pippo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Baudo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ABCABC12A12A123A</a:t>
                      </a:r>
                      <a:endParaRPr sz="12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2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Pippo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Baudo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DEFDEF12A12A123A</a:t>
                      </a:r>
                      <a:endParaRPr sz="12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421" name="Google Shape;421;p34"/>
          <p:cNvSpPr/>
          <p:nvPr/>
        </p:nvSpPr>
        <p:spPr>
          <a:xfrm>
            <a:off x="4812110" y="4661234"/>
            <a:ext cx="1038688" cy="42612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2D050"/>
          </a:solidFill>
          <a:ln cap="rnd" cmpd="sng" w="19050">
            <a:solidFill>
              <a:srgbClr val="698D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22" name="Google Shape;422;p34"/>
          <p:cNvSpPr txBox="1"/>
          <p:nvPr/>
        </p:nvSpPr>
        <p:spPr>
          <a:xfrm>
            <a:off x="1729244" y="1070474"/>
            <a:ext cx="159031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ANAGRAFICA</a:t>
            </a:r>
            <a:endParaRPr/>
          </a:p>
        </p:txBody>
      </p:sp>
      <p:sp>
        <p:nvSpPr>
          <p:cNvPr id="423" name="Google Shape;423;p34"/>
          <p:cNvSpPr txBox="1"/>
          <p:nvPr/>
        </p:nvSpPr>
        <p:spPr>
          <a:xfrm>
            <a:off x="7137733" y="1070474"/>
            <a:ext cx="182453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DATI PERSONALI</a:t>
            </a:r>
            <a:endParaRPr/>
          </a:p>
        </p:txBody>
      </p:sp>
      <p:graphicFrame>
        <p:nvGraphicFramePr>
          <p:cNvPr id="424" name="Google Shape;424;p34"/>
          <p:cNvGraphicFramePr/>
          <p:nvPr/>
        </p:nvGraphicFramePr>
        <p:xfrm>
          <a:off x="5850798" y="1645149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{299E2279-13E3-498E-9F17-E16632D42E63}</a:tableStyleId>
              </a:tblPr>
              <a:tblGrid>
                <a:gridCol w="1683475"/>
                <a:gridCol w="1176950"/>
                <a:gridCol w="14302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CF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CITTA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FK_UTENTE</a:t>
                      </a:r>
                      <a:endParaRPr sz="12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ABCABC12A12A123A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NAPOLI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DEFDEF12A12A123A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ROMA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2</a:t>
                      </a:r>
                      <a:endParaRPr sz="12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35"/>
          <p:cNvSpPr txBox="1"/>
          <p:nvPr>
            <p:ph type="title"/>
          </p:nvPr>
        </p:nvSpPr>
        <p:spPr>
          <a:xfrm>
            <a:off x="513776" y="94955"/>
            <a:ext cx="8596668" cy="7889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it-IT"/>
              <a:t>Esempio di Inner Join</a:t>
            </a:r>
            <a:endParaRPr/>
          </a:p>
        </p:txBody>
      </p:sp>
      <p:graphicFrame>
        <p:nvGraphicFramePr>
          <p:cNvPr id="431" name="Google Shape;431;p35"/>
          <p:cNvGraphicFramePr/>
          <p:nvPr/>
        </p:nvGraphicFramePr>
        <p:xfrm>
          <a:off x="570400" y="1598256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{299E2279-13E3-498E-9F17-E16632D42E63}</a:tableStyleId>
              </a:tblPr>
              <a:tblGrid>
                <a:gridCol w="1302675"/>
                <a:gridCol w="1302675"/>
                <a:gridCol w="13026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ID_UTENTE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NOME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COGNOME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Mario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Rossi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2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Pippo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Baudo</a:t>
                      </a:r>
                      <a:endParaRPr sz="12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432" name="Google Shape;432;p35"/>
          <p:cNvSpPr txBox="1"/>
          <p:nvPr/>
        </p:nvSpPr>
        <p:spPr>
          <a:xfrm>
            <a:off x="161417" y="3685735"/>
            <a:ext cx="3797643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t/>
            </a:r>
            <a:endParaRPr sz="1800">
              <a:solidFill>
                <a:srgbClr val="0070C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rPr lang="it-IT" sz="1800">
                <a:solidFill>
                  <a:srgbClr val="0070C0"/>
                </a:solidFill>
                <a:latin typeface="Trebuchet MS"/>
                <a:ea typeface="Trebuchet MS"/>
                <a:cs typeface="Trebuchet MS"/>
                <a:sym typeface="Trebuchet MS"/>
              </a:rPr>
              <a:t>SELECT * 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rPr lang="it-IT" sz="1800">
                <a:solidFill>
                  <a:srgbClr val="0070C0"/>
                </a:solidFill>
                <a:latin typeface="Trebuchet MS"/>
                <a:ea typeface="Trebuchet MS"/>
                <a:cs typeface="Trebuchet MS"/>
                <a:sym typeface="Trebuchet MS"/>
              </a:rPr>
              <a:t>FROM </a:t>
            </a:r>
            <a:r>
              <a:rPr lang="it-IT" sz="18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anagrafica an	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rPr lang="it-IT" sz="1800">
                <a:solidFill>
                  <a:srgbClr val="0070C0"/>
                </a:solidFill>
                <a:latin typeface="Trebuchet MS"/>
                <a:ea typeface="Trebuchet MS"/>
                <a:cs typeface="Trebuchet MS"/>
                <a:sym typeface="Trebuchet MS"/>
              </a:rPr>
              <a:t>INNER JOIN </a:t>
            </a:r>
            <a:r>
              <a:rPr lang="it-IT" sz="18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dati_personali dp 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rPr lang="it-IT" sz="1800">
                <a:solidFill>
                  <a:srgbClr val="0070C0"/>
                </a:solidFill>
                <a:latin typeface="Trebuchet MS"/>
                <a:ea typeface="Trebuchet MS"/>
                <a:cs typeface="Trebuchet MS"/>
                <a:sym typeface="Trebuchet MS"/>
              </a:rPr>
              <a:t>ON </a:t>
            </a:r>
            <a:r>
              <a:rPr lang="it-IT" sz="18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an.id_utente = dp.fk_utente;</a:t>
            </a:r>
            <a:endParaRPr sz="1800">
              <a:solidFill>
                <a:srgbClr val="3F3F3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aphicFrame>
        <p:nvGraphicFramePr>
          <p:cNvPr id="433" name="Google Shape;433;p35"/>
          <p:cNvGraphicFramePr/>
          <p:nvPr/>
        </p:nvGraphicFramePr>
        <p:xfrm>
          <a:off x="5122984" y="3901322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{299E2279-13E3-498E-9F17-E16632D42E63}</a:tableStyleId>
              </a:tblPr>
              <a:tblGrid>
                <a:gridCol w="1029675"/>
                <a:gridCol w="740500"/>
                <a:gridCol w="937850"/>
                <a:gridCol w="1570900"/>
                <a:gridCol w="785250"/>
                <a:gridCol w="11138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ID_UTENTE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NOME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COGNOME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CF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CITTA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FK_UTENTE</a:t>
                      </a:r>
                      <a:endParaRPr sz="1200"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Mario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Rossi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ABCABC12A12A123A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NAPOLI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431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>
                          <a:solidFill>
                            <a:srgbClr val="7F7F7F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>
                          <a:solidFill>
                            <a:srgbClr val="7F7F7F"/>
                          </a:solidFill>
                        </a:rPr>
                        <a:t>Mario</a:t>
                      </a:r>
                      <a:endParaRPr sz="1200">
                        <a:solidFill>
                          <a:srgbClr val="7F7F7F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>
                          <a:solidFill>
                            <a:srgbClr val="7F7F7F"/>
                          </a:solidFill>
                        </a:rPr>
                        <a:t>Rossi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>
                          <a:solidFill>
                            <a:srgbClr val="7F7F7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DEFDEF12A12A123A</a:t>
                      </a:r>
                      <a:endParaRPr sz="1200">
                        <a:solidFill>
                          <a:srgbClr val="7F7F7F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>
                          <a:solidFill>
                            <a:srgbClr val="7F7F7F"/>
                          </a:solidFill>
                        </a:rPr>
                        <a:t>ROMA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>
                          <a:solidFill>
                            <a:srgbClr val="7F7F7F"/>
                          </a:solidFill>
                        </a:rPr>
                        <a:t>2</a:t>
                      </a:r>
                      <a:endParaRPr sz="1200">
                        <a:solidFill>
                          <a:srgbClr val="7F7F7F"/>
                        </a:solidFill>
                      </a:endParaRPr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>
                          <a:solidFill>
                            <a:srgbClr val="7F7F7F"/>
                          </a:solidFill>
                        </a:rPr>
                        <a:t>2</a:t>
                      </a:r>
                      <a:endParaRPr sz="1200">
                        <a:solidFill>
                          <a:srgbClr val="7F7F7F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>
                          <a:solidFill>
                            <a:srgbClr val="7F7F7F"/>
                          </a:solidFill>
                        </a:rPr>
                        <a:t>Pippo</a:t>
                      </a:r>
                      <a:endParaRPr sz="1200">
                        <a:solidFill>
                          <a:srgbClr val="7F7F7F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>
                          <a:solidFill>
                            <a:srgbClr val="7F7F7F"/>
                          </a:solidFill>
                        </a:rPr>
                        <a:t>Baudo</a:t>
                      </a:r>
                      <a:endParaRPr sz="1200">
                        <a:solidFill>
                          <a:srgbClr val="7F7F7F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>
                          <a:solidFill>
                            <a:srgbClr val="7F7F7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ABCABC12A12A123A</a:t>
                      </a:r>
                      <a:endParaRPr sz="1200">
                        <a:solidFill>
                          <a:srgbClr val="7F7F7F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>
                          <a:solidFill>
                            <a:srgbClr val="7F7F7F"/>
                          </a:solidFill>
                        </a:rPr>
                        <a:t>NAPOLI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>
                          <a:solidFill>
                            <a:srgbClr val="7F7F7F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2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Pippo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Baudo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DEFDEF12A12A123A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ROMA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2</a:t>
                      </a:r>
                      <a:endParaRPr sz="12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434" name="Google Shape;434;p35"/>
          <p:cNvSpPr/>
          <p:nvPr/>
        </p:nvSpPr>
        <p:spPr>
          <a:xfrm>
            <a:off x="3959060" y="4829756"/>
            <a:ext cx="1038688" cy="42612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2D050"/>
          </a:solidFill>
          <a:ln cap="rnd" cmpd="sng" w="19050">
            <a:solidFill>
              <a:srgbClr val="698D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35" name="Google Shape;435;p35"/>
          <p:cNvSpPr txBox="1"/>
          <p:nvPr/>
        </p:nvSpPr>
        <p:spPr>
          <a:xfrm>
            <a:off x="1729244" y="1070474"/>
            <a:ext cx="159031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ANAGRAFICA</a:t>
            </a:r>
            <a:endParaRPr/>
          </a:p>
        </p:txBody>
      </p:sp>
      <p:sp>
        <p:nvSpPr>
          <p:cNvPr id="436" name="Google Shape;436;p35"/>
          <p:cNvSpPr txBox="1"/>
          <p:nvPr/>
        </p:nvSpPr>
        <p:spPr>
          <a:xfrm>
            <a:off x="7137733" y="1070474"/>
            <a:ext cx="182453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DATI PERSONALI</a:t>
            </a:r>
            <a:endParaRPr/>
          </a:p>
        </p:txBody>
      </p:sp>
      <p:sp>
        <p:nvSpPr>
          <p:cNvPr id="437" name="Google Shape;437;p35"/>
          <p:cNvSpPr txBox="1"/>
          <p:nvPr/>
        </p:nvSpPr>
        <p:spPr>
          <a:xfrm>
            <a:off x="5384137" y="6089792"/>
            <a:ext cx="569899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(*) I record in </a:t>
            </a:r>
            <a:r>
              <a:rPr lang="it-IT" sz="1200">
                <a:solidFill>
                  <a:srgbClr val="7F7F7F"/>
                </a:solidFill>
                <a:latin typeface="Trebuchet MS"/>
                <a:ea typeface="Trebuchet MS"/>
                <a:cs typeface="Trebuchet MS"/>
                <a:sym typeface="Trebuchet MS"/>
              </a:rPr>
              <a:t>grigio</a:t>
            </a:r>
            <a:r>
              <a:rPr lang="it-IT" sz="12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non vengono mostrati, perché filtrati dalle condizioni di ON</a:t>
            </a:r>
            <a:endParaRPr/>
          </a:p>
        </p:txBody>
      </p:sp>
      <p:graphicFrame>
        <p:nvGraphicFramePr>
          <p:cNvPr id="438" name="Google Shape;438;p35"/>
          <p:cNvGraphicFramePr/>
          <p:nvPr/>
        </p:nvGraphicFramePr>
        <p:xfrm>
          <a:off x="5850798" y="1645149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{299E2279-13E3-498E-9F17-E16632D42E63}</a:tableStyleId>
              </a:tblPr>
              <a:tblGrid>
                <a:gridCol w="1683475"/>
                <a:gridCol w="1176950"/>
                <a:gridCol w="14302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CF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CITTA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FK_UTENTE</a:t>
                      </a:r>
                      <a:endParaRPr sz="12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ABCABC12A12A123A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NAPOLI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DEFDEF12A12A123A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ROMA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2</a:t>
                      </a:r>
                      <a:endParaRPr sz="12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36"/>
          <p:cNvSpPr txBox="1"/>
          <p:nvPr>
            <p:ph type="title"/>
          </p:nvPr>
        </p:nvSpPr>
        <p:spPr>
          <a:xfrm>
            <a:off x="513776" y="94955"/>
            <a:ext cx="8596668" cy="7889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it-IT"/>
              <a:t>Esempio di Self Join</a:t>
            </a:r>
            <a:endParaRPr/>
          </a:p>
        </p:txBody>
      </p:sp>
      <p:graphicFrame>
        <p:nvGraphicFramePr>
          <p:cNvPr id="445" name="Google Shape;445;p36"/>
          <p:cNvGraphicFramePr/>
          <p:nvPr/>
        </p:nvGraphicFramePr>
        <p:xfrm>
          <a:off x="205425" y="1286232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{299E2279-13E3-498E-9F17-E16632D42E63}</a:tableStyleId>
              </a:tblPr>
              <a:tblGrid>
                <a:gridCol w="1302675"/>
                <a:gridCol w="1302675"/>
                <a:gridCol w="13026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ID_UTENTE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NOME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COGNOME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Mario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Rossi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2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Pippo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Baudo</a:t>
                      </a:r>
                      <a:endParaRPr sz="12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3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Mario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Verdi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446" name="Google Shape;446;p36"/>
          <p:cNvSpPr txBox="1"/>
          <p:nvPr/>
        </p:nvSpPr>
        <p:spPr>
          <a:xfrm>
            <a:off x="161417" y="3685735"/>
            <a:ext cx="3797643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t/>
            </a:r>
            <a:endParaRPr sz="1800">
              <a:solidFill>
                <a:srgbClr val="0070C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rPr lang="it-IT" sz="1800">
                <a:solidFill>
                  <a:srgbClr val="0070C0"/>
                </a:solidFill>
                <a:latin typeface="Trebuchet MS"/>
                <a:ea typeface="Trebuchet MS"/>
                <a:cs typeface="Trebuchet MS"/>
                <a:sym typeface="Trebuchet MS"/>
              </a:rPr>
              <a:t>SELECT * 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rPr lang="it-IT" sz="1800">
                <a:solidFill>
                  <a:srgbClr val="0070C0"/>
                </a:solidFill>
                <a:latin typeface="Trebuchet MS"/>
                <a:ea typeface="Trebuchet MS"/>
                <a:cs typeface="Trebuchet MS"/>
                <a:sym typeface="Trebuchet MS"/>
              </a:rPr>
              <a:t>FROM </a:t>
            </a:r>
            <a:r>
              <a:rPr lang="it-IT" sz="18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anagrafica an1	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rPr lang="it-IT" sz="1800">
                <a:solidFill>
                  <a:srgbClr val="0070C0"/>
                </a:solidFill>
                <a:latin typeface="Trebuchet MS"/>
                <a:ea typeface="Trebuchet MS"/>
                <a:cs typeface="Trebuchet MS"/>
                <a:sym typeface="Trebuchet MS"/>
              </a:rPr>
              <a:t>INNER JOIN </a:t>
            </a:r>
            <a:r>
              <a:rPr lang="it-IT" sz="18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anagrafica an2 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rPr lang="it-IT" sz="1800">
                <a:solidFill>
                  <a:srgbClr val="0070C0"/>
                </a:solidFill>
                <a:latin typeface="Trebuchet MS"/>
                <a:ea typeface="Trebuchet MS"/>
                <a:cs typeface="Trebuchet MS"/>
                <a:sym typeface="Trebuchet MS"/>
              </a:rPr>
              <a:t>ON </a:t>
            </a:r>
            <a:r>
              <a:rPr lang="it-IT" sz="18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an1.nome = an2.nome;</a:t>
            </a:r>
            <a:endParaRPr sz="1800">
              <a:solidFill>
                <a:srgbClr val="3F3F3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aphicFrame>
        <p:nvGraphicFramePr>
          <p:cNvPr id="447" name="Google Shape;447;p36"/>
          <p:cNvGraphicFramePr/>
          <p:nvPr/>
        </p:nvGraphicFramePr>
        <p:xfrm>
          <a:off x="4997751" y="2505341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{299E2279-13E3-498E-9F17-E16632D42E63}</a:tableStyleId>
              </a:tblPr>
              <a:tblGrid>
                <a:gridCol w="1052075"/>
                <a:gridCol w="1052075"/>
                <a:gridCol w="1052075"/>
                <a:gridCol w="1052075"/>
                <a:gridCol w="1052075"/>
                <a:gridCol w="10520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ID_UTENTE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NOME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COGNOME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NOME</a:t>
                      </a:r>
                      <a:endParaRPr sz="1200"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COGNOME</a:t>
                      </a:r>
                      <a:endParaRPr sz="1200"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ID_UTENTE</a:t>
                      </a:r>
                      <a:endParaRPr sz="1200"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Mario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Rossi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Mario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Rossi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431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>
                          <a:solidFill>
                            <a:srgbClr val="7F7F7F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>
                          <a:solidFill>
                            <a:srgbClr val="7F7F7F"/>
                          </a:solidFill>
                        </a:rPr>
                        <a:t>Mario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>
                          <a:solidFill>
                            <a:srgbClr val="7F7F7F"/>
                          </a:solidFill>
                        </a:rPr>
                        <a:t>Rossi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>
                          <a:solidFill>
                            <a:srgbClr val="7F7F7F"/>
                          </a:solidFill>
                        </a:rPr>
                        <a:t>Pippo</a:t>
                      </a:r>
                      <a:endParaRPr sz="1200">
                        <a:solidFill>
                          <a:srgbClr val="7F7F7F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>
                          <a:solidFill>
                            <a:srgbClr val="7F7F7F"/>
                          </a:solidFill>
                        </a:rPr>
                        <a:t>Baudo</a:t>
                      </a:r>
                      <a:endParaRPr sz="1200">
                        <a:solidFill>
                          <a:srgbClr val="7F7F7F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>
                          <a:solidFill>
                            <a:srgbClr val="7F7F7F"/>
                          </a:solidFill>
                        </a:rPr>
                        <a:t>2</a:t>
                      </a:r>
                      <a:endParaRPr sz="1200">
                        <a:solidFill>
                          <a:srgbClr val="7F7F7F"/>
                        </a:solidFill>
                      </a:endParaRPr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Mario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Rossi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Mario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Verdi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3</a:t>
                      </a:r>
                      <a:endParaRPr sz="12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>
                          <a:solidFill>
                            <a:srgbClr val="7F7F7F"/>
                          </a:solidFill>
                        </a:rPr>
                        <a:t>2</a:t>
                      </a:r>
                      <a:endParaRPr sz="1200">
                        <a:solidFill>
                          <a:srgbClr val="7F7F7F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>
                          <a:solidFill>
                            <a:srgbClr val="7F7F7F"/>
                          </a:solidFill>
                        </a:rPr>
                        <a:t>Pippo</a:t>
                      </a:r>
                      <a:endParaRPr sz="1200">
                        <a:solidFill>
                          <a:srgbClr val="7F7F7F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>
                          <a:solidFill>
                            <a:srgbClr val="7F7F7F"/>
                          </a:solidFill>
                        </a:rPr>
                        <a:t>Baudo</a:t>
                      </a:r>
                      <a:endParaRPr sz="1200">
                        <a:solidFill>
                          <a:srgbClr val="7F7F7F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>
                          <a:solidFill>
                            <a:srgbClr val="7F7F7F"/>
                          </a:solidFill>
                        </a:rPr>
                        <a:t>Mario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>
                          <a:solidFill>
                            <a:srgbClr val="7F7F7F"/>
                          </a:solidFill>
                        </a:rPr>
                        <a:t>Rossi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>
                          <a:solidFill>
                            <a:srgbClr val="7F7F7F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2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Pippo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Baudo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Pippo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Baudo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2</a:t>
                      </a:r>
                      <a:endParaRPr sz="12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>
                          <a:solidFill>
                            <a:srgbClr val="7F7F7F"/>
                          </a:solidFill>
                        </a:rPr>
                        <a:t>2</a:t>
                      </a:r>
                      <a:endParaRPr sz="1200">
                        <a:solidFill>
                          <a:srgbClr val="7F7F7F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>
                          <a:solidFill>
                            <a:srgbClr val="7F7F7F"/>
                          </a:solidFill>
                        </a:rPr>
                        <a:t>Pippo</a:t>
                      </a:r>
                      <a:endParaRPr sz="1200">
                        <a:solidFill>
                          <a:srgbClr val="7F7F7F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>
                          <a:solidFill>
                            <a:srgbClr val="7F7F7F"/>
                          </a:solidFill>
                        </a:rPr>
                        <a:t>Baudo</a:t>
                      </a:r>
                      <a:endParaRPr sz="1200">
                        <a:solidFill>
                          <a:srgbClr val="7F7F7F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>
                          <a:solidFill>
                            <a:srgbClr val="7F7F7F"/>
                          </a:solidFill>
                        </a:rPr>
                        <a:t>Mario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>
                          <a:solidFill>
                            <a:srgbClr val="7F7F7F"/>
                          </a:solidFill>
                        </a:rPr>
                        <a:t>Verdi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>
                          <a:solidFill>
                            <a:srgbClr val="7F7F7F"/>
                          </a:solidFill>
                        </a:rPr>
                        <a:t>3</a:t>
                      </a:r>
                      <a:endParaRPr sz="1200">
                        <a:solidFill>
                          <a:srgbClr val="7F7F7F"/>
                        </a:solidFill>
                      </a:endParaRPr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3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Mario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Verdi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Mario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Rossi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>
                          <a:solidFill>
                            <a:srgbClr val="7F7F7F"/>
                          </a:solidFill>
                        </a:rPr>
                        <a:t>3</a:t>
                      </a:r>
                      <a:endParaRPr sz="1200">
                        <a:solidFill>
                          <a:srgbClr val="7F7F7F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>
                          <a:solidFill>
                            <a:srgbClr val="7F7F7F"/>
                          </a:solidFill>
                        </a:rPr>
                        <a:t>Mario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>
                          <a:solidFill>
                            <a:srgbClr val="7F7F7F"/>
                          </a:solidFill>
                        </a:rPr>
                        <a:t>Verdi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>
                          <a:solidFill>
                            <a:srgbClr val="7F7F7F"/>
                          </a:solidFill>
                        </a:rPr>
                        <a:t>Pippo</a:t>
                      </a:r>
                      <a:endParaRPr sz="1200">
                        <a:solidFill>
                          <a:srgbClr val="7F7F7F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>
                          <a:solidFill>
                            <a:srgbClr val="7F7F7F"/>
                          </a:solidFill>
                        </a:rPr>
                        <a:t>Baudo</a:t>
                      </a:r>
                      <a:endParaRPr sz="1200">
                        <a:solidFill>
                          <a:srgbClr val="7F7F7F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>
                          <a:solidFill>
                            <a:srgbClr val="7F7F7F"/>
                          </a:solidFill>
                        </a:rPr>
                        <a:t>2</a:t>
                      </a:r>
                      <a:endParaRPr sz="1200">
                        <a:solidFill>
                          <a:srgbClr val="7F7F7F"/>
                        </a:solidFill>
                      </a:endParaRPr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3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Mario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Verdi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Mario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Verdi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1</a:t>
                      </a:r>
                      <a:endParaRPr sz="12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448" name="Google Shape;448;p36"/>
          <p:cNvSpPr/>
          <p:nvPr/>
        </p:nvSpPr>
        <p:spPr>
          <a:xfrm>
            <a:off x="3959060" y="4829756"/>
            <a:ext cx="1038688" cy="42612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2D050"/>
          </a:solidFill>
          <a:ln cap="rnd" cmpd="sng" w="19050">
            <a:solidFill>
              <a:srgbClr val="698D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49" name="Google Shape;449;p36"/>
          <p:cNvSpPr txBox="1"/>
          <p:nvPr/>
        </p:nvSpPr>
        <p:spPr>
          <a:xfrm>
            <a:off x="1265080" y="787964"/>
            <a:ext cx="159031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ANAGRAFICA</a:t>
            </a:r>
            <a:endParaRPr/>
          </a:p>
        </p:txBody>
      </p:sp>
      <p:sp>
        <p:nvSpPr>
          <p:cNvPr id="450" name="Google Shape;450;p36"/>
          <p:cNvSpPr txBox="1"/>
          <p:nvPr/>
        </p:nvSpPr>
        <p:spPr>
          <a:xfrm>
            <a:off x="5340129" y="6290435"/>
            <a:ext cx="569899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(*) I record in </a:t>
            </a:r>
            <a:r>
              <a:rPr lang="it-IT" sz="1200">
                <a:solidFill>
                  <a:srgbClr val="7F7F7F"/>
                </a:solidFill>
                <a:latin typeface="Trebuchet MS"/>
                <a:ea typeface="Trebuchet MS"/>
                <a:cs typeface="Trebuchet MS"/>
                <a:sym typeface="Trebuchet MS"/>
              </a:rPr>
              <a:t>grigio</a:t>
            </a:r>
            <a:r>
              <a:rPr lang="it-IT" sz="12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non vengono mostrati, perché filtrati dalle condizioni di ON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37"/>
          <p:cNvSpPr txBox="1"/>
          <p:nvPr>
            <p:ph type="title"/>
          </p:nvPr>
        </p:nvSpPr>
        <p:spPr>
          <a:xfrm>
            <a:off x="513776" y="94955"/>
            <a:ext cx="8596668" cy="7889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it-IT"/>
              <a:t>Esempio di Left Join</a:t>
            </a:r>
            <a:endParaRPr/>
          </a:p>
        </p:txBody>
      </p:sp>
      <p:graphicFrame>
        <p:nvGraphicFramePr>
          <p:cNvPr id="457" name="Google Shape;457;p37"/>
          <p:cNvGraphicFramePr/>
          <p:nvPr/>
        </p:nvGraphicFramePr>
        <p:xfrm>
          <a:off x="570400" y="1598256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{299E2279-13E3-498E-9F17-E16632D42E63}</a:tableStyleId>
              </a:tblPr>
              <a:tblGrid>
                <a:gridCol w="1302675"/>
                <a:gridCol w="1302675"/>
                <a:gridCol w="13026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ID_UTENTE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NOME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COGNOME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Mario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Rossi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2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Pippo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Baudo</a:t>
                      </a:r>
                      <a:endParaRPr sz="12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458" name="Google Shape;458;p37"/>
          <p:cNvSpPr txBox="1"/>
          <p:nvPr/>
        </p:nvSpPr>
        <p:spPr>
          <a:xfrm>
            <a:off x="161417" y="3685735"/>
            <a:ext cx="3797643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t/>
            </a:r>
            <a:endParaRPr sz="1800">
              <a:solidFill>
                <a:srgbClr val="0070C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rPr lang="it-IT" sz="1800">
                <a:solidFill>
                  <a:srgbClr val="0070C0"/>
                </a:solidFill>
                <a:latin typeface="Trebuchet MS"/>
                <a:ea typeface="Trebuchet MS"/>
                <a:cs typeface="Trebuchet MS"/>
                <a:sym typeface="Trebuchet MS"/>
              </a:rPr>
              <a:t>SELECT * 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rPr lang="it-IT" sz="1800">
                <a:solidFill>
                  <a:srgbClr val="0070C0"/>
                </a:solidFill>
                <a:latin typeface="Trebuchet MS"/>
                <a:ea typeface="Trebuchet MS"/>
                <a:cs typeface="Trebuchet MS"/>
                <a:sym typeface="Trebuchet MS"/>
              </a:rPr>
              <a:t>FROM </a:t>
            </a:r>
            <a:r>
              <a:rPr lang="it-IT" sz="18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anagrafica an	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rPr lang="it-IT" sz="1800">
                <a:solidFill>
                  <a:srgbClr val="0070C0"/>
                </a:solidFill>
                <a:latin typeface="Trebuchet MS"/>
                <a:ea typeface="Trebuchet MS"/>
                <a:cs typeface="Trebuchet MS"/>
                <a:sym typeface="Trebuchet MS"/>
              </a:rPr>
              <a:t>LEFT JOIN </a:t>
            </a:r>
            <a:r>
              <a:rPr lang="it-IT" sz="18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dati_personali dp 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rPr lang="it-IT" sz="1800">
                <a:solidFill>
                  <a:srgbClr val="0070C0"/>
                </a:solidFill>
                <a:latin typeface="Trebuchet MS"/>
                <a:ea typeface="Trebuchet MS"/>
                <a:cs typeface="Trebuchet MS"/>
                <a:sym typeface="Trebuchet MS"/>
              </a:rPr>
              <a:t>ON </a:t>
            </a:r>
            <a:r>
              <a:rPr lang="it-IT" sz="18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an.id_utente = dp.fk_utente;</a:t>
            </a:r>
            <a:endParaRPr sz="1800">
              <a:solidFill>
                <a:srgbClr val="3F3F3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aphicFrame>
        <p:nvGraphicFramePr>
          <p:cNvPr id="459" name="Google Shape;459;p37"/>
          <p:cNvGraphicFramePr/>
          <p:nvPr/>
        </p:nvGraphicFramePr>
        <p:xfrm>
          <a:off x="5384137" y="3425141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{299E2279-13E3-498E-9F17-E16632D42E63}</a:tableStyleId>
              </a:tblPr>
              <a:tblGrid>
                <a:gridCol w="1107750"/>
                <a:gridCol w="1107750"/>
                <a:gridCol w="1107750"/>
                <a:gridCol w="1107750"/>
                <a:gridCol w="1107750"/>
                <a:gridCol w="11077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ID_UTENTE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NOME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COGNOME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FK_UTENTE</a:t>
                      </a:r>
                      <a:endParaRPr sz="1200"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CF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CITTA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Mario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Rossi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ABCABC12A12A123A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NAPOLI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431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>
                          <a:solidFill>
                            <a:srgbClr val="7F7F7F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>
                          <a:solidFill>
                            <a:srgbClr val="7F7F7F"/>
                          </a:solidFill>
                        </a:rPr>
                        <a:t>Mario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>
                          <a:solidFill>
                            <a:srgbClr val="7F7F7F"/>
                          </a:solidFill>
                        </a:rPr>
                        <a:t>Rossi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>
                          <a:solidFill>
                            <a:srgbClr val="7F7F7F"/>
                          </a:solidFill>
                        </a:rPr>
                        <a:t>NULL</a:t>
                      </a:r>
                      <a:endParaRPr sz="1200">
                        <a:solidFill>
                          <a:srgbClr val="7F7F7F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>
                          <a:solidFill>
                            <a:srgbClr val="7F7F7F"/>
                          </a:solidFill>
                        </a:rPr>
                        <a:t>ASD12356JKL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>
                          <a:solidFill>
                            <a:srgbClr val="7F7F7F"/>
                          </a:solidFill>
                        </a:rPr>
                        <a:t>ROMA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>
                          <a:solidFill>
                            <a:srgbClr val="7F7F7F"/>
                          </a:solidFill>
                        </a:rPr>
                        <a:t>2</a:t>
                      </a:r>
                      <a:endParaRPr sz="1200">
                        <a:solidFill>
                          <a:srgbClr val="7F7F7F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>
                          <a:solidFill>
                            <a:srgbClr val="7F7F7F"/>
                          </a:solidFill>
                        </a:rPr>
                        <a:t>Pippo</a:t>
                      </a:r>
                      <a:endParaRPr sz="1200">
                        <a:solidFill>
                          <a:srgbClr val="7F7F7F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>
                          <a:solidFill>
                            <a:srgbClr val="7F7F7F"/>
                          </a:solidFill>
                        </a:rPr>
                        <a:t>Baudo</a:t>
                      </a:r>
                      <a:endParaRPr sz="1200">
                        <a:solidFill>
                          <a:srgbClr val="7F7F7F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>
                          <a:solidFill>
                            <a:srgbClr val="7F7F7F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>
                          <a:solidFill>
                            <a:srgbClr val="7F7F7F"/>
                          </a:solidFill>
                        </a:rPr>
                        <a:t>CFD123456ZH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>
                          <a:solidFill>
                            <a:srgbClr val="7F7F7F"/>
                          </a:solidFill>
                        </a:rPr>
                        <a:t>NAPOLI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>
                          <a:solidFill>
                            <a:srgbClr val="7F7F7F"/>
                          </a:solidFill>
                        </a:rPr>
                        <a:t>2</a:t>
                      </a:r>
                      <a:endParaRPr sz="1200">
                        <a:solidFill>
                          <a:srgbClr val="7F7F7F"/>
                        </a:solidFill>
                      </a:endParaRPr>
                    </a:p>
                  </a:txBody>
                  <a:tcPr marT="45725" marB="45725" marR="91450" marL="91450">
                    <a:lnB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>
                          <a:solidFill>
                            <a:srgbClr val="7F7F7F"/>
                          </a:solidFill>
                        </a:rPr>
                        <a:t>Pippo</a:t>
                      </a:r>
                      <a:endParaRPr sz="1200">
                        <a:solidFill>
                          <a:srgbClr val="7F7F7F"/>
                        </a:solidFill>
                      </a:endParaRPr>
                    </a:p>
                  </a:txBody>
                  <a:tcPr marT="45725" marB="45725" marR="91450" marL="91450">
                    <a:lnB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>
                          <a:solidFill>
                            <a:srgbClr val="7F7F7F"/>
                          </a:solidFill>
                        </a:rPr>
                        <a:t>Baudo</a:t>
                      </a:r>
                      <a:endParaRPr sz="1200">
                        <a:solidFill>
                          <a:srgbClr val="7F7F7F"/>
                        </a:solidFill>
                      </a:endParaRPr>
                    </a:p>
                  </a:txBody>
                  <a:tcPr marT="45725" marB="45725" marR="91450" marL="91450">
                    <a:lnB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>
                          <a:solidFill>
                            <a:srgbClr val="7F7F7F"/>
                          </a:solidFill>
                        </a:rPr>
                        <a:t>NULL</a:t>
                      </a:r>
                      <a:endParaRPr sz="1200">
                        <a:solidFill>
                          <a:srgbClr val="7F7F7F"/>
                        </a:solidFill>
                      </a:endParaRPr>
                    </a:p>
                  </a:txBody>
                  <a:tcPr marT="45725" marB="45725" marR="91450" marL="91450">
                    <a:lnB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>
                          <a:solidFill>
                            <a:srgbClr val="7F7F7F"/>
                          </a:solidFill>
                        </a:rPr>
                        <a:t>ASD12356JKL</a:t>
                      </a:r>
                      <a:endParaRPr/>
                    </a:p>
                  </a:txBody>
                  <a:tcPr marT="45725" marB="45725" marR="91450" marL="91450">
                    <a:lnB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>
                          <a:solidFill>
                            <a:srgbClr val="7F7F7F"/>
                          </a:solidFill>
                        </a:rPr>
                        <a:t>ROMA</a:t>
                      </a:r>
                      <a:endParaRPr/>
                    </a:p>
                  </a:txBody>
                  <a:tcPr marT="45725" marB="45725" marR="91450" marL="91450">
                    <a:lnB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2</a:t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Pippo</a:t>
                      </a:r>
                      <a:endParaRPr sz="1200"/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Baudo</a:t>
                      </a:r>
                      <a:endParaRPr sz="1200"/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NULL</a:t>
                      </a:r>
                      <a:endParaRPr/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NULL</a:t>
                      </a:r>
                      <a:endParaRPr/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NULL</a:t>
                      </a:r>
                      <a:endParaRPr/>
                    </a:p>
                  </a:txBody>
                  <a:tcPr marT="45725" marB="45725" marR="91450" marL="91450">
                    <a:lnR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60" name="Google Shape;460;p37"/>
          <p:cNvSpPr/>
          <p:nvPr/>
        </p:nvSpPr>
        <p:spPr>
          <a:xfrm>
            <a:off x="3959060" y="4829756"/>
            <a:ext cx="1038688" cy="42612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2D050"/>
          </a:solidFill>
          <a:ln cap="rnd" cmpd="sng" w="19050">
            <a:solidFill>
              <a:srgbClr val="698D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61" name="Google Shape;461;p37"/>
          <p:cNvSpPr txBox="1"/>
          <p:nvPr/>
        </p:nvSpPr>
        <p:spPr>
          <a:xfrm>
            <a:off x="1729244" y="1070474"/>
            <a:ext cx="159031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ANAGRAFICA</a:t>
            </a:r>
            <a:endParaRPr/>
          </a:p>
        </p:txBody>
      </p:sp>
      <p:sp>
        <p:nvSpPr>
          <p:cNvPr id="462" name="Google Shape;462;p37"/>
          <p:cNvSpPr txBox="1"/>
          <p:nvPr/>
        </p:nvSpPr>
        <p:spPr>
          <a:xfrm>
            <a:off x="7137733" y="1070474"/>
            <a:ext cx="182453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DATI PERSONALI</a:t>
            </a:r>
            <a:endParaRPr/>
          </a:p>
        </p:txBody>
      </p:sp>
      <p:sp>
        <p:nvSpPr>
          <p:cNvPr id="463" name="Google Shape;463;p37"/>
          <p:cNvSpPr txBox="1"/>
          <p:nvPr/>
        </p:nvSpPr>
        <p:spPr>
          <a:xfrm>
            <a:off x="5384137" y="6198102"/>
            <a:ext cx="615424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(*) I record in </a:t>
            </a:r>
            <a:r>
              <a:rPr lang="it-IT" sz="1200">
                <a:solidFill>
                  <a:srgbClr val="7F7F7F"/>
                </a:solidFill>
                <a:latin typeface="Trebuchet MS"/>
                <a:ea typeface="Trebuchet MS"/>
                <a:cs typeface="Trebuchet MS"/>
                <a:sym typeface="Trebuchet MS"/>
              </a:rPr>
              <a:t>grigio</a:t>
            </a:r>
            <a:r>
              <a:rPr lang="it-IT" sz="12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non vengono mostrati, perché filtrati dalle condizioni di 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(**) Le righe tratteggiate vengono aggiunte a causa della mancanza di corrispondenze</a:t>
            </a:r>
            <a:endParaRPr/>
          </a:p>
        </p:txBody>
      </p:sp>
      <p:graphicFrame>
        <p:nvGraphicFramePr>
          <p:cNvPr id="464" name="Google Shape;464;p37"/>
          <p:cNvGraphicFramePr/>
          <p:nvPr/>
        </p:nvGraphicFramePr>
        <p:xfrm>
          <a:off x="5850798" y="1645149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{299E2279-13E3-498E-9F17-E16632D42E63}</a:tableStyleId>
              </a:tblPr>
              <a:tblGrid>
                <a:gridCol w="1683475"/>
                <a:gridCol w="1176950"/>
                <a:gridCol w="14302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CF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CITTA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FK_UTENTE</a:t>
                      </a:r>
                      <a:endParaRPr sz="12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ABCABC12A12A123A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NAPOLI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DEFDEF12A12A123A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ROMA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NULL</a:t>
                      </a:r>
                      <a:endParaRPr sz="12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38"/>
          <p:cNvSpPr txBox="1"/>
          <p:nvPr>
            <p:ph type="title"/>
          </p:nvPr>
        </p:nvSpPr>
        <p:spPr>
          <a:xfrm>
            <a:off x="513776" y="94955"/>
            <a:ext cx="8596668" cy="7889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it-IT"/>
              <a:t>Esempio di Right Join</a:t>
            </a:r>
            <a:endParaRPr/>
          </a:p>
        </p:txBody>
      </p:sp>
      <p:graphicFrame>
        <p:nvGraphicFramePr>
          <p:cNvPr id="471" name="Google Shape;471;p38"/>
          <p:cNvGraphicFramePr/>
          <p:nvPr/>
        </p:nvGraphicFramePr>
        <p:xfrm>
          <a:off x="570400" y="1598256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{299E2279-13E3-498E-9F17-E16632D42E63}</a:tableStyleId>
              </a:tblPr>
              <a:tblGrid>
                <a:gridCol w="1302675"/>
                <a:gridCol w="1302675"/>
                <a:gridCol w="13026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ID_UTENTE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NOME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COGNOME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Mario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Rossi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2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Pippo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Baudo</a:t>
                      </a:r>
                      <a:endParaRPr sz="12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472" name="Google Shape;472;p38"/>
          <p:cNvSpPr txBox="1"/>
          <p:nvPr/>
        </p:nvSpPr>
        <p:spPr>
          <a:xfrm>
            <a:off x="161417" y="3685735"/>
            <a:ext cx="3797643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t/>
            </a:r>
            <a:endParaRPr sz="1800">
              <a:solidFill>
                <a:srgbClr val="0070C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rPr lang="it-IT" sz="1800">
                <a:solidFill>
                  <a:srgbClr val="0070C0"/>
                </a:solidFill>
                <a:latin typeface="Trebuchet MS"/>
                <a:ea typeface="Trebuchet MS"/>
                <a:cs typeface="Trebuchet MS"/>
                <a:sym typeface="Trebuchet MS"/>
              </a:rPr>
              <a:t>SELECT * 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rPr lang="it-IT" sz="1800">
                <a:solidFill>
                  <a:srgbClr val="0070C0"/>
                </a:solidFill>
                <a:latin typeface="Trebuchet MS"/>
                <a:ea typeface="Trebuchet MS"/>
                <a:cs typeface="Trebuchet MS"/>
                <a:sym typeface="Trebuchet MS"/>
              </a:rPr>
              <a:t>FROM </a:t>
            </a:r>
            <a:r>
              <a:rPr lang="it-IT" sz="18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anagrafica an	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rPr lang="it-IT" sz="1800">
                <a:solidFill>
                  <a:srgbClr val="0070C0"/>
                </a:solidFill>
                <a:latin typeface="Trebuchet MS"/>
                <a:ea typeface="Trebuchet MS"/>
                <a:cs typeface="Trebuchet MS"/>
                <a:sym typeface="Trebuchet MS"/>
              </a:rPr>
              <a:t>RIGHT JOIN </a:t>
            </a:r>
            <a:r>
              <a:rPr lang="it-IT" sz="18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dati_personali dp 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rPr lang="it-IT" sz="1800">
                <a:solidFill>
                  <a:srgbClr val="0070C0"/>
                </a:solidFill>
                <a:latin typeface="Trebuchet MS"/>
                <a:ea typeface="Trebuchet MS"/>
                <a:cs typeface="Trebuchet MS"/>
                <a:sym typeface="Trebuchet MS"/>
              </a:rPr>
              <a:t>ON </a:t>
            </a:r>
            <a:r>
              <a:rPr lang="it-IT" sz="18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an.id_utente = dp.fk_utente;</a:t>
            </a:r>
            <a:endParaRPr sz="1800">
              <a:solidFill>
                <a:srgbClr val="3F3F3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aphicFrame>
        <p:nvGraphicFramePr>
          <p:cNvPr id="473" name="Google Shape;473;p38"/>
          <p:cNvGraphicFramePr/>
          <p:nvPr/>
        </p:nvGraphicFramePr>
        <p:xfrm>
          <a:off x="5133763" y="3454902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{299E2279-13E3-498E-9F17-E16632D42E63}</a:tableStyleId>
              </a:tblPr>
              <a:tblGrid>
                <a:gridCol w="1031750"/>
                <a:gridCol w="817550"/>
                <a:gridCol w="919975"/>
                <a:gridCol w="1578425"/>
                <a:gridCol w="818825"/>
                <a:gridCol w="12712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ID_UTENTE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NOME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COGNOME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CF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CITTA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FK_UTENTE</a:t>
                      </a:r>
                      <a:endParaRPr sz="1200"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Mario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Rossi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ABCABC12A12A123A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NAPOLI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63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>
                          <a:solidFill>
                            <a:srgbClr val="7F7F7F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>
                          <a:solidFill>
                            <a:srgbClr val="7F7F7F"/>
                          </a:solidFill>
                        </a:rPr>
                        <a:t>Mario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>
                          <a:solidFill>
                            <a:srgbClr val="7F7F7F"/>
                          </a:solidFill>
                        </a:rPr>
                        <a:t>Rossi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>
                          <a:solidFill>
                            <a:srgbClr val="7F7F7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DEFDEF12A12A123A</a:t>
                      </a:r>
                      <a:endParaRPr sz="1200">
                        <a:solidFill>
                          <a:srgbClr val="7F7F7F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>
                          <a:solidFill>
                            <a:srgbClr val="7F7F7F"/>
                          </a:solidFill>
                        </a:rPr>
                        <a:t>ROMA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>
                          <a:solidFill>
                            <a:srgbClr val="7F7F7F"/>
                          </a:solidFill>
                        </a:rPr>
                        <a:t>NULL</a:t>
                      </a:r>
                      <a:endParaRPr sz="1200">
                        <a:solidFill>
                          <a:srgbClr val="7F7F7F"/>
                        </a:solidFill>
                      </a:endParaRPr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>
                          <a:solidFill>
                            <a:srgbClr val="7F7F7F"/>
                          </a:solidFill>
                        </a:rPr>
                        <a:t>2</a:t>
                      </a:r>
                      <a:endParaRPr sz="1200">
                        <a:solidFill>
                          <a:srgbClr val="7F7F7F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>
                          <a:solidFill>
                            <a:srgbClr val="7F7F7F"/>
                          </a:solidFill>
                        </a:rPr>
                        <a:t>Pippo</a:t>
                      </a:r>
                      <a:endParaRPr sz="1200">
                        <a:solidFill>
                          <a:srgbClr val="7F7F7F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>
                          <a:solidFill>
                            <a:srgbClr val="7F7F7F"/>
                          </a:solidFill>
                        </a:rPr>
                        <a:t>Baudo</a:t>
                      </a:r>
                      <a:endParaRPr sz="1200">
                        <a:solidFill>
                          <a:srgbClr val="7F7F7F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>
                          <a:solidFill>
                            <a:srgbClr val="7F7F7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ABCABC12A12A123A</a:t>
                      </a:r>
                      <a:endParaRPr sz="1200">
                        <a:solidFill>
                          <a:srgbClr val="7F7F7F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>
                          <a:solidFill>
                            <a:srgbClr val="7F7F7F"/>
                          </a:solidFill>
                        </a:rPr>
                        <a:t>NAPOLI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>
                          <a:solidFill>
                            <a:srgbClr val="7F7F7F"/>
                          </a:solidFill>
                        </a:rPr>
                        <a:t>1</a:t>
                      </a:r>
                      <a:endParaRPr sz="1200">
                        <a:solidFill>
                          <a:srgbClr val="7F7F7F"/>
                        </a:solidFill>
                      </a:endParaRPr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>
                          <a:solidFill>
                            <a:srgbClr val="7F7F7F"/>
                          </a:solidFill>
                        </a:rPr>
                        <a:t>2</a:t>
                      </a:r>
                      <a:endParaRPr sz="1200">
                        <a:solidFill>
                          <a:srgbClr val="7F7F7F"/>
                        </a:solidFill>
                      </a:endParaRPr>
                    </a:p>
                  </a:txBody>
                  <a:tcPr marT="45725" marB="45725" marR="91450" marL="91450">
                    <a:lnB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>
                          <a:solidFill>
                            <a:srgbClr val="7F7F7F"/>
                          </a:solidFill>
                        </a:rPr>
                        <a:t>Pippo</a:t>
                      </a:r>
                      <a:endParaRPr sz="1200">
                        <a:solidFill>
                          <a:srgbClr val="7F7F7F"/>
                        </a:solidFill>
                      </a:endParaRPr>
                    </a:p>
                  </a:txBody>
                  <a:tcPr marT="45725" marB="45725" marR="91450" marL="91450">
                    <a:lnB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>
                          <a:solidFill>
                            <a:srgbClr val="7F7F7F"/>
                          </a:solidFill>
                        </a:rPr>
                        <a:t>Baudo</a:t>
                      </a:r>
                      <a:endParaRPr sz="1200">
                        <a:solidFill>
                          <a:srgbClr val="7F7F7F"/>
                        </a:solidFill>
                      </a:endParaRPr>
                    </a:p>
                  </a:txBody>
                  <a:tcPr marT="45725" marB="45725" marR="91450" marL="91450">
                    <a:lnB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>
                          <a:solidFill>
                            <a:srgbClr val="7F7F7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DEFDEF12A12A123A</a:t>
                      </a:r>
                      <a:endParaRPr sz="1200">
                        <a:solidFill>
                          <a:srgbClr val="7F7F7F"/>
                        </a:solidFill>
                      </a:endParaRPr>
                    </a:p>
                  </a:txBody>
                  <a:tcPr marT="45725" marB="45725" marR="91450" marL="91450">
                    <a:lnB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>
                          <a:solidFill>
                            <a:srgbClr val="7F7F7F"/>
                          </a:solidFill>
                        </a:rPr>
                        <a:t>ROMA</a:t>
                      </a:r>
                      <a:endParaRPr/>
                    </a:p>
                  </a:txBody>
                  <a:tcPr marT="45725" marB="45725" marR="91450" marL="91450">
                    <a:lnB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>
                          <a:solidFill>
                            <a:srgbClr val="7F7F7F"/>
                          </a:solidFill>
                        </a:rPr>
                        <a:t>NULL</a:t>
                      </a:r>
                      <a:endParaRPr sz="1200">
                        <a:solidFill>
                          <a:srgbClr val="7F7F7F"/>
                        </a:solidFill>
                      </a:endParaRPr>
                    </a:p>
                  </a:txBody>
                  <a:tcPr marT="45725" marB="45725" marR="91450" marL="91450">
                    <a:lnB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>
                          <a:solidFill>
                            <a:schemeClr val="dk1"/>
                          </a:solidFill>
                        </a:rPr>
                        <a:t>NULL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>
                          <a:solidFill>
                            <a:schemeClr val="dk1"/>
                          </a:solidFill>
                        </a:rPr>
                        <a:t>NULL</a:t>
                      </a:r>
                      <a:endParaRPr/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>
                          <a:solidFill>
                            <a:schemeClr val="dk1"/>
                          </a:solidFill>
                        </a:rPr>
                        <a:t>NULL</a:t>
                      </a:r>
                      <a:endParaRPr/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DEFDEF12A12A123A</a:t>
                      </a:r>
                      <a:endParaRPr sz="1200">
                        <a:solidFill>
                          <a:schemeClr val="dk1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ROMA</a:t>
                      </a:r>
                      <a:endParaRPr/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NULL</a:t>
                      </a:r>
                      <a:endParaRPr sz="1200"/>
                    </a:p>
                  </a:txBody>
                  <a:tcPr marT="45725" marB="45725" marR="91450" marL="91450">
                    <a:lnR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74" name="Google Shape;474;p38"/>
          <p:cNvSpPr/>
          <p:nvPr/>
        </p:nvSpPr>
        <p:spPr>
          <a:xfrm>
            <a:off x="3959060" y="4829756"/>
            <a:ext cx="1038688" cy="42612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2D050"/>
          </a:solidFill>
          <a:ln cap="rnd" cmpd="sng" w="19050">
            <a:solidFill>
              <a:srgbClr val="698D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75" name="Google Shape;475;p38"/>
          <p:cNvSpPr txBox="1"/>
          <p:nvPr/>
        </p:nvSpPr>
        <p:spPr>
          <a:xfrm>
            <a:off x="1729244" y="1070474"/>
            <a:ext cx="159031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ANAGRAFICA</a:t>
            </a:r>
            <a:endParaRPr/>
          </a:p>
        </p:txBody>
      </p:sp>
      <p:sp>
        <p:nvSpPr>
          <p:cNvPr id="476" name="Google Shape;476;p38"/>
          <p:cNvSpPr txBox="1"/>
          <p:nvPr/>
        </p:nvSpPr>
        <p:spPr>
          <a:xfrm>
            <a:off x="7137733" y="1070474"/>
            <a:ext cx="182453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DATI PERSONALI</a:t>
            </a:r>
            <a:endParaRPr/>
          </a:p>
        </p:txBody>
      </p:sp>
      <p:sp>
        <p:nvSpPr>
          <p:cNvPr id="477" name="Google Shape;477;p38"/>
          <p:cNvSpPr txBox="1"/>
          <p:nvPr/>
        </p:nvSpPr>
        <p:spPr>
          <a:xfrm>
            <a:off x="5384137" y="6198102"/>
            <a:ext cx="663354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(*) I record in </a:t>
            </a:r>
            <a:r>
              <a:rPr lang="it-IT" sz="1200">
                <a:solidFill>
                  <a:srgbClr val="7F7F7F"/>
                </a:solidFill>
                <a:latin typeface="Trebuchet MS"/>
                <a:ea typeface="Trebuchet MS"/>
                <a:cs typeface="Trebuchet MS"/>
                <a:sym typeface="Trebuchet MS"/>
              </a:rPr>
              <a:t>grigio</a:t>
            </a:r>
            <a:r>
              <a:rPr lang="it-IT" sz="12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non vengono mostrati, perché filtrati dalle condizioni di 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(**) I null nelle righe tratteggiate vengono aggiunti a causa della mancanza di corrispondenze</a:t>
            </a:r>
            <a:endParaRPr/>
          </a:p>
        </p:txBody>
      </p:sp>
      <p:graphicFrame>
        <p:nvGraphicFramePr>
          <p:cNvPr id="478" name="Google Shape;478;p38"/>
          <p:cNvGraphicFramePr/>
          <p:nvPr/>
        </p:nvGraphicFramePr>
        <p:xfrm>
          <a:off x="5850798" y="1645149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{299E2279-13E3-498E-9F17-E16632D42E63}</a:tableStyleId>
              </a:tblPr>
              <a:tblGrid>
                <a:gridCol w="1683475"/>
                <a:gridCol w="1176950"/>
                <a:gridCol w="14302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CF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CITTA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FK_UTENTE</a:t>
                      </a:r>
                      <a:endParaRPr sz="12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ABCABC12A12A123A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NAPOLI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DEFDEF12A12A123A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ROMA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NULL</a:t>
                      </a:r>
                      <a:endParaRPr sz="12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39"/>
          <p:cNvSpPr txBox="1"/>
          <p:nvPr>
            <p:ph type="title"/>
          </p:nvPr>
        </p:nvSpPr>
        <p:spPr>
          <a:xfrm>
            <a:off x="513776" y="94955"/>
            <a:ext cx="8596668" cy="7889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it-IT"/>
              <a:t>Esempio di Full Join</a:t>
            </a:r>
            <a:endParaRPr/>
          </a:p>
        </p:txBody>
      </p:sp>
      <p:graphicFrame>
        <p:nvGraphicFramePr>
          <p:cNvPr id="485" name="Google Shape;485;p39"/>
          <p:cNvGraphicFramePr/>
          <p:nvPr/>
        </p:nvGraphicFramePr>
        <p:xfrm>
          <a:off x="570400" y="1598256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{299E2279-13E3-498E-9F17-E16632D42E63}</a:tableStyleId>
              </a:tblPr>
              <a:tblGrid>
                <a:gridCol w="1302675"/>
                <a:gridCol w="1302675"/>
                <a:gridCol w="13026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ID_UTENTE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NOME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COGNOME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Mario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Rossi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2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Pippo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Baudo</a:t>
                      </a:r>
                      <a:endParaRPr sz="12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486" name="Google Shape;486;p39"/>
          <p:cNvSpPr txBox="1"/>
          <p:nvPr/>
        </p:nvSpPr>
        <p:spPr>
          <a:xfrm>
            <a:off x="161417" y="3685735"/>
            <a:ext cx="3797643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9999"/>
              <a:buFont typeface="Noto Sans Symbols"/>
              <a:buNone/>
            </a:pPr>
            <a:r>
              <a:t/>
            </a:r>
            <a:endParaRPr sz="1800">
              <a:solidFill>
                <a:srgbClr val="0070C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79999"/>
              <a:buFont typeface="Noto Sans Symbols"/>
              <a:buNone/>
            </a:pPr>
            <a:r>
              <a:rPr lang="it-IT" sz="1800">
                <a:solidFill>
                  <a:srgbClr val="0070C0"/>
                </a:solidFill>
                <a:latin typeface="Trebuchet MS"/>
                <a:ea typeface="Trebuchet MS"/>
                <a:cs typeface="Trebuchet MS"/>
                <a:sym typeface="Trebuchet MS"/>
              </a:rPr>
              <a:t>SELECT * 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79999"/>
              <a:buFont typeface="Noto Sans Symbols"/>
              <a:buNone/>
            </a:pPr>
            <a:r>
              <a:rPr lang="it-IT" sz="1800">
                <a:solidFill>
                  <a:srgbClr val="0070C0"/>
                </a:solidFill>
                <a:latin typeface="Trebuchet MS"/>
                <a:ea typeface="Trebuchet MS"/>
                <a:cs typeface="Trebuchet MS"/>
                <a:sym typeface="Trebuchet MS"/>
              </a:rPr>
              <a:t>FROM </a:t>
            </a:r>
            <a:r>
              <a:rPr lang="it-IT" sz="18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anagrafica an	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79999"/>
              <a:buFont typeface="Noto Sans Symbols"/>
              <a:buNone/>
            </a:pPr>
            <a:r>
              <a:rPr lang="it-IT" sz="1800">
                <a:solidFill>
                  <a:srgbClr val="0070C0"/>
                </a:solidFill>
                <a:latin typeface="Trebuchet MS"/>
                <a:ea typeface="Trebuchet MS"/>
                <a:cs typeface="Trebuchet MS"/>
                <a:sym typeface="Trebuchet MS"/>
              </a:rPr>
              <a:t>FULL JOIN </a:t>
            </a:r>
            <a:r>
              <a:rPr lang="it-IT" sz="18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dati_personali dp 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79999"/>
              <a:buFont typeface="Noto Sans Symbols"/>
              <a:buNone/>
            </a:pPr>
            <a:r>
              <a:rPr lang="it-IT" sz="1800">
                <a:solidFill>
                  <a:srgbClr val="0070C0"/>
                </a:solidFill>
                <a:latin typeface="Trebuchet MS"/>
                <a:ea typeface="Trebuchet MS"/>
                <a:cs typeface="Trebuchet MS"/>
                <a:sym typeface="Trebuchet MS"/>
              </a:rPr>
              <a:t>ON </a:t>
            </a:r>
            <a:r>
              <a:rPr lang="it-IT" sz="18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an.id_utente = dp.fk_utente;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79999"/>
              <a:buFont typeface="Noto Sans Symbols"/>
              <a:buNone/>
            </a:pPr>
            <a:r>
              <a:rPr lang="it-IT" sz="180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In MySql il full join non è supportato, ma può essere emulato con una union di un left join ed un right join</a:t>
            </a:r>
            <a:endParaRPr sz="1800">
              <a:solidFill>
                <a:srgbClr val="FF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79999"/>
              <a:buFont typeface="Noto Sans Symbols"/>
              <a:buNone/>
            </a:pPr>
            <a:r>
              <a:t/>
            </a:r>
            <a:endParaRPr sz="1800">
              <a:solidFill>
                <a:srgbClr val="3F3F3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aphicFrame>
        <p:nvGraphicFramePr>
          <p:cNvPr id="487" name="Google Shape;487;p39"/>
          <p:cNvGraphicFramePr/>
          <p:nvPr/>
        </p:nvGraphicFramePr>
        <p:xfrm>
          <a:off x="4997747" y="3222172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{299E2279-13E3-498E-9F17-E16632D42E63}</a:tableStyleId>
              </a:tblPr>
              <a:tblGrid>
                <a:gridCol w="1152675"/>
                <a:gridCol w="729350"/>
                <a:gridCol w="968825"/>
                <a:gridCol w="1584950"/>
                <a:gridCol w="836825"/>
                <a:gridCol w="1039875"/>
              </a:tblGrid>
              <a:tr h="660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ID_UTENTE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NOME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COGNOME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CF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CITTA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FK_UTENTE</a:t>
                      </a:r>
                      <a:endParaRPr sz="1200"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Mario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Rossi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ABCABC12A12A123A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NAPOLI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431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>
                          <a:solidFill>
                            <a:srgbClr val="7F7F7F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>
                          <a:solidFill>
                            <a:srgbClr val="7F7F7F"/>
                          </a:solidFill>
                        </a:rPr>
                        <a:t>Mario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>
                          <a:solidFill>
                            <a:srgbClr val="7F7F7F"/>
                          </a:solidFill>
                        </a:rPr>
                        <a:t>Rossi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>
                          <a:solidFill>
                            <a:srgbClr val="7F7F7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DEFDEF12A12A123A</a:t>
                      </a:r>
                      <a:endParaRPr sz="1200">
                        <a:solidFill>
                          <a:srgbClr val="7F7F7F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>
                          <a:solidFill>
                            <a:srgbClr val="7F7F7F"/>
                          </a:solidFill>
                        </a:rPr>
                        <a:t>ROMA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>
                          <a:solidFill>
                            <a:srgbClr val="7F7F7F"/>
                          </a:solidFill>
                        </a:rPr>
                        <a:t>NULL</a:t>
                      </a:r>
                      <a:endParaRPr sz="1200">
                        <a:solidFill>
                          <a:srgbClr val="7F7F7F"/>
                        </a:solidFill>
                      </a:endParaRPr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>
                          <a:solidFill>
                            <a:srgbClr val="7F7F7F"/>
                          </a:solidFill>
                        </a:rPr>
                        <a:t>2</a:t>
                      </a:r>
                      <a:endParaRPr sz="1200">
                        <a:solidFill>
                          <a:srgbClr val="7F7F7F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>
                          <a:solidFill>
                            <a:srgbClr val="7F7F7F"/>
                          </a:solidFill>
                        </a:rPr>
                        <a:t>Pippo</a:t>
                      </a:r>
                      <a:endParaRPr sz="1200">
                        <a:solidFill>
                          <a:srgbClr val="7F7F7F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>
                          <a:solidFill>
                            <a:srgbClr val="7F7F7F"/>
                          </a:solidFill>
                        </a:rPr>
                        <a:t>Baudo</a:t>
                      </a:r>
                      <a:endParaRPr sz="1200">
                        <a:solidFill>
                          <a:srgbClr val="7F7F7F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>
                          <a:solidFill>
                            <a:srgbClr val="7F7F7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ABCABC12A12A123A</a:t>
                      </a:r>
                      <a:endParaRPr sz="1200">
                        <a:solidFill>
                          <a:srgbClr val="7F7F7F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>
                          <a:solidFill>
                            <a:srgbClr val="7F7F7F"/>
                          </a:solidFill>
                        </a:rPr>
                        <a:t>NAPOLI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>
                          <a:solidFill>
                            <a:srgbClr val="7F7F7F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>
                          <a:solidFill>
                            <a:srgbClr val="7F7F7F"/>
                          </a:solidFill>
                        </a:rPr>
                        <a:t>2</a:t>
                      </a:r>
                      <a:endParaRPr sz="1200">
                        <a:solidFill>
                          <a:srgbClr val="7F7F7F"/>
                        </a:solidFill>
                      </a:endParaRPr>
                    </a:p>
                  </a:txBody>
                  <a:tcPr marT="45725" marB="45725" marR="91450" marL="91450">
                    <a:lnB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>
                          <a:solidFill>
                            <a:srgbClr val="7F7F7F"/>
                          </a:solidFill>
                        </a:rPr>
                        <a:t>Pippo</a:t>
                      </a:r>
                      <a:endParaRPr sz="1200">
                        <a:solidFill>
                          <a:srgbClr val="7F7F7F"/>
                        </a:solidFill>
                      </a:endParaRPr>
                    </a:p>
                  </a:txBody>
                  <a:tcPr marT="45725" marB="45725" marR="91450" marL="91450">
                    <a:lnB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>
                          <a:solidFill>
                            <a:srgbClr val="7F7F7F"/>
                          </a:solidFill>
                        </a:rPr>
                        <a:t>Baudo</a:t>
                      </a:r>
                      <a:endParaRPr sz="1200">
                        <a:solidFill>
                          <a:srgbClr val="7F7F7F"/>
                        </a:solidFill>
                      </a:endParaRPr>
                    </a:p>
                  </a:txBody>
                  <a:tcPr marT="45725" marB="45725" marR="91450" marL="91450">
                    <a:lnB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>
                          <a:solidFill>
                            <a:srgbClr val="7F7F7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DEFDEF12A12A123A</a:t>
                      </a:r>
                      <a:endParaRPr sz="1200">
                        <a:solidFill>
                          <a:srgbClr val="7F7F7F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>
                    <a:lnB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>
                          <a:solidFill>
                            <a:srgbClr val="7F7F7F"/>
                          </a:solidFill>
                        </a:rPr>
                        <a:t>ROMA</a:t>
                      </a:r>
                      <a:endParaRPr/>
                    </a:p>
                  </a:txBody>
                  <a:tcPr marT="45725" marB="45725" marR="91450" marL="91450">
                    <a:lnB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>
                          <a:solidFill>
                            <a:srgbClr val="7F7F7F"/>
                          </a:solidFill>
                        </a:rPr>
                        <a:t>NULL</a:t>
                      </a:r>
                      <a:endParaRPr sz="1200">
                        <a:solidFill>
                          <a:srgbClr val="7F7F7F"/>
                        </a:solidFill>
                      </a:endParaRPr>
                    </a:p>
                  </a:txBody>
                  <a:tcPr marT="45725" marB="45725" marR="91450" marL="91450">
                    <a:lnB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Pippo</a:t>
                      </a:r>
                      <a:endParaRPr sz="1200">
                        <a:solidFill>
                          <a:schemeClr val="dk1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Baudo</a:t>
                      </a:r>
                      <a:endParaRPr sz="1200">
                        <a:solidFill>
                          <a:schemeClr val="dk1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NULL</a:t>
                      </a:r>
                      <a:endParaRPr/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NULL</a:t>
                      </a:r>
                      <a:endParaRPr/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NULL</a:t>
                      </a:r>
                      <a:endParaRPr/>
                    </a:p>
                  </a:txBody>
                  <a:tcPr marT="45725" marB="45725" marR="91450" marL="91450">
                    <a:lnR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NULL</a:t>
                      </a:r>
                      <a:endParaRPr sz="1200">
                        <a:solidFill>
                          <a:schemeClr val="dk1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NULL</a:t>
                      </a:r>
                      <a:endParaRPr/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NULL</a:t>
                      </a:r>
                      <a:endParaRPr/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ASD12356JKL</a:t>
                      </a:r>
                      <a:endParaRPr/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ROMA</a:t>
                      </a:r>
                      <a:endParaRPr/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NULL</a:t>
                      </a:r>
                      <a:endParaRPr sz="1200">
                        <a:solidFill>
                          <a:schemeClr val="dk1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>
                    <a:lnR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88" name="Google Shape;488;p39"/>
          <p:cNvSpPr/>
          <p:nvPr/>
        </p:nvSpPr>
        <p:spPr>
          <a:xfrm>
            <a:off x="3893744" y="4829756"/>
            <a:ext cx="1038688" cy="42612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2D050"/>
          </a:solidFill>
          <a:ln cap="rnd" cmpd="sng" w="19050">
            <a:solidFill>
              <a:srgbClr val="698D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89" name="Google Shape;489;p39"/>
          <p:cNvSpPr txBox="1"/>
          <p:nvPr/>
        </p:nvSpPr>
        <p:spPr>
          <a:xfrm>
            <a:off x="1729244" y="1070474"/>
            <a:ext cx="159031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ANAGRAFICA</a:t>
            </a:r>
            <a:endParaRPr/>
          </a:p>
        </p:txBody>
      </p:sp>
      <p:sp>
        <p:nvSpPr>
          <p:cNvPr id="490" name="Google Shape;490;p39"/>
          <p:cNvSpPr txBox="1"/>
          <p:nvPr/>
        </p:nvSpPr>
        <p:spPr>
          <a:xfrm>
            <a:off x="7137733" y="1070474"/>
            <a:ext cx="182453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DATI PERSONALI</a:t>
            </a:r>
            <a:endParaRPr/>
          </a:p>
        </p:txBody>
      </p:sp>
      <p:sp>
        <p:nvSpPr>
          <p:cNvPr id="491" name="Google Shape;491;p39"/>
          <p:cNvSpPr txBox="1"/>
          <p:nvPr/>
        </p:nvSpPr>
        <p:spPr>
          <a:xfrm>
            <a:off x="5384137" y="6198102"/>
            <a:ext cx="680667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(*) I record in </a:t>
            </a:r>
            <a:r>
              <a:rPr lang="it-IT" sz="1200">
                <a:solidFill>
                  <a:srgbClr val="7F7F7F"/>
                </a:solidFill>
                <a:latin typeface="Trebuchet MS"/>
                <a:ea typeface="Trebuchet MS"/>
                <a:cs typeface="Trebuchet MS"/>
                <a:sym typeface="Trebuchet MS"/>
              </a:rPr>
              <a:t>grigio</a:t>
            </a:r>
            <a:r>
              <a:rPr lang="it-IT" sz="12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non vengono mostrati, perché filtrati dalle condizioni di 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(**) I null nelle righe tratteggiate vengono aggiunti a causa della mancanza di corrispondenze</a:t>
            </a:r>
            <a:endParaRPr/>
          </a:p>
        </p:txBody>
      </p:sp>
      <p:graphicFrame>
        <p:nvGraphicFramePr>
          <p:cNvPr id="492" name="Google Shape;492;p39"/>
          <p:cNvGraphicFramePr/>
          <p:nvPr/>
        </p:nvGraphicFramePr>
        <p:xfrm>
          <a:off x="5850798" y="1645149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{299E2279-13E3-498E-9F17-E16632D42E63}</a:tableStyleId>
              </a:tblPr>
              <a:tblGrid>
                <a:gridCol w="1683475"/>
                <a:gridCol w="1176950"/>
                <a:gridCol w="14302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CF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CITTA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FK_UTENTE</a:t>
                      </a:r>
                      <a:endParaRPr sz="12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ABCABC12A12A123A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NAPOLI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DEFDEF12A12A123A</a:t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ROMA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/>
                        <a:t>NULL</a:t>
                      </a:r>
                      <a:endParaRPr sz="12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faccettatura">
  <a:themeElements>
    <a:clrScheme name="Sfaccettatura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i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2018-11-10T10:53:27Z</dcterms:created>
  <dc:creator>Lopez Diego</dc:creator>
</cp:coreProperties>
</file>