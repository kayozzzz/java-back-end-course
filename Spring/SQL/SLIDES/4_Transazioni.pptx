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5ONVWFwj8PoVQrH7JQz7l2VEM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4" name="Google Shape;34;p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" name="Google Shape;35;p7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" name="Google Shape;36;p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37" name="Google Shape;37;p7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8" name="Google Shape;38;p7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7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</p:sp>
        <p:sp>
          <p:nvSpPr>
            <p:cNvPr id="40" name="Google Shape;40;p7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41" name="Google Shape;41;p7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42" name="Google Shape;42;p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7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" name="Google Shape;44;p7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>
  <p:cSld name="Titolo e sottotitolo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 con didascalia">
  <p:cSld name="Citazione con didascalia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8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da nome">
  <p:cSld name="Scheda nom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da nome citazione">
  <p:cSld name="Scheda nome citazion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o o falso">
  <p:cSld name="Vero o falso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5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5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5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4" name="Google Shape;14;p5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5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5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</p:sp>
        <p:sp>
          <p:nvSpPr>
            <p:cNvPr id="17" name="Google Shape;17;p5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18" name="Google Shape;18;p5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19" name="Google Shape;19;p5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5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it.wikipedia.org/wiki/Vincolo_di_integrit%C3%A0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title"/>
          </p:nvPr>
        </p:nvSpPr>
        <p:spPr>
          <a:xfrm>
            <a:off x="677334" y="256014"/>
            <a:ext cx="8596668" cy="829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La transazione</a:t>
            </a:r>
            <a:endParaRPr/>
          </a:p>
        </p:txBody>
      </p:sp>
      <p:sp>
        <p:nvSpPr>
          <p:cNvPr id="148" name="Google Shape;148;p1"/>
          <p:cNvSpPr txBox="1"/>
          <p:nvPr>
            <p:ph idx="1" type="body"/>
          </p:nvPr>
        </p:nvSpPr>
        <p:spPr>
          <a:xfrm>
            <a:off x="677334" y="1086008"/>
            <a:ext cx="8596668" cy="5756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60"/>
              <a:buChar char="►"/>
            </a:pPr>
            <a:r>
              <a:rPr lang="it-IT" sz="1700"/>
              <a:t>Insieme di operazioni da considerarsi indivisibili ("atomico"). Il risultato è corretto anche in presenza di concorrenza ed ha effetti definitivi.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it-IT" sz="1700"/>
              <a:t>L’acronimo </a:t>
            </a:r>
            <a:r>
              <a:rPr lang="it-IT" sz="1700">
                <a:solidFill>
                  <a:srgbClr val="FF0000"/>
                </a:solidFill>
              </a:rPr>
              <a:t>ACID</a:t>
            </a:r>
            <a:r>
              <a:rPr lang="it-IT" sz="1700"/>
              <a:t> indica le proprietà logiche di una transazione, che sono: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it-IT" sz="2000">
                <a:solidFill>
                  <a:srgbClr val="FF0000"/>
                </a:solidFill>
              </a:rPr>
              <a:t>A</a:t>
            </a:r>
            <a:r>
              <a:rPr b="1" lang="it-IT"/>
              <a:t>tomicity</a:t>
            </a:r>
            <a:r>
              <a:rPr lang="it-IT"/>
              <a:t>: </a:t>
            </a:r>
            <a:r>
              <a:rPr lang="it-IT" sz="1700"/>
              <a:t>La sequenza di operazioni sulla base di dati viene eseguita per intero o per niente.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it-IT" sz="2000">
                <a:solidFill>
                  <a:srgbClr val="FF0000"/>
                </a:solidFill>
              </a:rPr>
              <a:t>C</a:t>
            </a:r>
            <a:r>
              <a:rPr b="1" lang="it-IT"/>
              <a:t>onsistency</a:t>
            </a:r>
            <a:r>
              <a:rPr lang="it-IT"/>
              <a:t>: quando inizia una transazione il database si trova in uno stato coerente e quando la transazione termina il database deve essere in un altro stato coerente, ovvero non deve violare eventuali </a:t>
            </a:r>
            <a:r>
              <a:rPr lang="it-IT" u="sng">
                <a:solidFill>
                  <a:schemeClr val="hlink"/>
                </a:solidFill>
                <a:hlinkClick r:id="rId3"/>
              </a:rPr>
              <a:t>vincoli di integrità</a:t>
            </a:r>
            <a:r>
              <a:rPr lang="it-IT"/>
              <a:t>, quindi non devono verificarsi contraddizioni (</a:t>
            </a:r>
            <a:r>
              <a:rPr i="1" lang="it-IT"/>
              <a:t>incoerenza</a:t>
            </a:r>
            <a:r>
              <a:rPr lang="it-IT"/>
              <a:t>) tra i dati archiviati nel DB.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it-IT" sz="2000">
                <a:solidFill>
                  <a:srgbClr val="FF0000"/>
                </a:solidFill>
              </a:rPr>
              <a:t>I</a:t>
            </a:r>
            <a:r>
              <a:rPr b="1" lang="it-IT"/>
              <a:t>solation</a:t>
            </a:r>
            <a:r>
              <a:rPr lang="it-IT"/>
              <a:t>: ogni transazione deve essere eseguita in modo isolato e indipendente dalle altre transazioni, l'eventuale fallimento di una transazione non deve interferire con le altre transazioni in esecuzione.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it-IT" sz="2000">
                <a:solidFill>
                  <a:srgbClr val="FF0000"/>
                </a:solidFill>
              </a:rPr>
              <a:t>D</a:t>
            </a:r>
            <a:r>
              <a:rPr b="1" lang="it-IT"/>
              <a:t>urability</a:t>
            </a:r>
            <a:r>
              <a:rPr lang="it-IT"/>
              <a:t>: </a:t>
            </a:r>
            <a:r>
              <a:rPr lang="it-IT" sz="1700"/>
              <a:t>La conclusione positiva di una transazione corrisponde ad un impegno (in inglese commit) a mantenere traccia del risultato in modo definitivo, anche in presenza di guasti e di esecuzione concorrente.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classico: bonifico bancario</a:t>
            </a:r>
            <a:endParaRPr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Il bonifico bancario in estrema sintesi può essere visto come una sequenza di due UPDATE su due record diversi della stessa tabella (la tabella del </a:t>
            </a:r>
            <a:r>
              <a:rPr i="1" lang="it-IT"/>
              <a:t>conto</a:t>
            </a:r>
            <a:r>
              <a:rPr lang="it-IT"/>
              <a:t>), un UPDATE per decrementare il </a:t>
            </a:r>
            <a:r>
              <a:rPr i="1" lang="it-IT"/>
              <a:t>saldo</a:t>
            </a:r>
            <a:r>
              <a:rPr lang="it-IT"/>
              <a:t> di un </a:t>
            </a:r>
            <a:r>
              <a:rPr i="1" lang="it-IT"/>
              <a:t>conto</a:t>
            </a:r>
            <a:r>
              <a:rPr lang="it-IT"/>
              <a:t> e l’altro UPDATE per incrementare della stessa quantità il </a:t>
            </a:r>
            <a:r>
              <a:rPr i="1" lang="it-IT"/>
              <a:t>saldo</a:t>
            </a:r>
            <a:r>
              <a:rPr lang="it-IT"/>
              <a:t> di un altro </a:t>
            </a:r>
            <a:r>
              <a:rPr i="1" lang="it-IT"/>
              <a:t>conto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it-IT" u="sng"/>
              <a:t>i due UPDATE devono essere eseguiti in transazione</a:t>
            </a:r>
            <a:r>
              <a:rPr lang="it-IT"/>
              <a:t>: o vanno bene entrambi oppure (in caso di qualsiasi problema) annulliamo tutto; l’unica cosa che non deve mai succedere è fare una sola delle due operazioni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Attenzione all’ auto-commit</a:t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Alcuni programmi, come ad esempio MySql Workbench o persino Jdbc (API/librerie di base usate per connettere un programma Java al database) hanno impostata di default la modalità </a:t>
            </a:r>
            <a:r>
              <a:rPr i="1" lang="it-IT"/>
              <a:t>auto-commit</a:t>
            </a:r>
            <a:r>
              <a:rPr lang="it-IT"/>
              <a:t> che vuol dire che ogni comando DML genera automaticamente un commit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Lavorare con l’</a:t>
            </a:r>
            <a:r>
              <a:rPr i="1" lang="it-IT"/>
              <a:t>auto-commit</a:t>
            </a:r>
            <a:r>
              <a:rPr lang="it-IT"/>
              <a:t> significa quindi lavorare senza transazioni, cosa che va bene solo per prove banali e comunque sicuramente non va bene per progetti complessi. In questi casi occorre o disabilitare manualmente l’</a:t>
            </a:r>
            <a:r>
              <a:rPr i="1" lang="it-IT"/>
              <a:t>auto-commit</a:t>
            </a:r>
            <a:r>
              <a:rPr lang="it-IT"/>
              <a:t> oppure lavorare con strumenti/</a:t>
            </a:r>
            <a:r>
              <a:rPr i="1" lang="it-IT"/>
              <a:t>tool</a:t>
            </a:r>
            <a:r>
              <a:rPr lang="it-IT"/>
              <a:t> che di default disabilitano l’</a:t>
            </a:r>
            <a:r>
              <a:rPr i="1" lang="it-IT"/>
              <a:t>auto-commit</a:t>
            </a:r>
            <a:r>
              <a:rPr lang="it-IT"/>
              <a:t> (per esempio in Java, se si usa Jdbc occorre disabilitare da codice l’</a:t>
            </a:r>
            <a:r>
              <a:rPr i="1" lang="it-IT"/>
              <a:t>auto-commit</a:t>
            </a:r>
            <a:r>
              <a:rPr lang="it-IT"/>
              <a:t> mentre se si usa Jpa/Hibernate l’</a:t>
            </a:r>
            <a:r>
              <a:rPr i="1" lang="it-IT"/>
              <a:t>auto-commit</a:t>
            </a:r>
            <a:r>
              <a:rPr lang="it-IT"/>
              <a:t> è già disabilitato di default)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677334" y="29945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Come rendo durevoli i dati?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677334" y="1620253"/>
            <a:ext cx="8596668" cy="5237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Per avviare la transazione: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b="1" lang="it-IT">
                <a:solidFill>
                  <a:srgbClr val="0070C0"/>
                </a:solidFill>
              </a:rPr>
              <a:t>	SET AUTOCOMMIT=0; // per i programmi che hanno l’auto-commit</a:t>
            </a:r>
            <a:endParaRPr b="1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b="1" lang="it-IT">
                <a:solidFill>
                  <a:srgbClr val="0070C0"/>
                </a:solidFill>
              </a:rPr>
              <a:t>	START TRANSACTION;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successivamente scriveremo tutte le operazioni DML che fanno parte della nostra transazione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e per rendere persistenti le modifiche effettuate durante la transazione alla fine delle operazioni DML della transazione scriveremo: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	</a:t>
            </a:r>
            <a:r>
              <a:rPr b="1" lang="it-IT">
                <a:solidFill>
                  <a:srgbClr val="0070C0"/>
                </a:solidFill>
              </a:rPr>
              <a:t>COMMIT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Nel caso non volessimo rendere persistente un dato (es: in caso di exception nel codice), esiste un comando che ci permette di annullare tutte le operazioni DML effettuate durante la transazione: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b="1" lang="it-IT">
                <a:solidFill>
                  <a:srgbClr val="0070C0"/>
                </a:solidFill>
              </a:rPr>
              <a:t>	ROLLBACK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Commit scrive fisicamente i dati nel database e li rende disponibili a tutte le altre sessioni presenti e future. Per tornare indietro nelle modifiche apportate al DB occorrerà eseguire altre DML.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b="1" lang="it-IT"/>
              <a:t>Le DDL non necessitano di commit… eseguono una commit implicita!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faccettatura">
  <a:themeElements>
    <a:clrScheme name="Sfaccettatur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2018-11-10T10:53:27Z</dcterms:created>
  <dc:creator>Lopez Diego</dc:creator>
</cp:coreProperties>
</file>