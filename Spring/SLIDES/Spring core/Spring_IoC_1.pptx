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9"/>
  </p:notesMasterIdLst>
  <p:sldIdLst>
    <p:sldId id="256" r:id="rId2"/>
    <p:sldId id="257" r:id="rId3"/>
    <p:sldId id="298" r:id="rId4"/>
    <p:sldId id="258" r:id="rId5"/>
    <p:sldId id="300" r:id="rId6"/>
    <p:sldId id="259" r:id="rId7"/>
    <p:sldId id="260" r:id="rId8"/>
    <p:sldId id="261" r:id="rId9"/>
    <p:sldId id="301" r:id="rId10"/>
    <p:sldId id="299" r:id="rId11"/>
    <p:sldId id="302" r:id="rId12"/>
    <p:sldId id="303" r:id="rId13"/>
    <p:sldId id="262" r:id="rId14"/>
    <p:sldId id="263" r:id="rId15"/>
    <p:sldId id="268" r:id="rId16"/>
    <p:sldId id="270" r:id="rId17"/>
    <p:sldId id="269" r:id="rId18"/>
    <p:sldId id="271" r:id="rId19"/>
    <p:sldId id="272" r:id="rId20"/>
    <p:sldId id="277" r:id="rId21"/>
    <p:sldId id="278" r:id="rId22"/>
    <p:sldId id="279" r:id="rId23"/>
    <p:sldId id="280" r:id="rId24"/>
    <p:sldId id="304" r:id="rId25"/>
    <p:sldId id="305" r:id="rId26"/>
    <p:sldId id="306" r:id="rId27"/>
    <p:sldId id="307" r:id="rId28"/>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1D1A5F-C094-4E80-A5A3-953622CFB4CC}" type="datetimeFigureOut">
              <a:rPr lang="it-IT" smtClean="0"/>
              <a:t>22/01/2025</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A29E1C-1CA8-4A2F-A668-E68A2DD27C17}" type="slidenum">
              <a:rPr lang="it-IT" smtClean="0"/>
              <a:t>‹N›</a:t>
            </a:fld>
            <a:endParaRPr lang="it-IT"/>
          </a:p>
        </p:txBody>
      </p:sp>
    </p:spTree>
    <p:extLst>
      <p:ext uri="{BB962C8B-B14F-4D97-AF65-F5344CB8AC3E}">
        <p14:creationId xmlns:p14="http://schemas.microsoft.com/office/powerpoint/2010/main" val="2806394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it-IT" smtClean="0"/>
              <a:t>Fare clic per modificare lo stile del titolo</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DA60AAC4-F6E3-424C-AFEB-81201AE540E7}" type="datetime1">
              <a:rPr lang="it-IT" smtClean="0"/>
              <a:t>22/01/2025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Date Placeholder 3"/>
          <p:cNvSpPr>
            <a:spLocks noGrp="1"/>
          </p:cNvSpPr>
          <p:nvPr>
            <p:ph type="dt" sz="half" idx="10"/>
          </p:nvPr>
        </p:nvSpPr>
        <p:spPr/>
        <p:txBody>
          <a:bodyPr/>
          <a:lstStyle/>
          <a:p>
            <a:fld id="{99D1C82A-0494-4C20-B520-5811B5BA982F}" type="datetime1">
              <a:rPr lang="it-IT" smtClean="0"/>
              <a:t>22/01/2025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
        <p:nvSpPr>
          <p:cNvPr id="7" name="Title 6"/>
          <p:cNvSpPr>
            <a:spLocks noGrp="1"/>
          </p:cNvSpPr>
          <p:nvPr>
            <p:ph type="title"/>
          </p:nvPr>
        </p:nvSpPr>
        <p:spPr/>
        <p:txBody>
          <a:bodyPr/>
          <a:lstStyle/>
          <a:p>
            <a:r>
              <a:rPr lang="it-IT" smtClean="0"/>
              <a:t>Fare clic per modificare lo stile del titolo</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it-IT" smtClean="0"/>
              <a:t>Fare clic per modificare lo stile del titolo</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Date Placeholder 3"/>
          <p:cNvSpPr>
            <a:spLocks noGrp="1"/>
          </p:cNvSpPr>
          <p:nvPr>
            <p:ph type="dt" sz="half" idx="10"/>
          </p:nvPr>
        </p:nvSpPr>
        <p:spPr/>
        <p:txBody>
          <a:bodyPr/>
          <a:lstStyle/>
          <a:p>
            <a:fld id="{108DC6D4-0B42-4573-A178-F3CD0A2E32DC}" type="datetime1">
              <a:rPr lang="it-IT" smtClean="0"/>
              <a:t>22/01/2025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5" name="Date Placeholder 4"/>
          <p:cNvSpPr>
            <a:spLocks noGrp="1"/>
          </p:cNvSpPr>
          <p:nvPr>
            <p:ph type="dt" sz="half" idx="10"/>
          </p:nvPr>
        </p:nvSpPr>
        <p:spPr/>
        <p:txBody>
          <a:bodyPr/>
          <a:lstStyle/>
          <a:p>
            <a:fld id="{0D81E78E-029C-4059-971C-18CCB9376DCA}" type="datetime1">
              <a:rPr lang="it-IT" smtClean="0"/>
              <a:t>22/01/2025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7A41E1B-4F70-4964-A407-84C68BE8251C}" type="slidenum">
              <a:rPr lang="it-IT" smtClean="0"/>
              <a:t>‹N›</a:t>
            </a:fld>
            <a:endParaRPr lang="it-IT"/>
          </a:p>
        </p:txBody>
      </p:sp>
      <p:sp>
        <p:nvSpPr>
          <p:cNvPr id="9" name="Content Placeholder 8"/>
          <p:cNvSpPr>
            <a:spLocks noGrp="1"/>
          </p:cNvSpPr>
          <p:nvPr>
            <p:ph sz="quarter" idx="13"/>
          </p:nvPr>
        </p:nvSpPr>
        <p:spPr>
          <a:xfrm>
            <a:off x="676655" y="2679192"/>
            <a:ext cx="3822192" cy="344728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smtClean="0"/>
              <a:t>Fare clic per modificare lo stile del titolo</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7" name="Date Placeholder 6"/>
          <p:cNvSpPr>
            <a:spLocks noGrp="1"/>
          </p:cNvSpPr>
          <p:nvPr>
            <p:ph type="dt" sz="half" idx="10"/>
          </p:nvPr>
        </p:nvSpPr>
        <p:spPr/>
        <p:txBody>
          <a:bodyPr/>
          <a:lstStyle/>
          <a:p>
            <a:fld id="{541707D0-AFDB-4015-8689-6490A5972569}" type="datetime1">
              <a:rPr lang="it-IT" smtClean="0"/>
              <a:t>22/01/2025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3" name="Date Placeholder 2"/>
          <p:cNvSpPr>
            <a:spLocks noGrp="1"/>
          </p:cNvSpPr>
          <p:nvPr>
            <p:ph type="dt" sz="half" idx="10"/>
          </p:nvPr>
        </p:nvSpPr>
        <p:spPr/>
        <p:txBody>
          <a:bodyPr/>
          <a:lstStyle/>
          <a:p>
            <a:fld id="{E20787D9-2AE0-4D43-AD1F-76FE487C5505}" type="datetime1">
              <a:rPr lang="it-IT" smtClean="0"/>
              <a:t>22/01/2025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uota">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1E1D5A75-B8FA-42C7-81A9-DBF9FDEDF05C}" type="datetime1">
              <a:rPr lang="it-IT" smtClean="0"/>
              <a:t>22/01/2025</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to con didascalia">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A0EDE968-CD4F-4FE3-AC78-4E55618455B3}" type="datetime1">
              <a:rPr lang="it-IT" smtClean="0"/>
              <a:t>22/01/2025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7A41E1B-4F70-4964-A407-84C68BE8251C}" type="slidenum">
              <a:rPr lang="it-IT" smtClean="0"/>
              <a:t>‹N›</a:t>
            </a:fld>
            <a:endParaRPr lang="it-IT"/>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it-IT" smtClean="0"/>
              <a:t>Fare clic per modificare lo stile del titolo</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it-IT" smtClean="0"/>
              <a:t>Fare clic per modificare lo stile del titolo</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Date Placeholder 4"/>
          <p:cNvSpPr>
            <a:spLocks noGrp="1"/>
          </p:cNvSpPr>
          <p:nvPr>
            <p:ph type="dt" sz="half" idx="10"/>
          </p:nvPr>
        </p:nvSpPr>
        <p:spPr/>
        <p:txBody>
          <a:bodyPr/>
          <a:lstStyle/>
          <a:p>
            <a:fld id="{847C61B7-842B-4226-936B-FFC9CE295666}" type="datetime1">
              <a:rPr lang="it-IT" smtClean="0"/>
              <a:t>22/01/2025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7A41E1B-4F70-4964-A407-84C68BE8251C}" type="slidenum">
              <a:rPr lang="it-IT" smtClean="0"/>
              <a:t>‹N›</a:t>
            </a:fld>
            <a:endParaRPr lang="it-IT"/>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Fare clic sull'icona per inserire un'immagine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Date Placeholder 3"/>
          <p:cNvSpPr>
            <a:spLocks noGrp="1"/>
          </p:cNvSpPr>
          <p:nvPr>
            <p:ph type="dt" sz="half" idx="10"/>
          </p:nvPr>
        </p:nvSpPr>
        <p:spPr/>
        <p:txBody>
          <a:bodyPr/>
          <a:lstStyle/>
          <a:p>
            <a:fld id="{7656AA46-432C-4CEE-B73B-150391E94ED6}" type="datetime1">
              <a:rPr lang="it-IT" smtClean="0"/>
              <a:t>22/01/2025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1_Titolo e testo verticale">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6C02F883-B54B-4720-AEAC-BBE8AE472DBC}" type="datetime1">
              <a:rPr lang="it-IT" smtClean="0"/>
              <a:t>22/01/2025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it-IT" smtClean="0"/>
              <a:t>Fare clic per modificare lo stile del titolo</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it-IT" smtClean="0"/>
              <a:t>Fare clic per modificare lo stile del titolo</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91A50C81-3628-4852-B813-F38CFA19BEDB}" type="datetime1">
              <a:rPr lang="it-IT" smtClean="0"/>
              <a:t>22/01/2025</a:t>
            </a:fld>
            <a:endParaRPr lang="it-IT"/>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it-IT"/>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E7A41E1B-4F70-4964-A407-84C68BE8251C}" type="slidenum">
              <a:rPr lang="it-IT" smtClean="0"/>
              <a:t>‹N›</a:t>
            </a:fld>
            <a:endParaRPr lang="it-IT"/>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p:txBody>
          <a:bodyPr/>
          <a:lstStyle/>
          <a:p>
            <a:r>
              <a:rPr lang="it-IT" dirty="0" smtClean="0"/>
              <a:t>Spring</a:t>
            </a:r>
            <a:endParaRPr lang="it-IT" dirty="0"/>
          </a:p>
        </p:txBody>
      </p:sp>
      <p:sp>
        <p:nvSpPr>
          <p:cNvPr id="3" name="Sottotitolo 2"/>
          <p:cNvSpPr>
            <a:spLocks noGrp="1"/>
          </p:cNvSpPr>
          <p:nvPr>
            <p:ph type="subTitle" idx="1"/>
          </p:nvPr>
        </p:nvSpPr>
        <p:spPr/>
        <p:txBody>
          <a:bodyPr/>
          <a:lstStyle/>
          <a:p>
            <a:endParaRPr lang="it-IT"/>
          </a:p>
        </p:txBody>
      </p:sp>
    </p:spTree>
    <p:extLst>
      <p:ext uri="{BB962C8B-B14F-4D97-AF65-F5344CB8AC3E}">
        <p14:creationId xmlns:p14="http://schemas.microsoft.com/office/powerpoint/2010/main" val="4300168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p:txBody>
          <a:bodyPr/>
          <a:lstStyle/>
          <a:p>
            <a:r>
              <a:rPr lang="it-IT" dirty="0" smtClean="0"/>
              <a:t>Un </a:t>
            </a:r>
            <a:r>
              <a:rPr lang="it-IT" dirty="0" err="1" smtClean="0"/>
              <a:t>framework</a:t>
            </a:r>
            <a:r>
              <a:rPr lang="it-IT" dirty="0" smtClean="0"/>
              <a:t> costituito da una costellazione di moduli pensati per «semplificare» una serie di problematiche tipiche che riguardano lo sviluppo di applicazioni web: pattern </a:t>
            </a:r>
            <a:r>
              <a:rPr lang="it-IT" dirty="0" err="1" smtClean="0"/>
              <a:t>IoC</a:t>
            </a:r>
            <a:r>
              <a:rPr lang="it-IT" dirty="0" smtClean="0"/>
              <a:t>/</a:t>
            </a:r>
            <a:r>
              <a:rPr lang="it-IT" dirty="0" err="1" smtClean="0"/>
              <a:t>Dependency</a:t>
            </a:r>
            <a:r>
              <a:rPr lang="it-IT" dirty="0" smtClean="0"/>
              <a:t> </a:t>
            </a:r>
            <a:r>
              <a:rPr lang="it-IT" dirty="0" err="1" smtClean="0"/>
              <a:t>Injection</a:t>
            </a:r>
            <a:r>
              <a:rPr lang="it-IT" dirty="0" smtClean="0"/>
              <a:t>, </a:t>
            </a:r>
            <a:r>
              <a:rPr lang="it-IT" dirty="0"/>
              <a:t>interfacciamento al database e gestione delle </a:t>
            </a:r>
            <a:r>
              <a:rPr lang="it-IT" dirty="0" smtClean="0"/>
              <a:t>transazioni e pattern </a:t>
            </a:r>
            <a:r>
              <a:rPr lang="it-IT" dirty="0" err="1" smtClean="0"/>
              <a:t>Crud</a:t>
            </a:r>
            <a:r>
              <a:rPr lang="it-IT" dirty="0" smtClean="0"/>
              <a:t>/</a:t>
            </a:r>
            <a:r>
              <a:rPr lang="it-IT" dirty="0" err="1" smtClean="0"/>
              <a:t>Dao</a:t>
            </a:r>
            <a:r>
              <a:rPr lang="it-IT" dirty="0" smtClean="0"/>
              <a:t>, pattern </a:t>
            </a:r>
            <a:r>
              <a:rPr lang="it-IT" dirty="0" err="1" smtClean="0"/>
              <a:t>Mvc</a:t>
            </a:r>
            <a:r>
              <a:rPr lang="it-IT" dirty="0" smtClean="0"/>
              <a:t>, </a:t>
            </a:r>
            <a:r>
              <a:rPr lang="it-IT" dirty="0" err="1" smtClean="0"/>
              <a:t>Aspect</a:t>
            </a:r>
            <a:r>
              <a:rPr lang="it-IT" dirty="0" smtClean="0"/>
              <a:t> AOP pattern, avvio delle applicazioni etc.</a:t>
            </a:r>
            <a:endParaRPr lang="it-IT" dirty="0"/>
          </a:p>
        </p:txBody>
      </p:sp>
      <p:sp>
        <p:nvSpPr>
          <p:cNvPr id="3" name="Titolo 2"/>
          <p:cNvSpPr>
            <a:spLocks noGrp="1"/>
          </p:cNvSpPr>
          <p:nvPr>
            <p:ph type="title"/>
          </p:nvPr>
        </p:nvSpPr>
        <p:spPr/>
        <p:txBody>
          <a:bodyPr/>
          <a:lstStyle/>
          <a:p>
            <a:r>
              <a:rPr lang="it-IT" dirty="0" smtClean="0"/>
              <a:t>Spring – cos’è</a:t>
            </a:r>
            <a:endParaRPr lang="it-IT" dirty="0"/>
          </a:p>
        </p:txBody>
      </p:sp>
      <p:sp>
        <p:nvSpPr>
          <p:cNvPr id="4" name="Segnaposto numero diapositiva 3"/>
          <p:cNvSpPr>
            <a:spLocks noGrp="1"/>
          </p:cNvSpPr>
          <p:nvPr>
            <p:ph type="sldNum" sz="quarter" idx="12"/>
          </p:nvPr>
        </p:nvSpPr>
        <p:spPr/>
        <p:txBody>
          <a:bodyPr/>
          <a:lstStyle/>
          <a:p>
            <a:fld id="{E7A41E1B-4F70-4964-A407-84C68BE8251C}" type="slidenum">
              <a:rPr lang="it-IT" smtClean="0"/>
              <a:t>2</a:t>
            </a:fld>
            <a:endParaRPr lang="it-IT"/>
          </a:p>
        </p:txBody>
      </p:sp>
    </p:spTree>
    <p:extLst>
      <p:ext uri="{BB962C8B-B14F-4D97-AF65-F5344CB8AC3E}">
        <p14:creationId xmlns:p14="http://schemas.microsoft.com/office/powerpoint/2010/main" val="28080292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420888"/>
            <a:ext cx="7408333" cy="3705275"/>
          </a:xfrm>
        </p:spPr>
        <p:txBody>
          <a:bodyPr/>
          <a:lstStyle/>
          <a:p>
            <a:endParaRPr lang="it-IT" dirty="0" smtClean="0"/>
          </a:p>
          <a:p>
            <a:r>
              <a:rPr lang="it-IT" dirty="0" smtClean="0"/>
              <a:t>Pro: dovrebbe semplificare e quindi velocizzare alcune operazioni</a:t>
            </a:r>
          </a:p>
          <a:p>
            <a:endParaRPr lang="it-IT" u="sng" dirty="0" smtClean="0"/>
          </a:p>
          <a:p>
            <a:r>
              <a:rPr lang="it-IT" dirty="0" smtClean="0"/>
              <a:t>Contro</a:t>
            </a:r>
            <a:r>
              <a:rPr lang="it-IT" smtClean="0"/>
              <a:t>: apprendimento + </a:t>
            </a:r>
            <a:r>
              <a:rPr lang="it-IT" dirty="0" smtClean="0"/>
              <a:t>legarsi ad uno strumento «non standard» (</a:t>
            </a:r>
            <a:r>
              <a:rPr lang="it-IT" b="1" dirty="0" smtClean="0"/>
              <a:t>problema grave se non si conosce lo standard sottostante</a:t>
            </a:r>
            <a:r>
              <a:rPr lang="it-IT" dirty="0" smtClean="0"/>
              <a:t>) </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3</a:t>
            </a:fld>
            <a:endParaRPr lang="it-IT"/>
          </a:p>
        </p:txBody>
      </p:sp>
      <p:sp>
        <p:nvSpPr>
          <p:cNvPr id="4" name="Titolo 3"/>
          <p:cNvSpPr>
            <a:spLocks noGrp="1"/>
          </p:cNvSpPr>
          <p:nvPr>
            <p:ph type="title"/>
          </p:nvPr>
        </p:nvSpPr>
        <p:spPr/>
        <p:txBody>
          <a:bodyPr>
            <a:normAutofit fontScale="90000"/>
          </a:bodyPr>
          <a:lstStyle/>
          <a:p>
            <a:r>
              <a:rPr lang="it-IT" dirty="0" smtClean="0"/>
              <a:t>Ennesimo Framework…..</a:t>
            </a:r>
            <a:br>
              <a:rPr lang="it-IT" dirty="0" smtClean="0"/>
            </a:br>
            <a:r>
              <a:rPr lang="it-IT" dirty="0" smtClean="0"/>
              <a:t>Pro e contro</a:t>
            </a:r>
            <a:endParaRPr lang="it-IT" dirty="0"/>
          </a:p>
        </p:txBody>
      </p:sp>
    </p:spTree>
    <p:extLst>
      <p:ext uri="{BB962C8B-B14F-4D97-AF65-F5344CB8AC3E}">
        <p14:creationId xmlns:p14="http://schemas.microsoft.com/office/powerpoint/2010/main" val="12408662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88840"/>
            <a:ext cx="7408333" cy="4137323"/>
          </a:xfrm>
        </p:spPr>
        <p:txBody>
          <a:bodyPr>
            <a:normAutofit/>
          </a:bodyPr>
          <a:lstStyle/>
          <a:p>
            <a:r>
              <a:rPr lang="it-IT" dirty="0" err="1" smtClean="0"/>
              <a:t>IoC</a:t>
            </a:r>
            <a:r>
              <a:rPr lang="it-IT" dirty="0" smtClean="0"/>
              <a:t>, ovvero </a:t>
            </a:r>
            <a:r>
              <a:rPr lang="it-IT" dirty="0" err="1" smtClean="0"/>
              <a:t>Inversion</a:t>
            </a:r>
            <a:r>
              <a:rPr lang="it-IT" dirty="0" smtClean="0"/>
              <a:t> of Control, è un pattern di programmazione che prevede che il controllo del flusso di esecuzione di un programma non sia «cablato» direttamente nel codice del programma ma sia demandato ad un container/</a:t>
            </a:r>
            <a:r>
              <a:rPr lang="it-IT" dirty="0" err="1" smtClean="0"/>
              <a:t>framework</a:t>
            </a:r>
            <a:r>
              <a:rPr lang="it-IT" dirty="0" smtClean="0"/>
              <a:t> esterno</a:t>
            </a:r>
          </a:p>
          <a:p>
            <a:r>
              <a:rPr lang="it-IT" dirty="0" smtClean="0"/>
              <a:t>Il legame tra gli oggetti che costituiscono il nostro programma viene deciso dal container/</a:t>
            </a:r>
            <a:r>
              <a:rPr lang="it-IT" dirty="0" err="1" smtClean="0"/>
              <a:t>framework</a:t>
            </a:r>
            <a:r>
              <a:rPr lang="it-IT" dirty="0" smtClean="0"/>
              <a:t> che stabilisce come collegare gli oggetti tra loro effettuando la «</a:t>
            </a:r>
            <a:r>
              <a:rPr lang="it-IT" dirty="0" err="1" smtClean="0"/>
              <a:t>injection</a:t>
            </a:r>
            <a:r>
              <a:rPr lang="it-IT" dirty="0" smtClean="0"/>
              <a:t>» delle </a:t>
            </a:r>
            <a:r>
              <a:rPr lang="it-IT" dirty="0" err="1" smtClean="0"/>
              <a:t>dependency</a:t>
            </a:r>
            <a:endParaRPr lang="it-IT" dirty="0" smtClean="0"/>
          </a:p>
        </p:txBody>
      </p:sp>
      <p:sp>
        <p:nvSpPr>
          <p:cNvPr id="3" name="Segnaposto numero diapositiva 2"/>
          <p:cNvSpPr>
            <a:spLocks noGrp="1"/>
          </p:cNvSpPr>
          <p:nvPr>
            <p:ph type="sldNum" sz="quarter" idx="12"/>
          </p:nvPr>
        </p:nvSpPr>
        <p:spPr/>
        <p:txBody>
          <a:bodyPr/>
          <a:lstStyle/>
          <a:p>
            <a:fld id="{E7A41E1B-4F70-4964-A407-84C68BE8251C}" type="slidenum">
              <a:rPr lang="it-IT" smtClean="0"/>
              <a:t>4</a:t>
            </a:fld>
            <a:endParaRPr lang="it-IT"/>
          </a:p>
        </p:txBody>
      </p:sp>
      <p:sp>
        <p:nvSpPr>
          <p:cNvPr id="4" name="Titolo 3"/>
          <p:cNvSpPr>
            <a:spLocks noGrp="1"/>
          </p:cNvSpPr>
          <p:nvPr>
            <p:ph type="title"/>
          </p:nvPr>
        </p:nvSpPr>
        <p:spPr/>
        <p:txBody>
          <a:bodyPr/>
          <a:lstStyle/>
          <a:p>
            <a:r>
              <a:rPr lang="it-IT" dirty="0" err="1" smtClean="0"/>
              <a:t>IoC</a:t>
            </a:r>
            <a:r>
              <a:rPr lang="it-IT" dirty="0"/>
              <a:t> </a:t>
            </a:r>
            <a:r>
              <a:rPr lang="it-IT" dirty="0" smtClean="0"/>
              <a:t>e </a:t>
            </a:r>
            <a:r>
              <a:rPr lang="it-IT" dirty="0" err="1" smtClean="0"/>
              <a:t>Dependency</a:t>
            </a:r>
            <a:r>
              <a:rPr lang="it-IT" dirty="0" smtClean="0"/>
              <a:t> </a:t>
            </a:r>
            <a:r>
              <a:rPr lang="it-IT" dirty="0" err="1" smtClean="0"/>
              <a:t>Injection</a:t>
            </a:r>
            <a:endParaRPr lang="it-IT" dirty="0"/>
          </a:p>
        </p:txBody>
      </p:sp>
    </p:spTree>
    <p:extLst>
      <p:ext uri="{BB962C8B-B14F-4D97-AF65-F5344CB8AC3E}">
        <p14:creationId xmlns:p14="http://schemas.microsoft.com/office/powerpoint/2010/main" val="12132932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132856"/>
            <a:ext cx="7408333" cy="3993307"/>
          </a:xfrm>
        </p:spPr>
        <p:txBody>
          <a:bodyPr/>
          <a:lstStyle/>
          <a:p>
            <a:r>
              <a:rPr lang="it-IT" dirty="0" smtClean="0"/>
              <a:t>Nella programmazione a oggetti quando una classe </a:t>
            </a:r>
            <a:r>
              <a:rPr lang="it-IT" i="1" dirty="0"/>
              <a:t>A </a:t>
            </a:r>
            <a:r>
              <a:rPr lang="it-IT" dirty="0" smtClean="0"/>
              <a:t>(anche astratta o interfaccia) possiede un attributo che è una </a:t>
            </a:r>
            <a:r>
              <a:rPr lang="it-IT" i="1" dirty="0" err="1" smtClean="0"/>
              <a:t>reference</a:t>
            </a:r>
            <a:r>
              <a:rPr lang="it-IT" dirty="0" smtClean="0"/>
              <a:t> ad un’altra classe </a:t>
            </a:r>
            <a:r>
              <a:rPr lang="it-IT" i="1" dirty="0" smtClean="0"/>
              <a:t>B </a:t>
            </a:r>
            <a:r>
              <a:rPr lang="it-IT" dirty="0"/>
              <a:t>(anche astratta o interfaccia</a:t>
            </a:r>
            <a:r>
              <a:rPr lang="it-IT" dirty="0" smtClean="0"/>
              <a:t>) si dice che </a:t>
            </a:r>
            <a:r>
              <a:rPr lang="it-IT" i="1" dirty="0" smtClean="0"/>
              <a:t>A ha una </a:t>
            </a:r>
            <a:r>
              <a:rPr lang="it-IT" i="1" dirty="0" err="1" smtClean="0"/>
              <a:t>dependency</a:t>
            </a:r>
            <a:r>
              <a:rPr lang="it-IT" i="1" dirty="0" smtClean="0"/>
              <a:t> da B</a:t>
            </a:r>
            <a:r>
              <a:rPr lang="it-IT" dirty="0" smtClean="0"/>
              <a:t>, o che </a:t>
            </a:r>
            <a:r>
              <a:rPr lang="it-IT" i="1" dirty="0" smtClean="0"/>
              <a:t>A è dipendente da B</a:t>
            </a:r>
            <a:r>
              <a:rPr lang="it-IT" dirty="0" smtClean="0"/>
              <a:t>:</a:t>
            </a:r>
          </a:p>
          <a:p>
            <a:pPr marL="301943" lvl="1" indent="0">
              <a:buNone/>
            </a:pPr>
            <a:endParaRPr lang="it-IT" sz="1800" i="1" dirty="0" smtClean="0"/>
          </a:p>
          <a:p>
            <a:pPr marL="301943" lvl="1" indent="0">
              <a:buNone/>
            </a:pPr>
            <a:r>
              <a:rPr lang="it-IT" sz="1800" i="1" dirty="0" smtClean="0"/>
              <a:t>public </a:t>
            </a:r>
            <a:r>
              <a:rPr lang="it-IT" sz="1800" i="1" dirty="0" err="1" smtClean="0"/>
              <a:t>interface</a:t>
            </a:r>
            <a:r>
              <a:rPr lang="it-IT" sz="1800" i="1" dirty="0" smtClean="0"/>
              <a:t> B {….</a:t>
            </a:r>
          </a:p>
          <a:p>
            <a:pPr marL="301943" lvl="1" indent="0">
              <a:buNone/>
            </a:pPr>
            <a:r>
              <a:rPr lang="it-IT" sz="1800" i="1" dirty="0" smtClean="0"/>
              <a:t>public </a:t>
            </a:r>
            <a:r>
              <a:rPr lang="it-IT" sz="1800" i="1" dirty="0" err="1" smtClean="0"/>
              <a:t>class</a:t>
            </a:r>
            <a:r>
              <a:rPr lang="it-IT" sz="1800" i="1" dirty="0" smtClean="0"/>
              <a:t> A{</a:t>
            </a:r>
          </a:p>
          <a:p>
            <a:pPr marL="581343" lvl="2" indent="0">
              <a:buNone/>
            </a:pPr>
            <a:r>
              <a:rPr lang="it-IT" sz="1800" i="1" dirty="0" smtClean="0"/>
              <a:t>private B </a:t>
            </a:r>
            <a:r>
              <a:rPr lang="it-IT" sz="1800" i="1" dirty="0" err="1" smtClean="0"/>
              <a:t>referenceB</a:t>
            </a:r>
            <a:r>
              <a:rPr lang="it-IT" sz="1800" i="1" dirty="0" smtClean="0"/>
              <a:t>;</a:t>
            </a:r>
          </a:p>
          <a:p>
            <a:pPr marL="581343" lvl="2" indent="0">
              <a:buNone/>
            </a:pPr>
            <a:r>
              <a:rPr lang="it-IT" sz="1800" i="1" dirty="0" smtClean="0"/>
              <a:t>…</a:t>
            </a:r>
            <a:endParaRPr lang="it-IT" sz="18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5</a:t>
            </a:fld>
            <a:endParaRPr lang="it-IT"/>
          </a:p>
        </p:txBody>
      </p:sp>
      <p:sp>
        <p:nvSpPr>
          <p:cNvPr id="4" name="Titolo 3"/>
          <p:cNvSpPr>
            <a:spLocks noGrp="1"/>
          </p:cNvSpPr>
          <p:nvPr>
            <p:ph type="title"/>
          </p:nvPr>
        </p:nvSpPr>
        <p:spPr/>
        <p:txBody>
          <a:bodyPr/>
          <a:lstStyle/>
          <a:p>
            <a:r>
              <a:rPr lang="it-IT" dirty="0" err="1" smtClean="0"/>
              <a:t>Dependency</a:t>
            </a:r>
            <a:r>
              <a:rPr lang="it-IT" dirty="0" smtClean="0"/>
              <a:t> tra classi</a:t>
            </a:r>
            <a:endParaRPr lang="it-IT" dirty="0"/>
          </a:p>
        </p:txBody>
      </p:sp>
    </p:spTree>
    <p:extLst>
      <p:ext uri="{BB962C8B-B14F-4D97-AF65-F5344CB8AC3E}">
        <p14:creationId xmlns:p14="http://schemas.microsoft.com/office/powerpoint/2010/main" val="3950286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16832"/>
            <a:ext cx="7408333" cy="4209331"/>
          </a:xfrm>
        </p:spPr>
        <p:txBody>
          <a:bodyPr>
            <a:normAutofit fontScale="92500" lnSpcReduction="10000"/>
          </a:bodyPr>
          <a:lstStyle/>
          <a:p>
            <a:pPr fontAlgn="base"/>
            <a:r>
              <a:rPr lang="en-US" sz="2600" dirty="0" err="1"/>
              <a:t>Nel</a:t>
            </a:r>
            <a:r>
              <a:rPr lang="en-US" sz="2600" dirty="0"/>
              <a:t> </a:t>
            </a:r>
            <a:r>
              <a:rPr lang="en-US" sz="2600" dirty="0" err="1" smtClean="0"/>
              <a:t>segutente</a:t>
            </a:r>
            <a:r>
              <a:rPr lang="en-US" sz="2600" dirty="0" smtClean="0"/>
              <a:t> </a:t>
            </a:r>
            <a:r>
              <a:rPr lang="en-US" sz="2600" dirty="0" err="1" smtClean="0"/>
              <a:t>codice</a:t>
            </a:r>
            <a:r>
              <a:rPr lang="en-US" sz="2600" dirty="0" smtClean="0"/>
              <a:t>, </a:t>
            </a:r>
            <a:r>
              <a:rPr lang="en-US" sz="2600" i="1" dirty="0"/>
              <a:t>A</a:t>
            </a:r>
            <a:r>
              <a:rPr lang="en-US" sz="2600" dirty="0"/>
              <a:t> </a:t>
            </a:r>
            <a:r>
              <a:rPr lang="en-US" sz="2600" dirty="0" err="1"/>
              <a:t>possiede</a:t>
            </a:r>
            <a:r>
              <a:rPr lang="en-US" sz="2600" dirty="0"/>
              <a:t> </a:t>
            </a:r>
            <a:r>
              <a:rPr lang="en-US" sz="2600" dirty="0" err="1"/>
              <a:t>una</a:t>
            </a:r>
            <a:r>
              <a:rPr lang="en-US" sz="2600" dirty="0"/>
              <a:t> dependency </a:t>
            </a:r>
            <a:r>
              <a:rPr lang="en-US" sz="2600" dirty="0" err="1"/>
              <a:t>cablata</a:t>
            </a:r>
            <a:r>
              <a:rPr lang="en-US" sz="2600" dirty="0"/>
              <a:t> da </a:t>
            </a:r>
            <a:r>
              <a:rPr lang="en-US" sz="2600" i="1" dirty="0"/>
              <a:t>B</a:t>
            </a:r>
            <a:r>
              <a:rPr lang="en-US" sz="2600" dirty="0"/>
              <a:t>, </a:t>
            </a:r>
            <a:r>
              <a:rPr lang="en-US" sz="2600" dirty="0" err="1"/>
              <a:t>poichè</a:t>
            </a:r>
            <a:r>
              <a:rPr lang="en-US" sz="2600" dirty="0"/>
              <a:t> la </a:t>
            </a:r>
            <a:r>
              <a:rPr lang="en-US" sz="2600" dirty="0" err="1"/>
              <a:t>scelta</a:t>
            </a:r>
            <a:r>
              <a:rPr lang="en-US" sz="2600" dirty="0"/>
              <a:t> di quale </a:t>
            </a:r>
            <a:r>
              <a:rPr lang="en-US" sz="2600" dirty="0" err="1"/>
              <a:t>specifica</a:t>
            </a:r>
            <a:r>
              <a:rPr lang="en-US" sz="2600" dirty="0"/>
              <a:t> </a:t>
            </a:r>
            <a:r>
              <a:rPr lang="en-US" sz="2600" dirty="0" err="1"/>
              <a:t>istanza</a:t>
            </a:r>
            <a:r>
              <a:rPr lang="en-US" sz="2600" dirty="0"/>
              <a:t> di </a:t>
            </a:r>
            <a:r>
              <a:rPr lang="en-US" sz="2600" i="1" dirty="0"/>
              <a:t>B</a:t>
            </a:r>
            <a:r>
              <a:rPr lang="en-US" sz="2600" dirty="0"/>
              <a:t> </a:t>
            </a:r>
            <a:r>
              <a:rPr lang="en-US" sz="2600" dirty="0" err="1"/>
              <a:t>usare</a:t>
            </a:r>
            <a:r>
              <a:rPr lang="en-US" sz="2600" dirty="0"/>
              <a:t>, </a:t>
            </a:r>
            <a:r>
              <a:rPr lang="en-US" sz="2600" dirty="0" err="1"/>
              <a:t>ovvero</a:t>
            </a:r>
            <a:r>
              <a:rPr lang="en-US" sz="2600" dirty="0"/>
              <a:t> la </a:t>
            </a:r>
            <a:r>
              <a:rPr lang="en-US" sz="2600" dirty="0" err="1"/>
              <a:t>risoluzione</a:t>
            </a:r>
            <a:r>
              <a:rPr lang="en-US" sz="2600" dirty="0"/>
              <a:t> </a:t>
            </a:r>
            <a:r>
              <a:rPr lang="en-US" sz="2600" dirty="0" err="1"/>
              <a:t>della</a:t>
            </a:r>
            <a:r>
              <a:rPr lang="en-US" sz="2600" dirty="0"/>
              <a:t> </a:t>
            </a:r>
            <a:r>
              <a:rPr lang="en-US" sz="2600" i="1" dirty="0"/>
              <a:t>dependency</a:t>
            </a:r>
            <a:r>
              <a:rPr lang="en-US" sz="2600" dirty="0"/>
              <a:t>, </a:t>
            </a:r>
            <a:r>
              <a:rPr lang="en-US" sz="2600" dirty="0" err="1"/>
              <a:t>viene</a:t>
            </a:r>
            <a:r>
              <a:rPr lang="en-US" sz="2600" dirty="0"/>
              <a:t> </a:t>
            </a:r>
            <a:r>
              <a:rPr lang="en-US" sz="2600" dirty="0" err="1"/>
              <a:t>effettuata</a:t>
            </a:r>
            <a:r>
              <a:rPr lang="en-US" sz="2600" dirty="0"/>
              <a:t> </a:t>
            </a:r>
            <a:r>
              <a:rPr lang="en-US" sz="2600" dirty="0" err="1"/>
              <a:t>direttamente</a:t>
            </a:r>
            <a:r>
              <a:rPr lang="en-US" sz="2600" dirty="0"/>
              <a:t> </a:t>
            </a:r>
            <a:r>
              <a:rPr lang="en-US" sz="2600" dirty="0" err="1" smtClean="0"/>
              <a:t>nel</a:t>
            </a:r>
            <a:r>
              <a:rPr lang="en-US" sz="2600" dirty="0" smtClean="0"/>
              <a:t> </a:t>
            </a:r>
            <a:r>
              <a:rPr lang="en-US" sz="2600" dirty="0" err="1"/>
              <a:t>codice</a:t>
            </a:r>
            <a:r>
              <a:rPr lang="en-US" sz="2600" dirty="0"/>
              <a:t> </a:t>
            </a:r>
            <a:r>
              <a:rPr lang="en-US" sz="2600" dirty="0" err="1"/>
              <a:t>della</a:t>
            </a:r>
            <a:r>
              <a:rPr lang="en-US" sz="2600" dirty="0"/>
              <a:t> </a:t>
            </a:r>
            <a:r>
              <a:rPr lang="en-US" sz="2600" dirty="0" err="1"/>
              <a:t>classe</a:t>
            </a:r>
            <a:r>
              <a:rPr lang="en-US" sz="2600" dirty="0"/>
              <a:t> </a:t>
            </a:r>
            <a:r>
              <a:rPr lang="en-US" sz="2600" dirty="0" smtClean="0"/>
              <a:t>A:</a:t>
            </a:r>
            <a:endParaRPr lang="en-US" sz="2600" dirty="0"/>
          </a:p>
          <a:p>
            <a:pPr marL="301943" lvl="1" indent="0" fontAlgn="base">
              <a:buNone/>
            </a:pPr>
            <a:r>
              <a:rPr lang="en-US" sz="1900" i="1" dirty="0" smtClean="0"/>
              <a:t>public interface B {…</a:t>
            </a:r>
          </a:p>
          <a:p>
            <a:pPr marL="301943" lvl="1" indent="0" fontAlgn="base">
              <a:buNone/>
            </a:pPr>
            <a:endParaRPr lang="en-US" sz="1900" i="1" dirty="0" smtClean="0"/>
          </a:p>
          <a:p>
            <a:pPr marL="301943" lvl="1" indent="0" fontAlgn="base">
              <a:buNone/>
            </a:pPr>
            <a:r>
              <a:rPr lang="en-US" sz="1900" i="1" dirty="0" smtClean="0"/>
              <a:t>public </a:t>
            </a:r>
            <a:r>
              <a:rPr lang="en-US" sz="1900" i="1" dirty="0"/>
              <a:t>class </a:t>
            </a:r>
            <a:r>
              <a:rPr lang="en-US" sz="1900" i="1" dirty="0" smtClean="0"/>
              <a:t>A {</a:t>
            </a:r>
            <a:endParaRPr lang="en-US" sz="1900" i="1" dirty="0"/>
          </a:p>
          <a:p>
            <a:pPr marL="301943" lvl="1" indent="0" fontAlgn="base">
              <a:buNone/>
            </a:pPr>
            <a:r>
              <a:rPr lang="en-US" sz="1900" i="1" dirty="0"/>
              <a:t>    private </a:t>
            </a:r>
            <a:r>
              <a:rPr lang="en-US" sz="1900" i="1" dirty="0" smtClean="0"/>
              <a:t>B </a:t>
            </a:r>
            <a:r>
              <a:rPr lang="en-US" sz="1900" i="1" dirty="0" err="1" smtClean="0"/>
              <a:t>oggettoB</a:t>
            </a:r>
            <a:r>
              <a:rPr lang="en-US" sz="1900" i="1" dirty="0" smtClean="0"/>
              <a:t>;</a:t>
            </a:r>
            <a:endParaRPr lang="en-US" sz="1900" i="1" dirty="0"/>
          </a:p>
          <a:p>
            <a:pPr marL="301943" lvl="1" indent="0" fontAlgn="base">
              <a:buNone/>
            </a:pPr>
            <a:r>
              <a:rPr lang="en-US" sz="1900" i="1" dirty="0"/>
              <a:t>    public </a:t>
            </a:r>
            <a:r>
              <a:rPr lang="en-US" sz="1900" i="1" dirty="0" smtClean="0"/>
              <a:t>A() </a:t>
            </a:r>
            <a:r>
              <a:rPr lang="en-US" sz="1900" i="1" dirty="0"/>
              <a:t>{</a:t>
            </a:r>
          </a:p>
          <a:p>
            <a:pPr marL="301943" lvl="1" indent="0" fontAlgn="base">
              <a:buNone/>
            </a:pPr>
            <a:r>
              <a:rPr lang="en-US" sz="1900" i="1" dirty="0"/>
              <a:t>        </a:t>
            </a:r>
            <a:r>
              <a:rPr lang="en-US" sz="1900" i="1" dirty="0" err="1" smtClean="0"/>
              <a:t>oggettoB</a:t>
            </a:r>
            <a:r>
              <a:rPr lang="en-US" sz="1900" i="1" dirty="0" smtClean="0"/>
              <a:t> </a:t>
            </a:r>
            <a:r>
              <a:rPr lang="en-US" sz="1900" i="1" dirty="0"/>
              <a:t>= new </a:t>
            </a:r>
            <a:r>
              <a:rPr lang="en-US" sz="1900" i="1" dirty="0" err="1" smtClean="0"/>
              <a:t>ImplementazioneDiB</a:t>
            </a:r>
            <a:r>
              <a:rPr lang="en-US" sz="1900" i="1" dirty="0" smtClean="0"/>
              <a:t>();</a:t>
            </a:r>
            <a:r>
              <a:rPr lang="en-US" sz="1900" i="1" dirty="0"/>
              <a:t>    </a:t>
            </a:r>
          </a:p>
          <a:p>
            <a:pPr marL="301943" lvl="1" indent="0" fontAlgn="base">
              <a:buNone/>
            </a:pPr>
            <a:r>
              <a:rPr lang="en-US" sz="1900" i="1" dirty="0"/>
              <a:t>    }</a:t>
            </a:r>
          </a:p>
          <a:p>
            <a:pPr marL="301943" lvl="1" indent="0" fontAlgn="base">
              <a:buNone/>
            </a:pPr>
            <a:r>
              <a:rPr lang="en-US" sz="1900" i="1" dirty="0"/>
              <a:t>}</a:t>
            </a:r>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6</a:t>
            </a:fld>
            <a:endParaRPr lang="it-IT"/>
          </a:p>
        </p:txBody>
      </p:sp>
      <p:sp>
        <p:nvSpPr>
          <p:cNvPr id="4" name="Titolo 3"/>
          <p:cNvSpPr>
            <a:spLocks noGrp="1"/>
          </p:cNvSpPr>
          <p:nvPr>
            <p:ph type="title"/>
          </p:nvPr>
        </p:nvSpPr>
        <p:spPr/>
        <p:txBody>
          <a:bodyPr>
            <a:normAutofit fontScale="90000"/>
          </a:bodyPr>
          <a:lstStyle/>
          <a:p>
            <a:r>
              <a:rPr lang="it-IT" dirty="0" smtClean="0"/>
              <a:t>Dipendenza</a:t>
            </a:r>
            <a:br>
              <a:rPr lang="it-IT" dirty="0" smtClean="0"/>
            </a:br>
            <a:r>
              <a:rPr lang="it-IT" dirty="0" smtClean="0"/>
              <a:t>«cablata» nel codice</a:t>
            </a:r>
            <a:endParaRPr lang="it-IT" dirty="0"/>
          </a:p>
        </p:txBody>
      </p:sp>
    </p:spTree>
    <p:extLst>
      <p:ext uri="{BB962C8B-B14F-4D97-AF65-F5344CB8AC3E}">
        <p14:creationId xmlns:p14="http://schemas.microsoft.com/office/powerpoint/2010/main" val="14955396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16832"/>
            <a:ext cx="7408333" cy="4209331"/>
          </a:xfrm>
        </p:spPr>
        <p:txBody>
          <a:bodyPr>
            <a:normAutofit fontScale="92500" lnSpcReduction="10000"/>
          </a:bodyPr>
          <a:lstStyle/>
          <a:p>
            <a:pPr fontAlgn="base"/>
            <a:r>
              <a:rPr lang="en-US" sz="2600" dirty="0" err="1"/>
              <a:t>Nel</a:t>
            </a:r>
            <a:r>
              <a:rPr lang="en-US" sz="2600" dirty="0"/>
              <a:t> </a:t>
            </a:r>
            <a:r>
              <a:rPr lang="en-US" sz="2600" dirty="0" err="1" smtClean="0"/>
              <a:t>seguente</a:t>
            </a:r>
            <a:r>
              <a:rPr lang="en-US" sz="2600" dirty="0" smtClean="0"/>
              <a:t> </a:t>
            </a:r>
            <a:r>
              <a:rPr lang="en-US" sz="2600" dirty="0" err="1"/>
              <a:t>codice</a:t>
            </a:r>
            <a:r>
              <a:rPr lang="en-US" sz="2600" dirty="0" smtClean="0"/>
              <a:t>, la </a:t>
            </a:r>
            <a:r>
              <a:rPr lang="en-US" sz="2600" dirty="0" err="1" smtClean="0"/>
              <a:t>risoluzione</a:t>
            </a:r>
            <a:r>
              <a:rPr lang="en-US" sz="2600" dirty="0" smtClean="0"/>
              <a:t> </a:t>
            </a:r>
            <a:r>
              <a:rPr lang="en-US" sz="2600" dirty="0" err="1" smtClean="0"/>
              <a:t>della</a:t>
            </a:r>
            <a:r>
              <a:rPr lang="en-US" sz="2600" dirty="0" smtClean="0"/>
              <a:t> </a:t>
            </a:r>
            <a:r>
              <a:rPr lang="en-US" sz="2600" i="1" dirty="0" smtClean="0"/>
              <a:t>dependency</a:t>
            </a:r>
            <a:r>
              <a:rPr lang="en-US" sz="2600" dirty="0" smtClean="0"/>
              <a:t> </a:t>
            </a:r>
            <a:r>
              <a:rPr lang="en-US" sz="2600" dirty="0" err="1" smtClean="0"/>
              <a:t>viene</a:t>
            </a:r>
            <a:r>
              <a:rPr lang="en-US" sz="2600" dirty="0" smtClean="0"/>
              <a:t> </a:t>
            </a:r>
            <a:r>
              <a:rPr lang="en-US" sz="2600" dirty="0" err="1" smtClean="0"/>
              <a:t>fatta</a:t>
            </a:r>
            <a:r>
              <a:rPr lang="en-US" sz="2600" dirty="0" smtClean="0"/>
              <a:t> </a:t>
            </a:r>
            <a:r>
              <a:rPr lang="en-US" sz="2600" dirty="0" err="1" smtClean="0"/>
              <a:t>dall’esterno</a:t>
            </a:r>
            <a:r>
              <a:rPr lang="en-US" sz="2600" dirty="0" smtClean="0"/>
              <a:t>; in </a:t>
            </a:r>
            <a:r>
              <a:rPr lang="en-US" sz="2600" dirty="0" err="1" smtClean="0"/>
              <a:t>questo</a:t>
            </a:r>
            <a:r>
              <a:rPr lang="en-US" sz="2600" dirty="0" smtClean="0"/>
              <a:t> </a:t>
            </a:r>
            <a:r>
              <a:rPr lang="en-US" sz="2600" dirty="0" err="1" smtClean="0"/>
              <a:t>caso</a:t>
            </a:r>
            <a:r>
              <a:rPr lang="en-US" sz="2600" dirty="0" smtClean="0"/>
              <a:t> la </a:t>
            </a:r>
            <a:r>
              <a:rPr lang="en-US" sz="2600" i="1" dirty="0" smtClean="0"/>
              <a:t>dependency</a:t>
            </a:r>
            <a:r>
              <a:rPr lang="en-US" sz="2600" dirty="0" smtClean="0"/>
              <a:t> </a:t>
            </a:r>
            <a:r>
              <a:rPr lang="en-US" sz="2600" dirty="0" err="1" smtClean="0"/>
              <a:t>viene</a:t>
            </a:r>
            <a:r>
              <a:rPr lang="en-US" sz="2600" dirty="0" smtClean="0"/>
              <a:t> </a:t>
            </a:r>
            <a:r>
              <a:rPr lang="en-US" sz="2600" i="1" dirty="0" err="1" smtClean="0"/>
              <a:t>iniettata</a:t>
            </a:r>
            <a:r>
              <a:rPr lang="en-US" sz="2600" dirty="0" smtClean="0"/>
              <a:t> dal </a:t>
            </a:r>
            <a:r>
              <a:rPr lang="en-US" sz="2600" dirty="0" err="1" smtClean="0"/>
              <a:t>chiamante</a:t>
            </a:r>
            <a:r>
              <a:rPr lang="en-US" sz="2600" dirty="0"/>
              <a:t> </a:t>
            </a:r>
            <a:r>
              <a:rPr lang="en-US" sz="2600" dirty="0" err="1" smtClean="0"/>
              <a:t>attraverso</a:t>
            </a:r>
            <a:r>
              <a:rPr lang="en-US" sz="2600" dirty="0" smtClean="0"/>
              <a:t> </a:t>
            </a:r>
            <a:r>
              <a:rPr lang="en-US" sz="2600" dirty="0" err="1" smtClean="0"/>
              <a:t>il</a:t>
            </a:r>
            <a:r>
              <a:rPr lang="en-US" sz="2600" dirty="0" smtClean="0"/>
              <a:t> </a:t>
            </a:r>
            <a:r>
              <a:rPr lang="en-US" sz="2600" dirty="0" err="1" smtClean="0"/>
              <a:t>costruttore</a:t>
            </a:r>
            <a:r>
              <a:rPr lang="en-US" sz="2600" dirty="0" smtClean="0"/>
              <a:t> di </a:t>
            </a:r>
            <a:r>
              <a:rPr lang="en-US" sz="2600" i="1" dirty="0" smtClean="0"/>
              <a:t>A</a:t>
            </a:r>
            <a:r>
              <a:rPr lang="en-US" sz="2600" dirty="0" smtClean="0"/>
              <a:t>, per cui </a:t>
            </a:r>
            <a:r>
              <a:rPr lang="en-US" sz="2600" dirty="0" err="1" smtClean="0"/>
              <a:t>si</a:t>
            </a:r>
            <a:r>
              <a:rPr lang="en-US" sz="2600" dirty="0" smtClean="0"/>
              <a:t> </a:t>
            </a:r>
            <a:r>
              <a:rPr lang="en-US" sz="2600" dirty="0" err="1" smtClean="0"/>
              <a:t>parla</a:t>
            </a:r>
            <a:r>
              <a:rPr lang="en-US" sz="2600" dirty="0" smtClean="0"/>
              <a:t> di </a:t>
            </a:r>
          </a:p>
          <a:p>
            <a:pPr marL="0" indent="0" fontAlgn="base">
              <a:buNone/>
            </a:pPr>
            <a:r>
              <a:rPr lang="en-US" sz="2600" b="1" i="1" dirty="0" smtClean="0"/>
              <a:t>	constructor dependency injection</a:t>
            </a:r>
            <a:r>
              <a:rPr lang="en-US" sz="2600" dirty="0" smtClean="0"/>
              <a:t>:</a:t>
            </a:r>
            <a:endParaRPr lang="en-US" dirty="0"/>
          </a:p>
          <a:p>
            <a:pPr marL="0" indent="0" fontAlgn="base">
              <a:buNone/>
            </a:pPr>
            <a:endParaRPr lang="en-US" dirty="0" smtClean="0"/>
          </a:p>
          <a:p>
            <a:pPr marL="301943" lvl="1" indent="0" fontAlgn="base">
              <a:buNone/>
            </a:pPr>
            <a:r>
              <a:rPr lang="en-US" sz="1900" i="1" dirty="0" smtClean="0"/>
              <a:t>public </a:t>
            </a:r>
            <a:r>
              <a:rPr lang="en-US" sz="1900" i="1" dirty="0"/>
              <a:t>class A {</a:t>
            </a:r>
          </a:p>
          <a:p>
            <a:pPr marL="301943" lvl="1" indent="0" fontAlgn="base">
              <a:buNone/>
            </a:pPr>
            <a:r>
              <a:rPr lang="en-US" sz="1900" i="1" dirty="0"/>
              <a:t>    private B </a:t>
            </a:r>
            <a:r>
              <a:rPr lang="en-US" sz="1900" i="1" dirty="0" err="1"/>
              <a:t>oggettoB</a:t>
            </a:r>
            <a:r>
              <a:rPr lang="en-US" sz="1900" i="1" dirty="0"/>
              <a:t>;</a:t>
            </a:r>
          </a:p>
          <a:p>
            <a:pPr marL="301943" lvl="1" indent="0" fontAlgn="base">
              <a:buNone/>
            </a:pPr>
            <a:r>
              <a:rPr lang="en-US" sz="1900" i="1" dirty="0"/>
              <a:t>  </a:t>
            </a:r>
            <a:r>
              <a:rPr lang="en-US" sz="1900" i="1" dirty="0" smtClean="0"/>
              <a:t>  public A(B </a:t>
            </a:r>
            <a:r>
              <a:rPr lang="en-US" sz="1900" i="1" dirty="0" err="1" smtClean="0"/>
              <a:t>oggettoB</a:t>
            </a:r>
            <a:r>
              <a:rPr lang="en-US" sz="1900" i="1" dirty="0" smtClean="0"/>
              <a:t>) </a:t>
            </a:r>
            <a:r>
              <a:rPr lang="en-US" sz="1900" i="1" dirty="0"/>
              <a:t>{</a:t>
            </a:r>
          </a:p>
          <a:p>
            <a:pPr marL="301943" lvl="1" indent="0" fontAlgn="base">
              <a:buNone/>
            </a:pPr>
            <a:r>
              <a:rPr lang="en-US" sz="1900" i="1" dirty="0"/>
              <a:t>        </a:t>
            </a:r>
            <a:r>
              <a:rPr lang="en-US" sz="1900" i="1" dirty="0" err="1" smtClean="0"/>
              <a:t>this.oggettoB</a:t>
            </a:r>
            <a:r>
              <a:rPr lang="en-US" sz="1900" i="1" dirty="0" smtClean="0"/>
              <a:t> </a:t>
            </a:r>
            <a:r>
              <a:rPr lang="en-US" sz="1900" i="1" dirty="0"/>
              <a:t>= </a:t>
            </a:r>
            <a:r>
              <a:rPr lang="en-US" sz="1900" i="1" dirty="0" err="1" smtClean="0"/>
              <a:t>oggettoB</a:t>
            </a:r>
            <a:r>
              <a:rPr lang="en-US" sz="1900" i="1" dirty="0" smtClean="0"/>
              <a:t>;</a:t>
            </a:r>
            <a:r>
              <a:rPr lang="en-US" sz="1900" i="1" dirty="0"/>
              <a:t>    </a:t>
            </a:r>
          </a:p>
          <a:p>
            <a:pPr marL="301943" lvl="1" indent="0" fontAlgn="base">
              <a:buNone/>
            </a:pPr>
            <a:r>
              <a:rPr lang="en-US" sz="1900" i="1" dirty="0"/>
              <a:t>    }</a:t>
            </a:r>
          </a:p>
          <a:p>
            <a:pPr marL="301943" lvl="1" indent="0" fontAlgn="base">
              <a:buNone/>
            </a:pPr>
            <a:r>
              <a:rPr lang="en-US" sz="1900" i="1" dirty="0"/>
              <a:t>}</a:t>
            </a:r>
          </a:p>
          <a:p>
            <a:pPr lvl="1"/>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7</a:t>
            </a:fld>
            <a:endParaRPr lang="it-IT"/>
          </a:p>
        </p:txBody>
      </p:sp>
      <p:sp>
        <p:nvSpPr>
          <p:cNvPr id="4" name="Titolo 3"/>
          <p:cNvSpPr>
            <a:spLocks noGrp="1"/>
          </p:cNvSpPr>
          <p:nvPr>
            <p:ph type="title"/>
          </p:nvPr>
        </p:nvSpPr>
        <p:spPr/>
        <p:txBody>
          <a:bodyPr>
            <a:normAutofit fontScale="90000"/>
          </a:bodyPr>
          <a:lstStyle/>
          <a:p>
            <a:r>
              <a:rPr lang="it-IT" dirty="0" err="1" smtClean="0"/>
              <a:t>Dependency</a:t>
            </a:r>
            <a:r>
              <a:rPr lang="it-IT" dirty="0" smtClean="0"/>
              <a:t> </a:t>
            </a:r>
            <a:r>
              <a:rPr lang="it-IT" dirty="0" err="1" smtClean="0"/>
              <a:t>Injection</a:t>
            </a:r>
            <a:r>
              <a:rPr lang="it-IT" dirty="0" smtClean="0"/>
              <a:t> </a:t>
            </a:r>
            <a:br>
              <a:rPr lang="it-IT" dirty="0" smtClean="0"/>
            </a:br>
            <a:r>
              <a:rPr lang="it-IT" dirty="0" smtClean="0"/>
              <a:t>nel costruttore</a:t>
            </a:r>
            <a:endParaRPr lang="it-IT" dirty="0"/>
          </a:p>
        </p:txBody>
      </p:sp>
    </p:spTree>
    <p:extLst>
      <p:ext uri="{BB962C8B-B14F-4D97-AF65-F5344CB8AC3E}">
        <p14:creationId xmlns:p14="http://schemas.microsoft.com/office/powerpoint/2010/main" val="22935844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fontScale="92500" lnSpcReduction="20000"/>
          </a:bodyPr>
          <a:lstStyle/>
          <a:p>
            <a:pPr fontAlgn="base"/>
            <a:r>
              <a:rPr lang="en-US" sz="2800" dirty="0" err="1"/>
              <a:t>Nel</a:t>
            </a:r>
            <a:r>
              <a:rPr lang="en-US" sz="2800" dirty="0"/>
              <a:t> </a:t>
            </a:r>
            <a:r>
              <a:rPr lang="en-US" sz="2800" dirty="0" err="1"/>
              <a:t>seguente</a:t>
            </a:r>
            <a:r>
              <a:rPr lang="en-US" sz="2800" dirty="0"/>
              <a:t> </a:t>
            </a:r>
            <a:r>
              <a:rPr lang="en-US" sz="2800" dirty="0" err="1"/>
              <a:t>codice</a:t>
            </a:r>
            <a:r>
              <a:rPr lang="en-US" sz="2800" dirty="0"/>
              <a:t>, la </a:t>
            </a:r>
            <a:r>
              <a:rPr lang="en-US" sz="2800" dirty="0" err="1"/>
              <a:t>risoluzione</a:t>
            </a:r>
            <a:r>
              <a:rPr lang="en-US" sz="2800" dirty="0"/>
              <a:t> </a:t>
            </a:r>
            <a:r>
              <a:rPr lang="en-US" sz="2800" dirty="0" err="1"/>
              <a:t>della</a:t>
            </a:r>
            <a:r>
              <a:rPr lang="en-US" sz="2800" dirty="0"/>
              <a:t> </a:t>
            </a:r>
            <a:r>
              <a:rPr lang="en-US" sz="2800" i="1" dirty="0"/>
              <a:t>dependency</a:t>
            </a:r>
            <a:r>
              <a:rPr lang="en-US" sz="2800" dirty="0"/>
              <a:t> </a:t>
            </a:r>
            <a:r>
              <a:rPr lang="en-US" sz="2800" dirty="0" err="1"/>
              <a:t>viene</a:t>
            </a:r>
            <a:r>
              <a:rPr lang="en-US" sz="2800" dirty="0"/>
              <a:t> </a:t>
            </a:r>
            <a:r>
              <a:rPr lang="en-US" sz="2800" dirty="0" err="1"/>
              <a:t>fatta</a:t>
            </a:r>
            <a:r>
              <a:rPr lang="en-US" sz="2800" dirty="0"/>
              <a:t> </a:t>
            </a:r>
            <a:r>
              <a:rPr lang="en-US" sz="2800" dirty="0" err="1"/>
              <a:t>dall’esterno</a:t>
            </a:r>
            <a:r>
              <a:rPr lang="en-US" sz="2800" dirty="0"/>
              <a:t>; in </a:t>
            </a:r>
            <a:r>
              <a:rPr lang="en-US" sz="2800" dirty="0" err="1"/>
              <a:t>questo</a:t>
            </a:r>
            <a:r>
              <a:rPr lang="en-US" sz="2800" dirty="0"/>
              <a:t> </a:t>
            </a:r>
            <a:r>
              <a:rPr lang="en-US" sz="2800" dirty="0" err="1"/>
              <a:t>caso</a:t>
            </a:r>
            <a:r>
              <a:rPr lang="en-US" sz="2800" dirty="0"/>
              <a:t> </a:t>
            </a:r>
            <a:r>
              <a:rPr lang="en-US" sz="2800" dirty="0" smtClean="0"/>
              <a:t>la </a:t>
            </a:r>
            <a:r>
              <a:rPr lang="en-US" sz="2800" i="1" dirty="0"/>
              <a:t>dependency</a:t>
            </a:r>
            <a:r>
              <a:rPr lang="en-US" sz="2800" dirty="0"/>
              <a:t> </a:t>
            </a:r>
            <a:r>
              <a:rPr lang="en-US" sz="2800" dirty="0" err="1"/>
              <a:t>viene</a:t>
            </a:r>
            <a:r>
              <a:rPr lang="en-US" sz="2800" dirty="0"/>
              <a:t> </a:t>
            </a:r>
            <a:r>
              <a:rPr lang="en-US" sz="2800" i="1" dirty="0" err="1"/>
              <a:t>iniettata</a:t>
            </a:r>
            <a:r>
              <a:rPr lang="en-US" sz="2800" dirty="0"/>
              <a:t> dal </a:t>
            </a:r>
            <a:r>
              <a:rPr lang="en-US" sz="2800" dirty="0" err="1"/>
              <a:t>chiamante</a:t>
            </a:r>
            <a:r>
              <a:rPr lang="en-US" sz="2800" dirty="0"/>
              <a:t> </a:t>
            </a:r>
            <a:r>
              <a:rPr lang="en-US" sz="2800" dirty="0" err="1"/>
              <a:t>attraverso</a:t>
            </a:r>
            <a:r>
              <a:rPr lang="en-US" sz="2800" dirty="0"/>
              <a:t> </a:t>
            </a:r>
            <a:r>
              <a:rPr lang="en-US" sz="2800" dirty="0" err="1"/>
              <a:t>il</a:t>
            </a:r>
            <a:r>
              <a:rPr lang="en-US" sz="2800" dirty="0"/>
              <a:t> </a:t>
            </a:r>
            <a:r>
              <a:rPr lang="en-US" sz="2800" dirty="0" err="1" smtClean="0"/>
              <a:t>metodo</a:t>
            </a:r>
            <a:r>
              <a:rPr lang="en-US" sz="2800" dirty="0" smtClean="0"/>
              <a:t> </a:t>
            </a:r>
            <a:r>
              <a:rPr lang="en-US" sz="2800" i="1" dirty="0" err="1" smtClean="0"/>
              <a:t>setB</a:t>
            </a:r>
            <a:r>
              <a:rPr lang="en-US" sz="2800" dirty="0" smtClean="0"/>
              <a:t> </a:t>
            </a:r>
            <a:r>
              <a:rPr lang="en-US" sz="2800" dirty="0" err="1" smtClean="0"/>
              <a:t>della</a:t>
            </a:r>
            <a:r>
              <a:rPr lang="en-US" sz="2800" dirty="0" smtClean="0"/>
              <a:t> </a:t>
            </a:r>
            <a:r>
              <a:rPr lang="en-US" sz="2800" dirty="0" err="1" smtClean="0"/>
              <a:t>classe</a:t>
            </a:r>
            <a:r>
              <a:rPr lang="en-US" sz="2800" dirty="0" smtClean="0"/>
              <a:t> </a:t>
            </a:r>
            <a:r>
              <a:rPr lang="en-US" sz="2800" i="1" dirty="0" smtClean="0"/>
              <a:t>A</a:t>
            </a:r>
            <a:r>
              <a:rPr lang="en-US" sz="2800" dirty="0" smtClean="0"/>
              <a:t>, </a:t>
            </a:r>
            <a:r>
              <a:rPr lang="en-US" sz="2800" dirty="0"/>
              <a:t>per cui </a:t>
            </a:r>
            <a:r>
              <a:rPr lang="en-US" sz="2800" dirty="0" err="1"/>
              <a:t>si</a:t>
            </a:r>
            <a:r>
              <a:rPr lang="en-US" sz="2800" dirty="0"/>
              <a:t> </a:t>
            </a:r>
            <a:r>
              <a:rPr lang="en-US" sz="2800" dirty="0" err="1"/>
              <a:t>parla</a:t>
            </a:r>
            <a:r>
              <a:rPr lang="en-US" sz="2800" dirty="0"/>
              <a:t> di </a:t>
            </a:r>
          </a:p>
          <a:p>
            <a:pPr marL="0" indent="0" fontAlgn="base">
              <a:buNone/>
            </a:pPr>
            <a:r>
              <a:rPr lang="en-US" sz="2800" b="1" i="1" dirty="0"/>
              <a:t>	</a:t>
            </a:r>
            <a:r>
              <a:rPr lang="en-US" sz="2800" b="1" i="1" dirty="0" smtClean="0"/>
              <a:t>setter dependency </a:t>
            </a:r>
            <a:r>
              <a:rPr lang="en-US" sz="2800" b="1" i="1" dirty="0"/>
              <a:t>injection</a:t>
            </a:r>
            <a:r>
              <a:rPr lang="en-US" sz="2800" dirty="0"/>
              <a:t>:</a:t>
            </a:r>
          </a:p>
          <a:p>
            <a:pPr marL="0" indent="0" fontAlgn="base">
              <a:buNone/>
            </a:pPr>
            <a:endParaRPr lang="en-US" sz="1800" i="1" dirty="0"/>
          </a:p>
          <a:p>
            <a:pPr marL="301943" lvl="1" indent="0" fontAlgn="base">
              <a:buNone/>
            </a:pPr>
            <a:r>
              <a:rPr lang="en-US" sz="1900" i="1" dirty="0" smtClean="0"/>
              <a:t>public </a:t>
            </a:r>
            <a:r>
              <a:rPr lang="en-US" sz="1900" i="1" dirty="0"/>
              <a:t>class A {</a:t>
            </a:r>
          </a:p>
          <a:p>
            <a:pPr marL="301943" lvl="1" indent="0" fontAlgn="base">
              <a:buNone/>
            </a:pPr>
            <a:r>
              <a:rPr lang="en-US" sz="1900" i="1" dirty="0"/>
              <a:t>    private B </a:t>
            </a:r>
            <a:r>
              <a:rPr lang="en-US" sz="1900" i="1" dirty="0" err="1"/>
              <a:t>oggettoB</a:t>
            </a:r>
            <a:r>
              <a:rPr lang="en-US" sz="1900" i="1" dirty="0"/>
              <a:t>;</a:t>
            </a:r>
          </a:p>
          <a:p>
            <a:pPr marL="301943" lvl="1" indent="0" fontAlgn="base">
              <a:buNone/>
            </a:pPr>
            <a:r>
              <a:rPr lang="en-US" sz="1900" i="1" dirty="0"/>
              <a:t>  </a:t>
            </a:r>
            <a:r>
              <a:rPr lang="en-US" sz="1900" i="1" dirty="0" smtClean="0"/>
              <a:t>  public void </a:t>
            </a:r>
            <a:r>
              <a:rPr lang="en-US" sz="1900" i="1" dirty="0" err="1" smtClean="0"/>
              <a:t>setB</a:t>
            </a:r>
            <a:r>
              <a:rPr lang="en-US" sz="1900" i="1" dirty="0" smtClean="0"/>
              <a:t>(B </a:t>
            </a:r>
            <a:r>
              <a:rPr lang="en-US" sz="1900" i="1" dirty="0" err="1" smtClean="0"/>
              <a:t>obj</a:t>
            </a:r>
            <a:r>
              <a:rPr lang="en-US" sz="1900" i="1" dirty="0" smtClean="0"/>
              <a:t>){</a:t>
            </a:r>
          </a:p>
          <a:p>
            <a:pPr marL="301943" lvl="1" indent="0" fontAlgn="base">
              <a:buNone/>
            </a:pPr>
            <a:r>
              <a:rPr lang="en-US" sz="1900" i="1" dirty="0"/>
              <a:t>	</a:t>
            </a:r>
            <a:r>
              <a:rPr lang="en-US" sz="1900" i="1" dirty="0" err="1" smtClean="0"/>
              <a:t>this.oggettoB</a:t>
            </a:r>
            <a:r>
              <a:rPr lang="en-US" sz="1900" i="1" dirty="0" smtClean="0"/>
              <a:t> = </a:t>
            </a:r>
            <a:r>
              <a:rPr lang="en-US" sz="1900" i="1" dirty="0" err="1" smtClean="0"/>
              <a:t>obj</a:t>
            </a:r>
            <a:r>
              <a:rPr lang="en-US" sz="1900" i="1" dirty="0" smtClean="0"/>
              <a:t>;</a:t>
            </a:r>
          </a:p>
          <a:p>
            <a:pPr marL="301943" lvl="1" indent="0" fontAlgn="base">
              <a:buNone/>
            </a:pPr>
            <a:r>
              <a:rPr lang="en-US" sz="1900" i="1" dirty="0" smtClean="0"/>
              <a:t>    }</a:t>
            </a:r>
            <a:r>
              <a:rPr lang="en-US" sz="1900" i="1" dirty="0"/>
              <a:t>	</a:t>
            </a:r>
          </a:p>
          <a:p>
            <a:pPr marL="301943" lvl="1" indent="0" fontAlgn="base">
              <a:buNone/>
            </a:pPr>
            <a:r>
              <a:rPr lang="en-US" sz="1900" i="1" dirty="0"/>
              <a:t>}</a:t>
            </a:r>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8</a:t>
            </a:fld>
            <a:endParaRPr lang="it-IT"/>
          </a:p>
        </p:txBody>
      </p:sp>
      <p:sp>
        <p:nvSpPr>
          <p:cNvPr id="4" name="Titolo 3"/>
          <p:cNvSpPr>
            <a:spLocks noGrp="1"/>
          </p:cNvSpPr>
          <p:nvPr>
            <p:ph type="title"/>
          </p:nvPr>
        </p:nvSpPr>
        <p:spPr/>
        <p:txBody>
          <a:bodyPr>
            <a:normAutofit fontScale="90000"/>
          </a:bodyPr>
          <a:lstStyle/>
          <a:p>
            <a:r>
              <a:rPr lang="it-IT" dirty="0" err="1" smtClean="0"/>
              <a:t>Dependency</a:t>
            </a:r>
            <a:r>
              <a:rPr lang="it-IT" dirty="0" smtClean="0"/>
              <a:t> </a:t>
            </a:r>
            <a:r>
              <a:rPr lang="it-IT" dirty="0" err="1" smtClean="0"/>
              <a:t>Injection</a:t>
            </a:r>
            <a:r>
              <a:rPr lang="it-IT" dirty="0" smtClean="0"/>
              <a:t> </a:t>
            </a:r>
            <a:br>
              <a:rPr lang="it-IT" dirty="0" smtClean="0"/>
            </a:br>
            <a:r>
              <a:rPr lang="it-IT" dirty="0" smtClean="0"/>
              <a:t>tramite metodo «setter»</a:t>
            </a:r>
            <a:endParaRPr lang="it-IT" dirty="0"/>
          </a:p>
        </p:txBody>
      </p:sp>
    </p:spTree>
    <p:extLst>
      <p:ext uri="{BB962C8B-B14F-4D97-AF65-F5344CB8AC3E}">
        <p14:creationId xmlns:p14="http://schemas.microsoft.com/office/powerpoint/2010/main" val="15062241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16832"/>
            <a:ext cx="7408333" cy="4209331"/>
          </a:xfrm>
        </p:spPr>
        <p:txBody>
          <a:bodyPr/>
          <a:lstStyle/>
          <a:p>
            <a:r>
              <a:rPr lang="it-IT" dirty="0" smtClean="0"/>
              <a:t>Quando il codice di una classe è scritto in modo che le </a:t>
            </a:r>
            <a:r>
              <a:rPr lang="it-IT" i="1" dirty="0" err="1" smtClean="0"/>
              <a:t>dependency</a:t>
            </a:r>
            <a:r>
              <a:rPr lang="it-IT" dirty="0" smtClean="0"/>
              <a:t> non siano </a:t>
            </a:r>
            <a:r>
              <a:rPr lang="it-IT" i="1" dirty="0" smtClean="0"/>
              <a:t>cablate</a:t>
            </a:r>
            <a:r>
              <a:rPr lang="it-IT" dirty="0" smtClean="0"/>
              <a:t> ma possano essere </a:t>
            </a:r>
            <a:r>
              <a:rPr lang="it-IT" i="1" dirty="0" smtClean="0"/>
              <a:t>iniettate </a:t>
            </a:r>
            <a:r>
              <a:rPr lang="it-IT" dirty="0" smtClean="0"/>
              <a:t>dall’esterno, si parla di </a:t>
            </a:r>
            <a:r>
              <a:rPr lang="it-IT" i="1" dirty="0" err="1" smtClean="0"/>
              <a:t>Inversion</a:t>
            </a:r>
            <a:r>
              <a:rPr lang="it-IT" i="1" dirty="0" smtClean="0"/>
              <a:t> Of Control, </a:t>
            </a:r>
            <a:r>
              <a:rPr lang="it-IT" dirty="0" smtClean="0"/>
              <a:t>e l’</a:t>
            </a:r>
            <a:r>
              <a:rPr lang="it-IT" i="1" dirty="0" smtClean="0"/>
              <a:t>iniezione</a:t>
            </a:r>
            <a:r>
              <a:rPr lang="it-IT" dirty="0" smtClean="0"/>
              <a:t> delle </a:t>
            </a:r>
            <a:r>
              <a:rPr lang="it-IT" i="1" dirty="0" err="1" smtClean="0"/>
              <a:t>dependency</a:t>
            </a:r>
            <a:r>
              <a:rPr lang="it-IT" i="1" dirty="0" smtClean="0"/>
              <a:t> </a:t>
            </a:r>
            <a:r>
              <a:rPr lang="it-IT" dirty="0" smtClean="0"/>
              <a:t>può quindi essere demandata ad un </a:t>
            </a:r>
            <a:r>
              <a:rPr lang="it-IT" i="1" dirty="0" err="1" smtClean="0"/>
              <a:t>framework</a:t>
            </a:r>
            <a:r>
              <a:rPr lang="it-IT" i="1" dirty="0" smtClean="0"/>
              <a:t> </a:t>
            </a:r>
            <a:r>
              <a:rPr lang="it-IT" dirty="0" smtClean="0"/>
              <a:t>o</a:t>
            </a:r>
            <a:r>
              <a:rPr lang="it-IT" i="1" dirty="0" smtClean="0"/>
              <a:t> </a:t>
            </a:r>
            <a:r>
              <a:rPr lang="it-IT" i="1" dirty="0" err="1" smtClean="0"/>
              <a:t>IoC</a:t>
            </a:r>
            <a:r>
              <a:rPr lang="it-IT" i="1" dirty="0" smtClean="0"/>
              <a:t> container, </a:t>
            </a:r>
            <a:r>
              <a:rPr lang="it-IT" dirty="0" smtClean="0"/>
              <a:t>nel caso di Spring, è il modulo base </a:t>
            </a:r>
            <a:r>
              <a:rPr lang="it-IT" i="1" dirty="0" smtClean="0"/>
              <a:t>Spring </a:t>
            </a:r>
            <a:r>
              <a:rPr lang="it-IT" i="1" dirty="0" err="1" smtClean="0"/>
              <a:t>IoC</a:t>
            </a:r>
            <a:r>
              <a:rPr lang="it-IT" i="1" dirty="0" smtClean="0"/>
              <a:t> container</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9</a:t>
            </a:fld>
            <a:endParaRPr lang="it-IT"/>
          </a:p>
        </p:txBody>
      </p:sp>
      <p:sp>
        <p:nvSpPr>
          <p:cNvPr id="4" name="Titolo 3"/>
          <p:cNvSpPr>
            <a:spLocks noGrp="1"/>
          </p:cNvSpPr>
          <p:nvPr>
            <p:ph type="title"/>
          </p:nvPr>
        </p:nvSpPr>
        <p:spPr/>
        <p:txBody>
          <a:bodyPr/>
          <a:lstStyle/>
          <a:p>
            <a:r>
              <a:rPr lang="it-IT" dirty="0" smtClean="0"/>
              <a:t>D.I., </a:t>
            </a:r>
            <a:r>
              <a:rPr lang="it-IT" dirty="0" err="1" smtClean="0"/>
              <a:t>IoC</a:t>
            </a:r>
            <a:r>
              <a:rPr lang="it-IT" dirty="0" smtClean="0"/>
              <a:t> e Spring </a:t>
            </a:r>
            <a:r>
              <a:rPr lang="it-IT" dirty="0" err="1" smtClean="0"/>
              <a:t>IoC</a:t>
            </a:r>
            <a:r>
              <a:rPr lang="it-IT" dirty="0" smtClean="0"/>
              <a:t> container</a:t>
            </a:r>
            <a:endParaRPr lang="it-IT" dirty="0"/>
          </a:p>
        </p:txBody>
      </p:sp>
    </p:spTree>
    <p:extLst>
      <p:ext uri="{BB962C8B-B14F-4D97-AF65-F5344CB8AC3E}">
        <p14:creationId xmlns:p14="http://schemas.microsoft.com/office/powerpoint/2010/main" val="2072894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a:bodyPr>
          <a:lstStyle/>
          <a:p>
            <a:r>
              <a:rPr lang="it-IT" dirty="0" smtClean="0"/>
              <a:t>Per usare il modulo </a:t>
            </a:r>
            <a:r>
              <a:rPr lang="it-IT" dirty="0" err="1" smtClean="0"/>
              <a:t>IoC</a:t>
            </a:r>
            <a:r>
              <a:rPr lang="it-IT" dirty="0" smtClean="0"/>
              <a:t> di Spring, da cui dipendono tutti  altri moduli di Spring, ci serviranno le seguenti librerie:</a:t>
            </a:r>
          </a:p>
          <a:p>
            <a:pPr lvl="1"/>
            <a:r>
              <a:rPr lang="it-IT" dirty="0" err="1" smtClean="0"/>
              <a:t>spring-aop</a:t>
            </a:r>
            <a:endParaRPr lang="it-IT" dirty="0" smtClean="0"/>
          </a:p>
          <a:p>
            <a:pPr lvl="1"/>
            <a:r>
              <a:rPr lang="it-IT" dirty="0" err="1" smtClean="0"/>
              <a:t>spring-beans</a:t>
            </a:r>
            <a:endParaRPr lang="it-IT" dirty="0" smtClean="0"/>
          </a:p>
          <a:p>
            <a:pPr lvl="1"/>
            <a:r>
              <a:rPr lang="it-IT" dirty="0" err="1" smtClean="0"/>
              <a:t>spring-context</a:t>
            </a:r>
            <a:endParaRPr lang="it-IT" dirty="0" smtClean="0"/>
          </a:p>
          <a:p>
            <a:pPr lvl="1"/>
            <a:r>
              <a:rPr lang="it-IT" dirty="0" err="1" smtClean="0"/>
              <a:t>spring</a:t>
            </a:r>
            <a:r>
              <a:rPr lang="it-IT" dirty="0" smtClean="0"/>
              <a:t>-core</a:t>
            </a:r>
          </a:p>
          <a:p>
            <a:pPr lvl="1"/>
            <a:r>
              <a:rPr lang="it-IT" dirty="0" err="1" smtClean="0"/>
              <a:t>spring-expression</a:t>
            </a:r>
            <a:endParaRPr lang="it-IT" dirty="0" smtClean="0"/>
          </a:p>
          <a:p>
            <a:pPr lvl="1"/>
            <a:r>
              <a:rPr lang="it-IT" dirty="0" err="1" smtClean="0"/>
              <a:t>spring-jcl</a:t>
            </a:r>
            <a:endParaRPr lang="it-IT" dirty="0" smtClean="0"/>
          </a:p>
          <a:p>
            <a:pPr lvl="1"/>
            <a:endParaRPr lang="it-IT" dirty="0"/>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10</a:t>
            </a:fld>
            <a:endParaRPr lang="it-IT"/>
          </a:p>
        </p:txBody>
      </p:sp>
      <p:sp>
        <p:nvSpPr>
          <p:cNvPr id="4" name="Titolo 3"/>
          <p:cNvSpPr>
            <a:spLocks noGrp="1"/>
          </p:cNvSpPr>
          <p:nvPr>
            <p:ph type="title"/>
          </p:nvPr>
        </p:nvSpPr>
        <p:spPr/>
        <p:txBody>
          <a:bodyPr/>
          <a:lstStyle/>
          <a:p>
            <a:r>
              <a:rPr lang="it-IT" dirty="0" smtClean="0"/>
              <a:t>Librerie necessarie</a:t>
            </a:r>
            <a:endParaRPr lang="it-IT" dirty="0"/>
          </a:p>
        </p:txBody>
      </p:sp>
    </p:spTree>
    <p:extLst>
      <p:ext uri="{BB962C8B-B14F-4D97-AF65-F5344CB8AC3E}">
        <p14:creationId xmlns:p14="http://schemas.microsoft.com/office/powerpoint/2010/main" val="2621329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772816"/>
            <a:ext cx="7408333" cy="4353347"/>
          </a:xfrm>
        </p:spPr>
        <p:txBody>
          <a:bodyPr>
            <a:normAutofit/>
          </a:bodyPr>
          <a:lstStyle/>
          <a:p>
            <a:endParaRPr lang="it-IT" smtClean="0"/>
          </a:p>
          <a:p>
            <a:r>
              <a:rPr lang="it-IT" smtClean="0"/>
              <a:t>Le </a:t>
            </a:r>
            <a:r>
              <a:rPr lang="it-IT" dirty="0" smtClean="0"/>
              <a:t>interfacce base che specificano come debba essere implementato l’</a:t>
            </a:r>
            <a:r>
              <a:rPr lang="it-IT" i="1" dirty="0" err="1" smtClean="0"/>
              <a:t>IoC</a:t>
            </a:r>
            <a:r>
              <a:rPr lang="it-IT" i="1" dirty="0" smtClean="0"/>
              <a:t> container</a:t>
            </a:r>
            <a:r>
              <a:rPr lang="it-IT" dirty="0" smtClean="0"/>
              <a:t> in Spring sono </a:t>
            </a:r>
            <a:r>
              <a:rPr lang="it-IT" i="1" dirty="0" err="1" smtClean="0"/>
              <a:t>BeanFactory</a:t>
            </a:r>
            <a:r>
              <a:rPr lang="it-IT" dirty="0" smtClean="0"/>
              <a:t> e </a:t>
            </a:r>
            <a:r>
              <a:rPr lang="it-IT" i="1" dirty="0" err="1" smtClean="0"/>
              <a:t>ApplicationContext</a:t>
            </a:r>
            <a:endParaRPr lang="it-IT" i="1" dirty="0" smtClean="0"/>
          </a:p>
          <a:p>
            <a:r>
              <a:rPr lang="it-IT" dirty="0" smtClean="0"/>
              <a:t>A noi interesserà usare </a:t>
            </a:r>
            <a:r>
              <a:rPr lang="it-IT" i="1" dirty="0" err="1" smtClean="0"/>
              <a:t>ApplicationContext</a:t>
            </a:r>
            <a:r>
              <a:rPr lang="it-IT" dirty="0" smtClean="0"/>
              <a:t> che, in quanto </a:t>
            </a:r>
            <a:r>
              <a:rPr lang="it-IT" i="1" dirty="0" smtClean="0"/>
              <a:t>figlia</a:t>
            </a:r>
            <a:r>
              <a:rPr lang="it-IT" dirty="0" smtClean="0"/>
              <a:t> di </a:t>
            </a:r>
            <a:r>
              <a:rPr lang="it-IT" i="1" dirty="0" err="1" smtClean="0"/>
              <a:t>BeanFactory</a:t>
            </a:r>
            <a:r>
              <a:rPr lang="it-IT" dirty="0" smtClean="0"/>
              <a:t>, aggiunge ulteriori funzionalità alla prima</a:t>
            </a:r>
          </a:p>
          <a:p>
            <a:r>
              <a:rPr lang="it-IT" dirty="0" smtClean="0"/>
              <a:t>In particolare ci interesserà usare:</a:t>
            </a:r>
          </a:p>
          <a:p>
            <a:pPr lvl="1"/>
            <a:r>
              <a:rPr lang="it-IT" i="1" dirty="0" err="1" smtClean="0"/>
              <a:t>AnnotationConfigApplicationContext</a:t>
            </a:r>
            <a:endParaRPr lang="it-IT"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11</a:t>
            </a:fld>
            <a:endParaRPr lang="it-IT"/>
          </a:p>
        </p:txBody>
      </p:sp>
      <p:sp>
        <p:nvSpPr>
          <p:cNvPr id="4" name="Titolo 3"/>
          <p:cNvSpPr>
            <a:spLocks noGrp="1"/>
          </p:cNvSpPr>
          <p:nvPr>
            <p:ph type="title"/>
          </p:nvPr>
        </p:nvSpPr>
        <p:spPr/>
        <p:txBody>
          <a:bodyPr/>
          <a:lstStyle/>
          <a:p>
            <a:r>
              <a:rPr lang="it-IT" i="1" dirty="0" err="1" smtClean="0"/>
              <a:t>BeanFactory</a:t>
            </a:r>
            <a:r>
              <a:rPr lang="it-IT" i="1" dirty="0" smtClean="0"/>
              <a:t> </a:t>
            </a:r>
            <a:r>
              <a:rPr lang="it-IT" dirty="0" smtClean="0"/>
              <a:t>e </a:t>
            </a:r>
            <a:r>
              <a:rPr lang="it-IT" i="1" dirty="0" err="1" smtClean="0"/>
              <a:t>ApplicationContext</a:t>
            </a:r>
            <a:endParaRPr lang="it-IT" i="1" dirty="0"/>
          </a:p>
        </p:txBody>
      </p:sp>
    </p:spTree>
    <p:extLst>
      <p:ext uri="{BB962C8B-B14F-4D97-AF65-F5344CB8AC3E}">
        <p14:creationId xmlns:p14="http://schemas.microsoft.com/office/powerpoint/2010/main" val="36577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348880"/>
            <a:ext cx="7408333" cy="3777283"/>
          </a:xfrm>
        </p:spPr>
        <p:txBody>
          <a:bodyPr>
            <a:normAutofit fontScale="92500"/>
          </a:bodyPr>
          <a:lstStyle/>
          <a:p>
            <a:r>
              <a:rPr lang="it-IT" dirty="0" smtClean="0"/>
              <a:t>L’</a:t>
            </a:r>
            <a:r>
              <a:rPr lang="it-IT" i="1" dirty="0" err="1" smtClean="0"/>
              <a:t>ApplicationContext</a:t>
            </a:r>
            <a:r>
              <a:rPr lang="it-IT" dirty="0" smtClean="0"/>
              <a:t> di Spring, e più precisamente le implementazioni concrete che useremo (in particolar modo </a:t>
            </a:r>
            <a:r>
              <a:rPr lang="it-IT" i="1" dirty="0" err="1" smtClean="0"/>
              <a:t>AnnotationConfigApplicationContext</a:t>
            </a:r>
            <a:r>
              <a:rPr lang="it-IT" dirty="0" smtClean="0"/>
              <a:t>) rappresentano quindi il modo in cui Spring realizza il concetto di </a:t>
            </a:r>
            <a:r>
              <a:rPr lang="it-IT" i="1" dirty="0" err="1" smtClean="0"/>
              <a:t>IoC</a:t>
            </a:r>
            <a:r>
              <a:rPr lang="it-IT" i="1" dirty="0" smtClean="0"/>
              <a:t> container</a:t>
            </a:r>
            <a:r>
              <a:rPr lang="it-IT" dirty="0" smtClean="0"/>
              <a:t> e pertanto sono le classi che principalmente servono a istanziare oggetti della nostra applicazione (chiamati </a:t>
            </a:r>
            <a:r>
              <a:rPr lang="it-IT" i="1" dirty="0" err="1" smtClean="0"/>
              <a:t>bean</a:t>
            </a:r>
            <a:r>
              <a:rPr lang="it-IT" i="1" dirty="0" smtClean="0"/>
              <a:t> </a:t>
            </a:r>
            <a:r>
              <a:rPr lang="it-IT" dirty="0" smtClean="0"/>
              <a:t>in terminologia Spring), risolvendo le </a:t>
            </a:r>
            <a:r>
              <a:rPr lang="it-IT" i="1" dirty="0" err="1" smtClean="0"/>
              <a:t>dependency</a:t>
            </a:r>
            <a:r>
              <a:rPr lang="it-IT" dirty="0" smtClean="0"/>
              <a:t> tra di essi</a:t>
            </a:r>
          </a:p>
          <a:p>
            <a:r>
              <a:rPr lang="it-IT" dirty="0" smtClean="0"/>
              <a:t>Chiaramente non tutti gli oggetti della nostra applicazione dovranno essere istanziati tramite l’</a:t>
            </a:r>
            <a:r>
              <a:rPr lang="it-IT" i="1" dirty="0" err="1" smtClean="0"/>
              <a:t>IoC</a:t>
            </a:r>
            <a:r>
              <a:rPr lang="it-IT" dirty="0" smtClean="0"/>
              <a:t> </a:t>
            </a:r>
            <a:r>
              <a:rPr lang="it-IT" i="1" dirty="0" smtClean="0"/>
              <a:t>container</a:t>
            </a:r>
            <a:r>
              <a:rPr lang="it-IT" dirty="0" smtClean="0"/>
              <a:t> di Spring</a:t>
            </a:r>
            <a:endParaRPr lang="it-IT"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12</a:t>
            </a:fld>
            <a:endParaRPr lang="it-IT"/>
          </a:p>
        </p:txBody>
      </p:sp>
      <p:sp>
        <p:nvSpPr>
          <p:cNvPr id="4" name="Titolo 3"/>
          <p:cNvSpPr>
            <a:spLocks noGrp="1"/>
          </p:cNvSpPr>
          <p:nvPr>
            <p:ph type="title"/>
          </p:nvPr>
        </p:nvSpPr>
        <p:spPr/>
        <p:txBody>
          <a:bodyPr/>
          <a:lstStyle/>
          <a:p>
            <a:r>
              <a:rPr lang="it-IT" dirty="0" smtClean="0"/>
              <a:t>L’</a:t>
            </a:r>
            <a:r>
              <a:rPr lang="it-IT" dirty="0" err="1" smtClean="0"/>
              <a:t>ApplicationContext</a:t>
            </a:r>
            <a:r>
              <a:rPr lang="it-IT" dirty="0" smtClean="0"/>
              <a:t> di Spring</a:t>
            </a:r>
            <a:endParaRPr lang="it-IT" dirty="0"/>
          </a:p>
        </p:txBody>
      </p:sp>
    </p:spTree>
    <p:extLst>
      <p:ext uri="{BB962C8B-B14F-4D97-AF65-F5344CB8AC3E}">
        <p14:creationId xmlns:p14="http://schemas.microsoft.com/office/powerpoint/2010/main" val="1951854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276872"/>
            <a:ext cx="7408333" cy="3849291"/>
          </a:xfrm>
        </p:spPr>
        <p:txBody>
          <a:bodyPr/>
          <a:lstStyle/>
          <a:p>
            <a:endParaRPr lang="it-IT" dirty="0" smtClean="0"/>
          </a:p>
          <a:p>
            <a:r>
              <a:rPr lang="it-IT" dirty="0" err="1" smtClean="0"/>
              <a:t>Pre</a:t>
            </a:r>
            <a:r>
              <a:rPr lang="it-IT" dirty="0" smtClean="0"/>
              <a:t>-requisito: scrivere il codice delle classi Java in modo da rispettare il pattern </a:t>
            </a:r>
            <a:r>
              <a:rPr lang="it-IT" dirty="0" err="1" smtClean="0"/>
              <a:t>IoC</a:t>
            </a:r>
            <a:endParaRPr lang="it-IT" dirty="0" smtClean="0"/>
          </a:p>
          <a:p>
            <a:r>
              <a:rPr lang="it-IT" dirty="0" smtClean="0"/>
              <a:t>E poi</a:t>
            </a:r>
          </a:p>
          <a:p>
            <a:pPr lvl="1"/>
            <a:r>
              <a:rPr lang="it-IT" dirty="0" smtClean="0"/>
              <a:t>Uso delle Java </a:t>
            </a:r>
            <a:r>
              <a:rPr lang="it-IT" dirty="0" err="1" smtClean="0"/>
              <a:t>annotation</a:t>
            </a:r>
            <a:r>
              <a:rPr lang="it-IT" dirty="0" smtClean="0"/>
              <a:t> e della classe «</a:t>
            </a:r>
            <a:r>
              <a:rPr lang="it-IT" dirty="0" err="1" smtClean="0"/>
              <a:t>AnnotationConfigApplicationContext</a:t>
            </a:r>
            <a:r>
              <a:rPr lang="it-IT" dirty="0" smtClean="0"/>
              <a:t>» di Spring</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13</a:t>
            </a:fld>
            <a:endParaRPr lang="it-IT"/>
          </a:p>
        </p:txBody>
      </p:sp>
      <p:sp>
        <p:nvSpPr>
          <p:cNvPr id="4" name="Titolo 3"/>
          <p:cNvSpPr>
            <a:spLocks noGrp="1"/>
          </p:cNvSpPr>
          <p:nvPr>
            <p:ph type="title"/>
          </p:nvPr>
        </p:nvSpPr>
        <p:spPr/>
        <p:txBody>
          <a:bodyPr/>
          <a:lstStyle/>
          <a:p>
            <a:r>
              <a:rPr lang="it-IT" dirty="0" err="1" smtClean="0"/>
              <a:t>Dependency</a:t>
            </a:r>
            <a:r>
              <a:rPr lang="it-IT" dirty="0" smtClean="0"/>
              <a:t> </a:t>
            </a:r>
            <a:r>
              <a:rPr lang="it-IT" dirty="0" err="1" smtClean="0"/>
              <a:t>Injection</a:t>
            </a:r>
            <a:r>
              <a:rPr lang="it-IT" dirty="0" smtClean="0"/>
              <a:t> in Spring</a:t>
            </a:r>
            <a:endParaRPr lang="it-IT" dirty="0"/>
          </a:p>
        </p:txBody>
      </p:sp>
    </p:spTree>
    <p:extLst>
      <p:ext uri="{BB962C8B-B14F-4D97-AF65-F5344CB8AC3E}">
        <p14:creationId xmlns:p14="http://schemas.microsoft.com/office/powerpoint/2010/main" val="21795189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772816"/>
            <a:ext cx="7408333" cy="4353347"/>
          </a:xfrm>
        </p:spPr>
        <p:txBody>
          <a:bodyPr>
            <a:normAutofit fontScale="85000" lnSpcReduction="10000"/>
          </a:bodyPr>
          <a:lstStyle/>
          <a:p>
            <a:pPr marL="0" indent="0">
              <a:buNone/>
            </a:pPr>
            <a:r>
              <a:rPr lang="it-IT" sz="1800" i="1" dirty="0" smtClean="0"/>
              <a:t>public </a:t>
            </a:r>
            <a:r>
              <a:rPr lang="it-IT" sz="1800" i="1" dirty="0" err="1" smtClean="0"/>
              <a:t>class</a:t>
            </a:r>
            <a:r>
              <a:rPr lang="it-IT" sz="1800" i="1" dirty="0" smtClean="0"/>
              <a:t> Persona</a:t>
            </a:r>
          </a:p>
          <a:p>
            <a:pPr marL="0" indent="0">
              <a:buNone/>
            </a:pPr>
            <a:r>
              <a:rPr lang="it-IT" sz="1800" i="1" dirty="0" smtClean="0"/>
              <a:t>{</a:t>
            </a:r>
          </a:p>
          <a:p>
            <a:pPr marL="0" indent="0">
              <a:buNone/>
            </a:pPr>
            <a:r>
              <a:rPr lang="it-IT" sz="1800" i="1" dirty="0" smtClean="0"/>
              <a:t>	private </a:t>
            </a:r>
            <a:r>
              <a:rPr lang="it-IT" sz="1800" i="1" dirty="0" err="1" smtClean="0"/>
              <a:t>Integer</a:t>
            </a:r>
            <a:r>
              <a:rPr lang="it-IT" sz="1800" i="1" dirty="0" smtClean="0"/>
              <a:t> id = </a:t>
            </a:r>
            <a:r>
              <a:rPr lang="it-IT" sz="1800" i="1" dirty="0" err="1" smtClean="0"/>
              <a:t>null</a:t>
            </a:r>
            <a:r>
              <a:rPr lang="it-IT" sz="1800" i="1" dirty="0" smtClean="0"/>
              <a:t>;</a:t>
            </a:r>
          </a:p>
          <a:p>
            <a:pPr marL="0" indent="0">
              <a:buNone/>
            </a:pPr>
            <a:r>
              <a:rPr lang="it-IT" sz="1800" i="1" dirty="0" smtClean="0"/>
              <a:t>	private </a:t>
            </a:r>
            <a:r>
              <a:rPr lang="it-IT" sz="1800" i="1" dirty="0" err="1" smtClean="0"/>
              <a:t>String</a:t>
            </a:r>
            <a:r>
              <a:rPr lang="it-IT" sz="1800" i="1" dirty="0" smtClean="0"/>
              <a:t> nome = </a:t>
            </a:r>
            <a:r>
              <a:rPr lang="it-IT" sz="1800" i="1" dirty="0" err="1" smtClean="0"/>
              <a:t>null</a:t>
            </a:r>
            <a:r>
              <a:rPr lang="it-IT" sz="1800" i="1" dirty="0" smtClean="0"/>
              <a:t>;</a:t>
            </a:r>
          </a:p>
          <a:p>
            <a:pPr marL="0" indent="0">
              <a:buNone/>
            </a:pPr>
            <a:r>
              <a:rPr lang="it-IT" sz="1800" i="1" dirty="0" smtClean="0"/>
              <a:t>	private </a:t>
            </a:r>
            <a:r>
              <a:rPr lang="it-IT" sz="1800" i="1" dirty="0" err="1" smtClean="0"/>
              <a:t>String</a:t>
            </a:r>
            <a:r>
              <a:rPr lang="it-IT" sz="1800" i="1" dirty="0" smtClean="0"/>
              <a:t> cognome = </a:t>
            </a:r>
            <a:r>
              <a:rPr lang="it-IT" sz="1800" i="1" dirty="0" err="1" smtClean="0"/>
              <a:t>null</a:t>
            </a:r>
            <a:r>
              <a:rPr lang="it-IT" sz="1800" i="1" dirty="0" smtClean="0"/>
              <a:t>;</a:t>
            </a:r>
          </a:p>
          <a:p>
            <a:pPr marL="0" indent="0">
              <a:buNone/>
            </a:pPr>
            <a:r>
              <a:rPr lang="it-IT" sz="1800" dirty="0" smtClean="0"/>
              <a:t>	</a:t>
            </a:r>
          </a:p>
          <a:p>
            <a:pPr marL="0" indent="0">
              <a:buNone/>
            </a:pPr>
            <a:r>
              <a:rPr lang="it-IT" sz="1800" dirty="0"/>
              <a:t>	</a:t>
            </a:r>
            <a:r>
              <a:rPr lang="it-IT" sz="1800" dirty="0" smtClean="0"/>
              <a:t>public </a:t>
            </a:r>
            <a:r>
              <a:rPr lang="it-IT" sz="1800" dirty="0"/>
              <a:t>Persona</a:t>
            </a:r>
            <a:r>
              <a:rPr lang="it-IT" sz="1800" dirty="0" smtClean="0"/>
              <a:t>(){</a:t>
            </a:r>
          </a:p>
          <a:p>
            <a:pPr marL="0" indent="0">
              <a:buNone/>
            </a:pPr>
            <a:r>
              <a:rPr lang="it-IT" sz="1800" dirty="0"/>
              <a:t>	</a:t>
            </a:r>
            <a:r>
              <a:rPr lang="it-IT" sz="1800" dirty="0" smtClean="0"/>
              <a:t>}</a:t>
            </a:r>
            <a:endParaRPr lang="it-IT" sz="1800" dirty="0"/>
          </a:p>
          <a:p>
            <a:pPr marL="0" indent="0">
              <a:buNone/>
            </a:pPr>
            <a:endParaRPr lang="it-IT" sz="1800" i="1" dirty="0" smtClean="0"/>
          </a:p>
          <a:p>
            <a:pPr marL="0" indent="0">
              <a:buNone/>
            </a:pPr>
            <a:r>
              <a:rPr lang="it-IT" sz="1800" dirty="0" smtClean="0"/>
              <a:t>	</a:t>
            </a:r>
            <a:r>
              <a:rPr lang="it-IT" sz="1800" dirty="0"/>
              <a:t>public Persona(</a:t>
            </a:r>
            <a:r>
              <a:rPr lang="it-IT" sz="1800" dirty="0" err="1"/>
              <a:t>Integer</a:t>
            </a:r>
            <a:r>
              <a:rPr lang="it-IT" sz="1800" dirty="0"/>
              <a:t> </a:t>
            </a:r>
            <a:r>
              <a:rPr lang="it-IT" sz="1800" dirty="0" err="1"/>
              <a:t>id,String</a:t>
            </a:r>
            <a:r>
              <a:rPr lang="it-IT" sz="1800" dirty="0"/>
              <a:t> </a:t>
            </a:r>
            <a:r>
              <a:rPr lang="it-IT" sz="1800" dirty="0" err="1"/>
              <a:t>nome,String</a:t>
            </a:r>
            <a:r>
              <a:rPr lang="it-IT" sz="1800" dirty="0"/>
              <a:t> cognome)</a:t>
            </a:r>
          </a:p>
          <a:p>
            <a:pPr marL="0" indent="0">
              <a:buNone/>
            </a:pPr>
            <a:r>
              <a:rPr lang="it-IT" sz="1800" dirty="0" smtClean="0"/>
              <a:t>	{</a:t>
            </a:r>
            <a:endParaRPr lang="it-IT" sz="1800" dirty="0"/>
          </a:p>
          <a:p>
            <a:pPr marL="0" indent="0">
              <a:buNone/>
            </a:pPr>
            <a:r>
              <a:rPr lang="it-IT" sz="1800" dirty="0" smtClean="0"/>
              <a:t>		</a:t>
            </a:r>
            <a:r>
              <a:rPr lang="it-IT" sz="1800" dirty="0" err="1" smtClean="0"/>
              <a:t>setId</a:t>
            </a:r>
            <a:r>
              <a:rPr lang="it-IT" sz="1800" dirty="0" smtClean="0"/>
              <a:t>(id</a:t>
            </a:r>
            <a:r>
              <a:rPr lang="it-IT" sz="1800" dirty="0"/>
              <a:t>);</a:t>
            </a:r>
          </a:p>
          <a:p>
            <a:pPr marL="0" indent="0">
              <a:buNone/>
            </a:pPr>
            <a:r>
              <a:rPr lang="it-IT" sz="1800" dirty="0" smtClean="0"/>
              <a:t>		</a:t>
            </a:r>
            <a:r>
              <a:rPr lang="it-IT" sz="1800" dirty="0" err="1" smtClean="0"/>
              <a:t>setNome</a:t>
            </a:r>
            <a:r>
              <a:rPr lang="it-IT" sz="1800" dirty="0" smtClean="0"/>
              <a:t>(nome</a:t>
            </a:r>
            <a:r>
              <a:rPr lang="it-IT" sz="1800" dirty="0"/>
              <a:t>);</a:t>
            </a:r>
          </a:p>
          <a:p>
            <a:pPr marL="0" indent="0">
              <a:buNone/>
            </a:pPr>
            <a:r>
              <a:rPr lang="it-IT" sz="1800" dirty="0" smtClean="0"/>
              <a:t>		</a:t>
            </a:r>
            <a:r>
              <a:rPr lang="it-IT" sz="1800" dirty="0" err="1" smtClean="0"/>
              <a:t>setCognome</a:t>
            </a:r>
            <a:r>
              <a:rPr lang="it-IT" sz="1800" dirty="0" smtClean="0"/>
              <a:t>(cognome</a:t>
            </a:r>
            <a:r>
              <a:rPr lang="it-IT" sz="1800" dirty="0"/>
              <a:t>);</a:t>
            </a:r>
          </a:p>
          <a:p>
            <a:pPr marL="0" indent="0">
              <a:buNone/>
            </a:pPr>
            <a:r>
              <a:rPr lang="it-IT" sz="1800" dirty="0" smtClean="0"/>
              <a:t>	}</a:t>
            </a:r>
          </a:p>
          <a:p>
            <a:pPr marL="0" indent="0">
              <a:buNone/>
            </a:pPr>
            <a:r>
              <a:rPr lang="it-IT" sz="1800" dirty="0"/>
              <a:t>	</a:t>
            </a:r>
            <a:r>
              <a:rPr lang="it-IT" sz="1800" dirty="0" smtClean="0"/>
              <a:t>…// metodi </a:t>
            </a:r>
            <a:r>
              <a:rPr lang="it-IT" sz="1800" dirty="0" err="1" smtClean="0"/>
              <a:t>getter</a:t>
            </a:r>
            <a:r>
              <a:rPr lang="it-IT" sz="1800" dirty="0" smtClean="0"/>
              <a:t> e setter</a:t>
            </a:r>
          </a:p>
          <a:p>
            <a:pPr marL="0" indent="0">
              <a:buNone/>
            </a:pPr>
            <a:r>
              <a:rPr lang="it-IT" sz="1800" i="1" dirty="0" smtClean="0"/>
              <a:t>}</a:t>
            </a:r>
            <a:endParaRPr lang="it-IT" sz="18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14</a:t>
            </a:fld>
            <a:endParaRPr lang="it-IT"/>
          </a:p>
        </p:txBody>
      </p:sp>
      <p:sp>
        <p:nvSpPr>
          <p:cNvPr id="4" name="Titolo 3"/>
          <p:cNvSpPr>
            <a:spLocks noGrp="1"/>
          </p:cNvSpPr>
          <p:nvPr>
            <p:ph type="title"/>
          </p:nvPr>
        </p:nvSpPr>
        <p:spPr/>
        <p:txBody>
          <a:bodyPr>
            <a:normAutofit fontScale="90000"/>
          </a:bodyPr>
          <a:lstStyle/>
          <a:p>
            <a:r>
              <a:rPr lang="it-IT" dirty="0" smtClean="0"/>
              <a:t>Esempi di </a:t>
            </a:r>
            <a:r>
              <a:rPr lang="it-IT" dirty="0" err="1" smtClean="0"/>
              <a:t>Dependency</a:t>
            </a:r>
            <a:r>
              <a:rPr lang="it-IT" dirty="0" smtClean="0"/>
              <a:t> </a:t>
            </a:r>
            <a:r>
              <a:rPr lang="it-IT" dirty="0" err="1" smtClean="0"/>
              <a:t>Injection</a:t>
            </a:r>
            <a:r>
              <a:rPr lang="it-IT" dirty="0" smtClean="0"/>
              <a:t/>
            </a:r>
            <a:br>
              <a:rPr lang="it-IT" dirty="0" smtClean="0"/>
            </a:br>
            <a:r>
              <a:rPr lang="it-IT" dirty="0" smtClean="0"/>
              <a:t>Classe Persona</a:t>
            </a:r>
            <a:endParaRPr lang="it-IT" dirty="0"/>
          </a:p>
        </p:txBody>
      </p:sp>
    </p:spTree>
    <p:extLst>
      <p:ext uri="{BB962C8B-B14F-4D97-AF65-F5344CB8AC3E}">
        <p14:creationId xmlns:p14="http://schemas.microsoft.com/office/powerpoint/2010/main" val="8867139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204864"/>
            <a:ext cx="7408333" cy="3921299"/>
          </a:xfrm>
        </p:spPr>
        <p:txBody>
          <a:bodyPr>
            <a:noAutofit/>
          </a:bodyPr>
          <a:lstStyle/>
          <a:p>
            <a:pPr marL="0" indent="0">
              <a:buNone/>
            </a:pPr>
            <a:r>
              <a:rPr lang="it-IT" sz="1800" i="1" dirty="0"/>
              <a:t>@</a:t>
            </a:r>
            <a:r>
              <a:rPr lang="it-IT" sz="1800" i="1" dirty="0" err="1"/>
              <a:t>Configuration</a:t>
            </a:r>
            <a:endParaRPr lang="it-IT" sz="1800" i="1" dirty="0"/>
          </a:p>
          <a:p>
            <a:pPr marL="0" indent="0">
              <a:buNone/>
            </a:pPr>
            <a:r>
              <a:rPr lang="it-IT" sz="1800" i="1" dirty="0"/>
              <a:t>public </a:t>
            </a:r>
            <a:r>
              <a:rPr lang="it-IT" sz="1800" i="1" dirty="0" err="1"/>
              <a:t>class</a:t>
            </a:r>
            <a:r>
              <a:rPr lang="it-IT" sz="1800" i="1" dirty="0"/>
              <a:t> </a:t>
            </a:r>
            <a:r>
              <a:rPr lang="it-IT" sz="1800" i="1" dirty="0" err="1" smtClean="0"/>
              <a:t>SpringConfiguration</a:t>
            </a:r>
            <a:r>
              <a:rPr lang="it-IT" sz="1800" i="1" dirty="0" smtClean="0"/>
              <a:t>{</a:t>
            </a:r>
            <a:endParaRPr lang="it-IT" sz="1800" i="1" dirty="0"/>
          </a:p>
          <a:p>
            <a:pPr marL="0" indent="0">
              <a:buNone/>
            </a:pPr>
            <a:endParaRPr lang="it-IT" sz="1800" i="1" dirty="0" smtClean="0"/>
          </a:p>
          <a:p>
            <a:pPr marL="0" indent="0">
              <a:buNone/>
            </a:pPr>
            <a:r>
              <a:rPr lang="it-IT" sz="1800" i="1" dirty="0" smtClean="0"/>
              <a:t>	@</a:t>
            </a:r>
            <a:r>
              <a:rPr lang="it-IT" sz="1800" i="1" dirty="0"/>
              <a:t>Bean</a:t>
            </a:r>
          </a:p>
          <a:p>
            <a:pPr marL="0" indent="0">
              <a:buNone/>
            </a:pPr>
            <a:r>
              <a:rPr lang="it-IT" sz="1800" i="1" dirty="0" smtClean="0"/>
              <a:t>	public </a:t>
            </a:r>
            <a:r>
              <a:rPr lang="it-IT" sz="1800" i="1" dirty="0"/>
              <a:t>Persona persona1</a:t>
            </a:r>
            <a:r>
              <a:rPr lang="it-IT" sz="1800" i="1" dirty="0" smtClean="0"/>
              <a:t>() {</a:t>
            </a:r>
            <a:endParaRPr lang="it-IT" sz="1800" i="1" dirty="0"/>
          </a:p>
          <a:p>
            <a:pPr marL="0" indent="0">
              <a:buNone/>
            </a:pPr>
            <a:r>
              <a:rPr lang="it-IT" sz="1800" i="1" dirty="0" smtClean="0"/>
              <a:t>		Persona </a:t>
            </a:r>
            <a:r>
              <a:rPr lang="it-IT" sz="1800" i="1" dirty="0" err="1"/>
              <a:t>persona</a:t>
            </a:r>
            <a:r>
              <a:rPr lang="it-IT" sz="1800" i="1" dirty="0"/>
              <a:t> = new Persona();</a:t>
            </a:r>
          </a:p>
          <a:p>
            <a:pPr marL="0" indent="0">
              <a:buNone/>
            </a:pPr>
            <a:r>
              <a:rPr lang="it-IT" sz="1800" i="1" dirty="0" smtClean="0"/>
              <a:t>		</a:t>
            </a:r>
            <a:r>
              <a:rPr lang="it-IT" sz="1800" i="1" dirty="0" err="1" smtClean="0"/>
              <a:t>persona.setId</a:t>
            </a:r>
            <a:r>
              <a:rPr lang="it-IT" sz="1800" i="1" dirty="0" smtClean="0"/>
              <a:t>(1</a:t>
            </a:r>
            <a:r>
              <a:rPr lang="it-IT" sz="1800" i="1" dirty="0"/>
              <a:t>);</a:t>
            </a:r>
          </a:p>
          <a:p>
            <a:pPr marL="0" indent="0">
              <a:buNone/>
            </a:pPr>
            <a:r>
              <a:rPr lang="it-IT" sz="1800" i="1" dirty="0" smtClean="0"/>
              <a:t>		</a:t>
            </a:r>
            <a:r>
              <a:rPr lang="it-IT" sz="1800" i="1" dirty="0" err="1" smtClean="0"/>
              <a:t>persona.setNome</a:t>
            </a:r>
            <a:r>
              <a:rPr lang="it-IT" sz="1800" i="1" dirty="0"/>
              <a:t>("Pippo");</a:t>
            </a:r>
          </a:p>
          <a:p>
            <a:pPr marL="0" indent="0">
              <a:buNone/>
            </a:pPr>
            <a:r>
              <a:rPr lang="it-IT" sz="1800" i="1" dirty="0" smtClean="0"/>
              <a:t>		</a:t>
            </a:r>
            <a:r>
              <a:rPr lang="it-IT" sz="1800" i="1" dirty="0" err="1" smtClean="0"/>
              <a:t>persona.setCognome</a:t>
            </a:r>
            <a:r>
              <a:rPr lang="it-IT" sz="1800" i="1" dirty="0"/>
              <a:t>("Baudo");</a:t>
            </a:r>
          </a:p>
          <a:p>
            <a:pPr marL="0" indent="0">
              <a:buNone/>
            </a:pPr>
            <a:r>
              <a:rPr lang="it-IT" sz="1800" i="1" dirty="0" smtClean="0"/>
              <a:t>		</a:t>
            </a:r>
            <a:r>
              <a:rPr lang="it-IT" sz="1800" i="1" dirty="0" err="1" smtClean="0"/>
              <a:t>return</a:t>
            </a:r>
            <a:r>
              <a:rPr lang="it-IT" sz="1800" i="1" dirty="0" smtClean="0"/>
              <a:t> </a:t>
            </a:r>
            <a:r>
              <a:rPr lang="it-IT" sz="1800" i="1" dirty="0"/>
              <a:t>persona;</a:t>
            </a:r>
          </a:p>
          <a:p>
            <a:pPr marL="0" indent="0">
              <a:buNone/>
            </a:pPr>
            <a:r>
              <a:rPr lang="it-IT" sz="1800" i="1" dirty="0" smtClean="0"/>
              <a:t>	}</a:t>
            </a:r>
            <a:endParaRPr lang="it-IT" sz="18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15</a:t>
            </a:fld>
            <a:endParaRPr lang="it-IT"/>
          </a:p>
        </p:txBody>
      </p:sp>
      <p:sp>
        <p:nvSpPr>
          <p:cNvPr id="4" name="Titolo 3"/>
          <p:cNvSpPr>
            <a:spLocks noGrp="1"/>
          </p:cNvSpPr>
          <p:nvPr>
            <p:ph type="title"/>
          </p:nvPr>
        </p:nvSpPr>
        <p:spPr/>
        <p:txBody>
          <a:bodyPr>
            <a:normAutofit fontScale="90000"/>
          </a:bodyPr>
          <a:lstStyle/>
          <a:p>
            <a:r>
              <a:rPr lang="it-IT" dirty="0" smtClean="0"/>
              <a:t>Setter </a:t>
            </a:r>
            <a:r>
              <a:rPr lang="it-IT" dirty="0" err="1" smtClean="0"/>
              <a:t>Dependency</a:t>
            </a:r>
            <a:r>
              <a:rPr lang="it-IT" dirty="0" smtClean="0"/>
              <a:t> </a:t>
            </a:r>
            <a:r>
              <a:rPr lang="it-IT" dirty="0" err="1" smtClean="0"/>
              <a:t>Injection</a:t>
            </a:r>
            <a:r>
              <a:rPr lang="it-IT" dirty="0" smtClean="0"/>
              <a:t/>
            </a:r>
            <a:br>
              <a:rPr lang="it-IT" dirty="0" smtClean="0"/>
            </a:br>
            <a:r>
              <a:rPr lang="it-IT" dirty="0" smtClean="0"/>
              <a:t>Configurazione tramite </a:t>
            </a:r>
            <a:r>
              <a:rPr lang="it-IT" dirty="0" err="1" smtClean="0"/>
              <a:t>Annotation</a:t>
            </a:r>
            <a:endParaRPr lang="it-IT" dirty="0"/>
          </a:p>
        </p:txBody>
      </p:sp>
    </p:spTree>
    <p:extLst>
      <p:ext uri="{BB962C8B-B14F-4D97-AF65-F5344CB8AC3E}">
        <p14:creationId xmlns:p14="http://schemas.microsoft.com/office/powerpoint/2010/main" val="35048229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276872"/>
            <a:ext cx="7408333" cy="3849291"/>
          </a:xfrm>
        </p:spPr>
        <p:txBody>
          <a:bodyPr>
            <a:normAutofit/>
          </a:bodyPr>
          <a:lstStyle/>
          <a:p>
            <a:pPr marL="0" indent="0">
              <a:buNone/>
            </a:pPr>
            <a:endParaRPr lang="it-IT" sz="1800" i="1" dirty="0" smtClean="0"/>
          </a:p>
          <a:p>
            <a:pPr marL="0" indent="0">
              <a:buNone/>
            </a:pPr>
            <a:r>
              <a:rPr lang="it-IT" sz="1800" i="1" dirty="0" err="1" smtClean="0"/>
              <a:t>ApplicationContext</a:t>
            </a:r>
            <a:r>
              <a:rPr lang="it-IT" sz="1800" i="1" dirty="0" smtClean="0"/>
              <a:t> </a:t>
            </a:r>
            <a:r>
              <a:rPr lang="it-IT" sz="1800" i="1" u="sng" dirty="0" err="1"/>
              <a:t>applicationContext</a:t>
            </a:r>
            <a:r>
              <a:rPr lang="it-IT" sz="1800" i="1" u="sng" dirty="0"/>
              <a:t> = new </a:t>
            </a:r>
            <a:r>
              <a:rPr lang="it-IT" sz="1800" i="1" u="sng" dirty="0" err="1"/>
              <a:t>AnnotationConfigApplicationContext</a:t>
            </a:r>
            <a:r>
              <a:rPr lang="it-IT" sz="1800" i="1" u="sng" dirty="0"/>
              <a:t>(</a:t>
            </a:r>
            <a:r>
              <a:rPr lang="it-IT" sz="1800" i="1" u="sng" dirty="0" err="1"/>
              <a:t>SpringConfiguration.class</a:t>
            </a:r>
            <a:r>
              <a:rPr lang="it-IT" sz="1800" i="1" u="sng" dirty="0" smtClean="0"/>
              <a:t>);</a:t>
            </a:r>
          </a:p>
          <a:p>
            <a:pPr marL="0" indent="0">
              <a:buNone/>
            </a:pPr>
            <a:endParaRPr lang="it-IT" sz="1800" i="1" u="sng" dirty="0"/>
          </a:p>
          <a:p>
            <a:pPr marL="0" indent="0">
              <a:buNone/>
            </a:pPr>
            <a:r>
              <a:rPr lang="it-IT" sz="1800" i="1" dirty="0"/>
              <a:t>Persona pers1 = (Persona) </a:t>
            </a:r>
            <a:r>
              <a:rPr lang="it-IT" sz="1800" i="1" dirty="0" err="1"/>
              <a:t>applicationContext.getBean</a:t>
            </a:r>
            <a:r>
              <a:rPr lang="it-IT" sz="1800" i="1" dirty="0"/>
              <a:t>("persona1</a:t>
            </a:r>
            <a:r>
              <a:rPr lang="it-IT" sz="1800" i="1" dirty="0" smtClean="0"/>
              <a:t>");</a:t>
            </a:r>
          </a:p>
          <a:p>
            <a:pPr marL="0" indent="0">
              <a:buNone/>
            </a:pPr>
            <a:endParaRPr lang="it-IT" sz="1800" i="1" dirty="0"/>
          </a:p>
          <a:p>
            <a:r>
              <a:rPr lang="it-IT" dirty="0" smtClean="0"/>
              <a:t>o in alternativa:</a:t>
            </a:r>
          </a:p>
          <a:p>
            <a:pPr marL="0" indent="0">
              <a:buNone/>
            </a:pPr>
            <a:r>
              <a:rPr lang="it-IT" sz="1800" i="1" dirty="0" smtClean="0"/>
              <a:t>Persona </a:t>
            </a:r>
            <a:r>
              <a:rPr lang="it-IT" sz="1800" i="1" dirty="0"/>
              <a:t>pers1 = </a:t>
            </a:r>
            <a:r>
              <a:rPr lang="it-IT" sz="1800" i="1" dirty="0" err="1" smtClean="0"/>
              <a:t>applicationContext.getBean</a:t>
            </a:r>
            <a:r>
              <a:rPr lang="it-IT" sz="1800" i="1" dirty="0"/>
              <a:t>("</a:t>
            </a:r>
            <a:r>
              <a:rPr lang="it-IT" sz="1800" i="1" dirty="0" smtClean="0"/>
              <a:t>persona1",Persona.class);</a:t>
            </a:r>
            <a:endParaRPr lang="it-IT" sz="1800" i="1" dirty="0"/>
          </a:p>
          <a:p>
            <a:pPr marL="0" indent="0">
              <a:buNone/>
            </a:pPr>
            <a:endParaRPr lang="it-IT" sz="18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16</a:t>
            </a:fld>
            <a:endParaRPr lang="it-IT"/>
          </a:p>
        </p:txBody>
      </p:sp>
      <p:sp>
        <p:nvSpPr>
          <p:cNvPr id="4" name="Titolo 3"/>
          <p:cNvSpPr>
            <a:spLocks noGrp="1"/>
          </p:cNvSpPr>
          <p:nvPr>
            <p:ph type="title"/>
          </p:nvPr>
        </p:nvSpPr>
        <p:spPr/>
        <p:txBody>
          <a:bodyPr>
            <a:noAutofit/>
          </a:bodyPr>
          <a:lstStyle/>
          <a:p>
            <a:r>
              <a:rPr lang="it-IT" sz="3200" dirty="0"/>
              <a:t>Setter </a:t>
            </a:r>
            <a:r>
              <a:rPr lang="it-IT" sz="3200" dirty="0" err="1"/>
              <a:t>Dependency</a:t>
            </a:r>
            <a:r>
              <a:rPr lang="it-IT" sz="3200" dirty="0"/>
              <a:t> </a:t>
            </a:r>
            <a:r>
              <a:rPr lang="it-IT" sz="3200" dirty="0" err="1"/>
              <a:t>Injection</a:t>
            </a:r>
            <a:r>
              <a:rPr lang="it-IT" sz="3200" dirty="0"/>
              <a:t/>
            </a:r>
            <a:br>
              <a:rPr lang="it-IT" sz="3200" dirty="0"/>
            </a:br>
            <a:r>
              <a:rPr lang="it-IT" sz="3200" dirty="0" smtClean="0"/>
              <a:t>Codice per recuperare un oggetto di classe Persona configurato tramite </a:t>
            </a:r>
            <a:r>
              <a:rPr lang="it-IT" sz="3200" dirty="0" err="1" smtClean="0"/>
              <a:t>Annotation</a:t>
            </a:r>
            <a:endParaRPr lang="it-IT" sz="3200" dirty="0"/>
          </a:p>
        </p:txBody>
      </p:sp>
    </p:spTree>
    <p:extLst>
      <p:ext uri="{BB962C8B-B14F-4D97-AF65-F5344CB8AC3E}">
        <p14:creationId xmlns:p14="http://schemas.microsoft.com/office/powerpoint/2010/main" val="26066700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88840"/>
            <a:ext cx="7408333" cy="4137323"/>
          </a:xfrm>
        </p:spPr>
        <p:txBody>
          <a:bodyPr>
            <a:normAutofit/>
          </a:bodyPr>
          <a:lstStyle/>
          <a:p>
            <a:pPr marL="0" indent="0">
              <a:buNone/>
            </a:pPr>
            <a:r>
              <a:rPr lang="it-IT" sz="1800" i="1" dirty="0"/>
              <a:t>@</a:t>
            </a:r>
            <a:r>
              <a:rPr lang="it-IT" sz="1800" i="1" dirty="0" err="1"/>
              <a:t>Configuration</a:t>
            </a:r>
            <a:endParaRPr lang="it-IT" sz="1800" i="1" dirty="0"/>
          </a:p>
          <a:p>
            <a:pPr marL="0" indent="0">
              <a:buNone/>
            </a:pPr>
            <a:r>
              <a:rPr lang="it-IT" sz="1800" i="1" dirty="0"/>
              <a:t>public </a:t>
            </a:r>
            <a:r>
              <a:rPr lang="it-IT" sz="1800" i="1" dirty="0" err="1"/>
              <a:t>class</a:t>
            </a:r>
            <a:r>
              <a:rPr lang="it-IT" sz="1800" i="1" dirty="0"/>
              <a:t> </a:t>
            </a:r>
            <a:r>
              <a:rPr lang="it-IT" sz="1800" i="1" dirty="0" err="1" smtClean="0"/>
              <a:t>SpringConfiguration</a:t>
            </a:r>
            <a:r>
              <a:rPr lang="it-IT" sz="1800" i="1" dirty="0" smtClean="0"/>
              <a:t> {</a:t>
            </a:r>
            <a:endParaRPr lang="it-IT" sz="1800" i="1" dirty="0"/>
          </a:p>
          <a:p>
            <a:pPr marL="0" indent="0">
              <a:buNone/>
            </a:pPr>
            <a:r>
              <a:rPr lang="it-IT" sz="1800" i="1" dirty="0" smtClean="0"/>
              <a:t>	</a:t>
            </a:r>
          </a:p>
          <a:p>
            <a:pPr marL="0" indent="0">
              <a:buNone/>
            </a:pPr>
            <a:r>
              <a:rPr lang="it-IT" sz="1800" i="1" dirty="0"/>
              <a:t>	</a:t>
            </a:r>
            <a:r>
              <a:rPr lang="it-IT" sz="1800" i="1" dirty="0" smtClean="0"/>
              <a:t>@</a:t>
            </a:r>
            <a:r>
              <a:rPr lang="it-IT" sz="1800" i="1" dirty="0"/>
              <a:t>Bean</a:t>
            </a:r>
          </a:p>
          <a:p>
            <a:pPr marL="0" indent="0">
              <a:buNone/>
            </a:pPr>
            <a:r>
              <a:rPr lang="it-IT" sz="1800" i="1" dirty="0" smtClean="0"/>
              <a:t>	public </a:t>
            </a:r>
            <a:r>
              <a:rPr lang="it-IT" sz="1800" i="1" dirty="0"/>
              <a:t>Persona persona2</a:t>
            </a:r>
            <a:r>
              <a:rPr lang="it-IT" sz="1800" i="1" dirty="0" smtClean="0"/>
              <a:t>() {</a:t>
            </a:r>
            <a:endParaRPr lang="it-IT" sz="1800" i="1" dirty="0"/>
          </a:p>
          <a:p>
            <a:pPr marL="0" indent="0">
              <a:buNone/>
            </a:pPr>
            <a:r>
              <a:rPr lang="it-IT" sz="1800" i="1" dirty="0" smtClean="0"/>
              <a:t>		Persona </a:t>
            </a:r>
            <a:r>
              <a:rPr lang="it-IT" sz="1800" i="1" dirty="0" err="1"/>
              <a:t>persona</a:t>
            </a:r>
            <a:r>
              <a:rPr lang="it-IT" sz="1800" i="1" dirty="0"/>
              <a:t> = new Persona(2,"Pluto","Paperino");</a:t>
            </a:r>
          </a:p>
          <a:p>
            <a:pPr marL="0" indent="0">
              <a:buNone/>
            </a:pPr>
            <a:r>
              <a:rPr lang="it-IT" sz="1800" i="1" dirty="0" smtClean="0"/>
              <a:t>		</a:t>
            </a:r>
            <a:r>
              <a:rPr lang="it-IT" sz="1800" i="1" dirty="0" err="1" smtClean="0"/>
              <a:t>return</a:t>
            </a:r>
            <a:r>
              <a:rPr lang="it-IT" sz="1800" i="1" dirty="0" smtClean="0"/>
              <a:t> </a:t>
            </a:r>
            <a:r>
              <a:rPr lang="it-IT" sz="1800" i="1" dirty="0"/>
              <a:t>persona;</a:t>
            </a:r>
          </a:p>
          <a:p>
            <a:pPr marL="0" indent="0">
              <a:buNone/>
            </a:pPr>
            <a:r>
              <a:rPr lang="it-IT" sz="1800" i="1" dirty="0" smtClean="0"/>
              <a:t>	}</a:t>
            </a:r>
            <a:endParaRPr lang="it-IT" sz="18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17</a:t>
            </a:fld>
            <a:endParaRPr lang="it-IT"/>
          </a:p>
        </p:txBody>
      </p:sp>
      <p:sp>
        <p:nvSpPr>
          <p:cNvPr id="4" name="Titolo 3"/>
          <p:cNvSpPr>
            <a:spLocks noGrp="1"/>
          </p:cNvSpPr>
          <p:nvPr>
            <p:ph type="title"/>
          </p:nvPr>
        </p:nvSpPr>
        <p:spPr/>
        <p:txBody>
          <a:bodyPr>
            <a:normAutofit fontScale="90000"/>
          </a:bodyPr>
          <a:lstStyle/>
          <a:p>
            <a:r>
              <a:rPr lang="it-IT" dirty="0" err="1" smtClean="0"/>
              <a:t>Constructor</a:t>
            </a:r>
            <a:r>
              <a:rPr lang="it-IT" dirty="0" smtClean="0"/>
              <a:t> </a:t>
            </a:r>
            <a:r>
              <a:rPr lang="it-IT" dirty="0" err="1" smtClean="0"/>
              <a:t>Dependency</a:t>
            </a:r>
            <a:r>
              <a:rPr lang="it-IT" dirty="0" smtClean="0"/>
              <a:t> </a:t>
            </a:r>
            <a:r>
              <a:rPr lang="it-IT" dirty="0" err="1" smtClean="0"/>
              <a:t>Injection</a:t>
            </a:r>
            <a:r>
              <a:rPr lang="it-IT" dirty="0" smtClean="0"/>
              <a:t/>
            </a:r>
            <a:br>
              <a:rPr lang="it-IT" dirty="0" smtClean="0"/>
            </a:br>
            <a:r>
              <a:rPr lang="it-IT" dirty="0" smtClean="0"/>
              <a:t>Configurazione tramite </a:t>
            </a:r>
            <a:r>
              <a:rPr lang="it-IT" dirty="0" err="1" smtClean="0"/>
              <a:t>Annotation</a:t>
            </a:r>
            <a:endParaRPr lang="it-IT" dirty="0"/>
          </a:p>
        </p:txBody>
      </p:sp>
    </p:spTree>
    <p:extLst>
      <p:ext uri="{BB962C8B-B14F-4D97-AF65-F5344CB8AC3E}">
        <p14:creationId xmlns:p14="http://schemas.microsoft.com/office/powerpoint/2010/main" val="16386246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132856"/>
            <a:ext cx="7408333" cy="3993307"/>
          </a:xfrm>
        </p:spPr>
        <p:txBody>
          <a:bodyPr>
            <a:normAutofit/>
          </a:bodyPr>
          <a:lstStyle/>
          <a:p>
            <a:pPr marL="0" indent="0">
              <a:buNone/>
            </a:pPr>
            <a:endParaRPr lang="it-IT" sz="1800" i="1" dirty="0" smtClean="0"/>
          </a:p>
          <a:p>
            <a:pPr marL="0" indent="0">
              <a:buNone/>
            </a:pPr>
            <a:r>
              <a:rPr lang="it-IT" sz="1800" i="1" dirty="0" err="1" smtClean="0"/>
              <a:t>ApplicationContext</a:t>
            </a:r>
            <a:r>
              <a:rPr lang="it-IT" sz="1800" i="1" dirty="0" smtClean="0"/>
              <a:t> </a:t>
            </a:r>
            <a:r>
              <a:rPr lang="it-IT" sz="1800" i="1" dirty="0" err="1"/>
              <a:t>applicationContext</a:t>
            </a:r>
            <a:r>
              <a:rPr lang="it-IT" sz="1800" i="1" dirty="0"/>
              <a:t> = new </a:t>
            </a:r>
            <a:r>
              <a:rPr lang="it-IT" sz="1800" i="1" dirty="0" err="1"/>
              <a:t>AnnotationConfigApplicationContext</a:t>
            </a:r>
            <a:r>
              <a:rPr lang="it-IT" sz="1800" i="1" dirty="0"/>
              <a:t>(</a:t>
            </a:r>
            <a:r>
              <a:rPr lang="it-IT" sz="1800" i="1" dirty="0" err="1"/>
              <a:t>SpringConfiguration.class</a:t>
            </a:r>
            <a:r>
              <a:rPr lang="it-IT" sz="1800" i="1" dirty="0"/>
              <a:t>);</a:t>
            </a:r>
          </a:p>
          <a:p>
            <a:pPr marL="0" indent="0">
              <a:buNone/>
            </a:pPr>
            <a:endParaRPr lang="it-IT" sz="1800" i="1" dirty="0" smtClean="0"/>
          </a:p>
          <a:p>
            <a:pPr marL="0" indent="0">
              <a:buNone/>
            </a:pPr>
            <a:r>
              <a:rPr lang="it-IT" sz="1800" i="1" dirty="0" smtClean="0"/>
              <a:t>Persona </a:t>
            </a:r>
            <a:r>
              <a:rPr lang="it-IT" sz="1800" i="1" dirty="0"/>
              <a:t>pers2 = (Persona) </a:t>
            </a:r>
            <a:r>
              <a:rPr lang="it-IT" sz="1800" i="1" dirty="0" err="1"/>
              <a:t>applicationContext.getBean</a:t>
            </a:r>
            <a:r>
              <a:rPr lang="it-IT" sz="1800" i="1" dirty="0"/>
              <a:t>("persona2</a:t>
            </a:r>
            <a:r>
              <a:rPr lang="it-IT" sz="1800" i="1" dirty="0" smtClean="0"/>
              <a:t>");</a:t>
            </a:r>
          </a:p>
          <a:p>
            <a:endParaRPr lang="it-IT" sz="1800" dirty="0" smtClean="0"/>
          </a:p>
          <a:p>
            <a:r>
              <a:rPr lang="it-IT" sz="1800" dirty="0" smtClean="0"/>
              <a:t>o </a:t>
            </a:r>
            <a:r>
              <a:rPr lang="it-IT" sz="1800" dirty="0"/>
              <a:t>in alternativa:</a:t>
            </a:r>
          </a:p>
          <a:p>
            <a:pPr marL="0" indent="0">
              <a:buNone/>
            </a:pPr>
            <a:r>
              <a:rPr lang="it-IT" sz="1800" i="1" dirty="0"/>
              <a:t>Persona </a:t>
            </a:r>
            <a:r>
              <a:rPr lang="it-IT" sz="1800" i="1" dirty="0" smtClean="0"/>
              <a:t>pers2 </a:t>
            </a:r>
            <a:r>
              <a:rPr lang="it-IT" sz="1800" i="1" dirty="0"/>
              <a:t>= </a:t>
            </a:r>
            <a:r>
              <a:rPr lang="it-IT" sz="1800" i="1" dirty="0" err="1"/>
              <a:t>applicationContext.getBean</a:t>
            </a:r>
            <a:r>
              <a:rPr lang="it-IT" sz="1800" i="1" dirty="0"/>
              <a:t>("</a:t>
            </a:r>
            <a:r>
              <a:rPr lang="it-IT" sz="1800" i="1" dirty="0" smtClean="0"/>
              <a:t>persona2",</a:t>
            </a:r>
            <a:r>
              <a:rPr lang="it-IT" sz="1800" i="1" dirty="0"/>
              <a:t>Persona.class);</a:t>
            </a:r>
          </a:p>
          <a:p>
            <a:pPr marL="0" indent="0">
              <a:buNone/>
            </a:pPr>
            <a:endParaRPr lang="it-IT" sz="18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18</a:t>
            </a:fld>
            <a:endParaRPr lang="it-IT"/>
          </a:p>
        </p:txBody>
      </p:sp>
      <p:sp>
        <p:nvSpPr>
          <p:cNvPr id="4" name="Titolo 3"/>
          <p:cNvSpPr>
            <a:spLocks noGrp="1"/>
          </p:cNvSpPr>
          <p:nvPr>
            <p:ph type="title"/>
          </p:nvPr>
        </p:nvSpPr>
        <p:spPr/>
        <p:txBody>
          <a:bodyPr>
            <a:noAutofit/>
          </a:bodyPr>
          <a:lstStyle/>
          <a:p>
            <a:r>
              <a:rPr lang="it-IT" sz="3200" dirty="0" err="1" smtClean="0"/>
              <a:t>Constructor</a:t>
            </a:r>
            <a:r>
              <a:rPr lang="it-IT" sz="3200" dirty="0" smtClean="0"/>
              <a:t> </a:t>
            </a:r>
            <a:r>
              <a:rPr lang="it-IT" sz="3200" dirty="0" err="1" smtClean="0"/>
              <a:t>Dependency</a:t>
            </a:r>
            <a:r>
              <a:rPr lang="it-IT" sz="3200" dirty="0" smtClean="0"/>
              <a:t> </a:t>
            </a:r>
            <a:r>
              <a:rPr lang="it-IT" sz="3200" dirty="0" err="1" smtClean="0"/>
              <a:t>Injection</a:t>
            </a:r>
            <a:r>
              <a:rPr lang="it-IT" sz="3200" dirty="0" smtClean="0"/>
              <a:t/>
            </a:r>
            <a:br>
              <a:rPr lang="it-IT" sz="3200" dirty="0" smtClean="0"/>
            </a:br>
            <a:r>
              <a:rPr lang="it-IT" sz="3200" dirty="0" smtClean="0"/>
              <a:t>Codice per recuperare un oggetto di classe Persona configurato tramite </a:t>
            </a:r>
            <a:r>
              <a:rPr lang="it-IT" sz="3200" dirty="0" err="1" smtClean="0"/>
              <a:t>Annotation</a:t>
            </a:r>
            <a:endParaRPr lang="it-IT" sz="3200" dirty="0"/>
          </a:p>
        </p:txBody>
      </p:sp>
    </p:spTree>
    <p:extLst>
      <p:ext uri="{BB962C8B-B14F-4D97-AF65-F5344CB8AC3E}">
        <p14:creationId xmlns:p14="http://schemas.microsoft.com/office/powerpoint/2010/main" val="2156288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16832"/>
            <a:ext cx="7408333" cy="4209331"/>
          </a:xfrm>
        </p:spPr>
        <p:txBody>
          <a:bodyPr>
            <a:normAutofit fontScale="70000" lnSpcReduction="20000"/>
          </a:bodyPr>
          <a:lstStyle/>
          <a:p>
            <a:pPr marL="0" indent="0">
              <a:buNone/>
            </a:pPr>
            <a:r>
              <a:rPr lang="it-IT" i="1" dirty="0"/>
              <a:t>public </a:t>
            </a:r>
            <a:r>
              <a:rPr lang="it-IT" i="1" dirty="0" err="1"/>
              <a:t>class</a:t>
            </a:r>
            <a:r>
              <a:rPr lang="it-IT" i="1" dirty="0"/>
              <a:t> Macchina</a:t>
            </a:r>
          </a:p>
          <a:p>
            <a:pPr marL="0" indent="0">
              <a:buNone/>
            </a:pPr>
            <a:r>
              <a:rPr lang="it-IT" i="1" dirty="0"/>
              <a:t>{</a:t>
            </a:r>
          </a:p>
          <a:p>
            <a:pPr marL="0" indent="0">
              <a:buNone/>
            </a:pPr>
            <a:r>
              <a:rPr lang="it-IT" i="1" dirty="0" smtClean="0"/>
              <a:t>	private </a:t>
            </a:r>
            <a:r>
              <a:rPr lang="it-IT" i="1" dirty="0" err="1"/>
              <a:t>Integer</a:t>
            </a:r>
            <a:r>
              <a:rPr lang="it-IT" i="1" dirty="0"/>
              <a:t> id = </a:t>
            </a:r>
            <a:r>
              <a:rPr lang="it-IT" i="1" dirty="0" err="1"/>
              <a:t>null</a:t>
            </a:r>
            <a:r>
              <a:rPr lang="it-IT" i="1" dirty="0"/>
              <a:t>;</a:t>
            </a:r>
          </a:p>
          <a:p>
            <a:pPr marL="0" indent="0">
              <a:buNone/>
            </a:pPr>
            <a:r>
              <a:rPr lang="it-IT" i="1" dirty="0" smtClean="0"/>
              <a:t>	private </a:t>
            </a:r>
            <a:r>
              <a:rPr lang="it-IT" i="1" dirty="0" err="1"/>
              <a:t>String</a:t>
            </a:r>
            <a:r>
              <a:rPr lang="it-IT" i="1" dirty="0"/>
              <a:t> modello = </a:t>
            </a:r>
            <a:r>
              <a:rPr lang="it-IT" i="1" dirty="0" err="1"/>
              <a:t>null</a:t>
            </a:r>
            <a:r>
              <a:rPr lang="it-IT" i="1" dirty="0"/>
              <a:t>;</a:t>
            </a:r>
          </a:p>
          <a:p>
            <a:pPr marL="0" indent="0">
              <a:buNone/>
            </a:pPr>
            <a:r>
              <a:rPr lang="it-IT" i="1" dirty="0" smtClean="0"/>
              <a:t>	private </a:t>
            </a:r>
            <a:r>
              <a:rPr lang="it-IT" i="1" dirty="0"/>
              <a:t>Persona proprietario = </a:t>
            </a:r>
            <a:r>
              <a:rPr lang="it-IT" i="1" dirty="0" err="1"/>
              <a:t>null</a:t>
            </a:r>
            <a:r>
              <a:rPr lang="it-IT" i="1" dirty="0"/>
              <a:t>;</a:t>
            </a:r>
          </a:p>
          <a:p>
            <a:pPr marL="0" indent="0">
              <a:buNone/>
            </a:pPr>
            <a:endParaRPr lang="it-IT" i="1" dirty="0"/>
          </a:p>
          <a:p>
            <a:pPr marL="0" indent="0">
              <a:buNone/>
            </a:pPr>
            <a:r>
              <a:rPr lang="it-IT" i="1" dirty="0" smtClean="0"/>
              <a:t>	public </a:t>
            </a:r>
            <a:r>
              <a:rPr lang="it-IT" i="1" dirty="0"/>
              <a:t>Macchina()</a:t>
            </a:r>
          </a:p>
          <a:p>
            <a:pPr marL="0" indent="0">
              <a:buNone/>
            </a:pPr>
            <a:r>
              <a:rPr lang="it-IT" i="1" dirty="0" smtClean="0"/>
              <a:t>	{</a:t>
            </a:r>
          </a:p>
          <a:p>
            <a:pPr marL="0" indent="0">
              <a:buNone/>
            </a:pPr>
            <a:r>
              <a:rPr lang="it-IT" i="1" dirty="0" smtClean="0"/>
              <a:t>	}</a:t>
            </a:r>
            <a:endParaRPr lang="it-IT" i="1" dirty="0"/>
          </a:p>
          <a:p>
            <a:pPr marL="0" indent="0">
              <a:buNone/>
            </a:pPr>
            <a:endParaRPr lang="it-IT" i="1" dirty="0"/>
          </a:p>
          <a:p>
            <a:pPr marL="0" indent="0">
              <a:buNone/>
            </a:pPr>
            <a:r>
              <a:rPr lang="it-IT" i="1" dirty="0" smtClean="0"/>
              <a:t>	public </a:t>
            </a:r>
            <a:r>
              <a:rPr lang="it-IT" i="1" dirty="0"/>
              <a:t>Macchina(</a:t>
            </a:r>
            <a:r>
              <a:rPr lang="it-IT" i="1" dirty="0" err="1"/>
              <a:t>Integer</a:t>
            </a:r>
            <a:r>
              <a:rPr lang="it-IT" i="1" dirty="0"/>
              <a:t> </a:t>
            </a:r>
            <a:r>
              <a:rPr lang="it-IT" i="1" dirty="0" err="1"/>
              <a:t>id,String</a:t>
            </a:r>
            <a:r>
              <a:rPr lang="it-IT" i="1" dirty="0"/>
              <a:t> </a:t>
            </a:r>
            <a:r>
              <a:rPr lang="it-IT" i="1" dirty="0" err="1"/>
              <a:t>modello,Persona</a:t>
            </a:r>
            <a:r>
              <a:rPr lang="it-IT" i="1" dirty="0"/>
              <a:t> persona)</a:t>
            </a:r>
          </a:p>
          <a:p>
            <a:pPr marL="0" indent="0">
              <a:buNone/>
            </a:pPr>
            <a:r>
              <a:rPr lang="it-IT" i="1" dirty="0" smtClean="0"/>
              <a:t>	{</a:t>
            </a:r>
            <a:endParaRPr lang="it-IT" i="1" dirty="0"/>
          </a:p>
          <a:p>
            <a:pPr marL="0" indent="0">
              <a:buNone/>
            </a:pPr>
            <a:r>
              <a:rPr lang="it-IT" i="1" dirty="0" smtClean="0"/>
              <a:t>		</a:t>
            </a:r>
            <a:r>
              <a:rPr lang="it-IT" i="1" dirty="0" err="1" smtClean="0"/>
              <a:t>setId</a:t>
            </a:r>
            <a:r>
              <a:rPr lang="it-IT" i="1" dirty="0" smtClean="0"/>
              <a:t>(id</a:t>
            </a:r>
            <a:r>
              <a:rPr lang="it-IT" i="1" dirty="0"/>
              <a:t>);</a:t>
            </a:r>
          </a:p>
          <a:p>
            <a:pPr marL="0" indent="0">
              <a:buNone/>
            </a:pPr>
            <a:r>
              <a:rPr lang="it-IT" i="1" dirty="0" smtClean="0"/>
              <a:t>		</a:t>
            </a:r>
            <a:r>
              <a:rPr lang="it-IT" i="1" dirty="0" err="1" smtClean="0"/>
              <a:t>setModello</a:t>
            </a:r>
            <a:r>
              <a:rPr lang="it-IT" i="1" dirty="0" smtClean="0"/>
              <a:t>(modello</a:t>
            </a:r>
            <a:r>
              <a:rPr lang="it-IT" i="1" dirty="0"/>
              <a:t>);</a:t>
            </a:r>
          </a:p>
          <a:p>
            <a:pPr marL="0" indent="0">
              <a:buNone/>
            </a:pPr>
            <a:r>
              <a:rPr lang="it-IT" i="1" dirty="0" smtClean="0"/>
              <a:t>		</a:t>
            </a:r>
            <a:r>
              <a:rPr lang="it-IT" i="1" dirty="0" err="1" smtClean="0"/>
              <a:t>setProprietario</a:t>
            </a:r>
            <a:r>
              <a:rPr lang="it-IT" i="1" dirty="0" smtClean="0"/>
              <a:t>(persona</a:t>
            </a:r>
            <a:r>
              <a:rPr lang="it-IT" i="1" dirty="0"/>
              <a:t>);</a:t>
            </a:r>
          </a:p>
          <a:p>
            <a:pPr marL="0" indent="0">
              <a:buNone/>
            </a:pPr>
            <a:r>
              <a:rPr lang="it-IT" i="1" dirty="0" smtClean="0"/>
              <a:t>	}</a:t>
            </a:r>
          </a:p>
          <a:p>
            <a:pPr marL="0" indent="0">
              <a:buNone/>
            </a:pPr>
            <a:endParaRPr lang="it-IT"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19</a:t>
            </a:fld>
            <a:endParaRPr lang="it-IT"/>
          </a:p>
        </p:txBody>
      </p:sp>
      <p:sp>
        <p:nvSpPr>
          <p:cNvPr id="4" name="Titolo 3"/>
          <p:cNvSpPr>
            <a:spLocks noGrp="1"/>
          </p:cNvSpPr>
          <p:nvPr>
            <p:ph type="title"/>
          </p:nvPr>
        </p:nvSpPr>
        <p:spPr/>
        <p:txBody>
          <a:bodyPr>
            <a:normAutofit fontScale="90000"/>
          </a:bodyPr>
          <a:lstStyle/>
          <a:p>
            <a:r>
              <a:rPr lang="it-IT" dirty="0" err="1" smtClean="0"/>
              <a:t>Dependency</a:t>
            </a:r>
            <a:r>
              <a:rPr lang="it-IT" dirty="0" smtClean="0"/>
              <a:t> </a:t>
            </a:r>
            <a:r>
              <a:rPr lang="it-IT" dirty="0" err="1" smtClean="0"/>
              <a:t>Injection</a:t>
            </a:r>
            <a:r>
              <a:rPr lang="it-IT" dirty="0" smtClean="0"/>
              <a:t/>
            </a:r>
            <a:br>
              <a:rPr lang="it-IT" dirty="0" smtClean="0"/>
            </a:br>
            <a:r>
              <a:rPr lang="it-IT" dirty="0" smtClean="0"/>
              <a:t>Relazioni tra classi «custom»</a:t>
            </a:r>
            <a:endParaRPr lang="it-IT" dirty="0"/>
          </a:p>
        </p:txBody>
      </p:sp>
    </p:spTree>
    <p:extLst>
      <p:ext uri="{BB962C8B-B14F-4D97-AF65-F5344CB8AC3E}">
        <p14:creationId xmlns:p14="http://schemas.microsoft.com/office/powerpoint/2010/main" val="682484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88840"/>
            <a:ext cx="7408333" cy="4137323"/>
          </a:xfrm>
        </p:spPr>
        <p:txBody>
          <a:bodyPr>
            <a:noAutofit/>
          </a:bodyPr>
          <a:lstStyle/>
          <a:p>
            <a:pPr marL="0" indent="0">
              <a:buNone/>
            </a:pPr>
            <a:r>
              <a:rPr lang="it-IT" sz="1800" i="1" dirty="0"/>
              <a:t>@</a:t>
            </a:r>
            <a:r>
              <a:rPr lang="it-IT" sz="1800" i="1" dirty="0" err="1"/>
              <a:t>Configuration</a:t>
            </a:r>
            <a:endParaRPr lang="it-IT" sz="1800" i="1" dirty="0"/>
          </a:p>
          <a:p>
            <a:pPr marL="0" indent="0">
              <a:buNone/>
            </a:pPr>
            <a:r>
              <a:rPr lang="it-IT" sz="1800" i="1" dirty="0"/>
              <a:t>public </a:t>
            </a:r>
            <a:r>
              <a:rPr lang="it-IT" sz="1800" i="1" dirty="0" err="1"/>
              <a:t>class</a:t>
            </a:r>
            <a:r>
              <a:rPr lang="it-IT" sz="1800" i="1" dirty="0"/>
              <a:t> </a:t>
            </a:r>
            <a:r>
              <a:rPr lang="it-IT" sz="1800" i="1" dirty="0" err="1"/>
              <a:t>SpringConfiguration</a:t>
            </a:r>
            <a:endParaRPr lang="it-IT" sz="1800" i="1" dirty="0"/>
          </a:p>
          <a:p>
            <a:pPr marL="0" indent="0">
              <a:buNone/>
            </a:pPr>
            <a:r>
              <a:rPr lang="it-IT" sz="1800" i="1" dirty="0"/>
              <a:t>{</a:t>
            </a:r>
          </a:p>
          <a:p>
            <a:pPr marL="0" indent="0">
              <a:buNone/>
            </a:pPr>
            <a:r>
              <a:rPr lang="it-IT" sz="1800" i="1" dirty="0" smtClean="0"/>
              <a:t>	@</a:t>
            </a:r>
            <a:r>
              <a:rPr lang="it-IT" sz="1800" i="1" dirty="0"/>
              <a:t>Bean</a:t>
            </a:r>
          </a:p>
          <a:p>
            <a:pPr marL="0" indent="0">
              <a:buNone/>
            </a:pPr>
            <a:r>
              <a:rPr lang="it-IT" sz="1800" i="1" dirty="0" smtClean="0"/>
              <a:t>	public </a:t>
            </a:r>
            <a:r>
              <a:rPr lang="it-IT" sz="1800" i="1" dirty="0"/>
              <a:t>Macchina macchina1()</a:t>
            </a:r>
          </a:p>
          <a:p>
            <a:pPr marL="0" indent="0">
              <a:buNone/>
            </a:pPr>
            <a:r>
              <a:rPr lang="it-IT" sz="1800" i="1" dirty="0" smtClean="0"/>
              <a:t>	{</a:t>
            </a:r>
            <a:endParaRPr lang="it-IT" sz="1800" i="1" dirty="0"/>
          </a:p>
          <a:p>
            <a:pPr marL="0" indent="0">
              <a:buNone/>
            </a:pPr>
            <a:r>
              <a:rPr lang="it-IT" sz="1800" i="1" dirty="0" smtClean="0"/>
              <a:t>		Macchina </a:t>
            </a:r>
            <a:r>
              <a:rPr lang="it-IT" sz="1800" i="1" dirty="0"/>
              <a:t>m1 = new Macchina();</a:t>
            </a:r>
          </a:p>
          <a:p>
            <a:pPr marL="0" indent="0">
              <a:buNone/>
            </a:pPr>
            <a:r>
              <a:rPr lang="it-IT" sz="1800" i="1" dirty="0" smtClean="0"/>
              <a:t>		m1.setId(1</a:t>
            </a:r>
            <a:r>
              <a:rPr lang="it-IT" sz="1800" i="1" dirty="0"/>
              <a:t>);</a:t>
            </a:r>
          </a:p>
          <a:p>
            <a:pPr marL="0" indent="0">
              <a:buNone/>
            </a:pPr>
            <a:r>
              <a:rPr lang="it-IT" sz="1800" i="1" dirty="0" smtClean="0"/>
              <a:t>		m1.setModello</a:t>
            </a:r>
            <a:r>
              <a:rPr lang="it-IT" sz="1800" i="1" dirty="0"/>
              <a:t>("Ferrari 488");</a:t>
            </a:r>
          </a:p>
          <a:p>
            <a:pPr marL="0" indent="0">
              <a:buNone/>
            </a:pPr>
            <a:r>
              <a:rPr lang="it-IT" sz="1800" i="1" dirty="0" smtClean="0"/>
              <a:t>		m1.setProprietario(persona1</a:t>
            </a:r>
            <a:r>
              <a:rPr lang="it-IT" sz="1800" i="1" dirty="0"/>
              <a:t>());</a:t>
            </a:r>
          </a:p>
          <a:p>
            <a:pPr marL="0" indent="0">
              <a:buNone/>
            </a:pPr>
            <a:r>
              <a:rPr lang="it-IT" sz="1800" i="1" dirty="0" smtClean="0"/>
              <a:t>		</a:t>
            </a:r>
            <a:r>
              <a:rPr lang="it-IT" sz="1800" i="1" dirty="0" err="1" smtClean="0"/>
              <a:t>return</a:t>
            </a:r>
            <a:r>
              <a:rPr lang="it-IT" sz="1800" i="1" dirty="0" smtClean="0"/>
              <a:t> </a:t>
            </a:r>
            <a:r>
              <a:rPr lang="it-IT" sz="1800" i="1" dirty="0"/>
              <a:t>m1;</a:t>
            </a:r>
          </a:p>
          <a:p>
            <a:pPr marL="0" indent="0">
              <a:buNone/>
            </a:pPr>
            <a:r>
              <a:rPr lang="it-IT" sz="1800" i="1" dirty="0" smtClean="0"/>
              <a:t>	}</a:t>
            </a:r>
            <a:endParaRPr lang="it-IT" sz="18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20</a:t>
            </a:fld>
            <a:endParaRPr lang="it-IT"/>
          </a:p>
        </p:txBody>
      </p:sp>
      <p:sp>
        <p:nvSpPr>
          <p:cNvPr id="4" name="Titolo 3"/>
          <p:cNvSpPr>
            <a:spLocks noGrp="1"/>
          </p:cNvSpPr>
          <p:nvPr>
            <p:ph type="title"/>
          </p:nvPr>
        </p:nvSpPr>
        <p:spPr/>
        <p:txBody>
          <a:bodyPr>
            <a:normAutofit fontScale="90000"/>
          </a:bodyPr>
          <a:lstStyle/>
          <a:p>
            <a:r>
              <a:rPr lang="it-IT" sz="3200" dirty="0" smtClean="0"/>
              <a:t>Setter </a:t>
            </a:r>
            <a:r>
              <a:rPr lang="it-IT" sz="3200" dirty="0" err="1" smtClean="0"/>
              <a:t>Dependency</a:t>
            </a:r>
            <a:r>
              <a:rPr lang="it-IT" sz="3200" dirty="0" smtClean="0"/>
              <a:t> </a:t>
            </a:r>
            <a:r>
              <a:rPr lang="it-IT" sz="3200" dirty="0" err="1" smtClean="0"/>
              <a:t>Injection</a:t>
            </a:r>
            <a:r>
              <a:rPr lang="it-IT" sz="3200" dirty="0" smtClean="0"/>
              <a:t/>
            </a:r>
            <a:br>
              <a:rPr lang="it-IT" sz="3200" dirty="0" smtClean="0"/>
            </a:br>
            <a:r>
              <a:rPr lang="it-IT" sz="3200" dirty="0"/>
              <a:t>per oggetti «custom» </a:t>
            </a:r>
            <a:r>
              <a:rPr lang="it-IT" sz="3200" dirty="0" smtClean="0"/>
              <a:t/>
            </a:r>
            <a:br>
              <a:rPr lang="it-IT" sz="3200" dirty="0" smtClean="0"/>
            </a:br>
            <a:r>
              <a:rPr lang="it-IT" sz="3200" dirty="0" smtClean="0"/>
              <a:t>configurati </a:t>
            </a:r>
            <a:r>
              <a:rPr lang="it-IT" sz="3200" dirty="0"/>
              <a:t>tramite </a:t>
            </a:r>
            <a:r>
              <a:rPr lang="it-IT" sz="3200" dirty="0" err="1" smtClean="0"/>
              <a:t>Annotation</a:t>
            </a:r>
            <a:endParaRPr lang="it-IT" sz="3200" dirty="0"/>
          </a:p>
        </p:txBody>
      </p:sp>
    </p:spTree>
    <p:extLst>
      <p:ext uri="{BB962C8B-B14F-4D97-AF65-F5344CB8AC3E}">
        <p14:creationId xmlns:p14="http://schemas.microsoft.com/office/powerpoint/2010/main" val="1496648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132856"/>
            <a:ext cx="7408333" cy="3993307"/>
          </a:xfrm>
        </p:spPr>
        <p:txBody>
          <a:bodyPr>
            <a:normAutofit/>
          </a:bodyPr>
          <a:lstStyle/>
          <a:p>
            <a:pPr marL="0" indent="0">
              <a:buNone/>
            </a:pPr>
            <a:endParaRPr lang="it-IT" sz="1800" i="1" dirty="0" smtClean="0"/>
          </a:p>
          <a:p>
            <a:pPr marL="0" indent="0">
              <a:buNone/>
            </a:pPr>
            <a:r>
              <a:rPr lang="it-IT" sz="1800" i="1" dirty="0" smtClean="0"/>
              <a:t>private </a:t>
            </a:r>
            <a:r>
              <a:rPr lang="it-IT" sz="1800" i="1" dirty="0" err="1"/>
              <a:t>static</a:t>
            </a:r>
            <a:r>
              <a:rPr lang="it-IT" sz="1800" i="1" dirty="0"/>
              <a:t> </a:t>
            </a:r>
            <a:r>
              <a:rPr lang="it-IT" sz="1800" i="1" dirty="0" err="1"/>
              <a:t>void</a:t>
            </a:r>
            <a:r>
              <a:rPr lang="it-IT" sz="1800" i="1" dirty="0"/>
              <a:t> </a:t>
            </a:r>
            <a:r>
              <a:rPr lang="it-IT" sz="1800" i="1" u="sng" dirty="0"/>
              <a:t>test4()</a:t>
            </a:r>
          </a:p>
          <a:p>
            <a:pPr marL="0" indent="0">
              <a:buNone/>
            </a:pPr>
            <a:r>
              <a:rPr lang="it-IT" sz="1800" i="1" dirty="0"/>
              <a:t>{</a:t>
            </a:r>
          </a:p>
          <a:p>
            <a:pPr marL="0" indent="0">
              <a:buNone/>
            </a:pPr>
            <a:r>
              <a:rPr lang="it-IT" sz="1800" i="1" dirty="0" err="1"/>
              <a:t>ApplicationContext</a:t>
            </a:r>
            <a:r>
              <a:rPr lang="it-IT" sz="1800" i="1" dirty="0"/>
              <a:t> </a:t>
            </a:r>
            <a:r>
              <a:rPr lang="it-IT" sz="1800" i="1" dirty="0" err="1"/>
              <a:t>applicationContext</a:t>
            </a:r>
            <a:r>
              <a:rPr lang="it-IT" sz="1800" i="1" dirty="0"/>
              <a:t> = new </a:t>
            </a:r>
            <a:r>
              <a:rPr lang="it-IT" sz="1800" i="1" dirty="0" err="1"/>
              <a:t>AnnotationConfigApplicationContext</a:t>
            </a:r>
            <a:r>
              <a:rPr lang="it-IT" sz="1800" i="1" dirty="0"/>
              <a:t>(</a:t>
            </a:r>
            <a:r>
              <a:rPr lang="it-IT" sz="1800" i="1" dirty="0" err="1"/>
              <a:t>SpringConfiguration.class</a:t>
            </a:r>
            <a:r>
              <a:rPr lang="it-IT" sz="1800" i="1" dirty="0"/>
              <a:t>);</a:t>
            </a:r>
          </a:p>
          <a:p>
            <a:pPr marL="0" indent="0">
              <a:buNone/>
            </a:pPr>
            <a:r>
              <a:rPr lang="it-IT" sz="1800" i="1" dirty="0" smtClean="0"/>
              <a:t>Macchina </a:t>
            </a:r>
            <a:r>
              <a:rPr lang="it-IT" sz="1800" i="1" dirty="0"/>
              <a:t>macch1 = (Macchina) </a:t>
            </a:r>
            <a:r>
              <a:rPr lang="it-IT" sz="1800" i="1" dirty="0" err="1"/>
              <a:t>applicationContext.getBean</a:t>
            </a:r>
            <a:r>
              <a:rPr lang="it-IT" sz="1800" i="1" dirty="0"/>
              <a:t>("macchina1");</a:t>
            </a:r>
          </a:p>
        </p:txBody>
      </p:sp>
      <p:sp>
        <p:nvSpPr>
          <p:cNvPr id="3" name="Segnaposto numero diapositiva 2"/>
          <p:cNvSpPr>
            <a:spLocks noGrp="1"/>
          </p:cNvSpPr>
          <p:nvPr>
            <p:ph type="sldNum" sz="quarter" idx="12"/>
          </p:nvPr>
        </p:nvSpPr>
        <p:spPr/>
        <p:txBody>
          <a:bodyPr/>
          <a:lstStyle/>
          <a:p>
            <a:fld id="{E7A41E1B-4F70-4964-A407-84C68BE8251C}" type="slidenum">
              <a:rPr lang="it-IT" smtClean="0"/>
              <a:t>21</a:t>
            </a:fld>
            <a:endParaRPr lang="it-IT"/>
          </a:p>
        </p:txBody>
      </p:sp>
      <p:sp>
        <p:nvSpPr>
          <p:cNvPr id="4" name="Titolo 3"/>
          <p:cNvSpPr>
            <a:spLocks noGrp="1"/>
          </p:cNvSpPr>
          <p:nvPr>
            <p:ph type="title"/>
          </p:nvPr>
        </p:nvSpPr>
        <p:spPr/>
        <p:txBody>
          <a:bodyPr>
            <a:normAutofit fontScale="90000"/>
          </a:bodyPr>
          <a:lstStyle/>
          <a:p>
            <a:r>
              <a:rPr lang="it-IT" sz="3200" dirty="0"/>
              <a:t>Setter </a:t>
            </a:r>
            <a:r>
              <a:rPr lang="it-IT" sz="3200" dirty="0" err="1"/>
              <a:t>Dependency</a:t>
            </a:r>
            <a:r>
              <a:rPr lang="it-IT" sz="3200" dirty="0"/>
              <a:t> </a:t>
            </a:r>
            <a:r>
              <a:rPr lang="it-IT" sz="3200" dirty="0" err="1"/>
              <a:t>Injection</a:t>
            </a:r>
            <a:r>
              <a:rPr lang="it-IT" sz="3200" dirty="0"/>
              <a:t/>
            </a:r>
            <a:br>
              <a:rPr lang="it-IT" sz="3200" dirty="0"/>
            </a:br>
            <a:r>
              <a:rPr lang="it-IT" sz="3200" dirty="0" smtClean="0"/>
              <a:t>codice per recuperare </a:t>
            </a:r>
            <a:r>
              <a:rPr lang="it-IT" sz="3200" dirty="0"/>
              <a:t>oggetti «custom» </a:t>
            </a:r>
            <a:br>
              <a:rPr lang="it-IT" sz="3200" dirty="0"/>
            </a:br>
            <a:r>
              <a:rPr lang="it-IT" sz="3200" dirty="0"/>
              <a:t>configurati tramite </a:t>
            </a:r>
            <a:r>
              <a:rPr lang="it-IT" sz="3200" dirty="0" err="1"/>
              <a:t>Annotation</a:t>
            </a:r>
            <a:endParaRPr lang="it-IT" sz="3200" dirty="0"/>
          </a:p>
        </p:txBody>
      </p:sp>
    </p:spTree>
    <p:extLst>
      <p:ext uri="{BB962C8B-B14F-4D97-AF65-F5344CB8AC3E}">
        <p14:creationId xmlns:p14="http://schemas.microsoft.com/office/powerpoint/2010/main" val="1293142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060848"/>
            <a:ext cx="7408333" cy="4065315"/>
          </a:xfrm>
        </p:spPr>
        <p:txBody>
          <a:bodyPr>
            <a:normAutofit/>
          </a:bodyPr>
          <a:lstStyle/>
          <a:p>
            <a:pPr marL="0" indent="0">
              <a:buNone/>
            </a:pPr>
            <a:r>
              <a:rPr lang="it-IT" sz="1800" i="1" dirty="0"/>
              <a:t>@</a:t>
            </a:r>
            <a:r>
              <a:rPr lang="it-IT" sz="1800" i="1" dirty="0" err="1"/>
              <a:t>Configuration</a:t>
            </a:r>
            <a:endParaRPr lang="it-IT" sz="1800" i="1" dirty="0"/>
          </a:p>
          <a:p>
            <a:pPr marL="0" indent="0">
              <a:buNone/>
            </a:pPr>
            <a:r>
              <a:rPr lang="it-IT" sz="1800" i="1" dirty="0"/>
              <a:t>public </a:t>
            </a:r>
            <a:r>
              <a:rPr lang="it-IT" sz="1800" i="1" dirty="0" err="1"/>
              <a:t>class</a:t>
            </a:r>
            <a:r>
              <a:rPr lang="it-IT" sz="1800" i="1" dirty="0"/>
              <a:t> </a:t>
            </a:r>
            <a:r>
              <a:rPr lang="it-IT" sz="1800" i="1" dirty="0" err="1"/>
              <a:t>SpringConfiguration</a:t>
            </a:r>
            <a:endParaRPr lang="it-IT" sz="1800" i="1" dirty="0"/>
          </a:p>
          <a:p>
            <a:pPr marL="0" indent="0">
              <a:buNone/>
            </a:pPr>
            <a:r>
              <a:rPr lang="it-IT" sz="1800" i="1" dirty="0"/>
              <a:t>{</a:t>
            </a:r>
          </a:p>
          <a:p>
            <a:pPr marL="0" indent="0">
              <a:buNone/>
            </a:pPr>
            <a:r>
              <a:rPr lang="it-IT" sz="1800" i="1" dirty="0" smtClean="0"/>
              <a:t>	@</a:t>
            </a:r>
            <a:r>
              <a:rPr lang="it-IT" sz="1800" i="1" dirty="0"/>
              <a:t>Bean</a:t>
            </a:r>
          </a:p>
          <a:p>
            <a:pPr marL="0" indent="0">
              <a:buNone/>
            </a:pPr>
            <a:r>
              <a:rPr lang="it-IT" sz="1800" i="1" dirty="0" smtClean="0"/>
              <a:t>	public </a:t>
            </a:r>
            <a:r>
              <a:rPr lang="it-IT" sz="1800" i="1" dirty="0"/>
              <a:t>Macchina macchina2()</a:t>
            </a:r>
          </a:p>
          <a:p>
            <a:pPr marL="0" indent="0">
              <a:buNone/>
            </a:pPr>
            <a:r>
              <a:rPr lang="it-IT" sz="1800" i="1" dirty="0" smtClean="0"/>
              <a:t>	{</a:t>
            </a:r>
            <a:endParaRPr lang="it-IT" sz="1800" i="1" dirty="0"/>
          </a:p>
          <a:p>
            <a:pPr marL="0" indent="0">
              <a:buNone/>
            </a:pPr>
            <a:r>
              <a:rPr lang="it-IT" sz="1800" i="1" dirty="0" smtClean="0"/>
              <a:t>	Macchina </a:t>
            </a:r>
            <a:r>
              <a:rPr lang="it-IT" sz="1800" i="1" dirty="0"/>
              <a:t>mac2 = new Macchina(2,"Mercedes S",</a:t>
            </a:r>
            <a:r>
              <a:rPr lang="it-IT" sz="1800" b="1" i="1" dirty="0"/>
              <a:t>persona2()</a:t>
            </a:r>
            <a:r>
              <a:rPr lang="it-IT" sz="1800" i="1" dirty="0"/>
              <a:t>);</a:t>
            </a:r>
          </a:p>
          <a:p>
            <a:pPr marL="0" indent="0">
              <a:buNone/>
            </a:pPr>
            <a:r>
              <a:rPr lang="it-IT" sz="1800" i="1" dirty="0" smtClean="0"/>
              <a:t>	</a:t>
            </a:r>
            <a:r>
              <a:rPr lang="it-IT" sz="1800" i="1" dirty="0" err="1" smtClean="0"/>
              <a:t>return</a:t>
            </a:r>
            <a:r>
              <a:rPr lang="it-IT" sz="1800" i="1" dirty="0" smtClean="0"/>
              <a:t> </a:t>
            </a:r>
            <a:r>
              <a:rPr lang="it-IT" sz="1800" i="1" dirty="0"/>
              <a:t>mac2;</a:t>
            </a:r>
          </a:p>
          <a:p>
            <a:pPr marL="0" indent="0">
              <a:buNone/>
            </a:pPr>
            <a:r>
              <a:rPr lang="it-IT" sz="1800" i="1" dirty="0" smtClean="0"/>
              <a:t>	}</a:t>
            </a:r>
            <a:endParaRPr lang="it-IT" sz="18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22</a:t>
            </a:fld>
            <a:endParaRPr lang="it-IT"/>
          </a:p>
        </p:txBody>
      </p:sp>
      <p:sp>
        <p:nvSpPr>
          <p:cNvPr id="4" name="Titolo 3"/>
          <p:cNvSpPr>
            <a:spLocks noGrp="1"/>
          </p:cNvSpPr>
          <p:nvPr>
            <p:ph type="title"/>
          </p:nvPr>
        </p:nvSpPr>
        <p:spPr/>
        <p:txBody>
          <a:bodyPr>
            <a:normAutofit fontScale="90000"/>
          </a:bodyPr>
          <a:lstStyle/>
          <a:p>
            <a:r>
              <a:rPr lang="it-IT" sz="3200" dirty="0" err="1" smtClean="0"/>
              <a:t>Constructor</a:t>
            </a:r>
            <a:r>
              <a:rPr lang="it-IT" sz="3200" dirty="0" smtClean="0"/>
              <a:t> </a:t>
            </a:r>
            <a:r>
              <a:rPr lang="it-IT" sz="3200" dirty="0" err="1"/>
              <a:t>Dependency</a:t>
            </a:r>
            <a:r>
              <a:rPr lang="it-IT" sz="3200" dirty="0"/>
              <a:t> </a:t>
            </a:r>
            <a:r>
              <a:rPr lang="it-IT" sz="3200" dirty="0" err="1"/>
              <a:t>Injection</a:t>
            </a:r>
            <a:r>
              <a:rPr lang="it-IT" sz="3200" dirty="0"/>
              <a:t/>
            </a:r>
            <a:br>
              <a:rPr lang="it-IT" sz="3200" dirty="0"/>
            </a:br>
            <a:r>
              <a:rPr lang="it-IT" sz="3200" dirty="0"/>
              <a:t>per oggetti «custom» </a:t>
            </a:r>
            <a:br>
              <a:rPr lang="it-IT" sz="3200" dirty="0"/>
            </a:br>
            <a:r>
              <a:rPr lang="it-IT" sz="3200" dirty="0"/>
              <a:t>configurati tramite </a:t>
            </a:r>
            <a:r>
              <a:rPr lang="it-IT" sz="3200" dirty="0" err="1"/>
              <a:t>Annotation</a:t>
            </a:r>
            <a:endParaRPr lang="it-IT" sz="3200" dirty="0"/>
          </a:p>
        </p:txBody>
      </p:sp>
    </p:spTree>
    <p:extLst>
      <p:ext uri="{BB962C8B-B14F-4D97-AF65-F5344CB8AC3E}">
        <p14:creationId xmlns:p14="http://schemas.microsoft.com/office/powerpoint/2010/main" val="497575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88840"/>
            <a:ext cx="7408333" cy="4137323"/>
          </a:xfrm>
        </p:spPr>
        <p:txBody>
          <a:bodyPr>
            <a:normAutofit/>
          </a:bodyPr>
          <a:lstStyle/>
          <a:p>
            <a:pPr marL="0" indent="0">
              <a:buNone/>
            </a:pPr>
            <a:endParaRPr lang="it-IT" sz="1800" i="1" dirty="0" smtClean="0"/>
          </a:p>
          <a:p>
            <a:pPr marL="0" indent="0">
              <a:buNone/>
            </a:pPr>
            <a:r>
              <a:rPr lang="it-IT" sz="1800" i="1" dirty="0" smtClean="0"/>
              <a:t>private </a:t>
            </a:r>
            <a:r>
              <a:rPr lang="it-IT" sz="1800" i="1" dirty="0" err="1"/>
              <a:t>static</a:t>
            </a:r>
            <a:r>
              <a:rPr lang="it-IT" sz="1800" i="1" dirty="0"/>
              <a:t> </a:t>
            </a:r>
            <a:r>
              <a:rPr lang="it-IT" sz="1800" i="1" dirty="0" err="1"/>
              <a:t>void</a:t>
            </a:r>
            <a:r>
              <a:rPr lang="it-IT" sz="1800" i="1" dirty="0"/>
              <a:t> test4()</a:t>
            </a:r>
          </a:p>
          <a:p>
            <a:pPr marL="0" indent="0">
              <a:buNone/>
            </a:pPr>
            <a:r>
              <a:rPr lang="it-IT" sz="1800" i="1" dirty="0"/>
              <a:t>{</a:t>
            </a:r>
          </a:p>
          <a:p>
            <a:pPr marL="0" indent="0">
              <a:buNone/>
            </a:pPr>
            <a:r>
              <a:rPr lang="it-IT" sz="1800" i="1" dirty="0" err="1" smtClean="0"/>
              <a:t>ApplicationContext</a:t>
            </a:r>
            <a:r>
              <a:rPr lang="it-IT" sz="1800" i="1" dirty="0" smtClean="0"/>
              <a:t> </a:t>
            </a:r>
            <a:r>
              <a:rPr lang="it-IT" sz="1800" i="1" dirty="0" err="1"/>
              <a:t>applicationContext</a:t>
            </a:r>
            <a:r>
              <a:rPr lang="it-IT" sz="1800" i="1" dirty="0"/>
              <a:t> = new </a:t>
            </a:r>
            <a:r>
              <a:rPr lang="it-IT" sz="1800" i="1" dirty="0" err="1"/>
              <a:t>AnnotationConfigApplicationContext</a:t>
            </a:r>
            <a:r>
              <a:rPr lang="it-IT" sz="1800" i="1" dirty="0"/>
              <a:t>(</a:t>
            </a:r>
            <a:r>
              <a:rPr lang="it-IT" sz="1800" i="1" dirty="0" err="1"/>
              <a:t>SpringConfiguration.class</a:t>
            </a:r>
            <a:r>
              <a:rPr lang="it-IT" sz="1800" i="1" dirty="0"/>
              <a:t>);</a:t>
            </a:r>
          </a:p>
          <a:p>
            <a:pPr marL="0" indent="0">
              <a:buNone/>
            </a:pPr>
            <a:r>
              <a:rPr lang="it-IT" sz="1800" i="1" dirty="0" smtClean="0"/>
              <a:t>Macchina </a:t>
            </a:r>
            <a:r>
              <a:rPr lang="it-IT" sz="1800" i="1" dirty="0"/>
              <a:t>macch2 = (Macchina) </a:t>
            </a:r>
            <a:r>
              <a:rPr lang="it-IT" sz="1800" i="1" dirty="0" err="1"/>
              <a:t>applicationContext.getBean</a:t>
            </a:r>
            <a:r>
              <a:rPr lang="it-IT" sz="1800" i="1" dirty="0"/>
              <a:t>("macchina2");</a:t>
            </a:r>
          </a:p>
        </p:txBody>
      </p:sp>
      <p:sp>
        <p:nvSpPr>
          <p:cNvPr id="3" name="Segnaposto numero diapositiva 2"/>
          <p:cNvSpPr>
            <a:spLocks noGrp="1"/>
          </p:cNvSpPr>
          <p:nvPr>
            <p:ph type="sldNum" sz="quarter" idx="12"/>
          </p:nvPr>
        </p:nvSpPr>
        <p:spPr/>
        <p:txBody>
          <a:bodyPr/>
          <a:lstStyle/>
          <a:p>
            <a:fld id="{E7A41E1B-4F70-4964-A407-84C68BE8251C}" type="slidenum">
              <a:rPr lang="it-IT" smtClean="0"/>
              <a:t>23</a:t>
            </a:fld>
            <a:endParaRPr lang="it-IT"/>
          </a:p>
        </p:txBody>
      </p:sp>
      <p:sp>
        <p:nvSpPr>
          <p:cNvPr id="4" name="Titolo 3"/>
          <p:cNvSpPr>
            <a:spLocks noGrp="1"/>
          </p:cNvSpPr>
          <p:nvPr>
            <p:ph type="title"/>
          </p:nvPr>
        </p:nvSpPr>
        <p:spPr/>
        <p:txBody>
          <a:bodyPr>
            <a:normAutofit fontScale="90000"/>
          </a:bodyPr>
          <a:lstStyle/>
          <a:p>
            <a:r>
              <a:rPr lang="it-IT" sz="3200" dirty="0" err="1"/>
              <a:t>Constructor</a:t>
            </a:r>
            <a:r>
              <a:rPr lang="it-IT" sz="3200" dirty="0"/>
              <a:t> </a:t>
            </a:r>
            <a:r>
              <a:rPr lang="it-IT" sz="3200" dirty="0" err="1"/>
              <a:t>Dependency</a:t>
            </a:r>
            <a:r>
              <a:rPr lang="it-IT" sz="3200" dirty="0"/>
              <a:t> </a:t>
            </a:r>
            <a:r>
              <a:rPr lang="it-IT" sz="3200" dirty="0" err="1"/>
              <a:t>Injection</a:t>
            </a:r>
            <a:r>
              <a:rPr lang="it-IT" sz="3200" dirty="0"/>
              <a:t/>
            </a:r>
            <a:br>
              <a:rPr lang="it-IT" sz="3200" dirty="0"/>
            </a:br>
            <a:r>
              <a:rPr lang="it-IT" sz="3200" dirty="0" smtClean="0"/>
              <a:t>codice per recuperare </a:t>
            </a:r>
            <a:r>
              <a:rPr lang="it-IT" sz="3200" dirty="0"/>
              <a:t>oggetti «custom» </a:t>
            </a:r>
            <a:br>
              <a:rPr lang="it-IT" sz="3200" dirty="0"/>
            </a:br>
            <a:r>
              <a:rPr lang="it-IT" sz="3200" dirty="0"/>
              <a:t>configurati tramite </a:t>
            </a:r>
            <a:r>
              <a:rPr lang="it-IT" sz="3200" dirty="0" err="1"/>
              <a:t>Annotation</a:t>
            </a:r>
            <a:endParaRPr lang="it-IT" sz="3200" dirty="0"/>
          </a:p>
        </p:txBody>
      </p:sp>
    </p:spTree>
    <p:extLst>
      <p:ext uri="{BB962C8B-B14F-4D97-AF65-F5344CB8AC3E}">
        <p14:creationId xmlns:p14="http://schemas.microsoft.com/office/powerpoint/2010/main" val="1114494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16832"/>
            <a:ext cx="7408333" cy="4209331"/>
          </a:xfrm>
        </p:spPr>
        <p:txBody>
          <a:bodyPr>
            <a:normAutofit lnSpcReduction="10000"/>
          </a:bodyPr>
          <a:lstStyle/>
          <a:p>
            <a:r>
              <a:rPr lang="it-IT" dirty="0" smtClean="0"/>
              <a:t>Da notare (ci torneremo più approfonditamente in seguito) che tutti i </a:t>
            </a:r>
            <a:r>
              <a:rPr lang="it-IT" i="1" dirty="0" err="1" smtClean="0"/>
              <a:t>beans</a:t>
            </a:r>
            <a:r>
              <a:rPr lang="it-IT" dirty="0" smtClean="0"/>
              <a:t> restituiti da </a:t>
            </a:r>
            <a:r>
              <a:rPr lang="it-IT" i="1" dirty="0" smtClean="0"/>
              <a:t>Spring</a:t>
            </a:r>
            <a:r>
              <a:rPr lang="it-IT" dirty="0" smtClean="0"/>
              <a:t> sono gestiti attraverso il </a:t>
            </a:r>
            <a:r>
              <a:rPr lang="it-IT" i="1" dirty="0" smtClean="0"/>
              <a:t>pattern Singleton</a:t>
            </a:r>
            <a:r>
              <a:rPr lang="it-IT" dirty="0" smtClean="0"/>
              <a:t>, ovvero per un determinato </a:t>
            </a:r>
            <a:r>
              <a:rPr lang="it-IT" i="1" dirty="0" err="1" smtClean="0"/>
              <a:t>bean</a:t>
            </a:r>
            <a:r>
              <a:rPr lang="it-IT" dirty="0" smtClean="0"/>
              <a:t> identificato da un preciso </a:t>
            </a:r>
            <a:r>
              <a:rPr lang="it-IT" i="1" dirty="0" smtClean="0"/>
              <a:t>id </a:t>
            </a:r>
            <a:r>
              <a:rPr lang="it-IT" dirty="0" smtClean="0"/>
              <a:t>Spring ci restituirà sempre la stessa istanza</a:t>
            </a:r>
          </a:p>
          <a:p>
            <a:r>
              <a:rPr lang="it-IT" dirty="0" smtClean="0"/>
              <a:t>in termini ancora più tecnici il metodo </a:t>
            </a:r>
            <a:r>
              <a:rPr lang="it-IT" i="1" dirty="0" err="1" smtClean="0"/>
              <a:t>getBean</a:t>
            </a:r>
            <a:r>
              <a:rPr lang="it-IT" i="1" dirty="0" smtClean="0"/>
              <a:t>("</a:t>
            </a:r>
            <a:r>
              <a:rPr lang="it-IT" i="1" dirty="0" err="1" smtClean="0"/>
              <a:t>beanId</a:t>
            </a:r>
            <a:r>
              <a:rPr lang="it-IT" i="1" dirty="0"/>
              <a:t> </a:t>
            </a:r>
            <a:r>
              <a:rPr lang="it-IT" i="1" dirty="0" smtClean="0"/>
              <a:t>")</a:t>
            </a:r>
            <a:r>
              <a:rPr lang="it-IT" dirty="0" smtClean="0"/>
              <a:t> di </a:t>
            </a:r>
            <a:r>
              <a:rPr lang="it-IT" i="1" dirty="0" err="1" smtClean="0"/>
              <a:t>ApplicationContext</a:t>
            </a:r>
            <a:r>
              <a:rPr lang="it-IT" dirty="0" smtClean="0"/>
              <a:t> restituirà sempre lo stesso </a:t>
            </a:r>
            <a:r>
              <a:rPr lang="it-IT" i="1" dirty="0" err="1" smtClean="0"/>
              <a:t>bean</a:t>
            </a:r>
            <a:r>
              <a:rPr lang="it-IT" dirty="0" smtClean="0"/>
              <a:t> (identificato da </a:t>
            </a:r>
            <a:r>
              <a:rPr lang="it-IT" i="1" dirty="0" err="1" smtClean="0"/>
              <a:t>beanId</a:t>
            </a:r>
            <a:r>
              <a:rPr lang="it-IT" dirty="0" smtClean="0"/>
              <a:t>) ogni qualvolta verrà invocato</a:t>
            </a:r>
          </a:p>
          <a:p>
            <a:r>
              <a:rPr lang="it-IT" dirty="0" smtClean="0"/>
              <a:t>questo è il comportamento di default dell’</a:t>
            </a:r>
            <a:r>
              <a:rPr lang="it-IT" i="1" dirty="0" err="1" smtClean="0"/>
              <a:t>ApplicationContext</a:t>
            </a:r>
            <a:r>
              <a:rPr lang="it-IT" dirty="0" smtClean="0"/>
              <a:t> e può essere cambiato (lo vedremo più avanti)</a:t>
            </a:r>
            <a:endParaRPr lang="it-IT"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24</a:t>
            </a:fld>
            <a:endParaRPr lang="it-IT"/>
          </a:p>
        </p:txBody>
      </p:sp>
      <p:sp>
        <p:nvSpPr>
          <p:cNvPr id="4" name="Titolo 3"/>
          <p:cNvSpPr>
            <a:spLocks noGrp="1"/>
          </p:cNvSpPr>
          <p:nvPr>
            <p:ph type="title"/>
          </p:nvPr>
        </p:nvSpPr>
        <p:spPr/>
        <p:txBody>
          <a:bodyPr/>
          <a:lstStyle/>
          <a:p>
            <a:r>
              <a:rPr lang="it-IT" dirty="0" smtClean="0"/>
              <a:t>Spring </a:t>
            </a:r>
            <a:r>
              <a:rPr lang="it-IT" i="1" dirty="0" err="1" smtClean="0"/>
              <a:t>beans</a:t>
            </a:r>
            <a:r>
              <a:rPr lang="it-IT" dirty="0" smtClean="0"/>
              <a:t> – pattern </a:t>
            </a:r>
            <a:r>
              <a:rPr lang="it-IT" i="1" dirty="0" smtClean="0"/>
              <a:t>Singleton</a:t>
            </a:r>
            <a:endParaRPr lang="it-IT" i="1" dirty="0"/>
          </a:p>
        </p:txBody>
      </p:sp>
    </p:spTree>
    <p:extLst>
      <p:ext uri="{BB962C8B-B14F-4D97-AF65-F5344CB8AC3E}">
        <p14:creationId xmlns:p14="http://schemas.microsoft.com/office/powerpoint/2010/main" val="1134505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16832"/>
            <a:ext cx="7408333" cy="4209331"/>
          </a:xfrm>
        </p:spPr>
        <p:txBody>
          <a:bodyPr>
            <a:normAutofit lnSpcReduction="10000"/>
          </a:bodyPr>
          <a:lstStyle/>
          <a:p>
            <a:r>
              <a:rPr lang="it-IT" dirty="0" smtClean="0"/>
              <a:t>Spring, internamente per implementare l’</a:t>
            </a:r>
            <a:r>
              <a:rPr lang="it-IT" i="1" dirty="0" err="1" smtClean="0"/>
              <a:t>IoC</a:t>
            </a:r>
            <a:r>
              <a:rPr lang="it-IT" i="1" dirty="0" smtClean="0"/>
              <a:t> container</a:t>
            </a:r>
            <a:r>
              <a:rPr lang="it-IT" dirty="0" smtClean="0"/>
              <a:t>, utilizza il </a:t>
            </a:r>
            <a:r>
              <a:rPr lang="it-IT" i="1" dirty="0" err="1" smtClean="0"/>
              <a:t>proxy</a:t>
            </a:r>
            <a:r>
              <a:rPr lang="it-IT" i="1" dirty="0" smtClean="0"/>
              <a:t> pattern</a:t>
            </a:r>
            <a:r>
              <a:rPr lang="it-IT" dirty="0" smtClean="0"/>
              <a:t>, ovvero crea una classe, detta appunto </a:t>
            </a:r>
            <a:r>
              <a:rPr lang="it-IT" i="1" dirty="0" err="1" smtClean="0"/>
              <a:t>proxy</a:t>
            </a:r>
            <a:r>
              <a:rPr lang="it-IT" dirty="0" smtClean="0"/>
              <a:t>, che intercetta tutte le richieste di accesso verso i nostri </a:t>
            </a:r>
            <a:r>
              <a:rPr lang="it-IT" i="1" dirty="0" err="1" smtClean="0"/>
              <a:t>bean</a:t>
            </a:r>
            <a:endParaRPr lang="it-IT" i="1" dirty="0" smtClean="0"/>
          </a:p>
          <a:p>
            <a:r>
              <a:rPr lang="it-IT" dirty="0"/>
              <a:t>Il </a:t>
            </a:r>
            <a:r>
              <a:rPr lang="it-IT" i="1" dirty="0" err="1"/>
              <a:t>proxy</a:t>
            </a:r>
            <a:r>
              <a:rPr lang="it-IT" dirty="0"/>
              <a:t> creato da </a:t>
            </a:r>
            <a:r>
              <a:rPr lang="it-IT" dirty="0" smtClean="0"/>
              <a:t>Spring sostanzialmente </a:t>
            </a:r>
            <a:r>
              <a:rPr lang="it-IT" i="1" dirty="0" smtClean="0"/>
              <a:t>simula</a:t>
            </a:r>
            <a:r>
              <a:rPr lang="it-IT" dirty="0" smtClean="0"/>
              <a:t> il nostro </a:t>
            </a:r>
            <a:r>
              <a:rPr lang="it-IT" i="1" dirty="0" err="1" smtClean="0"/>
              <a:t>bean</a:t>
            </a:r>
            <a:r>
              <a:rPr lang="it-IT" dirty="0" smtClean="0"/>
              <a:t> e di fatto è con questo che dialoghiamo quando invochiamo il metodo </a:t>
            </a:r>
            <a:r>
              <a:rPr lang="it-IT" i="1" dirty="0" err="1" smtClean="0"/>
              <a:t>getBean</a:t>
            </a:r>
            <a:r>
              <a:rPr lang="it-IT" dirty="0" smtClean="0"/>
              <a:t> di </a:t>
            </a:r>
            <a:r>
              <a:rPr lang="it-IT" i="1" dirty="0" err="1" smtClean="0"/>
              <a:t>ApplicationContext</a:t>
            </a:r>
            <a:endParaRPr lang="it-IT" dirty="0" smtClean="0"/>
          </a:p>
          <a:p>
            <a:r>
              <a:rPr lang="it-IT" dirty="0" smtClean="0"/>
              <a:t>Il </a:t>
            </a:r>
            <a:r>
              <a:rPr lang="it-IT" i="1" dirty="0" err="1" smtClean="0"/>
              <a:t>proxy</a:t>
            </a:r>
            <a:r>
              <a:rPr lang="it-IT" dirty="0" smtClean="0"/>
              <a:t> creato da Spring dovrà quindi avere tutti i metodi del nostro </a:t>
            </a:r>
            <a:r>
              <a:rPr lang="it-IT" i="1" dirty="0" err="1" smtClean="0"/>
              <a:t>bean</a:t>
            </a:r>
            <a:r>
              <a:rPr lang="it-IT" dirty="0" smtClean="0"/>
              <a:t> più dei metodi aggiuntivi che servono a Spring per gestire il nostro </a:t>
            </a:r>
            <a:r>
              <a:rPr lang="it-IT" i="1" dirty="0" err="1" smtClean="0"/>
              <a:t>bean</a:t>
            </a:r>
            <a:endParaRPr lang="it-IT" dirty="0" smtClean="0"/>
          </a:p>
        </p:txBody>
      </p:sp>
      <p:sp>
        <p:nvSpPr>
          <p:cNvPr id="3" name="Segnaposto numero diapositiva 2"/>
          <p:cNvSpPr>
            <a:spLocks noGrp="1"/>
          </p:cNvSpPr>
          <p:nvPr>
            <p:ph type="sldNum" sz="quarter" idx="12"/>
          </p:nvPr>
        </p:nvSpPr>
        <p:spPr/>
        <p:txBody>
          <a:bodyPr/>
          <a:lstStyle/>
          <a:p>
            <a:fld id="{E7A41E1B-4F70-4964-A407-84C68BE8251C}" type="slidenum">
              <a:rPr lang="it-IT" smtClean="0"/>
              <a:t>25</a:t>
            </a:fld>
            <a:endParaRPr lang="it-IT"/>
          </a:p>
        </p:txBody>
      </p:sp>
      <p:sp>
        <p:nvSpPr>
          <p:cNvPr id="4" name="Titolo 3"/>
          <p:cNvSpPr>
            <a:spLocks noGrp="1"/>
          </p:cNvSpPr>
          <p:nvPr>
            <p:ph type="title"/>
          </p:nvPr>
        </p:nvSpPr>
        <p:spPr/>
        <p:txBody>
          <a:bodyPr/>
          <a:lstStyle/>
          <a:p>
            <a:r>
              <a:rPr lang="it-IT" dirty="0" smtClean="0"/>
              <a:t>Spring </a:t>
            </a:r>
            <a:r>
              <a:rPr lang="it-IT" dirty="0" err="1" smtClean="0"/>
              <a:t>Ioc</a:t>
            </a:r>
            <a:r>
              <a:rPr lang="it-IT" dirty="0" smtClean="0"/>
              <a:t> – </a:t>
            </a:r>
            <a:r>
              <a:rPr lang="it-IT" i="1" dirty="0" smtClean="0"/>
              <a:t>Proxy pattern </a:t>
            </a:r>
            <a:r>
              <a:rPr lang="it-IT" dirty="0" smtClean="0"/>
              <a:t>(1/2)</a:t>
            </a:r>
            <a:endParaRPr lang="it-IT" dirty="0"/>
          </a:p>
        </p:txBody>
      </p:sp>
    </p:spTree>
    <p:extLst>
      <p:ext uri="{BB962C8B-B14F-4D97-AF65-F5344CB8AC3E}">
        <p14:creationId xmlns:p14="http://schemas.microsoft.com/office/powerpoint/2010/main" val="3094962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88840"/>
            <a:ext cx="7408333" cy="4137323"/>
          </a:xfrm>
        </p:spPr>
        <p:txBody>
          <a:bodyPr/>
          <a:lstStyle/>
          <a:p>
            <a:r>
              <a:rPr lang="it-IT" dirty="0"/>
              <a:t>Tecnicamente, Spring può implementare il </a:t>
            </a:r>
            <a:r>
              <a:rPr lang="it-IT" i="1" dirty="0" err="1"/>
              <a:t>proxy</a:t>
            </a:r>
            <a:r>
              <a:rPr lang="it-IT" i="1" dirty="0"/>
              <a:t> pattern</a:t>
            </a:r>
            <a:r>
              <a:rPr lang="it-IT" dirty="0"/>
              <a:t> in due modalità:</a:t>
            </a:r>
          </a:p>
          <a:p>
            <a:pPr lvl="1"/>
            <a:r>
              <a:rPr lang="it-IT" dirty="0" smtClean="0"/>
              <a:t>se il nostro </a:t>
            </a:r>
            <a:r>
              <a:rPr lang="it-IT" i="1" dirty="0" err="1" smtClean="0"/>
              <a:t>bean</a:t>
            </a:r>
            <a:r>
              <a:rPr lang="it-IT" dirty="0" smtClean="0"/>
              <a:t> implementa un’interfaccia</a:t>
            </a:r>
            <a:r>
              <a:rPr lang="it-IT" i="1" dirty="0" smtClean="0"/>
              <a:t>, </a:t>
            </a:r>
            <a:r>
              <a:rPr lang="it-IT" dirty="0" smtClean="0"/>
              <a:t>Spring creerà un </a:t>
            </a:r>
            <a:r>
              <a:rPr lang="it-IT" i="1" dirty="0" err="1" smtClean="0"/>
              <a:t>proxy</a:t>
            </a:r>
            <a:r>
              <a:rPr lang="it-IT" dirty="0" smtClean="0"/>
              <a:t> che implementa la stessa interfaccia</a:t>
            </a:r>
          </a:p>
          <a:p>
            <a:pPr lvl="1"/>
            <a:r>
              <a:rPr lang="it-IT" dirty="0" smtClean="0"/>
              <a:t>se il nostro </a:t>
            </a:r>
            <a:r>
              <a:rPr lang="it-IT" i="1" dirty="0" err="1" smtClean="0"/>
              <a:t>bean</a:t>
            </a:r>
            <a:r>
              <a:rPr lang="it-IT" dirty="0" smtClean="0"/>
              <a:t> non implementa alcuna interfaccia, Spring creerà un </a:t>
            </a:r>
            <a:r>
              <a:rPr lang="it-IT" i="1" dirty="0" err="1" smtClean="0"/>
              <a:t>proxy</a:t>
            </a:r>
            <a:r>
              <a:rPr lang="it-IT" dirty="0" smtClean="0"/>
              <a:t> </a:t>
            </a:r>
            <a:r>
              <a:rPr lang="it-IT" smtClean="0"/>
              <a:t>che estende </a:t>
            </a:r>
            <a:r>
              <a:rPr lang="it-IT" dirty="0" smtClean="0"/>
              <a:t>la nostra classe concreta</a:t>
            </a:r>
          </a:p>
          <a:p>
            <a:r>
              <a:rPr lang="it-IT" dirty="0" smtClean="0"/>
              <a:t>Il meccanismo di default e preferito da Spring è il primo</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26</a:t>
            </a:fld>
            <a:endParaRPr lang="it-IT"/>
          </a:p>
        </p:txBody>
      </p:sp>
      <p:sp>
        <p:nvSpPr>
          <p:cNvPr id="4" name="Titolo 3"/>
          <p:cNvSpPr>
            <a:spLocks noGrp="1"/>
          </p:cNvSpPr>
          <p:nvPr>
            <p:ph type="title"/>
          </p:nvPr>
        </p:nvSpPr>
        <p:spPr/>
        <p:txBody>
          <a:bodyPr/>
          <a:lstStyle/>
          <a:p>
            <a:r>
              <a:rPr lang="it-IT" dirty="0"/>
              <a:t>Spring </a:t>
            </a:r>
            <a:r>
              <a:rPr lang="it-IT" dirty="0" err="1"/>
              <a:t>Ioc</a:t>
            </a:r>
            <a:r>
              <a:rPr lang="it-IT" dirty="0"/>
              <a:t> – </a:t>
            </a:r>
            <a:r>
              <a:rPr lang="it-IT" i="1" dirty="0"/>
              <a:t>Proxy pattern </a:t>
            </a:r>
            <a:r>
              <a:rPr lang="it-IT" dirty="0" smtClean="0"/>
              <a:t>(2/2</a:t>
            </a:r>
            <a:r>
              <a:rPr lang="it-IT" dirty="0"/>
              <a:t>)</a:t>
            </a:r>
          </a:p>
        </p:txBody>
      </p:sp>
    </p:spTree>
    <p:extLst>
      <p:ext uri="{BB962C8B-B14F-4D97-AF65-F5344CB8AC3E}">
        <p14:creationId xmlns:p14="http://schemas.microsoft.com/office/powerpoint/2010/main" val="811805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a:bodyPr>
          <a:lstStyle/>
          <a:p>
            <a:r>
              <a:rPr lang="it-IT" dirty="0" smtClean="0"/>
              <a:t>Quando creiamo classi i cui oggetti dovranno essere gestiti tramite l’</a:t>
            </a:r>
            <a:r>
              <a:rPr lang="it-IT" i="1" dirty="0" err="1" smtClean="0"/>
              <a:t>IoC</a:t>
            </a:r>
            <a:r>
              <a:rPr lang="it-IT" dirty="0" smtClean="0"/>
              <a:t> </a:t>
            </a:r>
            <a:r>
              <a:rPr lang="it-IT" i="1" dirty="0" smtClean="0"/>
              <a:t>container</a:t>
            </a:r>
            <a:r>
              <a:rPr lang="it-IT" dirty="0" smtClean="0"/>
              <a:t> di Spring è buona prassi usare sempre le interfacce per 2 motivi:</a:t>
            </a:r>
          </a:p>
          <a:p>
            <a:pPr lvl="1"/>
            <a:r>
              <a:rPr lang="it-IT" dirty="0" smtClean="0"/>
              <a:t>nella programmazione a oggetti è sempre buona norma usare le interfacce (anche quando potrebbero sembrare inutili perché magari siamo in presenza di una sola classe concreta), perché questo rende il codice più riutilizzabile aprendoci alla possibilità in futuro di creare ed usare nuove implementazioni della stessa interfaccia</a:t>
            </a:r>
          </a:p>
          <a:p>
            <a:pPr lvl="1"/>
            <a:r>
              <a:rPr lang="it-IT" dirty="0" smtClean="0"/>
              <a:t>permettiamo a Spring di implementare l’</a:t>
            </a:r>
            <a:r>
              <a:rPr lang="it-IT" i="1" dirty="0" err="1" smtClean="0"/>
              <a:t>IoC</a:t>
            </a:r>
            <a:r>
              <a:rPr lang="it-IT" dirty="0" smtClean="0"/>
              <a:t> attraverso il </a:t>
            </a:r>
            <a:r>
              <a:rPr lang="it-IT" i="1" dirty="0" err="1" smtClean="0"/>
              <a:t>proxy</a:t>
            </a:r>
            <a:r>
              <a:rPr lang="it-IT" i="1" dirty="0" smtClean="0"/>
              <a:t> pattern</a:t>
            </a:r>
            <a:r>
              <a:rPr lang="it-IT" dirty="0" smtClean="0"/>
              <a:t> usando le interfacce</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27</a:t>
            </a:fld>
            <a:endParaRPr lang="it-IT"/>
          </a:p>
        </p:txBody>
      </p:sp>
      <p:sp>
        <p:nvSpPr>
          <p:cNvPr id="4" name="Titolo 3"/>
          <p:cNvSpPr>
            <a:spLocks noGrp="1"/>
          </p:cNvSpPr>
          <p:nvPr>
            <p:ph type="title"/>
          </p:nvPr>
        </p:nvSpPr>
        <p:spPr/>
        <p:txBody>
          <a:bodyPr>
            <a:normAutofit fontScale="90000"/>
          </a:bodyPr>
          <a:lstStyle/>
          <a:p>
            <a:r>
              <a:rPr lang="it-IT" dirty="0" smtClean="0"/>
              <a:t>Spring </a:t>
            </a:r>
            <a:r>
              <a:rPr lang="it-IT" i="1" dirty="0" err="1" smtClean="0"/>
              <a:t>beans</a:t>
            </a:r>
            <a:r>
              <a:rPr lang="it-IT" dirty="0" smtClean="0"/>
              <a:t> </a:t>
            </a:r>
            <a:r>
              <a:rPr lang="it-IT" i="1" dirty="0" smtClean="0"/>
              <a:t>best </a:t>
            </a:r>
            <a:r>
              <a:rPr lang="it-IT" i="1" dirty="0" err="1" smtClean="0"/>
              <a:t>practice</a:t>
            </a:r>
            <a:r>
              <a:rPr lang="it-IT" dirty="0" smtClean="0"/>
              <a:t>: </a:t>
            </a:r>
            <a:br>
              <a:rPr lang="it-IT" dirty="0" smtClean="0"/>
            </a:br>
            <a:r>
              <a:rPr lang="it-IT" dirty="0" smtClean="0"/>
              <a:t>usare sempre le interfacce</a:t>
            </a:r>
            <a:endParaRPr lang="it-IT" dirty="0"/>
          </a:p>
        </p:txBody>
      </p:sp>
    </p:spTree>
    <p:extLst>
      <p:ext uri="{BB962C8B-B14F-4D97-AF65-F5344CB8AC3E}">
        <p14:creationId xmlns:p14="http://schemas.microsoft.com/office/powerpoint/2010/main" val="22474536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nde">
  <a:themeElements>
    <a:clrScheme name="Onde">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nde">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nde">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606</TotalTime>
  <Words>1128</Words>
  <Application>Microsoft Office PowerPoint</Application>
  <PresentationFormat>Presentazione su schermo (4:3)</PresentationFormat>
  <Paragraphs>222</Paragraphs>
  <Slides>27</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27</vt:i4>
      </vt:variant>
    </vt:vector>
  </HeadingPairs>
  <TitlesOfParts>
    <vt:vector size="31" baseType="lpstr">
      <vt:lpstr>Calibri</vt:lpstr>
      <vt:lpstr>Candara</vt:lpstr>
      <vt:lpstr>Symbol</vt:lpstr>
      <vt:lpstr>Onde</vt:lpstr>
      <vt:lpstr>Spring</vt:lpstr>
      <vt:lpstr>Spring – cos’è</vt:lpstr>
      <vt:lpstr>Ennesimo Framework….. Pro e contro</vt:lpstr>
      <vt:lpstr>IoC e Dependency Injection</vt:lpstr>
      <vt:lpstr>Dependency tra classi</vt:lpstr>
      <vt:lpstr>Dipendenza «cablata» nel codice</vt:lpstr>
      <vt:lpstr>Dependency Injection  nel costruttore</vt:lpstr>
      <vt:lpstr>Dependency Injection  tramite metodo «setter»</vt:lpstr>
      <vt:lpstr>D.I., IoC e Spring IoC container</vt:lpstr>
      <vt:lpstr>Librerie necessarie</vt:lpstr>
      <vt:lpstr>BeanFactory e ApplicationContext</vt:lpstr>
      <vt:lpstr>L’ApplicationContext di Spring</vt:lpstr>
      <vt:lpstr>Dependency Injection in Spring</vt:lpstr>
      <vt:lpstr>Esempi di Dependency Injection Classe Persona</vt:lpstr>
      <vt:lpstr>Setter Dependency Injection Configurazione tramite Annotation</vt:lpstr>
      <vt:lpstr>Setter Dependency Injection Codice per recuperare un oggetto di classe Persona configurato tramite Annotation</vt:lpstr>
      <vt:lpstr>Constructor Dependency Injection Configurazione tramite Annotation</vt:lpstr>
      <vt:lpstr>Constructor Dependency Injection Codice per recuperare un oggetto di classe Persona configurato tramite Annotation</vt:lpstr>
      <vt:lpstr>Dependency Injection Relazioni tra classi «custom»</vt:lpstr>
      <vt:lpstr>Setter Dependency Injection per oggetti «custom»  configurati tramite Annotation</vt:lpstr>
      <vt:lpstr>Setter Dependency Injection codice per recuperare oggetti «custom»  configurati tramite Annotation</vt:lpstr>
      <vt:lpstr>Constructor Dependency Injection per oggetti «custom»  configurati tramite Annotation</vt:lpstr>
      <vt:lpstr>Constructor Dependency Injection codice per recuperare oggetti «custom»  configurati tramite Annotation</vt:lpstr>
      <vt:lpstr>Spring beans – pattern Singleton</vt:lpstr>
      <vt:lpstr>Spring Ioc – Proxy pattern (1/2)</vt:lpstr>
      <vt:lpstr>Spring Ioc – Proxy pattern (2/2)</vt:lpstr>
      <vt:lpstr>Spring beans best practice:  usare sempre le interfacce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dc:title>
  <dc:creator>Roberto Santoro</dc:creator>
  <cp:lastModifiedBy>Roberto Santoro</cp:lastModifiedBy>
  <cp:revision>80</cp:revision>
  <dcterms:created xsi:type="dcterms:W3CDTF">2020-01-03T14:34:34Z</dcterms:created>
  <dcterms:modified xsi:type="dcterms:W3CDTF">2025-01-22T09:11:53Z</dcterms:modified>
</cp:coreProperties>
</file>