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Candar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HTN2En0l5Z5DflNfbbEWf9MQ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regular.fntdata"/><Relationship Id="rId11" Type="http://schemas.openxmlformats.org/officeDocument/2006/relationships/slide" Target="slides/slide6.xml"/><Relationship Id="rId22" Type="http://schemas.openxmlformats.org/officeDocument/2006/relationships/font" Target="fonts/Candara-italic.fntdata"/><Relationship Id="rId10" Type="http://schemas.openxmlformats.org/officeDocument/2006/relationships/slide" Target="slides/slide5.xml"/><Relationship Id="rId21" Type="http://schemas.openxmlformats.org/officeDocument/2006/relationships/font" Target="fonts/Candara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andar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" name="Google Shape;27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0" name="Google Shape;30;p17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31" name="Google Shape;31;p1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2" name="Google Shape;32;p1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3" name="Google Shape;33;p1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4" name="Google Shape;34;p1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5" name="Google Shape;35;p1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6" name="Google Shape;36;p17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18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18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18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18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18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18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20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20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0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22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2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2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2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2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22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2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23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2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23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24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2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24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2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24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26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2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26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15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1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1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1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1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 l’</a:t>
            </a:r>
            <a:r>
              <a:rPr i="1" lang="it-IT"/>
              <a:t>IoC</a:t>
            </a:r>
            <a:r>
              <a:rPr lang="it-IT"/>
              <a:t> </a:t>
            </a:r>
            <a:r>
              <a:rPr i="1" lang="it-IT"/>
              <a:t>container AnnotationConfigApplicationContext</a:t>
            </a:r>
            <a:r>
              <a:rPr lang="it-IT"/>
              <a:t> esiste un altro modo con cui far gestire i nostri </a:t>
            </a:r>
            <a:r>
              <a:rPr i="1" lang="it-IT"/>
              <a:t>bean</a:t>
            </a:r>
            <a:r>
              <a:rPr lang="it-IT"/>
              <a:t> da Spring (oltre a quello già visto che fa uso delle annotation </a:t>
            </a:r>
            <a:r>
              <a:rPr i="1" lang="it-IT"/>
              <a:t>@Configuration</a:t>
            </a:r>
            <a:r>
              <a:rPr lang="it-IT"/>
              <a:t> e </a:t>
            </a:r>
            <a:r>
              <a:rPr i="1" lang="it-IT"/>
              <a:t>@Bean</a:t>
            </a:r>
            <a:r>
              <a:rPr lang="it-IT"/>
              <a:t>):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creando le classi dei nostri </a:t>
            </a:r>
            <a:r>
              <a:rPr i="1" lang="it-IT"/>
              <a:t>bean</a:t>
            </a:r>
            <a:r>
              <a:rPr lang="it-IT"/>
              <a:t> (meglio se tramite le interfacce) con l’annotation </a:t>
            </a:r>
            <a:r>
              <a:rPr i="1" lang="it-IT"/>
              <a:t>@Component</a:t>
            </a:r>
            <a:r>
              <a:rPr lang="it-IT"/>
              <a:t>, per indicare appunto che la nostra classe è un </a:t>
            </a:r>
            <a:r>
              <a:rPr i="1" lang="it-IT"/>
              <a:t>bean-component</a:t>
            </a:r>
            <a:r>
              <a:rPr lang="it-IT"/>
              <a:t> gestito da Spring e usando nella classe di configurazione (quella con l’annotation </a:t>
            </a:r>
            <a:r>
              <a:rPr i="1" lang="it-IT"/>
              <a:t>@Configuration</a:t>
            </a:r>
            <a:r>
              <a:rPr lang="it-IT"/>
              <a:t>) anche l’annotation </a:t>
            </a:r>
            <a:r>
              <a:rPr i="1" lang="it-IT"/>
              <a:t>@ComponentScan</a:t>
            </a:r>
            <a:r>
              <a:rPr lang="it-IT"/>
              <a:t> attraverso la quale indicheremo alla classe di configurazione in quali package Java andare a cercare i nostri </a:t>
            </a:r>
            <a:r>
              <a:rPr i="1" lang="it-IT"/>
              <a:t>bean</a:t>
            </a:r>
            <a:r>
              <a:rPr lang="it-IT"/>
              <a:t> annotati con </a:t>
            </a:r>
            <a:r>
              <a:rPr i="1" lang="it-IT"/>
              <a:t>@Component</a:t>
            </a:r>
            <a:endParaRPr i="1"/>
          </a:p>
        </p:txBody>
      </p:sp>
      <p:sp>
        <p:nvSpPr>
          <p:cNvPr id="137" name="Google Shape;137;p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8" name="Google Shape;138;p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Annotation </a:t>
            </a:r>
            <a:br>
              <a:rPr lang="it-IT"/>
            </a:br>
            <a:r>
              <a:rPr lang="it-IT"/>
              <a:t>@Component e @ComponentScan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package com.azienda.progetto.conf2;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interface SimpleBean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…..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@Component("customSimpleBean")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SimpleBeanImpl implements SimpleBean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…..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@Configuration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@ComponentScan(basePackages = {" com.azienda.progetto.conf2 "})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IoCConfig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…..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Test{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ApplicationContext context = new 	AnnotationConfigApplicationContext(IoCConfig.class);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SimpleBean simpleBean = (SimpleBean) 	context.getBean("customSimpleBean");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@Component e @ComponentScan Esempio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Usando </a:t>
            </a:r>
            <a:r>
              <a:rPr i="1" lang="it-IT"/>
              <a:t>@Component</a:t>
            </a:r>
            <a:r>
              <a:rPr lang="it-IT"/>
              <a:t> l’identificativo dell’oggetto diventa la stringa inserita nelle parentesi tonde dell’annotation (nell’esempio precedente </a:t>
            </a:r>
            <a:r>
              <a:rPr i="1" lang="it-IT"/>
              <a:t>customSimpleBean</a:t>
            </a:r>
            <a:r>
              <a:rPr lang="it-IT"/>
              <a:t>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Si può anche omettere la stringa e quindi usare </a:t>
            </a:r>
            <a:r>
              <a:rPr i="1" lang="it-IT"/>
              <a:t>@Component</a:t>
            </a:r>
            <a:r>
              <a:rPr lang="it-IT"/>
              <a:t> senza le tonde e in tal caso Spring assegna di default un identificativo all’oggetto che coincide col nome della classe con la prima lettera minuscola (nell’esempio precedente sarebbe stato </a:t>
            </a:r>
            <a:r>
              <a:rPr i="1" lang="it-IT"/>
              <a:t>simpleBeanImpl</a:t>
            </a:r>
            <a:r>
              <a:rPr lang="it-IT"/>
              <a:t>) </a:t>
            </a:r>
            <a:endParaRPr i="1"/>
          </a:p>
        </p:txBody>
      </p:sp>
      <p:sp>
        <p:nvSpPr>
          <p:cNvPr id="151" name="Google Shape;151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2" name="Google Shape;152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Identificativo del Component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due tecniche mostrate nelle slide precedenti possono coesistere: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package com.azienda.progetto.conf3;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interface SimpleBean {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….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@Component("customSimpleBean")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class SimpleBeanImpl implements SimpleBean{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….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900"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@Configuration</a:t>
            </a:r>
            <a:endParaRPr i="1" sz="1900"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@ComponentScan(basePackages = {"com.azienda.progetto.conf3"})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public class IoCConfig {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@Bean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public SimpleBean createSimpleB() {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return new SimpleBeanImpl();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}</a:t>
            </a:r>
            <a:endParaRPr i="1" sz="1900"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9" name="Google Shape;159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ndara"/>
              <a:buNone/>
            </a:pPr>
            <a:r>
              <a:rPr lang="it-IT" sz="3200"/>
              <a:t>@Bean, @Component  @Configuration e @ComponentScan</a:t>
            </a:r>
            <a:br>
              <a:rPr lang="it-IT" sz="3200"/>
            </a:br>
            <a:r>
              <a:rPr lang="it-IT" sz="3200"/>
              <a:t>Esempio2 (1/2)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Test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….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context = new AnnotationConfigApplicationContext(IoCConfig.class);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SimpleBean simpleBean = (SimpleBean) context.getBean("customSimpleBean");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SimpleBean simpleBean2 = (SimpleBean) context.getBean("createSimpleB");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….</a:t>
            </a:r>
            <a:endParaRPr i="1" sz="1800"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6" name="Google Shape;166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ndara"/>
              <a:buNone/>
            </a:pPr>
            <a:r>
              <a:rPr lang="it-IT" sz="3200"/>
              <a:t>@Bean, @Component  @Configuration e @ComponentScan</a:t>
            </a:r>
            <a:br>
              <a:rPr lang="it-IT" sz="3200"/>
            </a:br>
            <a:r>
              <a:rPr lang="it-IT" sz="3200"/>
              <a:t>Esempio2 (2/2)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Possiamo sempre farci restituire la lista completa di tutti i </a:t>
            </a:r>
            <a:r>
              <a:rPr i="1" lang="it-IT"/>
              <a:t>beans</a:t>
            </a:r>
            <a:r>
              <a:rPr lang="it-IT"/>
              <a:t> creati da Spring: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String[] beanNames = context.getBeanDefinitionNames();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List&lt;String&gt; list = Arrays.asList(beanNames);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System.out.println("\n\nTutti i beans creati da Spring:");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list.forEach(System.out::println);</a:t>
            </a:r>
            <a:endParaRPr/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Lista dei </a:t>
            </a:r>
            <a:r>
              <a:rPr i="1" lang="it-IT"/>
              <a:t>beans</a:t>
            </a:r>
            <a:r>
              <a:rPr lang="it-IT"/>
              <a:t> </a:t>
            </a:r>
            <a:br>
              <a:rPr lang="it-IT"/>
            </a:br>
            <a:r>
              <a:rPr lang="it-IT"/>
              <a:t>creati dall’</a:t>
            </a:r>
            <a:r>
              <a:rPr i="1" lang="it-IT"/>
              <a:t>Application Context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Quando oggetti della stessa classe vengono caricati nell’</a:t>
            </a:r>
            <a:r>
              <a:rPr i="1" lang="it-IT"/>
              <a:t>ApplicationContext</a:t>
            </a:r>
            <a:r>
              <a:rPr lang="it-IT"/>
              <a:t> di Spring usando le due tecniche (</a:t>
            </a:r>
            <a:r>
              <a:rPr i="1" lang="it-IT"/>
              <a:t>@Bean</a:t>
            </a:r>
            <a:r>
              <a:rPr lang="it-IT"/>
              <a:t> e </a:t>
            </a:r>
            <a:r>
              <a:rPr i="1" lang="it-IT"/>
              <a:t>@Component</a:t>
            </a:r>
            <a:r>
              <a:rPr lang="it-IT"/>
              <a:t>) bisogna stare attenti a usare identificativi diversi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eccezioni più comuni quando si recuperano dei beans attraverso l</a:t>
            </a:r>
            <a:r>
              <a:rPr i="1" lang="it-IT"/>
              <a:t>’IoC container </a:t>
            </a:r>
            <a:r>
              <a:rPr lang="it-IT"/>
              <a:t>di Spring sono</a:t>
            </a:r>
            <a:r>
              <a:rPr i="1" lang="it-IT"/>
              <a:t>:</a:t>
            </a:r>
            <a:r>
              <a:rPr lang="it-IT"/>
              <a:t> </a:t>
            </a:r>
            <a:endParaRPr/>
          </a:p>
          <a:p>
            <a:pPr indent="0" lvl="2" marL="5813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/>
              <a:t>NoUniqueBeanDefinitionException: No qualifying bean of type…. </a:t>
            </a:r>
            <a:r>
              <a:rPr lang="it-IT"/>
              <a:t>(in caso di ambiguità sui nomi)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oppure nell’errore:</a:t>
            </a:r>
            <a:endParaRPr/>
          </a:p>
          <a:p>
            <a:pPr indent="0" lvl="2" marL="5813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/>
              <a:t>NoSuchBeanDefinitionException: No bean named…</a:t>
            </a:r>
            <a:endParaRPr/>
          </a:p>
          <a:p>
            <a:pPr indent="0" lvl="2" marL="5813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/>
              <a:t> </a:t>
            </a:r>
            <a:r>
              <a:rPr lang="it-IT"/>
              <a:t>(nel caso Spring non sia comunque riuscito ad </a:t>
            </a:r>
            <a:r>
              <a:rPr i="1" lang="it-IT"/>
              <a:t>indovinare </a:t>
            </a:r>
            <a:r>
              <a:rPr lang="it-IT"/>
              <a:t>il nome del </a:t>
            </a:r>
            <a:r>
              <a:rPr i="1" lang="it-IT"/>
              <a:t>bean</a:t>
            </a:r>
            <a:r>
              <a:rPr lang="it-IT"/>
              <a:t>)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Attenzione agli identificativi dei Component/Bean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Quando ci facciamo restituire da Spring un </a:t>
            </a:r>
            <a:r>
              <a:rPr i="1" lang="it-IT"/>
              <a:t>bean</a:t>
            </a:r>
            <a:r>
              <a:rPr lang="it-IT"/>
              <a:t>, la cui classe è stata annotata con </a:t>
            </a:r>
            <a:r>
              <a:rPr i="1" lang="it-IT"/>
              <a:t>@Component,</a:t>
            </a:r>
            <a:r>
              <a:rPr lang="it-IT"/>
              <a:t> Spring cerca di invocare il costruttore vuoto della classe se lo trova, altrimenti: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/>
            </a:pPr>
            <a:r>
              <a:rPr lang="it-IT"/>
              <a:t>se ne trova più d’uno (parametrici) va in errore</a:t>
            </a:r>
            <a:endParaRPr/>
          </a:p>
          <a:p>
            <a:pPr indent="-457200" lvl="1" marL="759143" rtl="0" algn="l">
              <a:spcBef>
                <a:spcPts val="440"/>
              </a:spcBef>
              <a:spcAft>
                <a:spcPts val="0"/>
              </a:spcAft>
              <a:buSzPts val="2200"/>
              <a:buFont typeface="Candara"/>
              <a:buAutoNum type="arabicPeriod"/>
            </a:pPr>
            <a:r>
              <a:rPr lang="it-IT"/>
              <a:t>se ne trova uno solo (parametrico) prova a invocarlo ma per riuscirci deve riuscire a creare i parametri che si aspetta in input il costruttore (vedi più avanti)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7" name="Google Shape;187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@Component e costruttori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ad esempio abbiamo una classe </a:t>
            </a:r>
            <a:r>
              <a:rPr i="1" lang="it-IT"/>
              <a:t>PersonaImpl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@Component("persona")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class PersonaImpl implements Persona {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private String nome;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private String cognome;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private Float altezza;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private Boolean maschio;</a:t>
            </a:r>
            <a:endParaRPr/>
          </a:p>
          <a:p>
            <a:pPr indent="-274320" lvl="0" marL="274320" rtl="0" algn="l">
              <a:spcBef>
                <a:spcPts val="340"/>
              </a:spcBef>
              <a:spcAft>
                <a:spcPts val="0"/>
              </a:spcAft>
              <a:buSzPct val="100000"/>
              <a:buChar char="*"/>
            </a:pPr>
            <a:r>
              <a:rPr lang="it-IT" sz="2000"/>
              <a:t>quando  scriveremo </a:t>
            </a:r>
            <a:r>
              <a:rPr i="1" lang="it-IT" sz="1600"/>
              <a:t>Persona p = (Persona) context.getBean(</a:t>
            </a:r>
            <a:r>
              <a:rPr lang="it-IT" sz="1600"/>
              <a:t>"</a:t>
            </a:r>
            <a:r>
              <a:rPr i="1" lang="it-IT" sz="1600"/>
              <a:t>persona</a:t>
            </a:r>
            <a:r>
              <a:rPr lang="it-IT" sz="1600"/>
              <a:t>"</a:t>
            </a:r>
            <a:r>
              <a:rPr i="1" lang="it-IT" sz="1600"/>
              <a:t>);</a:t>
            </a:r>
            <a:endParaRPr sz="1600"/>
          </a:p>
          <a:p>
            <a:pPr indent="-457200" lvl="0" marL="457200" rtl="0" algn="l">
              <a:spcBef>
                <a:spcPts val="408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se </a:t>
            </a:r>
            <a:r>
              <a:rPr i="1" lang="it-IT"/>
              <a:t>PersonaImpl </a:t>
            </a:r>
            <a:r>
              <a:rPr lang="it-IT"/>
              <a:t>possiede un costruttore vuoto verrà chiamato questo costruttore a prescindere dall’eventuale presenza di altri costruttori</a:t>
            </a:r>
            <a:endParaRPr/>
          </a:p>
          <a:p>
            <a:pPr indent="-457200" lvl="0" marL="457200" rtl="0" algn="l">
              <a:spcBef>
                <a:spcPts val="408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se </a:t>
            </a:r>
            <a:r>
              <a:rPr i="1" lang="it-IT"/>
              <a:t>PersonaImpl</a:t>
            </a:r>
            <a:r>
              <a:rPr lang="it-IT"/>
              <a:t> possiede </a:t>
            </a:r>
            <a:r>
              <a:rPr i="1" lang="it-IT"/>
              <a:t>n</a:t>
            </a:r>
            <a:r>
              <a:rPr lang="it-IT"/>
              <a:t> costruttori ma non ha quello vuoto, Spring andrà in errore</a:t>
            </a:r>
            <a:endParaRPr/>
          </a:p>
          <a:p>
            <a:pPr indent="-457200" lvl="0" marL="457200" rtl="0" algn="l">
              <a:spcBef>
                <a:spcPts val="408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se  </a:t>
            </a:r>
            <a:r>
              <a:rPr i="1" lang="it-IT"/>
              <a:t>PersonaImpl</a:t>
            </a:r>
            <a:r>
              <a:rPr lang="it-IT"/>
              <a:t> possiede un unico costruttore parametrico, Spring chiamerà questo costruttore, ma dovremo istruire Spring su come passare i valori dei parametri </a:t>
            </a:r>
            <a:endParaRPr i="1"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@Component e costruttori</a:t>
            </a:r>
            <a:br>
              <a:rPr lang="it-IT"/>
            </a:br>
            <a:r>
              <a:rPr lang="it-IT"/>
              <a:t>Esempio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il punto 3 della slide precedente, se i parametri (come nel caso di </a:t>
            </a:r>
            <a:r>
              <a:rPr i="1" lang="it-IT"/>
              <a:t>PersonaImpl)</a:t>
            </a:r>
            <a:r>
              <a:rPr lang="it-IT"/>
              <a:t> sono tutti di tipo </a:t>
            </a:r>
            <a:r>
              <a:rPr i="1" lang="it-IT"/>
              <a:t>primitivo</a:t>
            </a:r>
            <a:r>
              <a:rPr lang="it-IT"/>
              <a:t> si può usare per ogni parametro l’annotation </a:t>
            </a:r>
            <a:r>
              <a:rPr i="1" lang="it-IT"/>
              <a:t>@Value() </a:t>
            </a:r>
            <a:r>
              <a:rPr lang="it-IT"/>
              <a:t>fornendole come parametro di input (all’interno delle partentesi tonde) la stringa che costituirà il valore usato da Spring per il corrispondente attributo primitivo di </a:t>
            </a:r>
            <a:r>
              <a:rPr i="1" lang="it-IT"/>
              <a:t>PersonaImpl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PersonaImpl(@Value("") String nome, @Value("") String cognome, @Value("180.0f") Float altezza, @Value("true") Boolean maschio) </a:t>
            </a:r>
            <a:endParaRPr i="1" sz="1800"/>
          </a:p>
        </p:txBody>
      </p:sp>
      <p:sp>
        <p:nvSpPr>
          <p:cNvPr id="200" name="Google Shape;200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Passaggio di valori tramite annotation @Value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se, invece, tra i parametri del costruttore c’è una </a:t>
            </a:r>
            <a:r>
              <a:rPr i="1" lang="it-IT"/>
              <a:t>reference</a:t>
            </a:r>
            <a:r>
              <a:rPr lang="it-IT"/>
              <a:t> ad un altro </a:t>
            </a:r>
            <a:r>
              <a:rPr i="1" lang="it-IT"/>
              <a:t>bean</a:t>
            </a:r>
            <a:r>
              <a:rPr lang="it-IT"/>
              <a:t> allora: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Spring dovrà essere in grado di istanziare l’altro </a:t>
            </a:r>
            <a:r>
              <a:rPr i="1" lang="it-IT"/>
              <a:t>bean</a:t>
            </a:r>
            <a:r>
              <a:rPr lang="it-IT"/>
              <a:t> (rispettando quindi tutte le regole dette in precedenza per la classe del </a:t>
            </a:r>
            <a:r>
              <a:rPr i="1" lang="it-IT"/>
              <a:t>bean</a:t>
            </a:r>
            <a:r>
              <a:rPr lang="it-IT"/>
              <a:t>, riguardo </a:t>
            </a:r>
            <a:r>
              <a:rPr i="1" lang="it-IT"/>
              <a:t>@Component</a:t>
            </a:r>
            <a:r>
              <a:rPr lang="it-IT"/>
              <a:t>, </a:t>
            </a:r>
            <a:r>
              <a:rPr i="1" lang="it-IT"/>
              <a:t>@Bean</a:t>
            </a:r>
            <a:r>
              <a:rPr lang="it-IT"/>
              <a:t> ed i costruttori)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se ci fossero ambiguità, in quanto la classe dell’altro </a:t>
            </a:r>
            <a:r>
              <a:rPr i="1" lang="it-IT"/>
              <a:t>bean</a:t>
            </a:r>
            <a:r>
              <a:rPr lang="it-IT"/>
              <a:t> è annotata con </a:t>
            </a:r>
            <a:r>
              <a:rPr i="1" lang="it-IT"/>
              <a:t>@Component</a:t>
            </a:r>
            <a:r>
              <a:rPr lang="it-IT"/>
              <a:t> ma esiste anche un metodo </a:t>
            </a:r>
            <a:r>
              <a:rPr i="1" lang="it-IT"/>
              <a:t>@Bean</a:t>
            </a:r>
            <a:r>
              <a:rPr lang="it-IT"/>
              <a:t> in una classe di configurazione (con </a:t>
            </a:r>
            <a:r>
              <a:rPr i="1" lang="it-IT"/>
              <a:t>@Configuration</a:t>
            </a:r>
            <a:r>
              <a:rPr lang="it-IT"/>
              <a:t>) allora occorrerà usare l’annotation </a:t>
            </a:r>
            <a:r>
              <a:rPr i="1" lang="it-IT"/>
              <a:t>@Qualifier(</a:t>
            </a:r>
            <a:r>
              <a:rPr lang="it-IT"/>
              <a:t>"</a:t>
            </a:r>
            <a:r>
              <a:rPr i="1" lang="it-IT"/>
              <a:t>beanId</a:t>
            </a:r>
            <a:r>
              <a:rPr lang="it-IT"/>
              <a:t>"</a:t>
            </a:r>
            <a:r>
              <a:rPr i="1" lang="it-IT"/>
              <a:t>)</a:t>
            </a:r>
            <a:r>
              <a:rPr lang="it-IT"/>
              <a:t>, dove </a:t>
            </a:r>
            <a:r>
              <a:rPr i="1" lang="it-IT"/>
              <a:t>beanId</a:t>
            </a:r>
            <a:r>
              <a:rPr lang="it-IT"/>
              <a:t> sarà l’id del </a:t>
            </a:r>
            <a:r>
              <a:rPr i="1" lang="it-IT"/>
              <a:t>bean</a:t>
            </a:r>
            <a:r>
              <a:rPr lang="it-IT"/>
              <a:t> che Spring dovrà utilizzare</a:t>
            </a:r>
            <a:endParaRPr i="1"/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8" name="Google Shape;208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Passggio di valori tramite</a:t>
            </a:r>
            <a:br>
              <a:rPr lang="it-IT"/>
            </a:br>
            <a:r>
              <a:rPr lang="it-IT"/>
              <a:t>annotation @Qualifier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@Component("macchina")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MacchinaImpl implements Macchina{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private Persona proprietario;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private String marca;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in </a:t>
            </a:r>
            <a:r>
              <a:rPr i="1" lang="it-IT"/>
              <a:t>MacchinaImpl</a:t>
            </a:r>
            <a:r>
              <a:rPr lang="it-IT"/>
              <a:t> abbiamo un solo costruttore parametrico che accetta come parametri una </a:t>
            </a:r>
            <a:r>
              <a:rPr i="1" lang="it-IT"/>
              <a:t>String</a:t>
            </a:r>
            <a:r>
              <a:rPr lang="it-IT"/>
              <a:t> per la </a:t>
            </a:r>
            <a:r>
              <a:rPr i="1" lang="it-IT"/>
              <a:t>marca </a:t>
            </a:r>
            <a:r>
              <a:rPr lang="it-IT"/>
              <a:t>ed una </a:t>
            </a:r>
            <a:r>
              <a:rPr i="1" lang="it-IT"/>
              <a:t>Persona</a:t>
            </a:r>
            <a:r>
              <a:rPr lang="it-IT"/>
              <a:t> per il </a:t>
            </a:r>
            <a:r>
              <a:rPr i="1" lang="it-IT"/>
              <a:t>proprietario</a:t>
            </a:r>
            <a:r>
              <a:rPr lang="it-IT"/>
              <a:t>, per quanto detto prima, Spring proverà ad invocarlo ma dovremo istruirlo su come passare i valori dei parametri: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per la </a:t>
            </a:r>
            <a:r>
              <a:rPr i="1" lang="it-IT"/>
              <a:t>String </a:t>
            </a:r>
            <a:r>
              <a:rPr lang="it-IT"/>
              <a:t>potremo usare </a:t>
            </a:r>
            <a:r>
              <a:rPr i="1" lang="it-IT"/>
              <a:t>@Value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per la </a:t>
            </a:r>
            <a:r>
              <a:rPr i="1" lang="it-IT"/>
              <a:t>Persona</a:t>
            </a:r>
            <a:r>
              <a:rPr lang="it-IT"/>
              <a:t> il discorso è più complesso (segue)</a:t>
            </a:r>
            <a:endParaRPr/>
          </a:p>
        </p:txBody>
      </p:sp>
      <p:sp>
        <p:nvSpPr>
          <p:cNvPr id="214" name="Google Shape;214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@Qualifier – Esempio (1/3)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872067" y="1591056"/>
            <a:ext cx="7408333" cy="4535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innanzitutto per la classe </a:t>
            </a:r>
            <a:r>
              <a:rPr i="1" lang="it-IT"/>
              <a:t>Persona</a:t>
            </a:r>
            <a:r>
              <a:rPr lang="it-IT"/>
              <a:t> (o meglio </a:t>
            </a:r>
            <a:r>
              <a:rPr i="1" lang="it-IT"/>
              <a:t>PersonaImpl</a:t>
            </a:r>
            <a:r>
              <a:rPr lang="it-IT"/>
              <a:t>) valgono le stesse considerazioni già fatte: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anche lei deve avere un costruttore vuoto oppure un solo costruttore parametrico e nel caso dovremo istruire Spring su come passare i valori dei parametri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poi, se la classe </a:t>
            </a:r>
            <a:r>
              <a:rPr i="1" lang="it-IT"/>
              <a:t>PersonaImpl</a:t>
            </a:r>
            <a:r>
              <a:rPr lang="it-IT"/>
              <a:t> è annotata con </a:t>
            </a:r>
            <a:r>
              <a:rPr i="1" lang="it-IT"/>
              <a:t>Component(</a:t>
            </a:r>
            <a:r>
              <a:rPr lang="it-IT"/>
              <a:t>"</a:t>
            </a:r>
            <a:r>
              <a:rPr i="1" lang="it-IT"/>
              <a:t>persona</a:t>
            </a:r>
            <a:r>
              <a:rPr lang="it-IT"/>
              <a:t>"</a:t>
            </a:r>
            <a:r>
              <a:rPr i="1" lang="it-IT"/>
              <a:t>)</a:t>
            </a:r>
            <a:r>
              <a:rPr lang="it-IT"/>
              <a:t>, ma abbiamo anche una classe di configurazione (con </a:t>
            </a:r>
            <a:r>
              <a:rPr i="1" lang="it-IT"/>
              <a:t>@Configuration</a:t>
            </a:r>
            <a:r>
              <a:rPr lang="it-IT"/>
              <a:t>) con un metodo </a:t>
            </a:r>
            <a:r>
              <a:rPr i="1" lang="it-IT"/>
              <a:t>@Bean</a:t>
            </a:r>
            <a:r>
              <a:rPr lang="it-IT"/>
              <a:t> che crea una </a:t>
            </a:r>
            <a:r>
              <a:rPr i="1" lang="it-IT"/>
              <a:t>Persona</a:t>
            </a:r>
            <a:r>
              <a:rPr lang="it-IT"/>
              <a:t>, </a:t>
            </a:r>
            <a:r>
              <a:rPr b="1" lang="it-IT"/>
              <a:t>allora si genera un ambiguità </a:t>
            </a:r>
            <a:r>
              <a:rPr lang="it-IT"/>
              <a:t>in quanto Spring per costruire la </a:t>
            </a:r>
            <a:r>
              <a:rPr i="1" lang="it-IT"/>
              <a:t>Persona </a:t>
            </a:r>
            <a:r>
              <a:rPr lang="it-IT"/>
              <a:t>e passarla come parametro al costruttore di </a:t>
            </a:r>
            <a:r>
              <a:rPr i="1" lang="it-IT"/>
              <a:t>Macchina </a:t>
            </a:r>
            <a:r>
              <a:rPr lang="it-IT"/>
              <a:t>non sa se chiamare il costruttore di </a:t>
            </a:r>
            <a:r>
              <a:rPr i="1" lang="it-IT"/>
              <a:t>PersonaImpl</a:t>
            </a:r>
            <a:r>
              <a:rPr lang="it-IT"/>
              <a:t> (in questo caso l’id del </a:t>
            </a:r>
            <a:r>
              <a:rPr i="1" lang="it-IT"/>
              <a:t>bean</a:t>
            </a:r>
            <a:r>
              <a:rPr lang="it-IT"/>
              <a:t> sarebbe "</a:t>
            </a:r>
            <a:r>
              <a:rPr i="1" lang="it-IT"/>
              <a:t>persona</a:t>
            </a:r>
            <a:r>
              <a:rPr lang="it-IT"/>
              <a:t>") o il metodo @Bean (in questo caso l’id del </a:t>
            </a:r>
            <a:r>
              <a:rPr i="1" lang="it-IT"/>
              <a:t>bean</a:t>
            </a:r>
            <a:r>
              <a:rPr lang="it-IT"/>
              <a:t> sarebbe il nome del metodo)</a:t>
            </a:r>
            <a:endParaRPr i="1"/>
          </a:p>
        </p:txBody>
      </p:sp>
      <p:sp>
        <p:nvSpPr>
          <p:cNvPr id="221" name="Google Shape;221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2" name="Google Shape;222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@Qualifier – Esempio (2/3)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questo caso occorre quindi usare l’annotation </a:t>
            </a:r>
            <a:r>
              <a:rPr i="1" lang="it-IT"/>
              <a:t>@Qualifier</a:t>
            </a:r>
            <a:r>
              <a:rPr lang="it-IT"/>
              <a:t> specificando esplicitamente quale </a:t>
            </a:r>
            <a:r>
              <a:rPr i="1" lang="it-IT"/>
              <a:t>id</a:t>
            </a:r>
            <a:r>
              <a:rPr lang="it-IT"/>
              <a:t> Spring debba prendere in considerazione: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MacchinaImpl(@Value("") String marca</a:t>
            </a:r>
            <a:r>
              <a:rPr b="1" i="1" lang="it-IT" sz="1800"/>
              <a:t>,@Qualifier("persona") </a:t>
            </a:r>
            <a:r>
              <a:rPr i="1" lang="it-IT" sz="1800"/>
              <a:t>Persona proprietario)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nell’esempio precedente </a:t>
            </a:r>
            <a:r>
              <a:rPr b="1" i="1" lang="it-IT"/>
              <a:t>"persona"</a:t>
            </a:r>
            <a:r>
              <a:rPr lang="it-IT"/>
              <a:t> dovrà essere l’id di un </a:t>
            </a:r>
            <a:r>
              <a:rPr i="1" lang="it-IT"/>
              <a:t>@Component</a:t>
            </a:r>
            <a:r>
              <a:rPr lang="it-IT"/>
              <a:t> oppure il nome di un metodo </a:t>
            </a:r>
            <a:r>
              <a:rPr i="1" lang="it-IT"/>
              <a:t>@Bean</a:t>
            </a:r>
            <a:r>
              <a:rPr lang="it-IT"/>
              <a:t> di una classe annotata con </a:t>
            </a:r>
            <a:r>
              <a:rPr i="1" lang="it-IT"/>
              <a:t>@Configuration</a:t>
            </a:r>
            <a:r>
              <a:rPr b="1" i="1" lang="it-IT"/>
              <a:t> </a:t>
            </a:r>
            <a:endParaRPr/>
          </a:p>
        </p:txBody>
      </p:sp>
      <p:sp>
        <p:nvSpPr>
          <p:cNvPr id="228" name="Google Shape;228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9" name="Google Shape;229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@Qualifier – Esempio (3/3)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2020-01-03T14:34:34Z</dcterms:created>
  <dc:creator>Roberto Santoro</dc:creator>
</cp:coreProperties>
</file>